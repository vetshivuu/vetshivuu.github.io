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6" r:id="rId4"/>
    <p:sldId id="258" r:id="rId5"/>
    <p:sldId id="264" r:id="rId6"/>
    <p:sldId id="259" r:id="rId7"/>
    <p:sldId id="307" r:id="rId8"/>
    <p:sldId id="297" r:id="rId9"/>
    <p:sldId id="308" r:id="rId10"/>
    <p:sldId id="261" r:id="rId11"/>
    <p:sldId id="260" r:id="rId12"/>
    <p:sldId id="309" r:id="rId13"/>
    <p:sldId id="263" r:id="rId14"/>
    <p:sldId id="262" r:id="rId15"/>
    <p:sldId id="310" r:id="rId16"/>
    <p:sldId id="299" r:id="rId17"/>
    <p:sldId id="311" r:id="rId18"/>
    <p:sldId id="298" r:id="rId19"/>
    <p:sldId id="265" r:id="rId20"/>
    <p:sldId id="312" r:id="rId21"/>
    <p:sldId id="300" r:id="rId22"/>
    <p:sldId id="266" r:id="rId23"/>
    <p:sldId id="267" r:id="rId24"/>
    <p:sldId id="313" r:id="rId25"/>
    <p:sldId id="268" r:id="rId26"/>
    <p:sldId id="276" r:id="rId27"/>
    <p:sldId id="314" r:id="rId28"/>
    <p:sldId id="301" r:id="rId29"/>
    <p:sldId id="269" r:id="rId30"/>
    <p:sldId id="270" r:id="rId31"/>
    <p:sldId id="315" r:id="rId32"/>
    <p:sldId id="271" r:id="rId33"/>
    <p:sldId id="316" r:id="rId34"/>
    <p:sldId id="275" r:id="rId35"/>
    <p:sldId id="272" r:id="rId36"/>
    <p:sldId id="273" r:id="rId37"/>
    <p:sldId id="317" r:id="rId38"/>
    <p:sldId id="274" r:id="rId39"/>
    <p:sldId id="318" r:id="rId40"/>
    <p:sldId id="304" r:id="rId41"/>
    <p:sldId id="277" r:id="rId42"/>
    <p:sldId id="278" r:id="rId43"/>
    <p:sldId id="319" r:id="rId44"/>
    <p:sldId id="279" r:id="rId45"/>
    <p:sldId id="320" r:id="rId46"/>
    <p:sldId id="280" r:id="rId47"/>
    <p:sldId id="321" r:id="rId48"/>
    <p:sldId id="281" r:id="rId49"/>
    <p:sldId id="322" r:id="rId50"/>
    <p:sldId id="302" r:id="rId51"/>
    <p:sldId id="282" r:id="rId52"/>
    <p:sldId id="303" r:id="rId53"/>
    <p:sldId id="323" r:id="rId54"/>
    <p:sldId id="296" r:id="rId55"/>
    <p:sldId id="286" r:id="rId56"/>
    <p:sldId id="287" r:id="rId57"/>
    <p:sldId id="283" r:id="rId58"/>
    <p:sldId id="284" r:id="rId59"/>
    <p:sldId id="285" r:id="rId60"/>
    <p:sldId id="288" r:id="rId61"/>
    <p:sldId id="324" r:id="rId62"/>
    <p:sldId id="289" r:id="rId63"/>
    <p:sldId id="325" r:id="rId64"/>
    <p:sldId id="291" r:id="rId65"/>
    <p:sldId id="290" r:id="rId66"/>
    <p:sldId id="326" r:id="rId67"/>
    <p:sldId id="292" r:id="rId68"/>
    <p:sldId id="327" r:id="rId69"/>
    <p:sldId id="295" r:id="rId70"/>
    <p:sldId id="293" r:id="rId71"/>
    <p:sldId id="294" r:id="rId72"/>
    <p:sldId id="305" r:id="rId7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4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447800"/>
            <a:ext cx="7772400" cy="1470025"/>
          </a:xfrm>
        </p:spPr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  <a:latin typeface="Algerian" pitchFamily="82" charset="0"/>
              </a:rPr>
              <a:t>FAMILY PARAMYXOVIRIDAE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7526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Bahnschrift Condensed" pitchFamily="34" charset="0"/>
              </a:rPr>
              <a:t>Order </a:t>
            </a:r>
            <a:r>
              <a:rPr lang="en-US" sz="3600" b="1" dirty="0" err="1" smtClean="0">
                <a:solidFill>
                  <a:schemeClr val="tx1"/>
                </a:solidFill>
                <a:latin typeface="Bahnschrift Condensed" pitchFamily="34" charset="0"/>
              </a:rPr>
              <a:t>Mononegavirales</a:t>
            </a:r>
            <a:r>
              <a:rPr lang="en-US" sz="3600" b="1" dirty="0" smtClean="0">
                <a:solidFill>
                  <a:schemeClr val="tx1"/>
                </a:solidFill>
                <a:latin typeface="Bahnschrift Condensed" pitchFamily="34" charset="0"/>
              </a:rPr>
              <a:t>- four families- </a:t>
            </a:r>
            <a:r>
              <a:rPr lang="en-US" sz="3600" b="1" dirty="0" err="1" smtClean="0">
                <a:solidFill>
                  <a:schemeClr val="tx1"/>
                </a:solidFill>
                <a:latin typeface="Bahnschrift Condensed" pitchFamily="34" charset="0"/>
              </a:rPr>
              <a:t>Bornaviridae</a:t>
            </a:r>
            <a:r>
              <a:rPr lang="en-US" sz="3600" b="1" dirty="0" smtClean="0">
                <a:solidFill>
                  <a:schemeClr val="tx1"/>
                </a:solidFill>
                <a:latin typeface="Bahnschrift Condensed" pitchFamily="34" charset="0"/>
              </a:rPr>
              <a:t>, </a:t>
            </a:r>
            <a:r>
              <a:rPr lang="en-US" sz="3600" b="1" dirty="0" err="1" smtClean="0">
                <a:solidFill>
                  <a:schemeClr val="tx1"/>
                </a:solidFill>
                <a:latin typeface="Bahnschrift Condensed" pitchFamily="34" charset="0"/>
              </a:rPr>
              <a:t>Rhabdoviridae</a:t>
            </a:r>
            <a:r>
              <a:rPr lang="en-US" sz="3600" b="1" dirty="0" smtClean="0">
                <a:solidFill>
                  <a:schemeClr val="tx1"/>
                </a:solidFill>
                <a:latin typeface="Bahnschrift Condensed" pitchFamily="34" charset="0"/>
              </a:rPr>
              <a:t>, </a:t>
            </a:r>
            <a:r>
              <a:rPr lang="en-US" sz="3600" b="1" dirty="0" err="1" smtClean="0">
                <a:solidFill>
                  <a:schemeClr val="tx1"/>
                </a:solidFill>
                <a:latin typeface="Bahnschrift Condensed" pitchFamily="34" charset="0"/>
              </a:rPr>
              <a:t>Filoviridae</a:t>
            </a:r>
            <a:r>
              <a:rPr lang="en-US" sz="3600" b="1" dirty="0" smtClean="0">
                <a:solidFill>
                  <a:schemeClr val="tx1"/>
                </a:solidFill>
                <a:latin typeface="Bahnschrift Condensed" pitchFamily="34" charset="0"/>
              </a:rPr>
              <a:t> and </a:t>
            </a:r>
            <a:r>
              <a:rPr lang="en-US" sz="3600" b="1" dirty="0" err="1" smtClean="0">
                <a:solidFill>
                  <a:schemeClr val="tx1"/>
                </a:solidFill>
                <a:latin typeface="Bahnschrift Condensed" pitchFamily="34" charset="0"/>
              </a:rPr>
              <a:t>Paramyxoviridae</a:t>
            </a:r>
            <a:endParaRPr lang="en-US" sz="3600" b="1" dirty="0">
              <a:solidFill>
                <a:schemeClr val="tx1"/>
              </a:solidFill>
              <a:latin typeface="Bahnschrift Condense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Introduction</a:t>
            </a:r>
            <a:endParaRPr lang="en-IN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28796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The name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paramyxovirus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is derived from two Greek words, </a:t>
            </a:r>
            <a:r>
              <a:rPr lang="en-IN" sz="2800" i="1" dirty="0" err="1" smtClean="0">
                <a:latin typeface="Arial" pitchFamily="34" charset="0"/>
                <a:cs typeface="Arial" pitchFamily="34" charset="0"/>
              </a:rPr>
              <a:t>para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 meaning by the side of and </a:t>
            </a:r>
            <a:r>
              <a:rPr lang="en-IN" sz="2800" i="1" dirty="0" err="1" smtClean="0">
                <a:latin typeface="Arial" pitchFamily="34" charset="0"/>
                <a:cs typeface="Arial" pitchFamily="34" charset="0"/>
              </a:rPr>
              <a:t>myxa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 meaning mucus</a:t>
            </a:r>
          </a:p>
          <a:p>
            <a:pPr>
              <a:lnSpc>
                <a:spcPct val="120000"/>
              </a:lnSpc>
            </a:pPr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Belongs to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order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Mononegavirales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All the viruses are enveloped, covered with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peplomers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and all have genomes consisting of a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single molecule of negative-sense, single-stranded RNA</a:t>
            </a:r>
          </a:p>
          <a:p>
            <a:pPr>
              <a:lnSpc>
                <a:spcPct val="120000"/>
              </a:lnSpc>
            </a:pPr>
            <a:endParaRPr lang="en-IN" sz="2800" b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Baltimore group V</a:t>
            </a:r>
          </a:p>
          <a:p>
            <a:pPr>
              <a:lnSpc>
                <a:spcPct val="120000"/>
              </a:lnSpc>
              <a:buNone/>
            </a:pPr>
            <a:endParaRPr lang="en-IN" sz="2800" b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381000"/>
            <a:ext cx="8458200" cy="6324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Includes important agents of disease, causing age-old diseases of humans and animals (measles,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rinderpest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PPR, canine distemper, New Castle disease, mumps, respiratory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syncytial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virus (RSV), the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parainfluenza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viruses), and newly recognized emerging diseases (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Nipah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Hendra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morbilliviruses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of aquatic mammals)</a:t>
            </a:r>
          </a:p>
          <a:p>
            <a:pPr>
              <a:lnSpc>
                <a:spcPct val="120000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Most viruses have a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narrow host range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 nature, many are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host-specific</a:t>
            </a:r>
            <a:endParaRPr lang="en-US" sz="2800" dirty="0" smtClean="0"/>
          </a:p>
          <a:p>
            <a:pPr>
              <a:lnSpc>
                <a:spcPct val="120000"/>
              </a:lnSpc>
            </a:pP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The transmission of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paramyxoviruses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is horizontal, mainly through airborne routes; no vectors are known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Classification </a:t>
            </a:r>
            <a:endParaRPr lang="en-IN" sz="28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066800"/>
            <a:ext cx="8268941" cy="548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52400"/>
            <a:ext cx="8458200" cy="57912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International Committee on Taxonomy of Viruses (ICTV) Report on the family 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Paramyxoviridae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Rima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i="1" dirty="0" smtClean="0">
                <a:latin typeface="Arial" pitchFamily="34" charset="0"/>
                <a:cs typeface="Arial" pitchFamily="34" charset="0"/>
              </a:rPr>
              <a:t>et al.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(2019)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Currently, </a:t>
            </a:r>
            <a:r>
              <a:rPr lang="en-US" sz="2400" i="1" dirty="0" err="1" smtClean="0">
                <a:latin typeface="Arial" pitchFamily="34" charset="0"/>
                <a:cs typeface="Arial" pitchFamily="34" charset="0"/>
              </a:rPr>
              <a:t>Paramyxoviridae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has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four subfamilies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17 genera, and 77 species.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Subfamily: </a:t>
            </a:r>
            <a:r>
              <a:rPr lang="en-US" sz="2400" b="1" i="1" dirty="0" err="1" smtClean="0">
                <a:latin typeface="Arial" pitchFamily="34" charset="0"/>
                <a:cs typeface="Arial" pitchFamily="34" charset="0"/>
              </a:rPr>
              <a:t>Avulavirinae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which contains three genera (Meta,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ortho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Para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avulavirus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)and 21 species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Subfamily: </a:t>
            </a:r>
            <a:r>
              <a:rPr lang="en-US" sz="2400" b="1" i="1" dirty="0" err="1" smtClean="0">
                <a:latin typeface="Arial" pitchFamily="34" charset="0"/>
                <a:cs typeface="Arial" pitchFamily="34" charset="0"/>
              </a:rPr>
              <a:t>Metaparamyxovirinae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which contains one genus and one species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Subfamily: </a:t>
            </a:r>
            <a:r>
              <a:rPr lang="en-US" sz="2400" b="1" i="1" dirty="0" err="1" smtClean="0">
                <a:latin typeface="Arial" pitchFamily="34" charset="0"/>
                <a:cs typeface="Arial" pitchFamily="34" charset="0"/>
              </a:rPr>
              <a:t>Orthoparamyxovirinae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which contains eight genera and 34 species</a:t>
            </a:r>
          </a:p>
          <a:p>
            <a:pPr>
              <a:lnSpc>
                <a:spcPct val="11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Subfamily: </a:t>
            </a:r>
            <a:r>
              <a:rPr lang="en-US" sz="2400" b="1" i="1" dirty="0" err="1" smtClean="0">
                <a:latin typeface="Arial" pitchFamily="34" charset="0"/>
                <a:cs typeface="Arial" pitchFamily="34" charset="0"/>
              </a:rPr>
              <a:t>Rubulavirinae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which contains two genera (Ortho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para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rubulavirus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and 18 species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Virion</a:t>
            </a:r>
            <a:r>
              <a:rPr lang="en-IN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Properties</a:t>
            </a:r>
            <a:endParaRPr lang="en-IN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15400" cy="5715000"/>
          </a:xfrm>
        </p:spPr>
        <p:txBody>
          <a:bodyPr>
            <a:noAutofit/>
          </a:bodyPr>
          <a:lstStyle/>
          <a:p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Pleomorphic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in shape (spherical as well as filamentous forms occur), 150-300 nm in diameter and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enveloped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The lipid envelope is covered in glycoprotein spikes (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peplomers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) of two types, an attachment protein (G or H or HN) which is a tetramer and a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trimer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or tetramer of fusion protein (F).</a:t>
            </a: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Proteins are designated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H (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hemagglutinin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) for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morbilliviruses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as they possess 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 activity, (ability to cause red blood cells to clump in laboratory tests). </a:t>
            </a:r>
          </a:p>
          <a:p>
            <a:pPr>
              <a:buNone/>
            </a:pPr>
            <a:endParaRPr lang="en-IN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762000"/>
            <a:ext cx="8763000" cy="5943600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latin typeface="Arial" pitchFamily="34" charset="0"/>
                <a:cs typeface="Arial" pitchFamily="34" charset="0"/>
              </a:rPr>
              <a:t>HN (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Hemagglutinin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-neuraminidase)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attachment proteins occur in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respiroviruses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rubulaviruses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avulaviruses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. These possess both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and neuraminidase activity, which cleaves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sialic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acid on the cell surface, preventing viral particles from reattaching to previously infected cells. </a:t>
            </a:r>
          </a:p>
          <a:p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Attachment proteins with neither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nor neuraminidase activity are designated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G (glycoprotein).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These occur in </a:t>
            </a:r>
            <a:r>
              <a:rPr lang="en-IN" sz="2800" b="1" dirty="0" err="1" smtClean="0">
                <a:latin typeface="Arial" pitchFamily="34" charset="0"/>
                <a:cs typeface="Arial" pitchFamily="34" charset="0"/>
              </a:rPr>
              <a:t>henipaviruses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381000"/>
            <a:ext cx="8686800" cy="6019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Cell attachment is mediated via the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hemagglutinin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-neuraminidase (HN) protein. </a:t>
            </a:r>
          </a:p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This glycoprotein elicits neutralizing antibodies that inhibit adsorption of virus to cellular receptors.</a:t>
            </a:r>
          </a:p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fusion protein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is present on newly formed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virions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in an inactive precursor form (F</a:t>
            </a:r>
            <a:r>
              <a:rPr lang="en-IN" sz="2800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) that is activated by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proteolytic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cleavage by a cellular protease which is essential for viral infectivity.</a:t>
            </a: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 neutral pH for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fusogenic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activity is also a requirement.</a:t>
            </a:r>
            <a:endParaRPr lang="en-IN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72440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Because the fusion protein is essential for viral infectivity and for direct cell-to-cell spread via fusion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between the viral envelope and the cell membrane,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it plays a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key role 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in the pathogenesis of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paramyxovirus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infections, including persistent infections. </a:t>
            </a:r>
          </a:p>
          <a:p>
            <a:pPr>
              <a:lnSpc>
                <a:spcPct val="120000"/>
              </a:lnSpc>
            </a:pPr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There is also an envelope-associated non-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glycosylated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matrix (M)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protein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between the envelope and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core.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990600"/>
            <a:ext cx="8218171" cy="5029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81000"/>
            <a:ext cx="8686800" cy="5791200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has </a:t>
            </a:r>
            <a:r>
              <a:rPr lang="en-IN" sz="24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helical symmetry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13 to 18 nm in diameter, has a characteristic ‘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herringbone’ appearance </a:t>
            </a:r>
          </a:p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A single molecule of linear, non-segmented, negative-sense, single-stranded RNA present</a:t>
            </a:r>
          </a:p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Three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-associated proteins, i.e., an RNA-binding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protein (N)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protects the RNA from nuclease digestion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 polymerase-associated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phosphoprotein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(P)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that binds to N and L proteins and  forms part of the RNA polymerase complex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 and a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large protein (L)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is the catalytic subunit of RNA-directed RNA polymerase (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RdRP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(capping and cap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methylation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activities)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Origins &amp; History of Herringbone Timber Flooring | Havwoods Australi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28600"/>
            <a:ext cx="7620000" cy="508635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685800" y="5562601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Herring bone -</a:t>
            </a:r>
            <a:r>
              <a:rPr lang="en-GB" sz="2800" dirty="0" smtClean="0"/>
              <a:t> named for the resemblance to the bone structure of the herring fish skeleton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228600"/>
            <a:ext cx="8991600" cy="6248400"/>
          </a:xfrm>
        </p:spPr>
        <p:txBody>
          <a:bodyPr>
            <a:noAutofit/>
          </a:bodyPr>
          <a:lstStyle/>
          <a:p>
            <a:pPr algn="just"/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Virions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8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are labile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being sensitive to heat, desiccation, lipid solvents, non-ionic detergents and many disinfectants.</a:t>
            </a:r>
          </a:p>
          <a:p>
            <a:pPr algn="just"/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Paramyxoviruses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can possess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haemagglutinating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, haemolytic and neuraminidase activities.</a:t>
            </a: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Infection of cultured cells is generally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lytic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but temperate or persistent infections are common in this family in vitro and in vivo.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Also there is the formation of inclusion bodies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syncytia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 infected cells.</a:t>
            </a:r>
          </a:p>
          <a:p>
            <a:pPr algn="just">
              <a:buNone/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Viral replication</a:t>
            </a:r>
            <a:endParaRPr lang="en-US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9436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800" b="1" dirty="0" smtClean="0">
                <a:latin typeface="Arial" pitchFamily="34" charset="0"/>
                <a:cs typeface="Arial" pitchFamily="34" charset="0"/>
              </a:rPr>
              <a:t>Site- cell cytoplasm</a:t>
            </a: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Even though their replication is entirely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cytoplasmic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Morbilliviruses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produce acidophilic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intranuclear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inclusion bodies </a:t>
            </a:r>
          </a:p>
          <a:p>
            <a:pPr>
              <a:lnSpc>
                <a:spcPct val="120000"/>
              </a:lnSpc>
            </a:pP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Virions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attach via their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hemagglutinin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- neuraminidase protein to cellular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sialoglycoprotein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glycolipid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receptors. </a:t>
            </a: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fusion protein then mediates fusion of the viral envelope with the plasma membrane, at physiologic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pH.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liberated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remains intact, with all three of its associated proteins (N, P, and L) being required for transcription by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virion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 associated, RNA-dependent RNA polymerase (transcriptase). </a:t>
            </a:r>
          </a:p>
          <a:p>
            <a:pPr>
              <a:lnSpc>
                <a:spcPct val="120000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viral genome is transcribed from the 3' end by viral polymerase (P-L) which generate mRNAs for secondary transcription.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81000"/>
            <a:ext cx="91440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Replication of the full-length genome occurs efficiently only after accumulation of viral proteins and involves production of positive sense anti-genomes which act as templates for the synthesis of new negative-sense genomic RNA. </a:t>
            </a:r>
          </a:p>
          <a:p>
            <a:pPr>
              <a:lnSpc>
                <a:spcPct val="120000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Matrix proteins are considered the key organizers of virus particle assembly since they act as bridges between the envelope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glycoproteins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ribonucleoprotein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complexes, can self-assemble into higher order structures, and bind cellular membranes as well as several cellular factors.</a:t>
            </a:r>
          </a:p>
          <a:p>
            <a:pPr>
              <a:lnSpc>
                <a:spcPct val="120000"/>
              </a:lnSpc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 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This new RNA associates with the NP and transcriptase to form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nucleocapsid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then the M, F, and HN proteins migrate to the surface of the plasma membrane.</a:t>
            </a:r>
          </a:p>
          <a:p>
            <a:pPr>
              <a:lnSpc>
                <a:spcPct val="120000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Paramyxoviruses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bud off of the cell membrane, leaving them enveloped.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) Schematic of a paramyxovirus particle. The viral envelope,... |  Download Scientific Diagram"/>
          <p:cNvPicPr>
            <a:picLocks noChangeAspect="1" noChangeArrowheads="1"/>
          </p:cNvPicPr>
          <p:nvPr/>
        </p:nvPicPr>
        <p:blipFill>
          <a:blip r:embed="rId2"/>
          <a:srcRect t="23966"/>
          <a:stretch>
            <a:fillRect/>
          </a:stretch>
        </p:blipFill>
        <p:spPr bwMode="auto">
          <a:xfrm>
            <a:off x="381000" y="0"/>
            <a:ext cx="8458200" cy="655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New Castle disease virus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91600" cy="4525963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The taxonomic name for Newcastle disease virus (NDV) has recently changed from Avian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paramyxovirus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 1 (APMV-1) to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Avian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Avulavirus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1 (AAvV-1). </a:t>
            </a:r>
          </a:p>
          <a:p>
            <a:pPr algn="just"/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800" b="1" dirty="0" smtClean="0">
                <a:latin typeface="Arial" pitchFamily="34" charset="0"/>
                <a:cs typeface="Arial" pitchFamily="34" charset="0"/>
              </a:rPr>
              <a:t>Belongs to subfamily-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Avulavirinae</a:t>
            </a:r>
            <a:endParaRPr lang="en-US" sz="28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 smtClean="0">
                <a:solidFill>
                  <a:srgbClr val="FF0000"/>
                </a:solidFill>
              </a:rPr>
              <a:t>Pathotypes</a:t>
            </a:r>
            <a:r>
              <a:rPr lang="en-US" sz="4000" b="1" dirty="0" smtClean="0">
                <a:solidFill>
                  <a:srgbClr val="FF0000"/>
                </a:solidFill>
              </a:rPr>
              <a:t> of NDV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b="1" dirty="0" smtClean="0">
                <a:latin typeface="Arial" pitchFamily="34" charset="0"/>
                <a:cs typeface="Arial" pitchFamily="34" charset="0"/>
              </a:rPr>
              <a:t>Five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pathotypes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based on clinical signs in infected chickens: </a:t>
            </a: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viscerotropic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velogenic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(Doyle's form) -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hemorrhagic intestinal lesions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b)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neurotropic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velogenic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Beache's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form)- </a:t>
            </a:r>
            <a:r>
              <a:rPr lang="en-US" altLang="en-US" sz="2800" dirty="0" smtClean="0">
                <a:latin typeface="Arial" pitchFamily="34" charset="0"/>
                <a:cs typeface="Arial" pitchFamily="34" charset="0"/>
              </a:rPr>
              <a:t>respiratory and neurologic signs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c)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mesogenic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Beaudett's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form).</a:t>
            </a: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d)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or respiratory (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Hitchner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form). </a:t>
            </a:r>
          </a:p>
          <a:p>
            <a:pPr algn="just"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e) asymptomatic. 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Velogens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mesogens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are now classified as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virulent NDV 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vNDV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the cause of Newcastle disease and reportable infection,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whereas infections with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lentogens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low virulence NDV (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loNDV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widely used as live vaccines, are not reportable.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Members of all species of the subfamily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Avulavirinae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 have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hemagglutinin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neuraminidase activities.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New Castle disease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     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Ranikhet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disease or Avian Distemper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The disease was first observed in Java in 1926 and in the same year it spread to England, where it was first recognized in Newcastle, hence the name.</a:t>
            </a:r>
          </a:p>
          <a:p>
            <a:pPr>
              <a:lnSpc>
                <a:spcPct val="120000"/>
              </a:lnSpc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The disease is one of the most contagious of all viral diseases, spreading rapidly among susceptible birds</a:t>
            </a:r>
          </a:p>
          <a:p>
            <a:pPr>
              <a:lnSpc>
                <a:spcPct val="120000"/>
              </a:lnSpc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OIE list A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disease </a:t>
            </a:r>
          </a:p>
          <a:p>
            <a:pPr>
              <a:lnSpc>
                <a:spcPct val="120000"/>
              </a:lnSpc>
            </a:pP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Zoonotic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 Humans may become infected; manifested by unilateral or bilateral reddening, excessive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lachrymation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oedema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the eyelids, conjunctivitis and sub-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conjunctival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haemorrhage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Transmission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525963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Arial"/>
              </a:rPr>
              <a:t>By direct contact with diseased or carrier birds.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</a:rPr>
              <a:t>Infected birds may shed the virus in their feces, contaminating the environment. 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</a:rPr>
              <a:t>Transmission can then occur by direct contact with feces and respiratory discharges or by contaminated food, water, equipment, and human clothing. 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Arial"/>
              </a:rPr>
              <a:t>Newcastle disease viruses can survive for several weeks in the environment, especially in cool weather.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/>
              </a:rPr>
              <a:t>Generally, virus is shed during the incubation period and for a short time during recovery. </a:t>
            </a:r>
          </a:p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/>
              </a:rPr>
              <a:t>Birds in the pigeon family can shed the virus intermittently for a year or more. </a:t>
            </a:r>
          </a:p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/>
              </a:rPr>
              <a:t>The virus is present in all parts of the carcass of an infected bird.</a:t>
            </a:r>
          </a:p>
          <a:p>
            <a:pPr algn="just"/>
            <a:r>
              <a:rPr lang="en-US" sz="2800" dirty="0" smtClean="0">
                <a:solidFill>
                  <a:srgbClr val="000000"/>
                </a:solidFill>
                <a:latin typeface="Arial"/>
              </a:rPr>
              <a:t>When the virus is introduced into a susceptible flock, virtually all the birds will be infected within two to six days.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Pathogenesis 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4724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Initially the virus replicates in the mucosal epithelium of the upper respiratory and intestinal tracts; shortly after infection, virus spreads via the blood to the spleen and bone marrow, producing a secondary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viremia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This leads to infection of other target organs: lung, intestine, and central nervous system.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Respiratory distress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dysponea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result from congestion of the lungs and damage to the respiratory center in the brain.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 The most prominent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histologic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lesions are necrotic foci in the intestinal mucosa and the lymphatic tissue and hyperemic changes in most organs, including the brain.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i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 vivo </a:t>
            </a:r>
            <a:r>
              <a:rPr lang="en-US" sz="36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Pathogenicity</a:t>
            </a:r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tests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Intravenous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Pathogenicity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Index (IVPI)- </a:t>
            </a:r>
          </a:p>
          <a:p>
            <a:pPr marL="457200" indent="-457200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6 wks susceptible chicks</a:t>
            </a:r>
          </a:p>
          <a:p>
            <a:pPr marL="457200" indent="-457200"/>
            <a:r>
              <a:rPr lang="en-US" sz="2400" dirty="0" smtClean="0">
                <a:latin typeface="Arial" pitchFamily="34" charset="0"/>
                <a:cs typeface="Arial" pitchFamily="34" charset="0"/>
              </a:rPr>
              <a:t>Birds are examined at 24 hour intervals for 10 days and scored at each observation:</a:t>
            </a:r>
          </a:p>
          <a:p>
            <a:pPr marL="457200" indent="-45720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0 if normal, </a:t>
            </a:r>
          </a:p>
          <a:p>
            <a:pPr marL="457200" indent="-45720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1 if sick, </a:t>
            </a:r>
          </a:p>
          <a:p>
            <a:pPr marL="457200" indent="-45720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2 if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paralysed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</a:p>
          <a:p>
            <a:pPr marL="457200" indent="-457200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          3 if dead.</a:t>
            </a:r>
          </a:p>
          <a:p>
            <a:pPr marL="457200" indent="-457200"/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sz="2400" dirty="0" smtClean="0">
                <a:latin typeface="Arial" pitchFamily="34" charset="0"/>
                <a:cs typeface="Arial" pitchFamily="34" charset="0"/>
              </a:rPr>
              <a:t>The IVPI is the mean score per bird per observation over the 10 day period.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strains and some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mesogenic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strains will have IVPI values of 0, whereas the indices for virulent strains will approach 3.0. 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381000"/>
            <a:ext cx="87630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2. Mean death time (MDT)-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 9 days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embryonated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eggs. 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Each egg is examined twice daily for 7 days and the times of any embryo deaths recorded.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minimum lethal dose is the highest virus dilution which causes all the embryos inoculated with that dilution to die.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MDT is the mean time in hours for the minimum lethal dose to kill embryos.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MDT has been used to classify NDV strains into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velogenic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taking less than 60 hours to kill;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mesogenic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taking between 60-90 hours;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taking more than 90 hours.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609600"/>
            <a:ext cx="861060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3.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Intracerebral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pathogenicity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index (ICPI)-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0.05ml of the diluted virus is injected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intracerebrally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into each of 10 one-day-old chicks hatched from an SPF flock. The birds are examined every 24 hours for 8 days.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At each observation the birds are scored: 0 if normal, 1 if sick, and 2 if dead.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ICPI is the mean score per bird per observation over the 8-day period.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most virulent viruses will give indices which approach the maximum score of 2.0, whereas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strains will give values close to 0.0.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Clinical signs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4525963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Dependent on factors such as: the virus/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pathotype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host species, age of host, co-infection with other organisms, environmental stress and immune status.</a:t>
            </a: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strains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Usually associated with subclinical disease marked by mild respiratory disease; coughing, gasping, sneezing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rales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Mortality is negligible </a:t>
            </a: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Mesogenic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strains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May cause acute respiratory disease and neurologic signs in some species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Mortality rate is usually low (&lt;10%)</a:t>
            </a: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Velogenic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strains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Most commonly cause severe disease in chickens with 100% mortality; signs principally respiratory and/or nervous 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609600"/>
            <a:ext cx="9144000" cy="4983163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Initial clinical signs vary but include: lethargy,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inappetence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ruffled feathers,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oedema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infection of conjunctiva.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As the disease progresses birds may develop: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greenish or white watery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diarrhoea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dyspnoea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inflammation of the head and neck often with cyanotic discoloration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 later stages of disease neurologic signs may be manifested as: tremors, tonic/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clonic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spasms, wing/leg paresis or paralysis,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torticollis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and aberrant circling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behaviour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Sharp drop in egg production; eggs contain a watery albumin and appear misshapen with abnormally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coloured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rough or thin shells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These strains often result in sudden death, with few or no signs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Birds that survive serious infection may develop neurologic and partial or complete cessation of egg production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Lesions 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867400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Only 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velogenic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strains produce significant gross lesions</a:t>
            </a: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Predominantly hemorrhagic lesions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in particular at the esophagus/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proventriculus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proventriculus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/gizzard junctions and in the posterior half of the duodenum, the jejunum, and ileum. </a:t>
            </a: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In severe cases, hemorrhages are also present in subcutaneous tissues, muscles, larynx, tracheal/esophageal tissues, serous membranes, trachea, lungs,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airsacs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pericardium, and myocardium.</a:t>
            </a: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Spleen may appear enlarged, friable and dark red or mottled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 adult hens, hemorrhages are present in ovarian follicles.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Lesions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can develop into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diphtheroid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inflammatory foci and later into necrotic foci.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central nervous system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lesions are those of encephalomyelitis--neuronal necrosis,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perivascular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cuffing, and interstitial inflammatory infiltration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5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381000"/>
            <a:ext cx="3581400" cy="2593428"/>
          </a:xfrm>
          <a:prstGeom prst="rect">
            <a:avLst/>
          </a:prstGeom>
          <a:noFill/>
        </p:spPr>
      </p:pic>
      <p:pic>
        <p:nvPicPr>
          <p:cNvPr id="1028" name="Picture 4" descr="26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609600"/>
            <a:ext cx="3343275" cy="2266951"/>
          </a:xfrm>
          <a:prstGeom prst="rect">
            <a:avLst/>
          </a:prstGeom>
          <a:noFill/>
        </p:spPr>
      </p:pic>
      <p:pic>
        <p:nvPicPr>
          <p:cNvPr id="1030" name="Picture 6" descr="https://country.cdn.cevaws.com/var/ezflow_site/storage/images/_aliases/large/media/ceva-vietnam/images/nd-23/510208-1-eng-GB/ND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3505200"/>
            <a:ext cx="3429000" cy="2371726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4572000" y="3048000"/>
            <a:ext cx="3963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haemorrhages</a:t>
            </a:r>
            <a:r>
              <a:rPr lang="en-US" dirty="0" smtClean="0"/>
              <a:t> of gizzard epithelium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" y="60198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The mucous coat of gizzard is </a:t>
            </a:r>
            <a:r>
              <a:rPr lang="en-US" dirty="0" err="1" smtClean="0"/>
              <a:t>oedematous</a:t>
            </a:r>
            <a:r>
              <a:rPr lang="en-US" dirty="0" smtClean="0"/>
              <a:t>, covered with thick mucus </a:t>
            </a:r>
            <a:endParaRPr lang="en-US" dirty="0"/>
          </a:p>
        </p:txBody>
      </p:sp>
      <p:pic>
        <p:nvPicPr>
          <p:cNvPr id="1032" name="Picture 8" descr="https://country.cdn.cevaws.com/var/ezflow_site/storage/images/_aliases/large/media/ceva-vietnam/images/nd-4/510224-1-eng-GB/ND-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3429000"/>
            <a:ext cx="3429000" cy="237172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4572000" y="58674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haemorrhagic</a:t>
            </a:r>
            <a:r>
              <a:rPr lang="en-US" dirty="0" smtClean="0"/>
              <a:t> necrotic and focal </a:t>
            </a:r>
            <a:r>
              <a:rPr lang="en-US" dirty="0" err="1" smtClean="0"/>
              <a:t>diphtheroid</a:t>
            </a:r>
            <a:r>
              <a:rPr lang="en-US" dirty="0" smtClean="0"/>
              <a:t> lesions in the mucosa of the </a:t>
            </a:r>
            <a:r>
              <a:rPr lang="en-US" dirty="0" err="1" smtClean="0"/>
              <a:t>buccal</a:t>
            </a:r>
            <a:r>
              <a:rPr lang="en-US" dirty="0" smtClean="0"/>
              <a:t> cavity 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33400" y="2895600"/>
            <a:ext cx="3759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Opisthotonus</a:t>
            </a:r>
            <a:r>
              <a:rPr lang="en-US" dirty="0" smtClean="0"/>
              <a:t> in the </a:t>
            </a:r>
            <a:r>
              <a:rPr lang="en-US" dirty="0" err="1" smtClean="0"/>
              <a:t>neurotropic</a:t>
            </a:r>
            <a:r>
              <a:rPr lang="en-US" dirty="0" smtClean="0"/>
              <a:t> form 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Diagnosis 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Samples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Samples should be collected from recently dead birds or moribund birds that have been killed humanely.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Dead birds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oro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-nasal swabs; lung, kidneys, intestine (including contents),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caecal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tonsils, spleen, brain, liver and heart tissues, separately or as a pool 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Live birds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tracheal or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oropharyngeal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cloacal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swabs (visibly coated with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faecal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material) from live birds or from pools of organs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faeces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from dead birds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Clotted blood samples or serum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Identification of the agent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1524000"/>
            <a:ext cx="8763000" cy="495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Virus isolation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by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allantoic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inoculation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 10-day-old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embryonated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eggs, and tested for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(HA) activity </a:t>
            </a:r>
          </a:p>
          <a:p>
            <a:pPr>
              <a:lnSpc>
                <a:spcPct val="120000"/>
              </a:lnSpc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Virus identification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use of specific antiserum in a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inhibition (HI) test</a:t>
            </a:r>
          </a:p>
          <a:p>
            <a:pPr>
              <a:lnSpc>
                <a:spcPct val="12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Pathogenicity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index determined by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intracerebral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pathogenecity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test.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Molecular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techniques- RT-PCR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Serological tests </a:t>
            </a:r>
            <a:br>
              <a:rPr lang="en-US" b="1" dirty="0" smtClean="0">
                <a:latin typeface="Arial" pitchFamily="34" charset="0"/>
                <a:cs typeface="Arial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inhibition tests: most widely used and detects antibody response to virus glycoprotein (predictor of protection against disease) </a:t>
            </a:r>
          </a:p>
          <a:p>
            <a:pPr>
              <a:lnSpc>
                <a:spcPct val="120000"/>
              </a:lnSpc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Enzyme-linked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immunosorbent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assay (ELISA): as whole virus is used as antigen, detects antibody to all of the virus proteins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609600"/>
            <a:ext cx="8763000" cy="6019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                                       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Vaccination </a:t>
            </a:r>
            <a:endParaRPr lang="en-US" sz="24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Conventional live virus vaccines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2 groups  </a:t>
            </a:r>
          </a:p>
          <a:p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lentogenic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vaccines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(e.g. Hitchner-B1, La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Sota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V4, NDW, I2 and F)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mesogenic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vaccines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(e.g.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Roakin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Mukteswar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Komarov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Live virus vaccines administered to birds by incorporation in the drinking water, delivered as a coarse spray (aerosol), or by intranasal or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conjunctival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instillation; some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mesogenic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strains are given by wing-web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intradermal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inoculation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Inactivated vaccines-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prepared from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allantoic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fluid that has had its infectivity inactivated by formaldehyde or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beta-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propiolactone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incorporated into an emulsion with mineral oil or vegetable oil, and is administered intramuscularly or subcutaneously; </a:t>
            </a:r>
          </a:p>
          <a:p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New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recombinant vaccines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fowlpox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virus,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vaccinia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virus,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pigeonpox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virus, turkey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herpesvirus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avian cells in which the HN gene, the F gene, or both, of NDV are expressed 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Prevention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When the disease appears in a previously disease free area, a stamping out policy is practiced in most countries. This includes: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strict isolation or quarantine of outbreaks;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humane destruction of all infected and exposed birds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thorough cleaning and disinfection of premises;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proper carcass disposal;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pest control in flocks;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depopulation followed by 21 days without poultry before restocking;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avoidance of contact with birds of unknown health status;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control of access to poultry farms.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Canine distemper virus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91600" cy="49530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Canine distemper 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or CDV, is a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morbillivirus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closely related to the viruses of measles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rinderpest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Morbillivirus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belongs to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subfamily </a:t>
            </a:r>
            <a:r>
              <a:rPr lang="en-US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orthoparamyxovirinae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and are able to infect a wide range of hosts to cause varied types of disease, many of which are severe.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Wild animals like raccoons, foxes, wolves, coyotes, skunks, ferrets, and mink can also get distemper.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Canine distemper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3340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Syn. - Canine influenza;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Carres</a:t>
            </a:r>
            <a:r>
              <a:rPr lang="en-US" sz="2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; Hard pad disease; footpad disease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It is an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acute highly contagious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viral disease of carnivorous animals characterized by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diphasic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fever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ocular and nasal catarrh and frequent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cutaneous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eruptions. </a:t>
            </a:r>
          </a:p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Affects dogs most commonly aged between 3 and 6 months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when maternal antibody level is declining, but can occur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in older dogs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that have been vaccinated infrequently or improperly, especially after stress,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immunosuppression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or contact with other affected dogs.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533400"/>
            <a:ext cx="8534400" cy="6019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CD is a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multisystemic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disease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that can present with one or more of the following: 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– Respiratory disease with severe pneumonia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– Gastrointestinal disease with vomiting and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diarrhoea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– Neurological disease including seizures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– Severe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immunosuppression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leading to infection by normally innocuous bacteria and viruses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mortality rate of all forms of the disease, taken together, ranges between 30 and 80%. 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Transmission 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9144000" cy="49831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Indigenous breeds are quite resistant.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 nature, the transmission of the virus takes place by inhalation (droplet or aerosol).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disease may indirectly be transmitted through ingestion of contaminated food and water.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Sources of virus</a:t>
            </a:r>
            <a:r>
              <a:rPr lang="en-US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virus is discharged through secretions and excretions-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conjunctival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nasal, and oral exudates, urine, feces, and skin dander.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virus is present in all the excretions during the systemic reaction phase of the disease.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virus is sensitive to lipid solvents, such as ether, and most disinfectants, including phenols and quaternary ammonium compounds. It is relatively unstable outside the host.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Pathogenesis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991600" cy="4525963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CDV is considered a multi-cell pathogen that has the ability to infect three different types of host cells including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epithelial, lymphoid, and neurological cells.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pathogenesis is as follows: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Virus – inhalation – Pharynx – Palatine tonsil –Macrophages–Lymphoid vessels – Blood vessels – Bone marrow –Spleen – Lymphoid tissues –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Leukopenia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–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Leukocytosis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Infected cells carry the virus to the draining lymph node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where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resident activated T-cells and B-cells are infected, resulting in virus amplification and the initiation of primary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viremia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virus gets disseminated to secondary lymphoid organs, including the spleen, the thymus, the tonsils and subsequently a systemic spread through the entire immune system.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Clinical signs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991600" cy="48768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 acute form-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There is a high rise of temperature. This temperature reaction is characteristic and is known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as biphasic reaction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temperature rises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upto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103 to 104°F. In this stage, the nose of the animal will turn dry and hot and eyes will turn congested. The animal is markedly depressed and refuses to take food. </a:t>
            </a:r>
          </a:p>
          <a:p>
            <a:endParaRPr lang="en-GB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GB" sz="2400" dirty="0" smtClean="0">
                <a:latin typeface="Arial" pitchFamily="34" charset="0"/>
                <a:cs typeface="Arial" pitchFamily="34" charset="0"/>
              </a:rPr>
              <a:t>The first fever peak, often 3-6 days after infection, is accompanied by lymphoid depletion.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Within few days yellowish green discharge is voided from the eyes and nose.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This temperature usually come down in 96 hours to normal level and remains so till 11 to 12 days.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Afterwards, temperature rises to a second peak which remains continuous during the course of the systemic infection.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second rise of temperature is accompanied by widespread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viremia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dog shows rhinitis, conjunctivitis, gastroenteritis and broncho­pneumonia.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458200" cy="4525963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The pulmonary disease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characterized by catarrhal inflammation of the larynx and bronchi, tonsillitis, and a cough. Later, bronchitis or catarrhal bronchopneumonia develop, sometimes with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pleuritis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The gastrointestinal disease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characterized by severe vomiting and watery diarrhea. </a:t>
            </a:r>
          </a:p>
          <a:p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Occular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form 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swollen eye lids, congestion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conjuctival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mucosa (conjunctivitis), purulent discharge from the eyes. The pus may lead to ulceration of the cornea.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52400"/>
            <a:ext cx="8915400" cy="52578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Nervous form –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subacute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form or follow any of the acute manifestation.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400" dirty="0" smtClean="0">
                <a:latin typeface="Arial" pitchFamily="34" charset="0"/>
                <a:cs typeface="Arial" pitchFamily="34" charset="0"/>
              </a:rPr>
            </a:br>
            <a:r>
              <a:rPr lang="en-US" sz="2400" dirty="0" smtClean="0">
                <a:latin typeface="Arial" pitchFamily="34" charset="0"/>
                <a:cs typeface="Arial" pitchFamily="34" charset="0"/>
              </a:rPr>
              <a:t>These are characterized by restlessness, excitement, chewing movements 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(“chewing-gum fits”)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, excessive salivation and convulsion. The dog may fall and show epileptic form fits.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Lymphopenia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is the distinct feature of distemper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nervous form may be characterized by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chorea.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Chorea indicates jerky movements of group of muscles. The muscular spasms may be observed in the lips, cheeks, jaws, head, neck or limb muscles.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Paresis or paralysis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often beginning in the hind limbs and evident as ataxia, followed by ascending paresis and paralysis.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457200"/>
            <a:ext cx="8763000" cy="6248400"/>
          </a:xfrm>
        </p:spPr>
        <p:txBody>
          <a:bodyPr>
            <a:normAutofit/>
          </a:bodyPr>
          <a:lstStyle/>
          <a:p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Cutaneous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form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There is appearance of rash, vesicles and pustules, In some cases, the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skin of the foot pads and nose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may become hard due to hyper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keratosis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the condition is ascribed as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hard pad disease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”.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When the foot pads are thickened, the dog may experience some difficulty in walking on hard objects.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There may be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vesicopustular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eruptions on the ventral aspect of the abdomen and on the inner parts of the thighs of skin. This type of distemper eruptions are known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as distemper exanthema.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There are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two late forms of the disease seen in old dogs: old dog encephalitis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hard-pad disease</a:t>
            </a:r>
          </a:p>
          <a:p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b="1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Old dog encephalitis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” in old dogs in which there is slow progressive loss of neurologic functions and characterized by mental disorders, motor deterioration and death</a:t>
            </a:r>
            <a:endParaRPr lang="en-US" sz="2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752" t="3510" r="2752" b="7557"/>
          <a:stretch>
            <a:fillRect/>
          </a:stretch>
        </p:blipFill>
        <p:spPr bwMode="auto">
          <a:xfrm>
            <a:off x="457200" y="228600"/>
            <a:ext cx="8468226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Experts Warn More Dogs Are Catching &quot;Hard Pad Disease&quot; - Here'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Experts Warn More Dogs Are Catching &quot;Hard Pad Disease&quot; - Here's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57200"/>
            <a:ext cx="7826667" cy="41148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71800" y="541020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Arial" pitchFamily="34" charset="0"/>
                <a:cs typeface="Arial" pitchFamily="34" charset="0"/>
              </a:rPr>
              <a:t>Hard pad disease</a:t>
            </a:r>
            <a:endParaRPr lang="en-US" sz="2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60" name="Picture 4" descr="https://ars.els-cdn.com/content/image/1-s2.0-S2352771415000087-gr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52400"/>
            <a:ext cx="3409950" cy="504825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838200" y="5288340"/>
            <a:ext cx="8077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a)Severe </a:t>
            </a:r>
            <a:r>
              <a:rPr lang="en-US" sz="2400" dirty="0" err="1" smtClean="0"/>
              <a:t>muco-suppurative</a:t>
            </a:r>
            <a:r>
              <a:rPr lang="en-US" sz="2400" dirty="0" smtClean="0"/>
              <a:t> conjunctivitis; b) Conjunctiva with epithelial </a:t>
            </a:r>
            <a:r>
              <a:rPr lang="en-US" sz="2400" dirty="0" err="1" smtClean="0"/>
              <a:t>syncytial</a:t>
            </a:r>
            <a:r>
              <a:rPr lang="en-US" sz="2400" dirty="0" smtClean="0"/>
              <a:t> cells (arrows) and </a:t>
            </a:r>
            <a:r>
              <a:rPr lang="en-US" sz="2400" dirty="0" err="1" smtClean="0"/>
              <a:t>cytoplasmic</a:t>
            </a:r>
            <a:r>
              <a:rPr lang="en-US" sz="2400" dirty="0" smtClean="0"/>
              <a:t> </a:t>
            </a:r>
            <a:r>
              <a:rPr lang="en-US" sz="2400" dirty="0" err="1" smtClean="0"/>
              <a:t>eosinophilic</a:t>
            </a:r>
            <a:r>
              <a:rPr lang="en-US" sz="2400" dirty="0" smtClean="0"/>
              <a:t> viral inclusion bodies (arrowheads); </a:t>
            </a:r>
            <a:r>
              <a:rPr lang="en-US" sz="2400" dirty="0" err="1" smtClean="0"/>
              <a:t>hematoxylin</a:t>
            </a:r>
            <a:r>
              <a:rPr lang="en-US" sz="2400" dirty="0" smtClean="0"/>
              <a:t>–eosin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Lesions 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763000" cy="4525963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Hyperkeratosis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the nose and footpads</a:t>
            </a: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Thymic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atrophy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is a consistent pm finding in infected young puppies. 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Necrosis of lymphatic tissues, interstitial pneumonia, and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cytoplasmic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intranuclear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inclusion bodies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 respiratory, urinary, and GI epithelium.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Lesions found in the brains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of dogs with neurologic complications include: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neuronal degeneration,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gliosis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Non-inflammatory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demyelination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perivascular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cuffing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Non-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suppurative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leptomeningitis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and</a:t>
            </a: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Intranuclear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inclusion bodies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predominately within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glial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cells</a:t>
            </a:r>
          </a:p>
          <a:p>
            <a:pPr>
              <a:buNone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400" b="1" dirty="0" smtClean="0">
                <a:latin typeface="Arial" pitchFamily="34" charset="0"/>
                <a:cs typeface="Arial" pitchFamily="34" charset="0"/>
              </a:rPr>
            </a:b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Diagnosis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Reverse-transcriptase polymerase chain reaction (RT-PCR)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Virus isolation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Immuno-histochemistry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Fluorescent antibody staining 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Faecal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enzyme-linked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immunosorbent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assay (ELISA)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Electron microscopy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Histopathology </a:t>
            </a:r>
          </a:p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Serological tests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Indirect fluorescent antibody tests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Haemagglutination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inhibition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ELISA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Vaccination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A dog after recovery from an attack of distemper generally acquire a long lasting immunity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Vaccination is very effective at preventing distemper.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Young dogs require 2 vaccinations with modified-live virus (MLV) vaccine which can be given from 6 weeks of age, with the second being given 3-4 weeks after the first vaccination. </a:t>
            </a:r>
          </a:p>
          <a:p>
            <a:pPr algn="just"/>
            <a:r>
              <a:rPr lang="en-US" sz="2800" dirty="0" smtClean="0">
                <a:latin typeface="Arial" pitchFamily="34" charset="0"/>
                <a:cs typeface="Arial" pitchFamily="34" charset="0"/>
              </a:rPr>
              <a:t>Vaccination against distemper is then repeated one year later and thereafter is  given as part of the booster vaccination regime.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Peste</a:t>
            </a:r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des </a:t>
            </a:r>
            <a:r>
              <a:rPr lang="en-US" sz="32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Petits</a:t>
            </a:r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Ruminants or PPR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991600" cy="54102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Syn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goat plague,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kata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, syndrome of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stomatitis-pneumoenteritis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, and ovine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rinderpest</a:t>
            </a:r>
            <a:endParaRPr lang="en-US" sz="28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French name for "plague of small ruminants".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Highly contagious disease of goats and sheep characterized by fever, sores in the mouth, diarrhea, pneumonia, and sometimes death.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It is caused by a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morbillivirus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that is related to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rinderpest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measles and canine distemper. The official name of this virus was changed in 2016 to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Small ruminant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morbillivirus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(SRM)</a:t>
            </a:r>
          </a:p>
          <a:p>
            <a:pPr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876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Cattle and several wild ruminants have been infected most often experimentally, but goats and sheep are the usual targets.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PPR is WOAH list A disease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disease occurs in a band that spreads across Africa between the equator and the Sahara, through the Arabian Peninsula, the Middle East, south-west Asia.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Reported in 1989 in India from Tamil Nadu.</a:t>
            </a:r>
          </a:p>
          <a:p>
            <a:pPr>
              <a:buNone/>
            </a:pP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Transmission 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virus is secreted in tears, nasal discharge, secretions from coughing, and in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faeces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of infected animals.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Close contact between animals, especially through inhalation of fine droplets that are released into the air when affected animals cough and sneeze will spread the disease.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Water, feed troughs, and bedding can also be contaminated with secretions and become additional sources of infection, however the virus does not survive for a long time outside the body of a host animal.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Since animals excrete the virus before showing signs of the disease, it can spread by movement of infected animals.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Morbidity rate in susceptible populations can reach 90–100%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Mortality rates vary among susceptible animals but can reach 50–100% in more severe instances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Both morbidity and mortality rates are lower in endemic areas and in adult animals when compared to young.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Pathogenesis </a:t>
            </a:r>
            <a:endParaRPr lang="en-US" sz="3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PPR virus, like other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morbilliviruses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is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lymphotropic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epitheliotropic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It induces the most severe lesions in organ systems rich in lymphoid and epithelial tissues.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After the entry of the virus through the respiratory tract system, it localizes first replicating in the pharyngeal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mandibular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lymph nodes as well as tonsil. </a:t>
            </a:r>
          </a:p>
          <a:p>
            <a:pPr algn="just"/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Viremia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may develop 2-3 days after infection and 1-2 days before the first clinical sign appears.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Subsequently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viremia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results in dissemination of the virus to spleen, bone marrow and mucosa of the gastro-intestinal tract and the respiratory system 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Clinical signs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48768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Disease severity depends on various factors: PPRV strain, host species and breed, and the health status of host animals.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disease is particularly seen in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young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animals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incubation period is 4–6 days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High fever (41°C/106F), erosive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stomatitis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conjunctivitis, gastroenteritis, and pneumonia, dry muzzle,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oculo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-nasal discharges,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Watery blood-stained diarrhea.</a:t>
            </a:r>
          </a:p>
          <a:p>
            <a:pPr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Erosions-small pin-point red-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greyish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areas on the gums, dental pad, palate, lips, inner aspects of the cheeks and upper surface of the tongue.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Eye, nose and mouth discharges with scabs or nodules around the mouth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Death usually occurs 4–6 days after the onset of fever. 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sz="3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Lesions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18160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carcass of an affected animal is usually emaciated, the hindquarters soiled with soft/watery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faeces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and the eyeballs sunken. The eyes and nose contain dried-up discharges.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Prominent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crusty scabs along the outer lips and severe interstitial pneumonia frequently occur with PPR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Erosive lesions may extend from the mouth to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reticulo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–rumen junction 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Erosive or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haemorrhagic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enteritis </a:t>
            </a:r>
          </a:p>
          <a:p>
            <a:pPr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Peyer’s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patches may be necrotic.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Lymph nodes are enlarged, and the spleen and liver may show necrotic lesions.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The large intestine is usually more severely affected, with congestion around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ileo-cecal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valve, at the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ceco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-colic junction and in the rectum.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 In the posterior part of the colon and the rectum, discontinuous streaks of congestion “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zebra stripes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” form on the crests of the mucosal folds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PPR in a goat: purulent eye and nose discharges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81000"/>
            <a:ext cx="3381375" cy="2257426"/>
          </a:xfrm>
          <a:prstGeom prst="rect">
            <a:avLst/>
          </a:prstGeom>
          <a:noFill/>
        </p:spPr>
      </p:pic>
      <p:pic>
        <p:nvPicPr>
          <p:cNvPr id="46084" name="Picture 4" descr="PPR in a goat: later mouth lesions 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272576"/>
            <a:ext cx="3886200" cy="2594450"/>
          </a:xfrm>
          <a:prstGeom prst="rect">
            <a:avLst/>
          </a:prstGeom>
          <a:noFill/>
        </p:spPr>
      </p:pic>
      <p:pic>
        <p:nvPicPr>
          <p:cNvPr id="46086" name="Picture 6" descr="PPR in a goat: &quot;zebra striping&quot; in the large intestine 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1911" y="3352800"/>
            <a:ext cx="4337289" cy="2895600"/>
          </a:xfrm>
          <a:prstGeom prst="rect">
            <a:avLst/>
          </a:prstGeom>
          <a:noFill/>
        </p:spPr>
      </p:pic>
      <p:pic>
        <p:nvPicPr>
          <p:cNvPr id="46088" name="Picture 8" descr="NADRE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3249922"/>
            <a:ext cx="4038600" cy="31032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Diagnosis 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 tentative diagnosis of PPR infection can be made based on characteristic signs like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mucopurulent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nasal discharge, pneumonia, diarrhea,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scaby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lesions on tongue, around mouth and death of many animals in flock should be suspected of PPR.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Swabs of the eyes, nasal, mouth, tongue and rectal discharges.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Nucleic acid detection and identification- Reverse-transcription PCR (RT-PCR) 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Immunocapture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enzyme-linked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immunosorbent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assay, AGID, CIE, virus neutralization test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Prevention and control</a:t>
            </a:r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Farm Disinfection: PPR virus can be killed by most common Disinfectants-Phenols, Sodium hydroxide 2%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Vaccination: • Live attenuated PPR vaccine is available.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 Names: PPR vaccine,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Raksha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PPR.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Dose: 1 ml by s/c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Age group: 3 months’ kids.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Immunity: 3 years.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chemeClr val="accent2">
                    <a:lumMod val="75000"/>
                  </a:schemeClr>
                </a:solidFill>
              </a:rPr>
              <a:t>Rinderpest</a:t>
            </a:r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 or cattle plague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Rinderpest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was declared as eradicated worldwide by the WOAH and FAO in May and June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2011.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India was declared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rinderpest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-free in May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2006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by WOAH.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3713</Words>
  <Application>Microsoft Office PowerPoint</Application>
  <PresentationFormat>On-screen Show (4:3)</PresentationFormat>
  <Paragraphs>336</Paragraphs>
  <Slides>72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Office Theme</vt:lpstr>
      <vt:lpstr>FAMILY PARAMYXOVIRIDAE</vt:lpstr>
      <vt:lpstr>Introduction</vt:lpstr>
      <vt:lpstr>Slide 3</vt:lpstr>
      <vt:lpstr>Classification </vt:lpstr>
      <vt:lpstr>Slide 5</vt:lpstr>
      <vt:lpstr>Virion Properties</vt:lpstr>
      <vt:lpstr>Slide 7</vt:lpstr>
      <vt:lpstr>Slide 8</vt:lpstr>
      <vt:lpstr>Slide 9</vt:lpstr>
      <vt:lpstr>Slide 10</vt:lpstr>
      <vt:lpstr>Slide 11</vt:lpstr>
      <vt:lpstr>Slide 12</vt:lpstr>
      <vt:lpstr>Slide 13</vt:lpstr>
      <vt:lpstr>Viral replication</vt:lpstr>
      <vt:lpstr>Slide 15</vt:lpstr>
      <vt:lpstr>Slide 16</vt:lpstr>
      <vt:lpstr>Slide 17</vt:lpstr>
      <vt:lpstr>Slide 18</vt:lpstr>
      <vt:lpstr>New Castle disease virus</vt:lpstr>
      <vt:lpstr>Pathotypes of NDV</vt:lpstr>
      <vt:lpstr>Slide 21</vt:lpstr>
      <vt:lpstr>New Castle disease</vt:lpstr>
      <vt:lpstr>Transmission</vt:lpstr>
      <vt:lpstr>Slide 24</vt:lpstr>
      <vt:lpstr>Pathogenesis </vt:lpstr>
      <vt:lpstr>In vivo Pathogenicity tests</vt:lpstr>
      <vt:lpstr>Slide 27</vt:lpstr>
      <vt:lpstr>Slide 28</vt:lpstr>
      <vt:lpstr>Clinical signs</vt:lpstr>
      <vt:lpstr>Slide 30</vt:lpstr>
      <vt:lpstr>Slide 31</vt:lpstr>
      <vt:lpstr>Lesions </vt:lpstr>
      <vt:lpstr>Slide 33</vt:lpstr>
      <vt:lpstr>Slide 34</vt:lpstr>
      <vt:lpstr>Diagnosis </vt:lpstr>
      <vt:lpstr>Identification of the agent</vt:lpstr>
      <vt:lpstr>Serological tests  </vt:lpstr>
      <vt:lpstr>Slide 38</vt:lpstr>
      <vt:lpstr>Slide 39</vt:lpstr>
      <vt:lpstr>Prevention </vt:lpstr>
      <vt:lpstr>Canine distemper virus</vt:lpstr>
      <vt:lpstr>Canine distemper</vt:lpstr>
      <vt:lpstr>Slide 43</vt:lpstr>
      <vt:lpstr>Transmission </vt:lpstr>
      <vt:lpstr>Sources of virus </vt:lpstr>
      <vt:lpstr>Pathogenesis</vt:lpstr>
      <vt:lpstr>Slide 47</vt:lpstr>
      <vt:lpstr>Clinical signs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Lesions </vt:lpstr>
      <vt:lpstr>Diagnosis </vt:lpstr>
      <vt:lpstr>Vaccination </vt:lpstr>
      <vt:lpstr>Peste des Petits Ruminants or PPR</vt:lpstr>
      <vt:lpstr>Slide 61</vt:lpstr>
      <vt:lpstr>Transmission </vt:lpstr>
      <vt:lpstr>Slide 63</vt:lpstr>
      <vt:lpstr>Pathogenesis </vt:lpstr>
      <vt:lpstr>Clinical signs</vt:lpstr>
      <vt:lpstr>Slide 66</vt:lpstr>
      <vt:lpstr>Lesions </vt:lpstr>
      <vt:lpstr>Slide 68</vt:lpstr>
      <vt:lpstr>Slide 69</vt:lpstr>
      <vt:lpstr>Diagnosis </vt:lpstr>
      <vt:lpstr>Prevention and control</vt:lpstr>
      <vt:lpstr>Rinderpest or cattle plague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PARAMYXOVIRIDAE</dc:title>
  <dc:creator>WIN</dc:creator>
  <cp:lastModifiedBy>RATHORE</cp:lastModifiedBy>
  <cp:revision>132</cp:revision>
  <dcterms:created xsi:type="dcterms:W3CDTF">2006-08-16T00:00:00Z</dcterms:created>
  <dcterms:modified xsi:type="dcterms:W3CDTF">2025-06-12T05:59:17Z</dcterms:modified>
</cp:coreProperties>
</file>