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5"/>
  </p:notesMasterIdLst>
  <p:sldIdLst>
    <p:sldId id="256" r:id="rId2"/>
    <p:sldId id="257" r:id="rId3"/>
    <p:sldId id="260" r:id="rId4"/>
    <p:sldId id="261" r:id="rId5"/>
    <p:sldId id="258" r:id="rId6"/>
    <p:sldId id="308" r:id="rId7"/>
    <p:sldId id="313" r:id="rId8"/>
    <p:sldId id="259" r:id="rId9"/>
    <p:sldId id="264" r:id="rId10"/>
    <p:sldId id="266" r:id="rId11"/>
    <p:sldId id="267" r:id="rId12"/>
    <p:sldId id="268" r:id="rId13"/>
    <p:sldId id="310" r:id="rId14"/>
    <p:sldId id="311" r:id="rId15"/>
    <p:sldId id="312" r:id="rId16"/>
    <p:sldId id="314" r:id="rId17"/>
    <p:sldId id="271" r:id="rId18"/>
    <p:sldId id="272" r:id="rId19"/>
    <p:sldId id="273" r:id="rId20"/>
    <p:sldId id="274" r:id="rId21"/>
    <p:sldId id="276" r:id="rId22"/>
    <p:sldId id="277" r:id="rId23"/>
    <p:sldId id="278" r:id="rId24"/>
    <p:sldId id="279" r:id="rId25"/>
    <p:sldId id="280" r:id="rId26"/>
    <p:sldId id="283" r:id="rId27"/>
    <p:sldId id="285" r:id="rId28"/>
    <p:sldId id="286" r:id="rId29"/>
    <p:sldId id="287" r:id="rId30"/>
    <p:sldId id="288" r:id="rId31"/>
    <p:sldId id="289" r:id="rId32"/>
    <p:sldId id="290" r:id="rId33"/>
    <p:sldId id="292" r:id="rId34"/>
    <p:sldId id="294" r:id="rId35"/>
    <p:sldId id="298" r:id="rId36"/>
    <p:sldId id="300" r:id="rId37"/>
    <p:sldId id="299" r:id="rId38"/>
    <p:sldId id="301" r:id="rId39"/>
    <p:sldId id="302" r:id="rId40"/>
    <p:sldId id="303" r:id="rId41"/>
    <p:sldId id="304" r:id="rId42"/>
    <p:sldId id="315" r:id="rId43"/>
    <p:sldId id="30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B52D58-F398-460B-9C3F-D2E5952914DE}" type="datetimeFigureOut">
              <a:rPr lang="en-IN" smtClean="0"/>
              <a:pPr/>
              <a:t>23-04-2025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AC131B-A155-491B-9003-A52FBD57FD1B}" type="slidenum">
              <a:rPr lang="en-IN" smtClean="0"/>
              <a:pPr/>
              <a:t>‹#›</a:t>
            </a:fld>
            <a:endParaRPr lang="en-IN"/>
          </a:p>
        </p:txBody>
      </p:sp>
    </p:spTree>
    <p:extLst>
      <p:ext uri="{BB962C8B-B14F-4D97-AF65-F5344CB8AC3E}">
        <p14:creationId xmlns:p14="http://schemas.microsoft.com/office/powerpoint/2010/main" xmlns="" val="1123866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AC91B5-D40C-4245-A6B3-5E62611EA865}" type="slidenum">
              <a:rPr lang="en-US"/>
              <a:pPr/>
              <a:t>3</a:t>
            </a:fld>
            <a:endParaRPr lang="en-US"/>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r>
              <a:rPr lang="en-US"/>
              <a:t>USDA PIADC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smtClean="0">
                <a:latin typeface="Arial" pitchFamily="34" charset="0"/>
                <a:cs typeface="Arial" pitchFamily="34" charset="0"/>
              </a:rPr>
              <a:t> Like the poxviruses, </a:t>
            </a:r>
            <a:r>
              <a:rPr lang="en-IN" sz="1200" dirty="0" err="1" smtClean="0">
                <a:latin typeface="Arial" pitchFamily="34" charset="0"/>
                <a:cs typeface="Arial" pitchFamily="34" charset="0"/>
              </a:rPr>
              <a:t>virions</a:t>
            </a:r>
            <a:r>
              <a:rPr lang="en-IN" sz="1200" dirty="0" smtClean="0">
                <a:latin typeface="Arial" pitchFamily="34" charset="0"/>
                <a:cs typeface="Arial" pitchFamily="34" charset="0"/>
              </a:rPr>
              <a:t> contain genes for all the machinery necessary for transcription and replication; DNA replication is believed to be similar to that of poxviruses; </a:t>
            </a:r>
          </a:p>
          <a:p>
            <a:endParaRPr lang="en-IN" dirty="0"/>
          </a:p>
        </p:txBody>
      </p:sp>
      <p:sp>
        <p:nvSpPr>
          <p:cNvPr id="4" name="Slide Number Placeholder 3"/>
          <p:cNvSpPr>
            <a:spLocks noGrp="1"/>
          </p:cNvSpPr>
          <p:nvPr>
            <p:ph type="sldNum" sz="quarter" idx="10"/>
          </p:nvPr>
        </p:nvSpPr>
        <p:spPr/>
        <p:txBody>
          <a:bodyPr/>
          <a:lstStyle/>
          <a:p>
            <a:fld id="{5AAC131B-A155-491B-9003-A52FBD57FD1B}" type="slidenum">
              <a:rPr lang="en-IN" smtClean="0"/>
              <a:pPr/>
              <a:t>6</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166910-C313-4BB6-9BDD-2D9F8B2EA284}" type="slidenum">
              <a:rPr lang="en-US"/>
              <a:pPr/>
              <a:t>8</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pPr eaLnBrk="0" hangingPunct="0">
              <a:spcBef>
                <a:spcPct val="50000"/>
              </a:spcBef>
            </a:pPr>
            <a:endParaRPr lang="en-US" dirty="0"/>
          </a:p>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654AA9-675F-4B9C-B134-9E1514A43AD7}" type="slidenum">
              <a:rPr lang="en-US"/>
              <a:pPr/>
              <a:t>10</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r>
              <a:rPr lang="en-US" dirty="0"/>
              <a:t>www.forestryimages.org/ images/768x512/1418023.jpg</a:t>
            </a:r>
            <a:br>
              <a:rPr lang="en-US" dirty="0"/>
            </a:br>
            <a:r>
              <a:rPr lang="en-US" dirty="0"/>
              <a:t>Green - DEFRA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A9C9C7-D4D3-4A1E-BFBE-1AC1DD5E543A}" type="slidenum">
              <a:rPr lang="en-US"/>
              <a:pPr/>
              <a:t>11</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r>
              <a:rPr lang="en-US"/>
              <a:t>Suz and KAW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53148D-B4ED-4640-9685-6067564C8684}" type="slidenum">
              <a:rPr lang="en-US"/>
              <a:pPr/>
              <a:t>12</a:t>
            </a:fld>
            <a:endParaRPr lang="en-US"/>
          </a:p>
        </p:txBody>
      </p:sp>
      <p:sp>
        <p:nvSpPr>
          <p:cNvPr id="227330" name="Rectangle 2"/>
          <p:cNvSpPr>
            <a:spLocks noGrp="1" noRot="1" noChangeAspect="1" noChangeArrowheads="1" noTextEdit="1"/>
          </p:cNvSpPr>
          <p:nvPr>
            <p:ph type="sldImg"/>
          </p:nvPr>
        </p:nvSpPr>
        <p:spPr>
          <a:ln/>
        </p:spPr>
      </p:sp>
      <p:sp>
        <p:nvSpPr>
          <p:cNvPr id="227331" name="Rectangle 3"/>
          <p:cNvSpPr>
            <a:spLocks noGrp="1" noChangeArrowheads="1"/>
          </p:cNvSpPr>
          <p:nvPr>
            <p:ph type="body" idx="1"/>
          </p:nvPr>
        </p:nvSpPr>
        <p:spPr/>
        <p:txBody>
          <a:bodyPr/>
          <a:lstStyle/>
          <a:p>
            <a:r>
              <a:rPr lang="en-US" dirty="0"/>
              <a:t>http://www.cruisersafaris.com/images/trophy/warthog_tf.jpg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8B7343-4A0B-4565-B2C9-E1961EBBE5BF}" type="slidenum">
              <a:rPr lang="en-US"/>
              <a:pPr/>
              <a:t>13</a:t>
            </a:fld>
            <a:endParaRPr lang="en-US"/>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r>
              <a:rPr lang="en-US" dirty="0"/>
              <a:t>USDA PIADC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FAA151-0FBD-4B45-9B32-7AA8A48B795B}" type="slidenum">
              <a:rPr lang="en-US"/>
              <a:pPr/>
              <a:t>17</a:t>
            </a:fld>
            <a:endParaRPr lang="en-US"/>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r>
              <a:rPr lang="en-US"/>
              <a:t>Images from Dr Corrie Brown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4D7EC6-BE11-490A-AD12-5F1B7FE1D6DB}" type="slidenum">
              <a:rPr lang="en-US"/>
              <a:pPr/>
              <a:t>19</a:t>
            </a:fld>
            <a:endParaRPr lang="en-US"/>
          </a:p>
        </p:txBody>
      </p:sp>
      <p:sp>
        <p:nvSpPr>
          <p:cNvPr id="215042" name="Rectangle 2"/>
          <p:cNvSpPr>
            <a:spLocks noGrp="1" noRot="1" noChangeAspect="1" noChangeArrowheads="1" noTextEdit="1"/>
          </p:cNvSpPr>
          <p:nvPr>
            <p:ph type="sldImg"/>
          </p:nvPr>
        </p:nvSpPr>
        <p:spPr>
          <a:ln/>
        </p:spPr>
      </p:sp>
      <p:sp>
        <p:nvSpPr>
          <p:cNvPr id="215043" name="Rectangle 3"/>
          <p:cNvSpPr>
            <a:spLocks noGrp="1" noChangeArrowheads="1"/>
          </p:cNvSpPr>
          <p:nvPr>
            <p:ph type="body" idx="1"/>
          </p:nvPr>
        </p:nvSpPr>
        <p:spPr/>
        <p:txBody>
          <a:bodyPr/>
          <a:lstStyle/>
          <a:p>
            <a:r>
              <a:rPr lang="en-US"/>
              <a:t>corrie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3AF774-B4A5-4B6B-863F-96B973187D9F}" type="slidenum">
              <a:rPr lang="en-US"/>
              <a:pPr/>
              <a:t>22</a:t>
            </a:fld>
            <a:endParaRPr lang="en-US"/>
          </a:p>
        </p:txBody>
      </p:sp>
      <p:sp>
        <p:nvSpPr>
          <p:cNvPr id="247810" name="Rectangle 2"/>
          <p:cNvSpPr>
            <a:spLocks noGrp="1" noRot="1" noChangeAspect="1" noChangeArrowheads="1" noTextEdit="1"/>
          </p:cNvSpPr>
          <p:nvPr>
            <p:ph type="sldImg"/>
          </p:nvPr>
        </p:nvSpPr>
        <p:spPr>
          <a:ln/>
        </p:spPr>
      </p:sp>
      <p:sp>
        <p:nvSpPr>
          <p:cNvPr id="247811" name="Rectangle 3"/>
          <p:cNvSpPr>
            <a:spLocks noGrp="1" noChangeArrowheads="1"/>
          </p:cNvSpPr>
          <p:nvPr>
            <p:ph type="body" idx="1"/>
          </p:nvPr>
        </p:nvSpPr>
        <p:spPr/>
        <p:txBody>
          <a:bodyPr/>
          <a:lstStyle/>
          <a:p>
            <a:r>
              <a:rPr lang="en-US"/>
              <a:t>mvv</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A38744-6C57-4985-A273-6AE479412092}" type="slidenum">
              <a:rPr lang="en-US"/>
              <a:pPr/>
              <a:t>24</a:t>
            </a:fld>
            <a:endParaRPr lang="en-US"/>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a:t>Image from: http://www.defra.gov.uk/animalh/diseases/images/v2/asfn_8.jpg</a:t>
            </a:r>
          </a:p>
          <a:p>
            <a:r>
              <a:rPr lang="en-US"/>
              <a:t>DPI Days post-infection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CB6EB7-AC3E-436E-AF1E-B19FE3B832CB}" type="slidenum">
              <a:rPr lang="en-US"/>
              <a:pPr/>
              <a:t>25</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a:t>PIADC</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FA4908-80A8-4B55-8CDE-88D1FCCF3BD7}" type="slidenum">
              <a:rPr lang="en-US"/>
              <a:pPr/>
              <a:t>29</a:t>
            </a:fld>
            <a:endParaRPr lang="en-US"/>
          </a:p>
        </p:txBody>
      </p:sp>
      <p:sp>
        <p:nvSpPr>
          <p:cNvPr id="257026" name="Rectangle 2"/>
          <p:cNvSpPr>
            <a:spLocks noGrp="1" noRot="1" noChangeAspect="1" noChangeArrowheads="1" noTextEdit="1"/>
          </p:cNvSpPr>
          <p:nvPr>
            <p:ph type="sldImg"/>
          </p:nvPr>
        </p:nvSpPr>
        <p:spPr>
          <a:ln/>
        </p:spPr>
      </p:sp>
      <p:sp>
        <p:nvSpPr>
          <p:cNvPr id="257027" name="Rectangle 3"/>
          <p:cNvSpPr>
            <a:spLocks noGrp="1" noChangeArrowheads="1"/>
          </p:cNvSpPr>
          <p:nvPr>
            <p:ph type="body" idx="1"/>
          </p:nvPr>
        </p:nvSpPr>
        <p:spPr/>
        <p:txBody>
          <a:bodyPr/>
          <a:lstStyle/>
          <a:p>
            <a:pPr eaLnBrk="0" hangingPunct="0">
              <a:spcBef>
                <a:spcPct val="50000"/>
              </a:spcBef>
            </a:pPr>
            <a:r>
              <a:rPr lang="en-US"/>
              <a:t>http://www.vetmed.iastate.edu/departments/vdpam/swine/diseases/chest/hogcholera/Swine%2044.gif</a:t>
            </a:r>
          </a:p>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4C7711-522F-4DD0-9AD3-3A96ECC5AE65}" type="slidenum">
              <a:rPr lang="en-US"/>
              <a:pPr/>
              <a:t>31</a:t>
            </a:fld>
            <a:endParaRPr lang="en-US"/>
          </a:p>
        </p:txBody>
      </p:sp>
      <p:sp>
        <p:nvSpPr>
          <p:cNvPr id="252930" name="Rectangle 2"/>
          <p:cNvSpPr>
            <a:spLocks noGrp="1" noRot="1" noChangeAspect="1" noChangeArrowheads="1" noTextEdit="1"/>
          </p:cNvSpPr>
          <p:nvPr>
            <p:ph type="sldImg"/>
          </p:nvPr>
        </p:nvSpPr>
        <p:spPr>
          <a:ln/>
        </p:spPr>
      </p:sp>
      <p:sp>
        <p:nvSpPr>
          <p:cNvPr id="252931" name="Rectangle 3"/>
          <p:cNvSpPr>
            <a:spLocks noGrp="1" noChangeArrowheads="1"/>
          </p:cNvSpPr>
          <p:nvPr>
            <p:ph type="body" idx="1"/>
          </p:nvPr>
        </p:nvSpPr>
        <p:spPr/>
        <p:txBody>
          <a:bodyPr/>
          <a:lstStyle/>
          <a:p>
            <a:r>
              <a:rPr lang="en-US" dirty="0" smtClean="0"/>
              <a:t>May</a:t>
            </a:r>
            <a:r>
              <a:rPr lang="en-US" baseline="0" dirty="0" smtClean="0"/>
              <a:t> </a:t>
            </a:r>
            <a:r>
              <a:rPr lang="en-US" dirty="0" smtClean="0"/>
              <a:t>lose </a:t>
            </a:r>
            <a:r>
              <a:rPr lang="en-US" dirty="0"/>
              <a:t>coordination, stunted, heart and lung lesions</a:t>
            </a:r>
          </a:p>
          <a:p>
            <a:r>
              <a:rPr lang="en-US" dirty="0"/>
              <a:t>Chronic cough</a:t>
            </a:r>
          </a:p>
          <a:p>
            <a:r>
              <a:rPr lang="en-US" dirty="0"/>
              <a:t>Fluid in pericardial sac: </a:t>
            </a:r>
            <a:r>
              <a:rPr lang="en-US" dirty="0" err="1"/>
              <a:t>fibrinous</a:t>
            </a:r>
            <a:r>
              <a:rPr lang="en-US" dirty="0"/>
              <a:t> </a:t>
            </a:r>
            <a:r>
              <a:rPr lang="en-US" dirty="0" err="1"/>
              <a:t>endocarditis</a:t>
            </a:r>
            <a:endParaRPr lang="en-US" dirty="0"/>
          </a:p>
          <a:p>
            <a:r>
              <a:rPr lang="en-US" dirty="0"/>
              <a:t>Joint inflammation</a:t>
            </a:r>
          </a:p>
          <a:p>
            <a:r>
              <a:rPr lang="en-US" dirty="0" err="1"/>
              <a:t>Decubitous</a:t>
            </a:r>
            <a:r>
              <a:rPr lang="en-US" dirty="0"/>
              <a:t> lesions on boney </a:t>
            </a:r>
            <a:r>
              <a:rPr lang="en-US" dirty="0" err="1"/>
              <a:t>prominenses</a:t>
            </a:r>
            <a:endParaRPr lang="en-US" dirty="0"/>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D97945-CD71-444F-919B-E16B224C0020}" type="slidenum">
              <a:rPr lang="en-US"/>
              <a:pPr/>
              <a:t>33</a:t>
            </a:fld>
            <a:endParaRPr lang="en-US"/>
          </a:p>
        </p:txBody>
      </p:sp>
      <p:sp>
        <p:nvSpPr>
          <p:cNvPr id="223234" name="Rectangle 2"/>
          <p:cNvSpPr>
            <a:spLocks noGrp="1" noRot="1" noChangeAspect="1" noChangeArrowheads="1" noTextEdit="1"/>
          </p:cNvSpPr>
          <p:nvPr>
            <p:ph type="sldImg"/>
          </p:nvPr>
        </p:nvSpPr>
        <p:spPr>
          <a:ln/>
        </p:spPr>
      </p:sp>
      <p:sp>
        <p:nvSpPr>
          <p:cNvPr id="223235" name="Rectangle 3"/>
          <p:cNvSpPr>
            <a:spLocks noGrp="1" noChangeArrowheads="1"/>
          </p:cNvSpPr>
          <p:nvPr>
            <p:ph type="body" idx="1"/>
          </p:nvPr>
        </p:nvSpPr>
        <p:spPr/>
        <p:txBody>
          <a:bodyPr/>
          <a:lstStyle/>
          <a:p>
            <a:r>
              <a:rPr lang="en-US"/>
              <a:t>Dr Corrie Brown University of Georgia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9A0F44-BA91-42F9-A57A-FA66A8E3EAA7}" type="slidenum">
              <a:rPr lang="en-US"/>
              <a:pPr/>
              <a:t>35</a:t>
            </a:fld>
            <a:endParaRPr lang="en-US"/>
          </a:p>
        </p:txBody>
      </p:sp>
      <p:sp>
        <p:nvSpPr>
          <p:cNvPr id="272386" name="Rectangle 2"/>
          <p:cNvSpPr>
            <a:spLocks noGrp="1" noRot="1" noChangeAspect="1" noChangeArrowheads="1" noTextEdit="1"/>
          </p:cNvSpPr>
          <p:nvPr>
            <p:ph type="sldImg"/>
          </p:nvPr>
        </p:nvSpPr>
        <p:spPr>
          <a:ln/>
        </p:spPr>
      </p:sp>
      <p:sp>
        <p:nvSpPr>
          <p:cNvPr id="272387" name="Rectangle 3"/>
          <p:cNvSpPr>
            <a:spLocks noGrp="1" noChangeArrowheads="1"/>
          </p:cNvSpPr>
          <p:nvPr>
            <p:ph type="body" idx="1"/>
          </p:nvPr>
        </p:nvSpPr>
        <p:spPr/>
        <p:txBody>
          <a:bodyPr/>
          <a:lstStyle/>
          <a:p>
            <a:r>
              <a:rPr lang="en-US"/>
              <a:t>DPI Days Post-Infection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22EF02-EC71-4AB0-8626-79A227584274}" type="slidenum">
              <a:rPr lang="en-US"/>
              <a:pPr/>
              <a:t>40</a:t>
            </a:fld>
            <a:endParaRPr lang="en-US"/>
          </a:p>
        </p:txBody>
      </p:sp>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p:txBody>
          <a:bodyPr/>
          <a:lstStyle/>
          <a:p>
            <a:r>
              <a:rPr lang="en-US"/>
              <a:t>piadc</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08B123-4F4F-4AB8-89F4-EB88129E9E44}" type="slidenum">
              <a:rPr lang="en-US"/>
              <a:pPr/>
              <a:t>43</a:t>
            </a:fld>
            <a:endParaRPr lang="en-US"/>
          </a:p>
        </p:txBody>
      </p:sp>
      <p:sp>
        <p:nvSpPr>
          <p:cNvPr id="270338" name="Rectangle 2"/>
          <p:cNvSpPr>
            <a:spLocks noGrp="1" noRot="1" noChangeAspect="1" noChangeArrowheads="1" noTextEdit="1"/>
          </p:cNvSpPr>
          <p:nvPr>
            <p:ph type="sldImg"/>
          </p:nvPr>
        </p:nvSpPr>
        <p:spPr>
          <a:ln/>
        </p:spPr>
      </p:sp>
      <p:sp>
        <p:nvSpPr>
          <p:cNvPr id="270339" name="Rectangle 3"/>
          <p:cNvSpPr>
            <a:spLocks noGrp="1" noChangeArrowheads="1"/>
          </p:cNvSpPr>
          <p:nvPr>
            <p:ph type="body" idx="1"/>
          </p:nvPr>
        </p:nvSpPr>
        <p:spPr/>
        <p:txBody>
          <a:bodyPr/>
          <a:lstStyle/>
          <a:p>
            <a:r>
              <a:rPr lang="en-US" b="1" dirty="0"/>
              <a:t>Bastos, </a:t>
            </a:r>
            <a:r>
              <a:rPr lang="en-US" b="1" dirty="0" err="1"/>
              <a:t>Penrith</a:t>
            </a:r>
            <a:r>
              <a:rPr lang="en-US" b="1" dirty="0"/>
              <a:t>, </a:t>
            </a:r>
            <a:r>
              <a:rPr lang="en-US" b="1" dirty="0" err="1"/>
              <a:t>Cruciere</a:t>
            </a:r>
            <a:r>
              <a:rPr lang="en-US" b="1" dirty="0"/>
              <a:t>, et al. Arch </a:t>
            </a:r>
            <a:r>
              <a:rPr lang="en-US" b="1" dirty="0" err="1"/>
              <a:t>Virol</a:t>
            </a:r>
            <a:r>
              <a:rPr lang="en-US" b="1" dirty="0"/>
              <a:t>. 2003 148(4):693-706. </a:t>
            </a:r>
            <a:endParaRPr lang="en-US" b="1" dirty="0" smtClean="0"/>
          </a:p>
          <a:p>
            <a:endParaRPr lang="en-US" b="1" dirty="0" smtClean="0"/>
          </a:p>
          <a:p>
            <a:r>
              <a:rPr lang="en-US" b="1" dirty="0"/>
              <a:t/>
            </a:r>
            <a:br>
              <a:rPr lang="en-US" b="1" dirty="0"/>
            </a:br>
            <a:r>
              <a:rPr lang="en-US" b="1" dirty="0"/>
              <a:t>Genotyping field strains of African swine fever virus by partial p72 gene </a:t>
            </a:r>
            <a:r>
              <a:rPr lang="en-US" b="1" dirty="0" err="1"/>
              <a:t>characterisation</a:t>
            </a:r>
            <a:r>
              <a:rPr lang="en-US" dirty="0"/>
              <a:t>.</a:t>
            </a:r>
            <a:br>
              <a:rPr lang="en-US" dirty="0"/>
            </a:b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D8BD707-D9CF-40AE-B4C6-C98DA3205C09}" type="datetimeFigureOut">
              <a:rPr lang="en-US" smtClean="0"/>
              <a:pPr/>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a:t>African Swine Fever 2006</a:t>
            </a:r>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41856127-1108-4EBC-A819-3AD179304A74}" type="slidenum">
              <a:rPr lang="en-US"/>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IN"/>
          </a:p>
        </p:txBody>
      </p:sp>
      <p:sp>
        <p:nvSpPr>
          <p:cNvPr id="3" name="ClipArt Placeholder 2"/>
          <p:cNvSpPr>
            <a:spLocks noGrp="1"/>
          </p:cNvSpPr>
          <p:nvPr>
            <p:ph type="clipArt" sz="half" idx="1"/>
          </p:nvPr>
        </p:nvSpPr>
        <p:spPr>
          <a:xfrm>
            <a:off x="457200" y="1600200"/>
            <a:ext cx="4038600" cy="4530725"/>
          </a:xfrm>
        </p:spPr>
        <p:txBody>
          <a:bodyPr/>
          <a:lstStyle/>
          <a:p>
            <a:endParaRPr lang="en-IN"/>
          </a:p>
        </p:txBody>
      </p:sp>
      <p:sp>
        <p:nvSpPr>
          <p:cNvPr id="4" name="Text Placeholder 3"/>
          <p:cNvSpPr>
            <a:spLocks noGrp="1"/>
          </p:cNvSpPr>
          <p:nvPr>
            <p:ph type="body"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a:t>African Swine Fever 2006</a:t>
            </a:r>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53757019-D32A-447C-906D-B24EA2FB4C26}" type="slidenum">
              <a:rPr lang="en-US"/>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Date Placeholder 5"/>
          <p:cNvSpPr>
            <a:spLocks noGrp="1"/>
          </p:cNvSpPr>
          <p:nvPr>
            <p:ph type="dt" sz="half" idx="10"/>
          </p:nvPr>
        </p:nvSpPr>
        <p:spPr>
          <a:xfrm>
            <a:off x="457200" y="6243638"/>
            <a:ext cx="2133600" cy="457200"/>
          </a:xfrm>
        </p:spPr>
        <p:txBody>
          <a:bodyPr/>
          <a:lstStyle>
            <a:lvl1pPr>
              <a:defRPr/>
            </a:lvl1pPr>
          </a:lstStyle>
          <a:p>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r>
              <a:rPr lang="en-US"/>
              <a:t>African Swine Fever 2006</a:t>
            </a:r>
          </a:p>
        </p:txBody>
      </p:sp>
      <p:sp>
        <p:nvSpPr>
          <p:cNvPr id="8" name="Slide Number Placeholder 7"/>
          <p:cNvSpPr>
            <a:spLocks noGrp="1"/>
          </p:cNvSpPr>
          <p:nvPr>
            <p:ph type="sldNum" sz="quarter" idx="12"/>
          </p:nvPr>
        </p:nvSpPr>
        <p:spPr>
          <a:xfrm>
            <a:off x="6553200" y="6243638"/>
            <a:ext cx="2133600" cy="457200"/>
          </a:xfrm>
        </p:spPr>
        <p:txBody>
          <a:bodyPr/>
          <a:lstStyle>
            <a:lvl1pPr>
              <a:defRPr/>
            </a:lvl1pPr>
          </a:lstStyle>
          <a:p>
            <a:fld id="{AB1CE9D0-D8AE-4D60-91D9-B6D13C1BFA9A}"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1.jpeg"/><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jpeg"/><Relationship Id="rId4" Type="http://schemas.openxmlformats.org/officeDocument/2006/relationships/image" Target="../media/image27.jpeg"/></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39.jpeg"/><Relationship Id="rId4" Type="http://schemas.openxmlformats.org/officeDocument/2006/relationships/image" Target="../media/image3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6800"/>
            <a:ext cx="7772400" cy="1470025"/>
          </a:xfrm>
        </p:spPr>
        <p:txBody>
          <a:bodyPr/>
          <a:lstStyle/>
          <a:p>
            <a:pPr algn="ctr"/>
            <a:r>
              <a:rPr lang="en-IN" b="1" dirty="0" smtClean="0">
                <a:solidFill>
                  <a:srgbClr val="C00000"/>
                </a:solidFill>
                <a:latin typeface="Algerian" pitchFamily="82" charset="0"/>
              </a:rPr>
              <a:t>FAMILY ASFARVIRIDAE</a:t>
            </a:r>
            <a:endParaRPr lang="en-IN" b="1" dirty="0">
              <a:solidFill>
                <a:srgbClr val="C00000"/>
              </a:solidFill>
              <a:latin typeface="Algerian" pitchFamily="82" charset="0"/>
            </a:endParaRPr>
          </a:p>
        </p:txBody>
      </p:sp>
      <p:sp>
        <p:nvSpPr>
          <p:cNvPr id="3" name="Subtitle 2"/>
          <p:cNvSpPr>
            <a:spLocks noGrp="1"/>
          </p:cNvSpPr>
          <p:nvPr>
            <p:ph type="subTitle" idx="1"/>
          </p:nvPr>
        </p:nvSpPr>
        <p:spPr>
          <a:xfrm>
            <a:off x="1219200" y="2362200"/>
            <a:ext cx="6400800" cy="1752600"/>
          </a:xfrm>
        </p:spPr>
        <p:txBody>
          <a:bodyPr>
            <a:normAutofit/>
          </a:bodyPr>
          <a:lstStyle/>
          <a:p>
            <a:pPr algn="ctr"/>
            <a:r>
              <a:rPr lang="en-IN" sz="3200" b="1" dirty="0" smtClean="0">
                <a:solidFill>
                  <a:srgbClr val="7030A0"/>
                </a:solidFill>
                <a:latin typeface="Arial" pitchFamily="34" charset="0"/>
                <a:cs typeface="Arial" pitchFamily="34" charset="0"/>
              </a:rPr>
              <a:t>(African Swine Fever virus)</a:t>
            </a:r>
            <a:endParaRPr lang="en-IN" sz="3200" b="1" dirty="0">
              <a:solidFill>
                <a:srgbClr val="7030A0"/>
              </a:solidFill>
              <a:latin typeface="Arial" pitchFamily="34" charset="0"/>
              <a:cs typeface="Arial"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990600"/>
            <a:ext cx="8458200" cy="5486400"/>
          </a:xfrm>
        </p:spPr>
        <p:txBody>
          <a:bodyPr>
            <a:normAutofit/>
          </a:bodyPr>
          <a:lstStyle/>
          <a:p>
            <a:pPr algn="just"/>
            <a:r>
              <a:rPr lang="en-IN" sz="2400" b="1" dirty="0" smtClean="0">
                <a:latin typeface="Arial" pitchFamily="34" charset="0"/>
                <a:cs typeface="Arial" pitchFamily="34" charset="0"/>
              </a:rPr>
              <a:t>Baltimore group I </a:t>
            </a:r>
          </a:p>
          <a:p>
            <a:pPr algn="just"/>
            <a:r>
              <a:rPr lang="en-IN" sz="2400" dirty="0" smtClean="0">
                <a:latin typeface="Arial" pitchFamily="34" charset="0"/>
                <a:cs typeface="Arial" pitchFamily="34" charset="0"/>
              </a:rPr>
              <a:t>The name </a:t>
            </a:r>
            <a:r>
              <a:rPr lang="en-IN" sz="2400" dirty="0" err="1" smtClean="0">
                <a:latin typeface="Arial" pitchFamily="34" charset="0"/>
                <a:cs typeface="Arial" pitchFamily="34" charset="0"/>
              </a:rPr>
              <a:t>Asfarviridae</a:t>
            </a:r>
            <a:r>
              <a:rPr lang="en-IN" sz="2400" dirty="0" smtClean="0">
                <a:latin typeface="Arial" pitchFamily="34" charset="0"/>
                <a:cs typeface="Arial" pitchFamily="34" charset="0"/>
              </a:rPr>
              <a:t> is derived from </a:t>
            </a:r>
            <a:r>
              <a:rPr lang="en-IN" sz="2400" dirty="0" smtClean="0">
                <a:solidFill>
                  <a:srgbClr val="FF0000"/>
                </a:solidFill>
                <a:latin typeface="Arial" pitchFamily="34" charset="0"/>
                <a:cs typeface="Arial" pitchFamily="34" charset="0"/>
              </a:rPr>
              <a:t>A</a:t>
            </a:r>
            <a:r>
              <a:rPr lang="en-IN" sz="2400" dirty="0" smtClean="0">
                <a:latin typeface="Arial" pitchFamily="34" charset="0"/>
                <a:cs typeface="Arial" pitchFamily="34" charset="0"/>
              </a:rPr>
              <a:t>frican </a:t>
            </a:r>
            <a:r>
              <a:rPr lang="en-IN" sz="2400" dirty="0" smtClean="0">
                <a:solidFill>
                  <a:srgbClr val="FF0000"/>
                </a:solidFill>
                <a:latin typeface="Arial" pitchFamily="34" charset="0"/>
                <a:cs typeface="Arial" pitchFamily="34" charset="0"/>
              </a:rPr>
              <a:t>S</a:t>
            </a:r>
            <a:r>
              <a:rPr lang="en-IN" sz="2400" dirty="0" smtClean="0">
                <a:latin typeface="Arial" pitchFamily="34" charset="0"/>
                <a:cs typeface="Arial" pitchFamily="34" charset="0"/>
              </a:rPr>
              <a:t>wine </a:t>
            </a:r>
            <a:r>
              <a:rPr lang="en-IN" sz="2400" dirty="0" smtClean="0">
                <a:solidFill>
                  <a:srgbClr val="FF0000"/>
                </a:solidFill>
                <a:latin typeface="Arial" pitchFamily="34" charset="0"/>
                <a:cs typeface="Arial" pitchFamily="34" charset="0"/>
              </a:rPr>
              <a:t>F</a:t>
            </a:r>
            <a:r>
              <a:rPr lang="en-IN" sz="2400" dirty="0" smtClean="0">
                <a:latin typeface="Arial" pitchFamily="34" charset="0"/>
                <a:cs typeface="Arial" pitchFamily="34" charset="0"/>
              </a:rPr>
              <a:t>ever </a:t>
            </a:r>
            <a:r>
              <a:rPr lang="en-IN" sz="2400" dirty="0" smtClean="0">
                <a:solidFill>
                  <a:srgbClr val="FF0000"/>
                </a:solidFill>
                <a:latin typeface="Arial" pitchFamily="34" charset="0"/>
                <a:cs typeface="Arial" pitchFamily="34" charset="0"/>
              </a:rPr>
              <a:t>A</a:t>
            </a:r>
            <a:r>
              <a:rPr lang="en-IN" sz="2400" dirty="0" smtClean="0">
                <a:latin typeface="Arial" pitchFamily="34" charset="0"/>
                <a:cs typeface="Arial" pitchFamily="34" charset="0"/>
              </a:rPr>
              <a:t>nd </a:t>
            </a:r>
            <a:r>
              <a:rPr lang="en-IN" sz="2400" dirty="0" smtClean="0">
                <a:solidFill>
                  <a:srgbClr val="FF0000"/>
                </a:solidFill>
                <a:latin typeface="Arial" pitchFamily="34" charset="0"/>
                <a:cs typeface="Arial" pitchFamily="34" charset="0"/>
              </a:rPr>
              <a:t>R</a:t>
            </a:r>
            <a:r>
              <a:rPr lang="en-IN" sz="2400" dirty="0" smtClean="0">
                <a:latin typeface="Arial" pitchFamily="34" charset="0"/>
                <a:cs typeface="Arial" pitchFamily="34" charset="0"/>
              </a:rPr>
              <a:t>elated viruses. </a:t>
            </a:r>
          </a:p>
          <a:p>
            <a:pPr algn="just"/>
            <a:r>
              <a:rPr lang="en-IN" sz="2400" dirty="0" smtClean="0">
                <a:latin typeface="Arial" pitchFamily="34" charset="0"/>
                <a:cs typeface="Arial" pitchFamily="34" charset="0"/>
              </a:rPr>
              <a:t>ASFV </a:t>
            </a:r>
            <a:r>
              <a:rPr lang="en-IN" sz="2400" dirty="0">
                <a:latin typeface="Arial" pitchFamily="34" charset="0"/>
                <a:cs typeface="Arial" pitchFamily="34" charset="0"/>
              </a:rPr>
              <a:t>was first classified as a member of the family </a:t>
            </a:r>
            <a:r>
              <a:rPr lang="en-IN" sz="2400" i="1" dirty="0" err="1">
                <a:latin typeface="Arial" pitchFamily="34" charset="0"/>
                <a:cs typeface="Arial" pitchFamily="34" charset="0"/>
              </a:rPr>
              <a:t>Iridoviridae</a:t>
            </a:r>
            <a:r>
              <a:rPr lang="en-IN" sz="2400" dirty="0">
                <a:latin typeface="Arial" pitchFamily="34" charset="0"/>
                <a:cs typeface="Arial" pitchFamily="34" charset="0"/>
              </a:rPr>
              <a:t> because of its large size, </a:t>
            </a:r>
            <a:r>
              <a:rPr lang="en-IN" sz="2400" dirty="0" err="1">
                <a:latin typeface="Arial" pitchFamily="34" charset="0"/>
                <a:cs typeface="Arial" pitchFamily="34" charset="0"/>
              </a:rPr>
              <a:t>cytoplasmic</a:t>
            </a:r>
            <a:r>
              <a:rPr lang="en-IN" sz="2400" dirty="0">
                <a:latin typeface="Arial" pitchFamily="34" charset="0"/>
                <a:cs typeface="Arial" pitchFamily="34" charset="0"/>
              </a:rPr>
              <a:t> location, and double-stranded DNA genome. </a:t>
            </a:r>
            <a:endParaRPr lang="en-IN" sz="2400" dirty="0" smtClean="0">
              <a:latin typeface="Arial" pitchFamily="34" charset="0"/>
              <a:cs typeface="Arial" pitchFamily="34" charset="0"/>
            </a:endParaRPr>
          </a:p>
          <a:p>
            <a:pPr algn="just"/>
            <a:r>
              <a:rPr lang="en-IN" sz="2400" dirty="0" smtClean="0">
                <a:latin typeface="Arial" pitchFamily="34" charset="0"/>
                <a:cs typeface="Arial" pitchFamily="34" charset="0"/>
              </a:rPr>
              <a:t>However</a:t>
            </a:r>
            <a:r>
              <a:rPr lang="en-IN" sz="2400" dirty="0">
                <a:latin typeface="Arial" pitchFamily="34" charset="0"/>
                <a:cs typeface="Arial" pitchFamily="34" charset="0"/>
              </a:rPr>
              <a:t>, studies of replication strategy and the genome revealed similarities with the </a:t>
            </a:r>
            <a:r>
              <a:rPr lang="en-IN" sz="2400" i="1" dirty="0" err="1">
                <a:latin typeface="Arial" pitchFamily="34" charset="0"/>
                <a:cs typeface="Arial" pitchFamily="34" charset="0"/>
              </a:rPr>
              <a:t>Poxviridae</a:t>
            </a:r>
            <a:r>
              <a:rPr lang="en-IN" sz="2400" dirty="0">
                <a:latin typeface="Arial" pitchFamily="34" charset="0"/>
                <a:cs typeface="Arial" pitchFamily="34" charset="0"/>
              </a:rPr>
              <a:t>, although the viruses differ structurally. </a:t>
            </a:r>
            <a:endParaRPr lang="en-IN" sz="2400" dirty="0" smtClean="0">
              <a:latin typeface="Arial" pitchFamily="34" charset="0"/>
              <a:cs typeface="Arial" pitchFamily="34" charset="0"/>
            </a:endParaRPr>
          </a:p>
          <a:p>
            <a:pPr algn="just"/>
            <a:r>
              <a:rPr lang="en-IN" sz="2400" dirty="0" smtClean="0">
                <a:latin typeface="Arial" pitchFamily="34" charset="0"/>
                <a:cs typeface="Arial" pitchFamily="34" charset="0"/>
              </a:rPr>
              <a:t>ASFV </a:t>
            </a:r>
            <a:r>
              <a:rPr lang="en-IN" sz="2400" dirty="0">
                <a:latin typeface="Arial" pitchFamily="34" charset="0"/>
                <a:cs typeface="Arial" pitchFamily="34" charset="0"/>
              </a:rPr>
              <a:t>was therefore placed as the species </a:t>
            </a:r>
            <a:r>
              <a:rPr lang="en-IN" sz="2400" i="1" dirty="0">
                <a:latin typeface="Arial" pitchFamily="34" charset="0"/>
                <a:cs typeface="Arial" pitchFamily="34" charset="0"/>
              </a:rPr>
              <a:t>African swine fever virus</a:t>
            </a:r>
            <a:r>
              <a:rPr lang="en-IN" sz="2400" dirty="0">
                <a:latin typeface="Arial" pitchFamily="34" charset="0"/>
                <a:cs typeface="Arial" pitchFamily="34" charset="0"/>
              </a:rPr>
              <a:t> into a separate virus family, the </a:t>
            </a:r>
            <a:r>
              <a:rPr lang="en-IN" sz="2400" i="1" dirty="0" err="1">
                <a:latin typeface="Arial" pitchFamily="34" charset="0"/>
                <a:cs typeface="Arial" pitchFamily="34" charset="0"/>
              </a:rPr>
              <a:t>Asfarviridae</a:t>
            </a:r>
            <a:r>
              <a:rPr lang="en-IN" sz="2400" dirty="0">
                <a:latin typeface="Arial" pitchFamily="34" charset="0"/>
                <a:cs typeface="Arial" pitchFamily="34" charset="0"/>
              </a:rPr>
              <a:t>, of which it is the sole member of the single genus, the </a:t>
            </a:r>
            <a:r>
              <a:rPr lang="en-IN" sz="2400" b="1" i="1" dirty="0" err="1">
                <a:solidFill>
                  <a:srgbClr val="FF0000"/>
                </a:solidFill>
                <a:latin typeface="Arial" pitchFamily="34" charset="0"/>
                <a:cs typeface="Arial" pitchFamily="34" charset="0"/>
              </a:rPr>
              <a:t>Asfivirus</a:t>
            </a:r>
            <a:r>
              <a:rPr lang="en-IN" sz="2400" b="1" dirty="0">
                <a:solidFill>
                  <a:srgbClr val="FF0000"/>
                </a:solidFill>
                <a:latin typeface="Arial" pitchFamily="34" charset="0"/>
                <a:cs typeface="Arial" pitchFamily="34" charset="0"/>
              </a:rPr>
              <a:t> genus</a:t>
            </a:r>
            <a:r>
              <a:rPr lang="en-IN" sz="2400" dirty="0">
                <a:latin typeface="Arial" pitchFamily="34" charset="0"/>
                <a:cs typeface="Arial" pitchFamily="34" charset="0"/>
              </a:rPr>
              <a:t>. </a:t>
            </a:r>
            <a:endParaRPr lang="en-IN" dirty="0">
              <a:latin typeface="Arial" pitchFamily="34" charset="0"/>
              <a:cs typeface="Arial"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sz="4000" b="1" dirty="0" smtClean="0">
                <a:solidFill>
                  <a:srgbClr val="C00000"/>
                </a:solidFill>
                <a:latin typeface="Arial" pitchFamily="34" charset="0"/>
                <a:cs typeface="Arial" pitchFamily="34" charset="0"/>
              </a:rPr>
              <a:t>ASF virus </a:t>
            </a:r>
            <a:r>
              <a:rPr lang="en-US" dirty="0"/>
              <a:t>	</a:t>
            </a:r>
          </a:p>
        </p:txBody>
      </p:sp>
      <p:sp>
        <p:nvSpPr>
          <p:cNvPr id="67587" name="Rectangle 3"/>
          <p:cNvSpPr>
            <a:spLocks noGrp="1" noChangeArrowheads="1"/>
          </p:cNvSpPr>
          <p:nvPr>
            <p:ph type="body" sz="half" idx="1"/>
          </p:nvPr>
        </p:nvSpPr>
        <p:spPr>
          <a:xfrm>
            <a:off x="228600" y="1295400"/>
            <a:ext cx="5257800" cy="4530725"/>
          </a:xfrm>
        </p:spPr>
        <p:txBody>
          <a:bodyPr>
            <a:noAutofit/>
          </a:bodyPr>
          <a:lstStyle/>
          <a:p>
            <a:pPr>
              <a:lnSpc>
                <a:spcPct val="110000"/>
              </a:lnSpc>
              <a:spcBef>
                <a:spcPts val="500"/>
              </a:spcBef>
              <a:spcAft>
                <a:spcPts val="500"/>
              </a:spcAft>
            </a:pPr>
            <a:r>
              <a:rPr lang="en-US" sz="2400" dirty="0" smtClean="0">
                <a:latin typeface="Arial" pitchFamily="34" charset="0"/>
                <a:cs typeface="Arial" pitchFamily="34" charset="0"/>
              </a:rPr>
              <a:t>Large </a:t>
            </a:r>
            <a:r>
              <a:rPr lang="en-US" sz="2400" dirty="0">
                <a:latin typeface="Arial" pitchFamily="34" charset="0"/>
                <a:cs typeface="Arial" pitchFamily="34" charset="0"/>
              </a:rPr>
              <a:t>(~ 200 nm</a:t>
            </a:r>
            <a:r>
              <a:rPr lang="en-US" sz="2400" dirty="0" smtClean="0">
                <a:latin typeface="Arial" pitchFamily="34" charset="0"/>
                <a:cs typeface="Arial" pitchFamily="34" charset="0"/>
              </a:rPr>
              <a:t>) spherical or  </a:t>
            </a:r>
            <a:r>
              <a:rPr lang="en-US" sz="2400" dirty="0" err="1" smtClean="0">
                <a:latin typeface="Arial" pitchFamily="34" charset="0"/>
                <a:cs typeface="Arial" pitchFamily="34" charset="0"/>
              </a:rPr>
              <a:t>pleomorphic</a:t>
            </a:r>
            <a:r>
              <a:rPr lang="en-US" sz="2400" dirty="0" smtClean="0">
                <a:latin typeface="Arial" pitchFamily="34" charset="0"/>
                <a:cs typeface="Arial" pitchFamily="34" charset="0"/>
              </a:rPr>
              <a:t>, lipoprotein-enveloped</a:t>
            </a:r>
            <a:r>
              <a:rPr lang="en-US" sz="2400" dirty="0">
                <a:latin typeface="Arial" pitchFamily="34" charset="0"/>
                <a:cs typeface="Arial" pitchFamily="34" charset="0"/>
              </a:rPr>
              <a:t>, </a:t>
            </a:r>
            <a:r>
              <a:rPr lang="en-US" sz="2400" dirty="0" err="1" smtClean="0">
                <a:latin typeface="Arial" pitchFamily="34" charset="0"/>
                <a:cs typeface="Arial" pitchFamily="34" charset="0"/>
              </a:rPr>
              <a:t>icosahedral</a:t>
            </a:r>
            <a:r>
              <a:rPr lang="en-US" sz="2400" dirty="0" smtClean="0">
                <a:latin typeface="Arial" pitchFamily="34" charset="0"/>
                <a:cs typeface="Arial" pitchFamily="34" charset="0"/>
              </a:rPr>
              <a:t> symmetry</a:t>
            </a:r>
            <a:r>
              <a:rPr lang="en-US" sz="2400" dirty="0">
                <a:latin typeface="Arial" pitchFamily="34" charset="0"/>
                <a:cs typeface="Arial" pitchFamily="34" charset="0"/>
              </a:rPr>
              <a:t/>
            </a:r>
            <a:br>
              <a:rPr lang="en-US" sz="2400" dirty="0">
                <a:latin typeface="Arial" pitchFamily="34" charset="0"/>
                <a:cs typeface="Arial" pitchFamily="34" charset="0"/>
              </a:rPr>
            </a:br>
            <a:r>
              <a:rPr lang="en-US" sz="2400" dirty="0">
                <a:latin typeface="Arial" pitchFamily="34" charset="0"/>
                <a:cs typeface="Arial" pitchFamily="34" charset="0"/>
              </a:rPr>
              <a:t>double- stranded DNA </a:t>
            </a:r>
            <a:r>
              <a:rPr lang="en-US" sz="2400" dirty="0" smtClean="0">
                <a:latin typeface="Arial" pitchFamily="34" charset="0"/>
                <a:cs typeface="Arial" pitchFamily="34" charset="0"/>
              </a:rPr>
              <a:t>virus</a:t>
            </a:r>
            <a:endParaRPr lang="en-US" sz="2400" dirty="0">
              <a:latin typeface="Arial" pitchFamily="34" charset="0"/>
              <a:cs typeface="Arial" pitchFamily="34" charset="0"/>
            </a:endParaRPr>
          </a:p>
          <a:p>
            <a:pPr>
              <a:lnSpc>
                <a:spcPct val="110000"/>
              </a:lnSpc>
              <a:spcBef>
                <a:spcPts val="500"/>
              </a:spcBef>
              <a:spcAft>
                <a:spcPts val="500"/>
              </a:spcAft>
            </a:pPr>
            <a:r>
              <a:rPr lang="en-US" sz="2400" dirty="0">
                <a:latin typeface="Arial" pitchFamily="34" charset="0"/>
                <a:cs typeface="Arial" pitchFamily="34" charset="0"/>
              </a:rPr>
              <a:t>ASFV is the only DNA virus that can qualify as an </a:t>
            </a:r>
            <a:r>
              <a:rPr lang="en-US" sz="2400" b="1" dirty="0" err="1" smtClean="0">
                <a:latin typeface="Arial" pitchFamily="34" charset="0"/>
                <a:cs typeface="Arial" pitchFamily="34" charset="0"/>
              </a:rPr>
              <a:t>arbovirus</a:t>
            </a:r>
            <a:r>
              <a:rPr lang="en-US" sz="2400" dirty="0" smtClean="0">
                <a:latin typeface="Arial" pitchFamily="34" charset="0"/>
                <a:cs typeface="Arial" pitchFamily="34" charset="0"/>
              </a:rPr>
              <a:t>, </a:t>
            </a:r>
            <a:r>
              <a:rPr lang="en-IN" sz="2400" dirty="0">
                <a:latin typeface="Arial" pitchFamily="34" charset="0"/>
                <a:cs typeface="Arial" pitchFamily="34" charset="0"/>
              </a:rPr>
              <a:t>soft ticks of the </a:t>
            </a:r>
            <a:r>
              <a:rPr lang="en-IN" sz="2400" i="1" dirty="0" err="1">
                <a:latin typeface="Arial" pitchFamily="34" charset="0"/>
                <a:cs typeface="Arial" pitchFamily="34" charset="0"/>
              </a:rPr>
              <a:t>Ornithodoros</a:t>
            </a:r>
            <a:r>
              <a:rPr lang="en-IN" sz="2400" dirty="0">
                <a:latin typeface="Arial" pitchFamily="34" charset="0"/>
                <a:cs typeface="Arial" pitchFamily="34" charset="0"/>
              </a:rPr>
              <a:t> genus</a:t>
            </a:r>
            <a:r>
              <a:rPr lang="en-US" sz="2400" dirty="0" smtClean="0">
                <a:latin typeface="Arial" pitchFamily="34" charset="0"/>
                <a:cs typeface="Arial" pitchFamily="34" charset="0"/>
              </a:rPr>
              <a:t> </a:t>
            </a:r>
          </a:p>
          <a:p>
            <a:pPr>
              <a:lnSpc>
                <a:spcPct val="110000"/>
              </a:lnSpc>
              <a:spcBef>
                <a:spcPts val="500"/>
              </a:spcBef>
              <a:spcAft>
                <a:spcPts val="500"/>
              </a:spcAft>
            </a:pPr>
            <a:r>
              <a:rPr lang="en-US" sz="2400" b="1" dirty="0" smtClean="0">
                <a:latin typeface="Arial" pitchFamily="34" charset="0"/>
                <a:cs typeface="Arial" pitchFamily="34" charset="0"/>
              </a:rPr>
              <a:t>Replicates in the cytoplasm </a:t>
            </a:r>
            <a:r>
              <a:rPr lang="en-US" sz="2400" dirty="0" smtClean="0">
                <a:latin typeface="Arial" pitchFamily="34" charset="0"/>
                <a:cs typeface="Arial" pitchFamily="34" charset="0"/>
              </a:rPr>
              <a:t>and produces </a:t>
            </a:r>
            <a:r>
              <a:rPr lang="en-US" sz="2400" b="1" dirty="0" err="1" smtClean="0">
                <a:latin typeface="Arial" pitchFamily="34" charset="0"/>
                <a:cs typeface="Arial" pitchFamily="34" charset="0"/>
              </a:rPr>
              <a:t>acidophillic</a:t>
            </a:r>
            <a:r>
              <a:rPr lang="en-US" sz="2400" b="1" dirty="0" smtClean="0">
                <a:latin typeface="Arial" pitchFamily="34" charset="0"/>
                <a:cs typeface="Arial" pitchFamily="34" charset="0"/>
              </a:rPr>
              <a:t> </a:t>
            </a:r>
            <a:r>
              <a:rPr lang="en-US" sz="2400" dirty="0" err="1" smtClean="0">
                <a:latin typeface="Arial" pitchFamily="34" charset="0"/>
                <a:cs typeface="Arial" pitchFamily="34" charset="0"/>
              </a:rPr>
              <a:t>intracytoplasmic</a:t>
            </a:r>
            <a:r>
              <a:rPr lang="en-US" sz="2400" dirty="0" smtClean="0">
                <a:latin typeface="Arial" pitchFamily="34" charset="0"/>
                <a:cs typeface="Arial" pitchFamily="34" charset="0"/>
              </a:rPr>
              <a:t> inclusion bodies</a:t>
            </a:r>
            <a:endParaRPr lang="en-US" sz="2400" dirty="0">
              <a:latin typeface="Arial" pitchFamily="34" charset="0"/>
              <a:cs typeface="Arial" pitchFamily="34" charset="0"/>
            </a:endParaRPr>
          </a:p>
          <a:p>
            <a:pPr>
              <a:lnSpc>
                <a:spcPct val="110000"/>
              </a:lnSpc>
              <a:spcBef>
                <a:spcPts val="500"/>
              </a:spcBef>
              <a:spcAft>
                <a:spcPts val="500"/>
              </a:spcAft>
            </a:pPr>
            <a:endParaRPr lang="en-US" sz="2400" dirty="0">
              <a:latin typeface="Arial" pitchFamily="34" charset="0"/>
              <a:cs typeface="Arial" pitchFamily="34" charset="0"/>
            </a:endParaRPr>
          </a:p>
          <a:p>
            <a:pPr>
              <a:lnSpc>
                <a:spcPct val="90000"/>
              </a:lnSpc>
            </a:pPr>
            <a:endParaRPr lang="en-US" sz="2400" dirty="0">
              <a:latin typeface="Arial" pitchFamily="34" charset="0"/>
              <a:cs typeface="Arial" pitchFamily="34" charset="0"/>
            </a:endParaRPr>
          </a:p>
        </p:txBody>
      </p:sp>
      <p:pic>
        <p:nvPicPr>
          <p:cNvPr id="67592" name="Picture 8" descr="ASF (65)"/>
          <p:cNvPicPr>
            <a:picLocks noChangeAspect="1" noChangeArrowheads="1"/>
          </p:cNvPicPr>
          <p:nvPr/>
        </p:nvPicPr>
        <p:blipFill>
          <a:blip r:embed="rId3" cstate="print"/>
          <a:srcRect/>
          <a:stretch>
            <a:fillRect/>
          </a:stretch>
        </p:blipFill>
        <p:spPr bwMode="auto">
          <a:xfrm>
            <a:off x="5791200" y="1219200"/>
            <a:ext cx="2895600" cy="2170113"/>
          </a:xfrm>
          <a:prstGeom prst="rect">
            <a:avLst/>
          </a:prstGeom>
          <a:noFill/>
        </p:spPr>
      </p:pic>
      <p:pic>
        <p:nvPicPr>
          <p:cNvPr id="9" name="Picture 7" descr="File:African swine fever virus virion TEM.jpg"/>
          <p:cNvPicPr>
            <a:picLocks noChangeAspect="1" noChangeArrowheads="1"/>
          </p:cNvPicPr>
          <p:nvPr/>
        </p:nvPicPr>
        <p:blipFill>
          <a:blip r:embed="rId4" cstate="print"/>
          <a:srcRect/>
          <a:stretch>
            <a:fillRect/>
          </a:stretch>
        </p:blipFill>
        <p:spPr bwMode="auto">
          <a:xfrm>
            <a:off x="6172200" y="3581400"/>
            <a:ext cx="2305050" cy="2305050"/>
          </a:xfrm>
          <a:prstGeom prst="rect">
            <a:avLst/>
          </a:prstGeom>
          <a:noFill/>
          <a:ln w="28575">
            <a:solidFill>
              <a:srgbClr val="E5B429"/>
            </a:solidFill>
            <a:miter lim="800000"/>
            <a:headEnd/>
            <a:tailEnd/>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solidFill>
                  <a:srgbClr val="C00000"/>
                </a:solidFill>
                <a:latin typeface="Arial" pitchFamily="34" charset="0"/>
                <a:cs typeface="Arial" pitchFamily="34" charset="0"/>
              </a:rPr>
              <a:t>Morphology </a:t>
            </a:r>
            <a:endParaRPr lang="en-IN" sz="3600" b="1" dirty="0">
              <a:solidFill>
                <a:srgbClr val="C00000"/>
              </a:solidFill>
              <a:latin typeface="Arial" pitchFamily="34" charset="0"/>
              <a:cs typeface="Arial" pitchFamily="34" charset="0"/>
            </a:endParaRPr>
          </a:p>
        </p:txBody>
      </p:sp>
      <p:sp>
        <p:nvSpPr>
          <p:cNvPr id="3" name="Content Placeholder 2"/>
          <p:cNvSpPr>
            <a:spLocks noGrp="1"/>
          </p:cNvSpPr>
          <p:nvPr>
            <p:ph idx="1"/>
          </p:nvPr>
        </p:nvSpPr>
        <p:spPr>
          <a:xfrm>
            <a:off x="304800" y="1371600"/>
            <a:ext cx="8382000" cy="5029200"/>
          </a:xfrm>
        </p:spPr>
        <p:txBody>
          <a:bodyPr>
            <a:normAutofit lnSpcReduction="10000"/>
          </a:bodyPr>
          <a:lstStyle/>
          <a:p>
            <a:pPr algn="just"/>
            <a:r>
              <a:rPr lang="en-IN" sz="2400" dirty="0">
                <a:latin typeface="Arial" pitchFamily="34" charset="0"/>
                <a:cs typeface="Arial" pitchFamily="34" charset="0"/>
              </a:rPr>
              <a:t>The ASFV particle has an </a:t>
            </a:r>
            <a:r>
              <a:rPr lang="en-IN" sz="2400" dirty="0" err="1">
                <a:latin typeface="Arial" pitchFamily="34" charset="0"/>
                <a:cs typeface="Arial" pitchFamily="34" charset="0"/>
              </a:rPr>
              <a:t>icosahedral</a:t>
            </a:r>
            <a:r>
              <a:rPr lang="en-IN" sz="2400" dirty="0">
                <a:latin typeface="Arial" pitchFamily="34" charset="0"/>
                <a:cs typeface="Arial" pitchFamily="34" charset="0"/>
              </a:rPr>
              <a:t> morphology composed of several concentric domains: the internal core formed by the central genome contains the </a:t>
            </a:r>
            <a:r>
              <a:rPr lang="en-IN" sz="2400" dirty="0" err="1">
                <a:latin typeface="Arial" pitchFamily="34" charset="0"/>
                <a:cs typeface="Arial" pitchFamily="34" charset="0"/>
              </a:rPr>
              <a:t>nucleoid</a:t>
            </a:r>
            <a:r>
              <a:rPr lang="en-IN" sz="2400" dirty="0">
                <a:latin typeface="Arial" pitchFamily="34" charset="0"/>
                <a:cs typeface="Arial" pitchFamily="34" charset="0"/>
              </a:rPr>
              <a:t>, which is coated by a thick protein layer named </a:t>
            </a:r>
            <a:r>
              <a:rPr lang="en-IN" sz="2400" b="1" dirty="0">
                <a:latin typeface="Arial" pitchFamily="34" charset="0"/>
                <a:cs typeface="Arial" pitchFamily="34" charset="0"/>
              </a:rPr>
              <a:t>core </a:t>
            </a:r>
            <a:r>
              <a:rPr lang="en-IN" sz="2400" b="1" dirty="0" smtClean="0">
                <a:latin typeface="Arial" pitchFamily="34" charset="0"/>
                <a:cs typeface="Arial" pitchFamily="34" charset="0"/>
              </a:rPr>
              <a:t>or matrix shell</a:t>
            </a:r>
            <a:r>
              <a:rPr lang="en-IN" sz="2400" dirty="0" smtClean="0">
                <a:latin typeface="Arial" pitchFamily="34" charset="0"/>
                <a:cs typeface="Arial" pitchFamily="34" charset="0"/>
              </a:rPr>
              <a:t>;</a:t>
            </a:r>
          </a:p>
          <a:p>
            <a:pPr algn="just"/>
            <a:r>
              <a:rPr lang="en-IN" sz="2400" dirty="0" smtClean="0">
                <a:latin typeface="Arial" pitchFamily="34" charset="0"/>
                <a:cs typeface="Arial" pitchFamily="34" charset="0"/>
              </a:rPr>
              <a:t> </a:t>
            </a:r>
            <a:r>
              <a:rPr lang="en-IN" sz="2400" dirty="0">
                <a:latin typeface="Arial" pitchFamily="34" charset="0"/>
                <a:cs typeface="Arial" pitchFamily="34" charset="0"/>
              </a:rPr>
              <a:t>an </a:t>
            </a:r>
            <a:r>
              <a:rPr lang="en-IN" sz="2400" b="1" dirty="0">
                <a:latin typeface="Arial" pitchFamily="34" charset="0"/>
                <a:cs typeface="Arial" pitchFamily="34" charset="0"/>
              </a:rPr>
              <a:t>inner lipid </a:t>
            </a:r>
            <a:r>
              <a:rPr lang="en-IN" sz="2400" b="1" dirty="0" smtClean="0">
                <a:latin typeface="Arial" pitchFamily="34" charset="0"/>
                <a:cs typeface="Arial" pitchFamily="34" charset="0"/>
              </a:rPr>
              <a:t>membrane </a:t>
            </a:r>
            <a:r>
              <a:rPr lang="en-IN" sz="2400" dirty="0">
                <a:latin typeface="Arial" pitchFamily="34" charset="0"/>
                <a:cs typeface="Arial" pitchFamily="34" charset="0"/>
              </a:rPr>
              <a:t>surrounding the core; </a:t>
            </a:r>
            <a:endParaRPr lang="en-IN" sz="2400" dirty="0" smtClean="0">
              <a:latin typeface="Arial" pitchFamily="34" charset="0"/>
              <a:cs typeface="Arial" pitchFamily="34" charset="0"/>
            </a:endParaRPr>
          </a:p>
          <a:p>
            <a:pPr algn="just"/>
            <a:r>
              <a:rPr lang="en-IN" sz="2400" dirty="0" smtClean="0">
                <a:latin typeface="Arial" pitchFamily="34" charset="0"/>
                <a:cs typeface="Arial" pitchFamily="34" charset="0"/>
              </a:rPr>
              <a:t>and </a:t>
            </a:r>
            <a:r>
              <a:rPr lang="en-IN" sz="2400" dirty="0">
                <a:latin typeface="Arial" pitchFamily="34" charset="0"/>
                <a:cs typeface="Arial" pitchFamily="34" charset="0"/>
              </a:rPr>
              <a:t>finally the </a:t>
            </a:r>
            <a:r>
              <a:rPr lang="en-IN" sz="2400" b="1" dirty="0" err="1">
                <a:latin typeface="Arial" pitchFamily="34" charset="0"/>
                <a:cs typeface="Arial" pitchFamily="34" charset="0"/>
              </a:rPr>
              <a:t>capsid</a:t>
            </a:r>
            <a:r>
              <a:rPr lang="en-IN" sz="2400" dirty="0">
                <a:latin typeface="Arial" pitchFamily="34" charset="0"/>
                <a:cs typeface="Arial" pitchFamily="34" charset="0"/>
              </a:rPr>
              <a:t>, which is the outermost layer of the intracellular </a:t>
            </a:r>
            <a:r>
              <a:rPr lang="en-IN" sz="2400" dirty="0" err="1" smtClean="0">
                <a:latin typeface="Arial" pitchFamily="34" charset="0"/>
                <a:cs typeface="Arial" pitchFamily="34" charset="0"/>
              </a:rPr>
              <a:t>virions</a:t>
            </a:r>
            <a:r>
              <a:rPr lang="en-IN" sz="2400" dirty="0" smtClean="0">
                <a:latin typeface="Arial" pitchFamily="34" charset="0"/>
                <a:cs typeface="Arial" pitchFamily="34" charset="0"/>
              </a:rPr>
              <a:t>. </a:t>
            </a:r>
          </a:p>
          <a:p>
            <a:pPr algn="just"/>
            <a:r>
              <a:rPr lang="en-IN" sz="2400" dirty="0" smtClean="0">
                <a:latin typeface="Arial" pitchFamily="34" charset="0"/>
                <a:cs typeface="Arial" pitchFamily="34" charset="0"/>
              </a:rPr>
              <a:t>The </a:t>
            </a:r>
            <a:r>
              <a:rPr lang="en-IN" sz="2400" dirty="0">
                <a:latin typeface="Arial" pitchFamily="34" charset="0"/>
                <a:cs typeface="Arial" pitchFamily="34" charset="0"/>
              </a:rPr>
              <a:t>extracellular </a:t>
            </a:r>
            <a:r>
              <a:rPr lang="en-IN" sz="2400" dirty="0" err="1">
                <a:latin typeface="Arial" pitchFamily="34" charset="0"/>
                <a:cs typeface="Arial" pitchFamily="34" charset="0"/>
              </a:rPr>
              <a:t>virions</a:t>
            </a:r>
            <a:r>
              <a:rPr lang="en-IN" sz="2400" dirty="0">
                <a:latin typeface="Arial" pitchFamily="34" charset="0"/>
                <a:cs typeface="Arial" pitchFamily="34" charset="0"/>
              </a:rPr>
              <a:t> possess an additional </a:t>
            </a:r>
            <a:r>
              <a:rPr lang="en-IN" sz="2400" b="1" dirty="0">
                <a:latin typeface="Arial" pitchFamily="34" charset="0"/>
                <a:cs typeface="Arial" pitchFamily="34" charset="0"/>
              </a:rPr>
              <a:t>external envelope</a:t>
            </a:r>
            <a:r>
              <a:rPr lang="en-IN" sz="2400" dirty="0">
                <a:latin typeface="Arial" pitchFamily="34" charset="0"/>
                <a:cs typeface="Arial" pitchFamily="34" charset="0"/>
              </a:rPr>
              <a:t> that is obtained when the virus buds out through the plasma </a:t>
            </a:r>
            <a:r>
              <a:rPr lang="en-IN" sz="2400" dirty="0" smtClean="0">
                <a:latin typeface="Arial" pitchFamily="34" charset="0"/>
                <a:cs typeface="Arial" pitchFamily="34" charset="0"/>
              </a:rPr>
              <a:t>membrane.</a:t>
            </a:r>
          </a:p>
          <a:p>
            <a:pPr algn="just"/>
            <a:r>
              <a:rPr lang="en-IN" sz="2400" dirty="0">
                <a:latin typeface="Arial" pitchFamily="34" charset="0"/>
                <a:cs typeface="Arial" pitchFamily="34" charset="0"/>
              </a:rPr>
              <a:t>The </a:t>
            </a:r>
            <a:r>
              <a:rPr lang="en-IN" sz="2400" b="1" dirty="0">
                <a:latin typeface="Arial" pitchFamily="34" charset="0"/>
                <a:cs typeface="Arial" pitchFamily="34" charset="0"/>
              </a:rPr>
              <a:t>viral genome </a:t>
            </a:r>
            <a:r>
              <a:rPr lang="en-IN" sz="2400" dirty="0" smtClean="0">
                <a:latin typeface="Arial" pitchFamily="34" charset="0"/>
                <a:cs typeface="Arial" pitchFamily="34" charset="0"/>
              </a:rPr>
              <a:t>-single </a:t>
            </a:r>
            <a:r>
              <a:rPr lang="en-IN" sz="2400" dirty="0">
                <a:latin typeface="Arial" pitchFamily="34" charset="0"/>
                <a:cs typeface="Arial" pitchFamily="34" charset="0"/>
              </a:rPr>
              <a:t>molecule of </a:t>
            </a:r>
            <a:r>
              <a:rPr lang="en-IN" sz="2400" b="1" dirty="0">
                <a:latin typeface="Arial" pitchFamily="34" charset="0"/>
                <a:cs typeface="Arial" pitchFamily="34" charset="0"/>
              </a:rPr>
              <a:t>linear, covalently close-ended, double stranded DNA.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education.expasy.org/images/Asfarviridae_virion.jpg"/>
          <p:cNvPicPr>
            <a:picLocks noChangeAspect="1" noChangeArrowheads="1"/>
          </p:cNvPicPr>
          <p:nvPr/>
        </p:nvPicPr>
        <p:blipFill>
          <a:blip r:embed="rId2" cstate="print"/>
          <a:srcRect b="9210"/>
          <a:stretch>
            <a:fillRect/>
          </a:stretch>
        </p:blipFill>
        <p:spPr bwMode="auto">
          <a:xfrm>
            <a:off x="609600" y="533400"/>
            <a:ext cx="7848600" cy="5257800"/>
          </a:xfrm>
          <a:prstGeom prst="rect">
            <a:avLst/>
          </a:prstGeom>
          <a:noFill/>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IN" sz="3200" b="1" dirty="0" smtClean="0">
                <a:solidFill>
                  <a:srgbClr val="C00000"/>
                </a:solidFill>
                <a:latin typeface="Arial" pitchFamily="34" charset="0"/>
                <a:cs typeface="Arial" pitchFamily="34" charset="0"/>
              </a:rPr>
              <a:t>VIRAL REPLICATION</a:t>
            </a:r>
            <a:endParaRPr lang="en-IN" sz="4000" b="1" dirty="0"/>
          </a:p>
        </p:txBody>
      </p:sp>
      <p:sp>
        <p:nvSpPr>
          <p:cNvPr id="3" name="Content Placeholder 2"/>
          <p:cNvSpPr>
            <a:spLocks noGrp="1"/>
          </p:cNvSpPr>
          <p:nvPr>
            <p:ph idx="1"/>
          </p:nvPr>
        </p:nvSpPr>
        <p:spPr>
          <a:xfrm>
            <a:off x="228600" y="1524000"/>
            <a:ext cx="8610600" cy="4419600"/>
          </a:xfrm>
        </p:spPr>
        <p:txBody>
          <a:bodyPr>
            <a:noAutofit/>
          </a:bodyPr>
          <a:lstStyle/>
          <a:p>
            <a:pPr algn="just"/>
            <a:r>
              <a:rPr lang="en-IN" sz="2400" dirty="0" smtClean="0">
                <a:latin typeface="Arial" pitchFamily="34" charset="0"/>
                <a:cs typeface="Arial" pitchFamily="34" charset="0"/>
              </a:rPr>
              <a:t>Replication occurs primarily in the cytoplasm, although the nucleus is needed for viral DNA synthesis.</a:t>
            </a:r>
          </a:p>
          <a:p>
            <a:pPr algn="just"/>
            <a:endParaRPr lang="en-IN" sz="2400" dirty="0" smtClean="0">
              <a:latin typeface="Arial" pitchFamily="34" charset="0"/>
              <a:cs typeface="Arial" pitchFamily="34" charset="0"/>
            </a:endParaRPr>
          </a:p>
          <a:p>
            <a:pPr algn="just"/>
            <a:r>
              <a:rPr lang="en-IN" sz="2400" dirty="0" smtClean="0">
                <a:latin typeface="Arial" pitchFamily="34" charset="0"/>
                <a:cs typeface="Arial" pitchFamily="34" charset="0"/>
              </a:rPr>
              <a:t>Viral attachment is via a specific receptor and entry into host cells is via </a:t>
            </a:r>
            <a:r>
              <a:rPr lang="en-IN" sz="2400" dirty="0" err="1" smtClean="0">
                <a:latin typeface="Arial" pitchFamily="34" charset="0"/>
                <a:cs typeface="Arial" pitchFamily="34" charset="0"/>
              </a:rPr>
              <a:t>endocytosis</a:t>
            </a:r>
            <a:r>
              <a:rPr lang="en-IN" sz="2400" dirty="0" smtClean="0">
                <a:latin typeface="Arial" pitchFamily="34" charset="0"/>
                <a:cs typeface="Arial" pitchFamily="34" charset="0"/>
              </a:rPr>
              <a:t>.</a:t>
            </a:r>
          </a:p>
          <a:p>
            <a:pPr algn="just"/>
            <a:endParaRPr lang="en-IN" sz="2400" dirty="0" smtClean="0">
              <a:latin typeface="Arial" pitchFamily="34" charset="0"/>
              <a:cs typeface="Arial" pitchFamily="34" charset="0"/>
            </a:endParaRPr>
          </a:p>
          <a:p>
            <a:pPr algn="just"/>
            <a:r>
              <a:rPr lang="en-IN" sz="2400" dirty="0" smtClean="0">
                <a:latin typeface="Arial" pitchFamily="34" charset="0"/>
                <a:cs typeface="Arial" pitchFamily="34" charset="0"/>
              </a:rPr>
              <a:t>After entry into the cytoplasm, </a:t>
            </a:r>
            <a:r>
              <a:rPr lang="en-IN" sz="2400" dirty="0" err="1" smtClean="0">
                <a:latin typeface="Arial" pitchFamily="34" charset="0"/>
                <a:cs typeface="Arial" pitchFamily="34" charset="0"/>
              </a:rPr>
              <a:t>virions</a:t>
            </a:r>
            <a:r>
              <a:rPr lang="en-IN" sz="2400" dirty="0" smtClean="0">
                <a:latin typeface="Arial" pitchFamily="34" charset="0"/>
                <a:cs typeface="Arial" pitchFamily="34" charset="0"/>
              </a:rPr>
              <a:t> are uncoated and their DNA is transcribed by a </a:t>
            </a:r>
            <a:r>
              <a:rPr lang="en-IN" sz="2400" dirty="0" err="1" smtClean="0">
                <a:latin typeface="Arial" pitchFamily="34" charset="0"/>
                <a:cs typeface="Arial" pitchFamily="34" charset="0"/>
              </a:rPr>
              <a:t>virion</a:t>
            </a:r>
            <a:r>
              <a:rPr lang="en-IN" sz="2400" dirty="0" smtClean="0">
                <a:latin typeface="Arial" pitchFamily="34" charset="0"/>
                <a:cs typeface="Arial" pitchFamily="34" charset="0"/>
              </a:rPr>
              <a:t>-associated, DNA-dependent RNA polymerase (transcriptase) – early mRNA synthesis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IN" sz="2400" dirty="0" smtClean="0">
                <a:latin typeface="Arial" pitchFamily="34" charset="0"/>
                <a:cs typeface="Arial" pitchFamily="34" charset="0"/>
              </a:rPr>
              <a:t>Viral DNA replication and assembly take place in </a:t>
            </a:r>
            <a:r>
              <a:rPr lang="en-IN" sz="2400" dirty="0" err="1" smtClean="0">
                <a:latin typeface="Arial" pitchFamily="34" charset="0"/>
                <a:cs typeface="Arial" pitchFamily="34" charset="0"/>
              </a:rPr>
              <a:t>perinuclear</a:t>
            </a:r>
            <a:r>
              <a:rPr lang="en-IN" sz="2400" dirty="0" smtClean="0">
                <a:latin typeface="Arial" pitchFamily="34" charset="0"/>
                <a:cs typeface="Arial" pitchFamily="34" charset="0"/>
              </a:rPr>
              <a:t> areas.</a:t>
            </a:r>
          </a:p>
          <a:p>
            <a:pPr algn="just"/>
            <a:r>
              <a:rPr lang="en-IN" sz="2400" dirty="0" smtClean="0">
                <a:latin typeface="Arial" pitchFamily="34" charset="0"/>
                <a:cs typeface="Arial" pitchFamily="34" charset="0"/>
              </a:rPr>
              <a:t>Parental genomic DNA serves as the template for the first round of DNA replication, the product of which then serves as a template for the synthesis of large </a:t>
            </a:r>
            <a:r>
              <a:rPr lang="en-IN" sz="2400" dirty="0" err="1" smtClean="0">
                <a:latin typeface="Arial" pitchFamily="34" charset="0"/>
                <a:cs typeface="Arial" pitchFamily="34" charset="0"/>
              </a:rPr>
              <a:t>replicative</a:t>
            </a:r>
            <a:r>
              <a:rPr lang="en-IN" sz="2400" dirty="0" smtClean="0">
                <a:latin typeface="Arial" pitchFamily="34" charset="0"/>
                <a:cs typeface="Arial" pitchFamily="34" charset="0"/>
              </a:rPr>
              <a:t> complexes that are cleaved to produce mature </a:t>
            </a:r>
            <a:r>
              <a:rPr lang="en-IN" sz="2400" dirty="0" err="1" smtClean="0">
                <a:latin typeface="Arial" pitchFamily="34" charset="0"/>
                <a:cs typeface="Arial" pitchFamily="34" charset="0"/>
              </a:rPr>
              <a:t>virion</a:t>
            </a:r>
            <a:r>
              <a:rPr lang="en-IN" sz="2400" dirty="0" smtClean="0">
                <a:latin typeface="Arial" pitchFamily="34" charset="0"/>
                <a:cs typeface="Arial" pitchFamily="34" charset="0"/>
              </a:rPr>
              <a:t> DNA.</a:t>
            </a:r>
          </a:p>
          <a:p>
            <a:pPr algn="just"/>
            <a:r>
              <a:rPr lang="en-IN" sz="2400" dirty="0" smtClean="0">
                <a:latin typeface="Arial" pitchFamily="34" charset="0"/>
                <a:cs typeface="Arial" pitchFamily="34" charset="0"/>
              </a:rPr>
              <a:t>Formation of the </a:t>
            </a:r>
            <a:r>
              <a:rPr lang="en-IN" sz="2400" dirty="0" err="1" smtClean="0">
                <a:latin typeface="Arial" pitchFamily="34" charset="0"/>
                <a:cs typeface="Arial" pitchFamily="34" charset="0"/>
              </a:rPr>
              <a:t>capsid</a:t>
            </a:r>
            <a:r>
              <a:rPr lang="en-IN" sz="2400" dirty="0" smtClean="0">
                <a:latin typeface="Arial" pitchFamily="34" charset="0"/>
                <a:cs typeface="Arial" pitchFamily="34" charset="0"/>
              </a:rPr>
              <a:t> takes place on two layers of membranes derived from the endoplasmic reticulum (ER); extracellular virus acquires a membrane by budding through the cellular plasma membrane.</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71600" y="304800"/>
            <a:ext cx="7772400" cy="762000"/>
          </a:xfrm>
          <a:noFill/>
          <a:ln/>
        </p:spPr>
        <p:txBody>
          <a:bodyPr lIns="90488" tIns="44450" rIns="90488" bIns="44450" anchor="b">
            <a:normAutofit/>
          </a:bodyPr>
          <a:lstStyle/>
          <a:p>
            <a:r>
              <a:rPr lang="en-US" sz="4000" b="1" dirty="0">
                <a:solidFill>
                  <a:srgbClr val="FF0000"/>
                </a:solidFill>
              </a:rPr>
              <a:t>African Swine Fever</a:t>
            </a:r>
            <a:r>
              <a:rPr lang="en-US" b="1" dirty="0">
                <a:solidFill>
                  <a:srgbClr val="FF0000"/>
                </a:solidFill>
              </a:rPr>
              <a:t>  </a:t>
            </a:r>
          </a:p>
        </p:txBody>
      </p:sp>
      <p:sp>
        <p:nvSpPr>
          <p:cNvPr id="26627" name="Rectangle 3"/>
          <p:cNvSpPr>
            <a:spLocks noGrp="1" noChangeArrowheads="1"/>
          </p:cNvSpPr>
          <p:nvPr>
            <p:ph idx="1"/>
          </p:nvPr>
        </p:nvSpPr>
        <p:spPr>
          <a:xfrm>
            <a:off x="304800" y="1295400"/>
            <a:ext cx="5715000" cy="5181600"/>
          </a:xfrm>
          <a:noFill/>
          <a:ln/>
        </p:spPr>
        <p:txBody>
          <a:bodyPr lIns="90488" tIns="44450" rIns="90488" bIns="44450">
            <a:normAutofit fontScale="92500" lnSpcReduction="20000"/>
          </a:bodyPr>
          <a:lstStyle/>
          <a:p>
            <a:pPr>
              <a:lnSpc>
                <a:spcPct val="110000"/>
              </a:lnSpc>
            </a:pPr>
            <a:r>
              <a:rPr lang="en-US" sz="2400" dirty="0">
                <a:latin typeface="Arial" pitchFamily="34" charset="0"/>
                <a:cs typeface="Arial" pitchFamily="34" charset="0"/>
              </a:rPr>
              <a:t>African Swine Fever </a:t>
            </a:r>
            <a:r>
              <a:rPr lang="en-US" sz="2400" dirty="0" smtClean="0">
                <a:latin typeface="Arial" pitchFamily="34" charset="0"/>
                <a:cs typeface="Arial" pitchFamily="34" charset="0"/>
              </a:rPr>
              <a:t>is </a:t>
            </a:r>
            <a:r>
              <a:rPr lang="en-US" sz="2400" dirty="0">
                <a:latin typeface="Arial" pitchFamily="34" charset="0"/>
                <a:cs typeface="Arial" pitchFamily="34" charset="0"/>
              </a:rPr>
              <a:t>a tick-borne, contagious, febrile, systemic viral disease of </a:t>
            </a:r>
            <a:r>
              <a:rPr lang="en-US" sz="2400" dirty="0" smtClean="0">
                <a:latin typeface="Arial" pitchFamily="34" charset="0"/>
                <a:cs typeface="Arial" pitchFamily="34" charset="0"/>
              </a:rPr>
              <a:t>swine.</a:t>
            </a:r>
          </a:p>
          <a:p>
            <a:pPr>
              <a:lnSpc>
                <a:spcPct val="110000"/>
              </a:lnSpc>
            </a:pPr>
            <a:r>
              <a:rPr lang="en-ZA" sz="2400" dirty="0" smtClean="0">
                <a:latin typeface="Arial" pitchFamily="34" charset="0"/>
                <a:cs typeface="Arial" pitchFamily="34" charset="0"/>
              </a:rPr>
              <a:t>Highly contagious viral disease of domestic pigs with up to 100% mortality</a:t>
            </a:r>
          </a:p>
          <a:p>
            <a:pPr>
              <a:lnSpc>
                <a:spcPct val="110000"/>
              </a:lnSpc>
            </a:pPr>
            <a:r>
              <a:rPr lang="en-ZA" sz="2400" dirty="0" smtClean="0">
                <a:latin typeface="Arial" pitchFamily="34" charset="0"/>
                <a:cs typeface="Arial" pitchFamily="34" charset="0"/>
              </a:rPr>
              <a:t>Pigs die as a result of a hemorrhagic fever.</a:t>
            </a:r>
          </a:p>
          <a:p>
            <a:pPr>
              <a:lnSpc>
                <a:spcPct val="110000"/>
              </a:lnSpc>
            </a:pPr>
            <a:r>
              <a:rPr lang="en-IN" sz="2400" dirty="0" smtClean="0">
                <a:latin typeface="Arial" pitchFamily="34" charset="0"/>
                <a:cs typeface="Arial" pitchFamily="34" charset="0"/>
              </a:rPr>
              <a:t> Is a serious </a:t>
            </a:r>
            <a:r>
              <a:rPr lang="en-IN" sz="2400" b="1" dirty="0" err="1" smtClean="0">
                <a:latin typeface="Arial" pitchFamily="34" charset="0"/>
                <a:cs typeface="Arial" pitchFamily="34" charset="0"/>
              </a:rPr>
              <a:t>transboundary</a:t>
            </a:r>
            <a:r>
              <a:rPr lang="en-IN" sz="2400" b="1" dirty="0" smtClean="0">
                <a:latin typeface="Arial" pitchFamily="34" charset="0"/>
                <a:cs typeface="Arial" pitchFamily="34" charset="0"/>
              </a:rPr>
              <a:t> animal disease </a:t>
            </a:r>
            <a:r>
              <a:rPr lang="en-IN" sz="2400" dirty="0" smtClean="0">
                <a:latin typeface="Arial" pitchFamily="34" charset="0"/>
                <a:cs typeface="Arial" pitchFamily="34" charset="0"/>
              </a:rPr>
              <a:t>with the potential for rapid international spread by live or dead pigs, domestic or wild, and pork products;</a:t>
            </a:r>
            <a:br>
              <a:rPr lang="en-IN" sz="2400" dirty="0" smtClean="0">
                <a:latin typeface="Arial" pitchFamily="34" charset="0"/>
                <a:cs typeface="Arial" pitchFamily="34" charset="0"/>
              </a:rPr>
            </a:br>
            <a:r>
              <a:rPr lang="en-IN" sz="2400" dirty="0" smtClean="0">
                <a:latin typeface="Arial" pitchFamily="34" charset="0"/>
                <a:cs typeface="Arial" pitchFamily="34" charset="0"/>
              </a:rPr>
              <a:t>also via contaminated feed and </a:t>
            </a:r>
            <a:r>
              <a:rPr lang="en-IN" sz="2400" dirty="0" err="1" smtClean="0">
                <a:latin typeface="Arial" pitchFamily="34" charset="0"/>
                <a:cs typeface="Arial" pitchFamily="34" charset="0"/>
              </a:rPr>
              <a:t>fomites</a:t>
            </a:r>
            <a:r>
              <a:rPr lang="en-IN" sz="2400" dirty="0" smtClean="0">
                <a:latin typeface="Arial" pitchFamily="34" charset="0"/>
                <a:cs typeface="Arial" pitchFamily="34" charset="0"/>
              </a:rPr>
              <a:t> (non-living objects) such as shoes, clothes, vehicles, knives, equipment etc. due to the high environmental resistance of ASF virus.</a:t>
            </a:r>
          </a:p>
          <a:p>
            <a:pPr>
              <a:lnSpc>
                <a:spcPct val="110000"/>
              </a:lnSpc>
            </a:pPr>
            <a:endParaRPr lang="en-US" sz="2400" dirty="0">
              <a:latin typeface="Arial" pitchFamily="34" charset="0"/>
              <a:cs typeface="Arial" pitchFamily="34" charset="0"/>
            </a:endParaRPr>
          </a:p>
        </p:txBody>
      </p:sp>
      <p:sp>
        <p:nvSpPr>
          <p:cNvPr id="26633" name="Text Box 9"/>
          <p:cNvSpPr txBox="1">
            <a:spLocks noChangeArrowheads="1"/>
          </p:cNvSpPr>
          <p:nvPr/>
        </p:nvSpPr>
        <p:spPr bwMode="auto">
          <a:xfrm>
            <a:off x="4114800" y="5867400"/>
            <a:ext cx="3048000" cy="244475"/>
          </a:xfrm>
          <a:prstGeom prst="rect">
            <a:avLst/>
          </a:prstGeom>
          <a:noFill/>
          <a:ln w="9525">
            <a:noFill/>
            <a:miter lim="800000"/>
            <a:headEnd/>
            <a:tailEnd/>
          </a:ln>
          <a:effectLst/>
        </p:spPr>
        <p:txBody>
          <a:bodyPr>
            <a:spAutoFit/>
          </a:bodyPr>
          <a:lstStyle/>
          <a:p>
            <a:pPr>
              <a:spcBef>
                <a:spcPct val="50000"/>
              </a:spcBef>
            </a:pPr>
            <a:r>
              <a:rPr lang="en-US" sz="1000">
                <a:solidFill>
                  <a:schemeClr val="bg2"/>
                </a:solidFill>
              </a:rPr>
              <a:t>http://www.iah.bbsrc.ac.uk/images/Asfvirus.gif</a:t>
            </a:r>
          </a:p>
        </p:txBody>
      </p:sp>
      <p:pic>
        <p:nvPicPr>
          <p:cNvPr id="26634" name="Picture 10" descr="ASF SUZ 5+1"/>
          <p:cNvPicPr>
            <a:picLocks noChangeAspect="1" noChangeArrowheads="1"/>
          </p:cNvPicPr>
          <p:nvPr/>
        </p:nvPicPr>
        <p:blipFill>
          <a:blip r:embed="rId3" cstate="print"/>
          <a:srcRect/>
          <a:stretch>
            <a:fillRect/>
          </a:stretch>
        </p:blipFill>
        <p:spPr bwMode="auto">
          <a:xfrm>
            <a:off x="6172200" y="1295400"/>
            <a:ext cx="2339975" cy="2971800"/>
          </a:xfrm>
          <a:prstGeom prst="rect">
            <a:avLst/>
          </a:prstGeom>
          <a:noFill/>
          <a:ln w="9525">
            <a:solidFill>
              <a:srgbClr val="000000"/>
            </a:solidFill>
            <a:miter lim="800000"/>
            <a:headEnd/>
            <a:tailEnd/>
          </a:ln>
        </p:spPr>
      </p:pic>
      <p:pic>
        <p:nvPicPr>
          <p:cNvPr id="26635" name="Picture 11" descr="ASF Mck TICK"/>
          <p:cNvPicPr>
            <a:picLocks noChangeAspect="1" noChangeArrowheads="1"/>
          </p:cNvPicPr>
          <p:nvPr/>
        </p:nvPicPr>
        <p:blipFill>
          <a:blip r:embed="rId4" cstate="print"/>
          <a:srcRect/>
          <a:stretch>
            <a:fillRect/>
          </a:stretch>
        </p:blipFill>
        <p:spPr bwMode="auto">
          <a:xfrm rot="1959345">
            <a:off x="6956315" y="4457633"/>
            <a:ext cx="1457325" cy="1803706"/>
          </a:xfrm>
          <a:prstGeom prst="rect">
            <a:avLst/>
          </a:prstGeom>
          <a:noFill/>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371600" y="304800"/>
            <a:ext cx="7772400" cy="1143000"/>
          </a:xfrm>
        </p:spPr>
        <p:txBody>
          <a:bodyPr>
            <a:normAutofit/>
          </a:bodyPr>
          <a:lstStyle/>
          <a:p>
            <a:r>
              <a:rPr lang="en-US" sz="4000" b="1" dirty="0">
                <a:solidFill>
                  <a:srgbClr val="FF0000"/>
                </a:solidFill>
              </a:rPr>
              <a:t>African Swine Fever</a:t>
            </a:r>
          </a:p>
        </p:txBody>
      </p:sp>
      <p:sp>
        <p:nvSpPr>
          <p:cNvPr id="16393" name="Text Box 9"/>
          <p:cNvSpPr txBox="1">
            <a:spLocks noChangeArrowheads="1"/>
          </p:cNvSpPr>
          <p:nvPr/>
        </p:nvSpPr>
        <p:spPr bwMode="auto">
          <a:xfrm>
            <a:off x="381000" y="1676400"/>
            <a:ext cx="8323263" cy="4524315"/>
          </a:xfrm>
          <a:prstGeom prst="rect">
            <a:avLst/>
          </a:prstGeom>
          <a:noFill/>
          <a:ln w="9525">
            <a:noFill/>
            <a:miter lim="800000"/>
            <a:headEnd/>
            <a:tailEnd/>
          </a:ln>
          <a:effectLst/>
        </p:spPr>
        <p:txBody>
          <a:bodyPr>
            <a:spAutoFit/>
          </a:bodyPr>
          <a:lstStyle/>
          <a:p>
            <a:pPr eaLnBrk="1" hangingPunct="1"/>
            <a:endParaRPr lang="en-US" sz="2400" dirty="0">
              <a:latin typeface="Arial" pitchFamily="34" charset="0"/>
              <a:cs typeface="Arial" pitchFamily="34" charset="0"/>
            </a:endParaRPr>
          </a:p>
          <a:p>
            <a:pPr eaLnBrk="1" hangingPunct="1"/>
            <a:r>
              <a:rPr lang="en-US" sz="2400" b="1" dirty="0">
                <a:latin typeface="Arial" pitchFamily="34" charset="0"/>
                <a:cs typeface="Arial" pitchFamily="34" charset="0"/>
              </a:rPr>
              <a:t>Morbidity:</a:t>
            </a:r>
          </a:p>
          <a:p>
            <a:pPr eaLnBrk="1" hangingPunct="1"/>
            <a:r>
              <a:rPr lang="en-US" sz="2400" dirty="0">
                <a:latin typeface="Arial" pitchFamily="34" charset="0"/>
                <a:cs typeface="Arial" pitchFamily="34" charset="0"/>
              </a:rPr>
              <a:t>High morbidity</a:t>
            </a:r>
            <a:r>
              <a:rPr lang="en-US" sz="2400" b="1" dirty="0">
                <a:latin typeface="Arial" pitchFamily="34" charset="0"/>
                <a:cs typeface="Arial" pitchFamily="34" charset="0"/>
              </a:rPr>
              <a:t> </a:t>
            </a:r>
            <a:r>
              <a:rPr lang="en-US" sz="2400" dirty="0">
                <a:latin typeface="Arial" pitchFamily="34" charset="0"/>
                <a:cs typeface="Arial" pitchFamily="34" charset="0"/>
              </a:rPr>
              <a:t>— usually 100% in pigs that have </a:t>
            </a:r>
          </a:p>
          <a:p>
            <a:pPr eaLnBrk="1" hangingPunct="1"/>
            <a:r>
              <a:rPr lang="en-US" sz="2400" dirty="0">
                <a:latin typeface="Arial" pitchFamily="34" charset="0"/>
                <a:cs typeface="Arial" pitchFamily="34" charset="0"/>
              </a:rPr>
              <a:t>contact with one another; 100% in naïve pigs</a:t>
            </a:r>
          </a:p>
          <a:p>
            <a:pPr eaLnBrk="1" hangingPunct="1"/>
            <a:endParaRPr lang="en-US" sz="2400" dirty="0">
              <a:latin typeface="Arial" pitchFamily="34" charset="0"/>
              <a:cs typeface="Arial" pitchFamily="34" charset="0"/>
            </a:endParaRPr>
          </a:p>
          <a:p>
            <a:pPr eaLnBrk="1" hangingPunct="1"/>
            <a:r>
              <a:rPr lang="en-US" sz="2400" b="1" dirty="0">
                <a:latin typeface="Arial" pitchFamily="34" charset="0"/>
                <a:cs typeface="Arial" pitchFamily="34" charset="0"/>
              </a:rPr>
              <a:t>Mortality:</a:t>
            </a:r>
          </a:p>
          <a:p>
            <a:pPr eaLnBrk="1" hangingPunct="1"/>
            <a:r>
              <a:rPr lang="en-US" sz="2400" dirty="0">
                <a:solidFill>
                  <a:srgbClr val="FF0000"/>
                </a:solidFill>
                <a:latin typeface="Arial" pitchFamily="34" charset="0"/>
                <a:cs typeface="Arial" pitchFamily="34" charset="0"/>
              </a:rPr>
              <a:t>Highly virulent isolates have about 100% mortality</a:t>
            </a:r>
          </a:p>
          <a:p>
            <a:pPr eaLnBrk="1" hangingPunct="1"/>
            <a:r>
              <a:rPr lang="en-US" sz="2400" dirty="0">
                <a:solidFill>
                  <a:srgbClr val="FF0000"/>
                </a:solidFill>
                <a:latin typeface="Arial" pitchFamily="34" charset="0"/>
                <a:cs typeface="Arial" pitchFamily="34" charset="0"/>
              </a:rPr>
              <a:t>Moderately virulent </a:t>
            </a:r>
            <a:r>
              <a:rPr lang="en-US" sz="2400" dirty="0">
                <a:latin typeface="Arial" pitchFamily="34" charset="0"/>
                <a:cs typeface="Arial" pitchFamily="34" charset="0"/>
              </a:rPr>
              <a:t>isolates range from low percentage to 60-70</a:t>
            </a:r>
            <a:r>
              <a:rPr lang="en-US" sz="2400" dirty="0" smtClean="0">
                <a:latin typeface="Arial" pitchFamily="34" charset="0"/>
                <a:cs typeface="Arial" pitchFamily="34" charset="0"/>
              </a:rPr>
              <a:t>%.</a:t>
            </a:r>
          </a:p>
          <a:p>
            <a:pPr>
              <a:buFont typeface="Wingdings" pitchFamily="2" charset="2"/>
              <a:buNone/>
            </a:pPr>
            <a:endParaRPr lang="en-US" sz="2400" dirty="0" smtClean="0">
              <a:latin typeface="Arial" pitchFamily="34" charset="0"/>
              <a:cs typeface="Arial" pitchFamily="34" charset="0"/>
            </a:endParaRPr>
          </a:p>
          <a:p>
            <a:pPr>
              <a:buFont typeface="Wingdings" pitchFamily="2" charset="2"/>
              <a:buNone/>
            </a:pPr>
            <a:r>
              <a:rPr lang="en-US" sz="2400" b="1" dirty="0" smtClean="0">
                <a:latin typeface="Arial" pitchFamily="34" charset="0"/>
                <a:cs typeface="Arial" pitchFamily="34" charset="0"/>
              </a:rPr>
              <a:t>There is no vaccine for African Swine Fever </a:t>
            </a:r>
          </a:p>
          <a:p>
            <a:pPr eaLnBrk="1" hangingPunct="1"/>
            <a:endParaRPr lang="en-US" sz="2400" dirty="0">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2000" y="304800"/>
            <a:ext cx="7772400" cy="838200"/>
          </a:xfrm>
          <a:noFill/>
          <a:ln/>
        </p:spPr>
        <p:txBody>
          <a:bodyPr lIns="90488" tIns="44450" rIns="90488" bIns="44450" anchor="b">
            <a:normAutofit/>
          </a:bodyPr>
          <a:lstStyle/>
          <a:p>
            <a:r>
              <a:rPr lang="en-US" sz="4000" b="1" dirty="0">
                <a:solidFill>
                  <a:srgbClr val="FF0000"/>
                </a:solidFill>
              </a:rPr>
              <a:t>Host Range</a:t>
            </a:r>
          </a:p>
        </p:txBody>
      </p:sp>
      <p:sp>
        <p:nvSpPr>
          <p:cNvPr id="46083" name="Rectangle 3"/>
          <p:cNvSpPr>
            <a:spLocks noGrp="1" noChangeArrowheads="1"/>
          </p:cNvSpPr>
          <p:nvPr>
            <p:ph idx="1"/>
          </p:nvPr>
        </p:nvSpPr>
        <p:spPr>
          <a:xfrm>
            <a:off x="609600" y="1752600"/>
            <a:ext cx="7391400" cy="4267200"/>
          </a:xfrm>
          <a:noFill/>
          <a:ln/>
        </p:spPr>
        <p:txBody>
          <a:bodyPr lIns="90488" tIns="44450" rIns="90488" bIns="44450">
            <a:normAutofit fontScale="92500" lnSpcReduction="10000"/>
          </a:bodyPr>
          <a:lstStyle/>
          <a:p>
            <a:pPr>
              <a:buFont typeface="Wingdings" pitchFamily="2" charset="2"/>
              <a:buNone/>
            </a:pPr>
            <a:r>
              <a:rPr lang="en-US" sz="2800" i="1" dirty="0" err="1">
                <a:latin typeface="Arial" pitchFamily="34" charset="0"/>
                <a:cs typeface="Arial" pitchFamily="34" charset="0"/>
              </a:rPr>
              <a:t>Ornithodoros</a:t>
            </a:r>
            <a:r>
              <a:rPr lang="en-US" sz="2800" i="1" dirty="0">
                <a:latin typeface="Arial" pitchFamily="34" charset="0"/>
                <a:cs typeface="Arial" pitchFamily="34" charset="0"/>
              </a:rPr>
              <a:t> </a:t>
            </a:r>
            <a:r>
              <a:rPr lang="en-US" sz="2800" i="1" dirty="0" smtClean="0">
                <a:latin typeface="Arial" pitchFamily="34" charset="0"/>
                <a:cs typeface="Arial" pitchFamily="34" charset="0"/>
              </a:rPr>
              <a:t>or </a:t>
            </a:r>
            <a:r>
              <a:rPr lang="en-US" sz="2800" dirty="0" smtClean="0">
                <a:latin typeface="Arial" pitchFamily="34" charset="0"/>
                <a:cs typeface="Arial" pitchFamily="34" charset="0"/>
              </a:rPr>
              <a:t>soft</a:t>
            </a:r>
            <a:r>
              <a:rPr lang="en-US" sz="2800" i="1" dirty="0" smtClean="0">
                <a:latin typeface="Arial" pitchFamily="34" charset="0"/>
                <a:cs typeface="Arial" pitchFamily="34" charset="0"/>
              </a:rPr>
              <a:t> </a:t>
            </a:r>
            <a:r>
              <a:rPr lang="en-US" sz="2800" dirty="0" smtClean="0">
                <a:latin typeface="Arial" pitchFamily="34" charset="0"/>
                <a:cs typeface="Arial" pitchFamily="34" charset="0"/>
              </a:rPr>
              <a:t>ticks </a:t>
            </a:r>
            <a:r>
              <a:rPr lang="en-US" sz="2800" dirty="0">
                <a:latin typeface="Arial" pitchFamily="34" charset="0"/>
                <a:cs typeface="Arial" pitchFamily="34" charset="0"/>
              </a:rPr>
              <a:t>are believed to be the original </a:t>
            </a:r>
            <a:r>
              <a:rPr lang="en-US" sz="2800" dirty="0" smtClean="0">
                <a:latin typeface="Arial" pitchFamily="34" charset="0"/>
                <a:cs typeface="Arial" pitchFamily="34" charset="0"/>
              </a:rPr>
              <a:t>host. </a:t>
            </a:r>
            <a:r>
              <a:rPr lang="en-IN" sz="2800" dirty="0" smtClean="0">
                <a:latin typeface="Arial" pitchFamily="34" charset="0"/>
                <a:cs typeface="Arial" pitchFamily="34" charset="0"/>
              </a:rPr>
              <a:t>Numerous isolates have been made from the soft tick </a:t>
            </a:r>
            <a:r>
              <a:rPr lang="en-IN" sz="2800" i="1" dirty="0" err="1" smtClean="0">
                <a:latin typeface="Arial" pitchFamily="34" charset="0"/>
                <a:cs typeface="Arial" pitchFamily="34" charset="0"/>
              </a:rPr>
              <a:t>Ornithodoros</a:t>
            </a:r>
            <a:r>
              <a:rPr lang="en-IN" sz="2800" i="1" dirty="0" smtClean="0">
                <a:latin typeface="Arial" pitchFamily="34" charset="0"/>
                <a:cs typeface="Arial" pitchFamily="34" charset="0"/>
              </a:rPr>
              <a:t> </a:t>
            </a:r>
            <a:r>
              <a:rPr lang="en-IN" sz="2800" i="1" dirty="0" err="1" smtClean="0">
                <a:latin typeface="Arial" pitchFamily="34" charset="0"/>
                <a:cs typeface="Arial" pitchFamily="34" charset="0"/>
              </a:rPr>
              <a:t>moubata</a:t>
            </a:r>
            <a:endParaRPr lang="en-US" sz="2800" dirty="0">
              <a:latin typeface="Arial" pitchFamily="34" charset="0"/>
              <a:cs typeface="Arial" pitchFamily="34" charset="0"/>
            </a:endParaRPr>
          </a:p>
          <a:p>
            <a:pPr>
              <a:buFont typeface="Wingdings" pitchFamily="2" charset="2"/>
              <a:buNone/>
            </a:pPr>
            <a:endParaRPr lang="en-US" sz="900" dirty="0"/>
          </a:p>
          <a:p>
            <a:pPr>
              <a:buFont typeface="Wingdings" pitchFamily="2" charset="2"/>
              <a:buNone/>
            </a:pPr>
            <a:endParaRPr lang="en-US" sz="2800" dirty="0"/>
          </a:p>
          <a:p>
            <a:pPr>
              <a:buFont typeface="Wingdings" pitchFamily="2" charset="2"/>
              <a:buNone/>
            </a:pPr>
            <a:endParaRPr lang="en-US" sz="2800" dirty="0"/>
          </a:p>
          <a:p>
            <a:pPr>
              <a:buFont typeface="Wingdings" pitchFamily="2" charset="2"/>
              <a:buNone/>
            </a:pPr>
            <a:endParaRPr lang="en-US" sz="2800" dirty="0"/>
          </a:p>
          <a:p>
            <a:pPr>
              <a:buFont typeface="Wingdings" pitchFamily="2" charset="2"/>
              <a:buNone/>
            </a:pPr>
            <a:endParaRPr lang="en-US" sz="2800" dirty="0"/>
          </a:p>
          <a:p>
            <a:pPr>
              <a:buClr>
                <a:srgbClr val="800080"/>
              </a:buClr>
              <a:buFont typeface="Wingdings" pitchFamily="2" charset="2"/>
              <a:buNone/>
            </a:pPr>
            <a:endParaRPr lang="en-US" sz="1000" dirty="0"/>
          </a:p>
          <a:p>
            <a:pPr>
              <a:buClr>
                <a:srgbClr val="800080"/>
              </a:buClr>
              <a:buFont typeface="Wingdings" pitchFamily="2" charset="2"/>
              <a:buNone/>
            </a:pPr>
            <a:r>
              <a:rPr lang="en-US" dirty="0"/>
              <a:t/>
            </a:r>
            <a:br>
              <a:rPr lang="en-US" dirty="0"/>
            </a:br>
            <a:endParaRPr lang="en-US" sz="2600" dirty="0"/>
          </a:p>
          <a:p>
            <a:pPr>
              <a:buClr>
                <a:srgbClr val="800080"/>
              </a:buClr>
              <a:buFont typeface="Wingdings" pitchFamily="2" charset="2"/>
              <a:buChar char="Ø"/>
            </a:pPr>
            <a:endParaRPr lang="en-US" sz="2600" dirty="0"/>
          </a:p>
        </p:txBody>
      </p:sp>
      <p:pic>
        <p:nvPicPr>
          <p:cNvPr id="46091" name="Picture 11" descr="soft tick 2"/>
          <p:cNvPicPr>
            <a:picLocks noChangeAspect="1" noChangeArrowheads="1"/>
          </p:cNvPicPr>
          <p:nvPr/>
        </p:nvPicPr>
        <p:blipFill>
          <a:blip r:embed="rId3" cstate="print"/>
          <a:srcRect/>
          <a:stretch>
            <a:fillRect/>
          </a:stretch>
        </p:blipFill>
        <p:spPr bwMode="auto">
          <a:xfrm>
            <a:off x="4724400" y="4038600"/>
            <a:ext cx="2286000" cy="1503363"/>
          </a:xfrm>
          <a:prstGeom prst="rect">
            <a:avLst/>
          </a:prstGeom>
          <a:noFill/>
          <a:ln w="9525">
            <a:solidFill>
              <a:srgbClr val="000000"/>
            </a:solidFill>
            <a:miter lim="800000"/>
            <a:headEnd/>
            <a:tailEnd/>
          </a:ln>
        </p:spPr>
      </p:pic>
      <p:pic>
        <p:nvPicPr>
          <p:cNvPr id="46096" name="Picture 16" descr="defra tick+1"/>
          <p:cNvPicPr>
            <a:picLocks noChangeAspect="1" noChangeArrowheads="1"/>
          </p:cNvPicPr>
          <p:nvPr/>
        </p:nvPicPr>
        <p:blipFill>
          <a:blip r:embed="rId4" cstate="print"/>
          <a:srcRect/>
          <a:stretch>
            <a:fillRect/>
          </a:stretch>
        </p:blipFill>
        <p:spPr bwMode="auto">
          <a:xfrm>
            <a:off x="1676400" y="3886200"/>
            <a:ext cx="1981200" cy="1606136"/>
          </a:xfrm>
          <a:prstGeom prst="rect">
            <a:avLst/>
          </a:prstGeom>
          <a:noFill/>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b="1" dirty="0">
                <a:solidFill>
                  <a:srgbClr val="FF0000"/>
                </a:solidFill>
              </a:rPr>
              <a:t>Host Range</a:t>
            </a:r>
          </a:p>
        </p:txBody>
      </p:sp>
      <p:sp>
        <p:nvSpPr>
          <p:cNvPr id="235523" name="Rectangle 3"/>
          <p:cNvSpPr>
            <a:spLocks noGrp="1" noChangeArrowheads="1"/>
          </p:cNvSpPr>
          <p:nvPr>
            <p:ph idx="1"/>
          </p:nvPr>
        </p:nvSpPr>
        <p:spPr>
          <a:xfrm>
            <a:off x="381000" y="1371600"/>
            <a:ext cx="8763000" cy="4800600"/>
          </a:xfrm>
        </p:spPr>
        <p:txBody>
          <a:bodyPr/>
          <a:lstStyle/>
          <a:p>
            <a:pPr>
              <a:buFont typeface="Wingdings" pitchFamily="2" charset="2"/>
              <a:buNone/>
            </a:pPr>
            <a:endParaRPr lang="en-US" sz="2000" dirty="0"/>
          </a:p>
          <a:p>
            <a:r>
              <a:rPr lang="en-US" sz="2800" dirty="0">
                <a:latin typeface="Arial" pitchFamily="34" charset="0"/>
                <a:cs typeface="Arial" pitchFamily="34" charset="0"/>
              </a:rPr>
              <a:t>ASFV is believed to be a tick virus with domestic pigs and wild pigs as accidental hosts. </a:t>
            </a:r>
          </a:p>
        </p:txBody>
      </p:sp>
      <p:pic>
        <p:nvPicPr>
          <p:cNvPr id="235526" name="Picture 6" descr="ASF SUZ 4+1"/>
          <p:cNvPicPr>
            <a:picLocks noChangeAspect="1" noChangeArrowheads="1"/>
          </p:cNvPicPr>
          <p:nvPr/>
        </p:nvPicPr>
        <p:blipFill>
          <a:blip r:embed="rId3" cstate="print"/>
          <a:srcRect/>
          <a:stretch>
            <a:fillRect/>
          </a:stretch>
        </p:blipFill>
        <p:spPr bwMode="auto">
          <a:xfrm>
            <a:off x="1143000" y="3352800"/>
            <a:ext cx="3343275" cy="2706688"/>
          </a:xfrm>
          <a:prstGeom prst="rect">
            <a:avLst/>
          </a:prstGeom>
          <a:noFill/>
        </p:spPr>
      </p:pic>
      <p:pic>
        <p:nvPicPr>
          <p:cNvPr id="235527" name="Picture 7" descr="KAW1+1"/>
          <p:cNvPicPr>
            <a:picLocks noChangeAspect="1" noChangeArrowheads="1"/>
          </p:cNvPicPr>
          <p:nvPr/>
        </p:nvPicPr>
        <p:blipFill>
          <a:blip r:embed="rId4" cstate="print"/>
          <a:srcRect/>
          <a:stretch>
            <a:fillRect/>
          </a:stretch>
        </p:blipFill>
        <p:spPr bwMode="auto">
          <a:xfrm>
            <a:off x="5334000" y="2971800"/>
            <a:ext cx="2459038" cy="3352800"/>
          </a:xfrm>
          <a:prstGeom prst="rect">
            <a:avLst/>
          </a:prstGeom>
          <a:noFill/>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914400" y="304800"/>
            <a:ext cx="7772400" cy="838200"/>
          </a:xfrm>
          <a:noFill/>
          <a:ln/>
        </p:spPr>
        <p:txBody>
          <a:bodyPr lIns="90488" tIns="44450" rIns="90488" bIns="44450" anchor="b">
            <a:normAutofit/>
          </a:bodyPr>
          <a:lstStyle/>
          <a:p>
            <a:r>
              <a:rPr lang="en-US" sz="4000" b="1" dirty="0">
                <a:solidFill>
                  <a:srgbClr val="FF0000"/>
                </a:solidFill>
              </a:rPr>
              <a:t>Host Range</a:t>
            </a:r>
          </a:p>
        </p:txBody>
      </p:sp>
      <p:sp>
        <p:nvSpPr>
          <p:cNvPr id="226307" name="Rectangle 3"/>
          <p:cNvSpPr>
            <a:spLocks noGrp="1" noChangeArrowheads="1"/>
          </p:cNvSpPr>
          <p:nvPr>
            <p:ph idx="1"/>
          </p:nvPr>
        </p:nvSpPr>
        <p:spPr>
          <a:xfrm>
            <a:off x="228600" y="1524000"/>
            <a:ext cx="6172200" cy="4267200"/>
          </a:xfrm>
          <a:noFill/>
          <a:ln/>
        </p:spPr>
        <p:txBody>
          <a:bodyPr lIns="90488" tIns="44450" rIns="90488" bIns="44450">
            <a:normAutofit/>
          </a:bodyPr>
          <a:lstStyle/>
          <a:p>
            <a:pPr>
              <a:buFont typeface="Wingdings" pitchFamily="2" charset="2"/>
              <a:buNone/>
            </a:pPr>
            <a:endParaRPr lang="en-US" sz="2800">
              <a:latin typeface="Arial" pitchFamily="34" charset="0"/>
              <a:cs typeface="Arial" pitchFamily="34" charset="0"/>
            </a:endParaRPr>
          </a:p>
          <a:p>
            <a:pPr>
              <a:buFont typeface="Wingdings" pitchFamily="2" charset="2"/>
              <a:buNone/>
            </a:pPr>
            <a:r>
              <a:rPr lang="en-US" sz="2800">
                <a:latin typeface="Arial" pitchFamily="34" charset="0"/>
                <a:cs typeface="Arial" pitchFamily="34" charset="0"/>
              </a:rPr>
              <a:t>In Africa:</a:t>
            </a:r>
          </a:p>
          <a:p>
            <a:pPr>
              <a:buClr>
                <a:srgbClr val="800080"/>
              </a:buClr>
            </a:pPr>
            <a:r>
              <a:rPr lang="en-US" sz="2800">
                <a:latin typeface="Arial" pitchFamily="34" charset="0"/>
                <a:cs typeface="Arial" pitchFamily="34" charset="0"/>
              </a:rPr>
              <a:t>Warthogs</a:t>
            </a:r>
          </a:p>
          <a:p>
            <a:pPr>
              <a:buClr>
                <a:srgbClr val="800080"/>
              </a:buClr>
            </a:pPr>
            <a:r>
              <a:rPr lang="en-US" sz="2800">
                <a:latin typeface="Arial" pitchFamily="34" charset="0"/>
                <a:cs typeface="Arial" pitchFamily="34" charset="0"/>
              </a:rPr>
              <a:t>Bush pigs</a:t>
            </a:r>
          </a:p>
          <a:p>
            <a:pPr>
              <a:buClr>
                <a:srgbClr val="800080"/>
              </a:buClr>
            </a:pPr>
            <a:r>
              <a:rPr lang="en-US" sz="2800">
                <a:latin typeface="Arial" pitchFamily="34" charset="0"/>
                <a:cs typeface="Arial" pitchFamily="34" charset="0"/>
              </a:rPr>
              <a:t>Giant forest hogs</a:t>
            </a:r>
          </a:p>
          <a:p>
            <a:pPr>
              <a:buClr>
                <a:srgbClr val="800080"/>
              </a:buClr>
            </a:pPr>
            <a:endParaRPr lang="en-US" sz="2800">
              <a:latin typeface="Arial" pitchFamily="34" charset="0"/>
              <a:cs typeface="Arial" pitchFamily="34" charset="0"/>
            </a:endParaRPr>
          </a:p>
          <a:p>
            <a:pPr>
              <a:buClr>
                <a:srgbClr val="800080"/>
              </a:buClr>
              <a:buFont typeface="Wingdings" pitchFamily="2" charset="2"/>
              <a:buNone/>
            </a:pPr>
            <a:r>
              <a:rPr lang="en-US" sz="2800">
                <a:latin typeface="Arial" pitchFamily="34" charset="0"/>
                <a:cs typeface="Arial" pitchFamily="34" charset="0"/>
              </a:rPr>
              <a:t>In Europe:</a:t>
            </a:r>
          </a:p>
          <a:p>
            <a:pPr>
              <a:buClr>
                <a:srgbClr val="800080"/>
              </a:buClr>
            </a:pPr>
            <a:r>
              <a:rPr lang="en-US" sz="2800">
                <a:latin typeface="Arial" pitchFamily="34" charset="0"/>
                <a:cs typeface="Arial" pitchFamily="34" charset="0"/>
              </a:rPr>
              <a:t>Wild pigs</a:t>
            </a:r>
          </a:p>
          <a:p>
            <a:pPr>
              <a:buClr>
                <a:srgbClr val="800080"/>
              </a:buClr>
              <a:buFont typeface="Wingdings" pitchFamily="2" charset="2"/>
              <a:buChar char="Ø"/>
            </a:pPr>
            <a:endParaRPr lang="en-US" sz="2800">
              <a:latin typeface="Arial" pitchFamily="34" charset="0"/>
              <a:cs typeface="Arial" pitchFamily="34" charset="0"/>
            </a:endParaRPr>
          </a:p>
        </p:txBody>
      </p:sp>
      <p:pic>
        <p:nvPicPr>
          <p:cNvPr id="226308" name="Picture 4" descr="warthog_tf"/>
          <p:cNvPicPr>
            <a:picLocks noChangeAspect="1" noChangeArrowheads="1"/>
          </p:cNvPicPr>
          <p:nvPr/>
        </p:nvPicPr>
        <p:blipFill>
          <a:blip r:embed="rId3" cstate="print"/>
          <a:srcRect/>
          <a:stretch>
            <a:fillRect/>
          </a:stretch>
        </p:blipFill>
        <p:spPr bwMode="auto">
          <a:xfrm>
            <a:off x="3505200" y="1524000"/>
            <a:ext cx="2743200" cy="2590800"/>
          </a:xfrm>
          <a:prstGeom prst="rect">
            <a:avLst/>
          </a:prstGeom>
          <a:noFill/>
        </p:spPr>
      </p:pic>
      <p:sp>
        <p:nvSpPr>
          <p:cNvPr id="226309" name="Text Box 5"/>
          <p:cNvSpPr txBox="1">
            <a:spLocks noChangeArrowheads="1"/>
          </p:cNvSpPr>
          <p:nvPr/>
        </p:nvSpPr>
        <p:spPr bwMode="auto">
          <a:xfrm>
            <a:off x="5257800" y="5943600"/>
            <a:ext cx="3581400" cy="244475"/>
          </a:xfrm>
          <a:prstGeom prst="rect">
            <a:avLst/>
          </a:prstGeom>
          <a:noFill/>
          <a:ln w="9525">
            <a:noFill/>
            <a:miter lim="800000"/>
            <a:headEnd/>
            <a:tailEnd/>
          </a:ln>
          <a:effectLst/>
        </p:spPr>
        <p:txBody>
          <a:bodyPr>
            <a:spAutoFit/>
          </a:bodyPr>
          <a:lstStyle/>
          <a:p>
            <a:pPr>
              <a:spcBef>
                <a:spcPct val="50000"/>
              </a:spcBef>
            </a:pPr>
            <a:r>
              <a:rPr lang="en-US" sz="1000" dirty="0">
                <a:solidFill>
                  <a:schemeClr val="bg1"/>
                </a:solidFill>
              </a:rPr>
              <a:t>http://www.cruisersafaris.com/images/trophy/warthog_tf.jpg</a:t>
            </a:r>
          </a:p>
        </p:txBody>
      </p:sp>
      <p:pic>
        <p:nvPicPr>
          <p:cNvPr id="7" name="Picture 5" descr="C:\Users\WIN\Desktop\172290.jpg"/>
          <p:cNvPicPr>
            <a:picLocks noChangeAspect="1" noChangeArrowheads="1"/>
          </p:cNvPicPr>
          <p:nvPr/>
        </p:nvPicPr>
        <p:blipFill>
          <a:blip r:embed="rId4" cstate="print"/>
          <a:srcRect l="8519" r="2593" b="7333"/>
          <a:stretch>
            <a:fillRect/>
          </a:stretch>
        </p:blipFill>
        <p:spPr bwMode="auto">
          <a:xfrm>
            <a:off x="6248400" y="1981200"/>
            <a:ext cx="2737718" cy="1902714"/>
          </a:xfrm>
          <a:prstGeom prst="rect">
            <a:avLst/>
          </a:prstGeom>
          <a:noFill/>
        </p:spPr>
      </p:pic>
      <p:pic>
        <p:nvPicPr>
          <p:cNvPr id="9" name="Picture 18" descr="C:\Users\WIN\Desktop\feral-hog.jpg"/>
          <p:cNvPicPr>
            <a:picLocks noChangeAspect="1" noChangeArrowheads="1"/>
          </p:cNvPicPr>
          <p:nvPr/>
        </p:nvPicPr>
        <p:blipFill>
          <a:blip r:embed="rId5" cstate="print"/>
          <a:srcRect/>
          <a:stretch>
            <a:fillRect/>
          </a:stretch>
        </p:blipFill>
        <p:spPr bwMode="auto">
          <a:xfrm>
            <a:off x="5029201" y="4556710"/>
            <a:ext cx="3124200" cy="2072689"/>
          </a:xfrm>
          <a:prstGeom prst="rect">
            <a:avLst/>
          </a:prstGeom>
          <a:noFill/>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Autofit/>
          </a:bodyPr>
          <a:lstStyle/>
          <a:p>
            <a:r>
              <a:rPr lang="en-US" sz="3200" b="1" dirty="0" smtClean="0">
                <a:solidFill>
                  <a:srgbClr val="C00000"/>
                </a:solidFill>
                <a:latin typeface="Arial" pitchFamily="34" charset="0"/>
                <a:cs typeface="Arial" pitchFamily="34" charset="0"/>
              </a:rPr>
              <a:t>Epidemiology</a:t>
            </a:r>
            <a:endParaRPr lang="en-US" sz="3200" b="1" dirty="0">
              <a:solidFill>
                <a:srgbClr val="C00000"/>
              </a:solidFill>
              <a:latin typeface="Arial" pitchFamily="34" charset="0"/>
              <a:cs typeface="Arial" pitchFamily="34" charset="0"/>
            </a:endParaRPr>
          </a:p>
        </p:txBody>
      </p:sp>
      <p:sp>
        <p:nvSpPr>
          <p:cNvPr id="133123" name="Rectangle 3"/>
          <p:cNvSpPr>
            <a:spLocks noGrp="1" noChangeArrowheads="1"/>
          </p:cNvSpPr>
          <p:nvPr>
            <p:ph idx="1"/>
          </p:nvPr>
        </p:nvSpPr>
        <p:spPr>
          <a:xfrm>
            <a:off x="304800" y="1600200"/>
            <a:ext cx="8382000" cy="5029200"/>
          </a:xfrm>
        </p:spPr>
        <p:txBody>
          <a:bodyPr>
            <a:normAutofit/>
          </a:bodyPr>
          <a:lstStyle/>
          <a:p>
            <a:r>
              <a:rPr lang="en-IN" sz="2400" dirty="0" smtClean="0">
                <a:latin typeface="Arial" pitchFamily="34" charset="0"/>
                <a:cs typeface="Arial" pitchFamily="34" charset="0"/>
              </a:rPr>
              <a:t>Two distinct epidemiologic patterns occur: a </a:t>
            </a:r>
            <a:r>
              <a:rPr lang="en-IN" sz="2400" dirty="0" err="1" smtClean="0">
                <a:latin typeface="Arial" pitchFamily="34" charset="0"/>
                <a:cs typeface="Arial" pitchFamily="34" charset="0"/>
              </a:rPr>
              <a:t>sylvatic</a:t>
            </a:r>
            <a:r>
              <a:rPr lang="en-IN" sz="2400" dirty="0" smtClean="0">
                <a:latin typeface="Arial" pitchFamily="34" charset="0"/>
                <a:cs typeface="Arial" pitchFamily="34" charset="0"/>
              </a:rPr>
              <a:t> cycle in warthogs in Africa and epidemic and endemic cycles in domestic swine.</a:t>
            </a:r>
          </a:p>
          <a:p>
            <a:r>
              <a:rPr lang="en-IN" sz="2400" b="1" dirty="0" err="1" smtClean="0">
                <a:solidFill>
                  <a:srgbClr val="C00000"/>
                </a:solidFill>
                <a:latin typeface="Arial" pitchFamily="34" charset="0"/>
                <a:cs typeface="Arial" pitchFamily="34" charset="0"/>
              </a:rPr>
              <a:t>Sylvatic</a:t>
            </a:r>
            <a:r>
              <a:rPr lang="en-IN" sz="2400" b="1" dirty="0" smtClean="0">
                <a:solidFill>
                  <a:srgbClr val="C00000"/>
                </a:solidFill>
                <a:latin typeface="Arial" pitchFamily="34" charset="0"/>
                <a:cs typeface="Arial" pitchFamily="34" charset="0"/>
              </a:rPr>
              <a:t> Cycle </a:t>
            </a:r>
            <a:r>
              <a:rPr lang="en-IN" sz="2400" dirty="0" smtClean="0">
                <a:latin typeface="Arial" pitchFamily="34" charset="0"/>
                <a:cs typeface="Arial" pitchFamily="34" charset="0"/>
              </a:rPr>
              <a:t>involving asymptomatic infection in wild pigs (warthogs and, to a lesser extent, bush pigs) and </a:t>
            </a:r>
            <a:r>
              <a:rPr lang="en-IN" sz="2400" dirty="0" err="1" smtClean="0">
                <a:latin typeface="Arial" pitchFamily="34" charset="0"/>
                <a:cs typeface="Arial" pitchFamily="34" charset="0"/>
              </a:rPr>
              <a:t>argasid</a:t>
            </a:r>
            <a:r>
              <a:rPr lang="en-IN" sz="2400" dirty="0" smtClean="0">
                <a:latin typeface="Arial" pitchFamily="34" charset="0"/>
                <a:cs typeface="Arial" pitchFamily="34" charset="0"/>
              </a:rPr>
              <a:t> ticks (soft ticks, genus </a:t>
            </a:r>
            <a:r>
              <a:rPr lang="en-IN" sz="2400" i="1" dirty="0" err="1" smtClean="0">
                <a:latin typeface="Arial" pitchFamily="34" charset="0"/>
                <a:cs typeface="Arial" pitchFamily="34" charset="0"/>
              </a:rPr>
              <a:t>Ornithodoros</a:t>
            </a:r>
            <a:r>
              <a:rPr lang="en-IN" sz="2400" i="1" dirty="0" smtClean="0">
                <a:latin typeface="Arial" pitchFamily="34" charset="0"/>
                <a:cs typeface="Arial" pitchFamily="34" charset="0"/>
              </a:rPr>
              <a:t>), which occur in </a:t>
            </a:r>
            <a:r>
              <a:rPr lang="en-IN" sz="2400" dirty="0" smtClean="0">
                <a:latin typeface="Arial" pitchFamily="34" charset="0"/>
                <a:cs typeface="Arial" pitchFamily="34" charset="0"/>
              </a:rPr>
              <a:t>the burrows used by these animals.</a:t>
            </a:r>
          </a:p>
          <a:p>
            <a:r>
              <a:rPr lang="en-IN" sz="2400" dirty="0" smtClean="0">
                <a:latin typeface="Arial" pitchFamily="34" charset="0"/>
                <a:cs typeface="Arial" pitchFamily="34" charset="0"/>
              </a:rPr>
              <a:t>After feeding on </a:t>
            </a:r>
            <a:r>
              <a:rPr lang="en-IN" sz="2400" dirty="0" err="1" smtClean="0">
                <a:latin typeface="Arial" pitchFamily="34" charset="0"/>
                <a:cs typeface="Arial" pitchFamily="34" charset="0"/>
              </a:rPr>
              <a:t>viremic</a:t>
            </a:r>
            <a:r>
              <a:rPr lang="en-IN" sz="2400" dirty="0" smtClean="0">
                <a:latin typeface="Arial" pitchFamily="34" charset="0"/>
                <a:cs typeface="Arial" pitchFamily="34" charset="0"/>
              </a:rPr>
              <a:t> </a:t>
            </a:r>
            <a:r>
              <a:rPr lang="en-IN" sz="2400" dirty="0" err="1" smtClean="0">
                <a:latin typeface="Arial" pitchFamily="34" charset="0"/>
                <a:cs typeface="Arial" pitchFamily="34" charset="0"/>
              </a:rPr>
              <a:t>swine,the</a:t>
            </a:r>
            <a:r>
              <a:rPr lang="en-IN" sz="2400" dirty="0" smtClean="0">
                <a:latin typeface="Arial" pitchFamily="34" charset="0"/>
                <a:cs typeface="Arial" pitchFamily="34" charset="0"/>
              </a:rPr>
              <a:t> virus replicates in the gut of the tick and subsequently infects its reproductive system, which leads to </a:t>
            </a:r>
            <a:r>
              <a:rPr lang="en-IN" sz="2400" b="1" dirty="0" err="1" smtClean="0">
                <a:latin typeface="Arial" pitchFamily="34" charset="0"/>
                <a:cs typeface="Arial" pitchFamily="34" charset="0"/>
              </a:rPr>
              <a:t>transovarial</a:t>
            </a:r>
            <a:r>
              <a:rPr lang="en-IN" sz="2400" dirty="0" smtClean="0">
                <a:latin typeface="Arial" pitchFamily="34" charset="0"/>
                <a:cs typeface="Arial" pitchFamily="34" charset="0"/>
              </a:rPr>
              <a:t> and venereal transmission of the virus. </a:t>
            </a:r>
          </a:p>
          <a:p>
            <a:endParaRPr lang="en-IN" sz="2400" dirty="0" smtClean="0">
              <a:latin typeface="Arial" pitchFamily="34" charset="0"/>
              <a:cs typeface="Arial" pitchFamily="34" charset="0"/>
            </a:endParaRPr>
          </a:p>
          <a:p>
            <a:endParaRPr lang="en-US" sz="2400" b="1" dirty="0">
              <a:solidFill>
                <a:srgbClr val="C00000"/>
              </a:solidFill>
              <a:latin typeface="Arial" pitchFamily="34" charset="0"/>
              <a:cs typeface="Arial" pitchFamily="34"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228600" y="762000"/>
            <a:ext cx="8610600" cy="4724400"/>
          </a:xfrm>
        </p:spPr>
        <p:txBody>
          <a:bodyPr>
            <a:normAutofit/>
          </a:bodyPr>
          <a:lstStyle/>
          <a:p>
            <a:r>
              <a:rPr lang="en-IN" sz="2400" dirty="0" smtClean="0">
                <a:latin typeface="Arial" pitchFamily="34" charset="0"/>
                <a:cs typeface="Arial" pitchFamily="34" charset="0"/>
              </a:rPr>
              <a:t>The virus is  also transmitted between developmental stages of the tick-</a:t>
            </a:r>
            <a:r>
              <a:rPr lang="en-IN" sz="2400" b="1" dirty="0" err="1" smtClean="0">
                <a:latin typeface="Arial" pitchFamily="34" charset="0"/>
                <a:cs typeface="Arial" pitchFamily="34" charset="0"/>
              </a:rPr>
              <a:t>transstadial</a:t>
            </a:r>
            <a:r>
              <a:rPr lang="en-IN" sz="2400" dirty="0" smtClean="0">
                <a:latin typeface="Arial" pitchFamily="34" charset="0"/>
                <a:cs typeface="Arial" pitchFamily="34" charset="0"/>
              </a:rPr>
              <a:t> transmission-and is excreted in tick saliva, </a:t>
            </a:r>
            <a:r>
              <a:rPr lang="en-IN" sz="2400" dirty="0" err="1" smtClean="0">
                <a:latin typeface="Arial" pitchFamily="34" charset="0"/>
                <a:cs typeface="Arial" pitchFamily="34" charset="0"/>
              </a:rPr>
              <a:t>coxal</a:t>
            </a:r>
            <a:r>
              <a:rPr lang="en-IN" sz="2400" dirty="0" smtClean="0">
                <a:latin typeface="Arial" pitchFamily="34" charset="0"/>
                <a:cs typeface="Arial" pitchFamily="34" charset="0"/>
              </a:rPr>
              <a:t> fluid, and </a:t>
            </a:r>
            <a:r>
              <a:rPr lang="en-IN" sz="2400" dirty="0" err="1" smtClean="0">
                <a:latin typeface="Arial" pitchFamily="34" charset="0"/>
                <a:cs typeface="Arial" pitchFamily="34" charset="0"/>
              </a:rPr>
              <a:t>Malpighian</a:t>
            </a:r>
            <a:r>
              <a:rPr lang="en-IN" sz="2400" dirty="0" smtClean="0">
                <a:latin typeface="Arial" pitchFamily="34" charset="0"/>
                <a:cs typeface="Arial" pitchFamily="34" charset="0"/>
              </a:rPr>
              <a:t> excrement.</a:t>
            </a:r>
          </a:p>
          <a:p>
            <a:r>
              <a:rPr lang="en-IN" sz="2400" dirty="0" smtClean="0">
                <a:latin typeface="Arial" pitchFamily="34" charset="0"/>
                <a:cs typeface="Arial" pitchFamily="34" charset="0"/>
              </a:rPr>
              <a:t>After primary infection, young warthogs develop </a:t>
            </a:r>
            <a:r>
              <a:rPr lang="en-IN" sz="2400" dirty="0" err="1" smtClean="0">
                <a:latin typeface="Arial" pitchFamily="34" charset="0"/>
                <a:cs typeface="Arial" pitchFamily="34" charset="0"/>
              </a:rPr>
              <a:t>viremia</a:t>
            </a:r>
            <a:r>
              <a:rPr lang="en-IN" sz="2400" dirty="0" smtClean="0">
                <a:latin typeface="Arial" pitchFamily="34" charset="0"/>
                <a:cs typeface="Arial" pitchFamily="34" charset="0"/>
              </a:rPr>
              <a:t> sufficient to infect at least some of the ticks feeding on them. </a:t>
            </a:r>
          </a:p>
          <a:p>
            <a:r>
              <a:rPr lang="en-IN" sz="2400" dirty="0" smtClean="0">
                <a:latin typeface="Arial" pitchFamily="34" charset="0"/>
                <a:cs typeface="Arial" pitchFamily="34" charset="0"/>
              </a:rPr>
              <a:t>Older warthogs are persistently infected but are seldom </a:t>
            </a:r>
            <a:r>
              <a:rPr lang="en-IN" sz="2400" dirty="0" err="1" smtClean="0">
                <a:latin typeface="Arial" pitchFamily="34" charset="0"/>
                <a:cs typeface="Arial" pitchFamily="34" charset="0"/>
              </a:rPr>
              <a:t>viremic</a:t>
            </a:r>
            <a:r>
              <a:rPr lang="en-IN" sz="2400" dirty="0" smtClean="0">
                <a:latin typeface="Arial" pitchFamily="34" charset="0"/>
                <a:cs typeface="Arial" pitchFamily="34" charset="0"/>
              </a:rPr>
              <a:t>. </a:t>
            </a:r>
          </a:p>
          <a:p>
            <a:r>
              <a:rPr lang="en-IN" sz="2400" dirty="0" smtClean="0">
                <a:latin typeface="Arial" pitchFamily="34" charset="0"/>
                <a:cs typeface="Arial" pitchFamily="34" charset="0"/>
              </a:rPr>
              <a:t>It is therefore likely that the virus is maintained in a cycle involving young warthogs and ticks.</a:t>
            </a:r>
            <a:endParaRPr lang="en-IN" sz="2400" dirty="0">
              <a:latin typeface="Arial" pitchFamily="34" charset="0"/>
              <a:cs typeface="Arial"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1143000"/>
          </a:xfrm>
        </p:spPr>
        <p:txBody>
          <a:bodyPr>
            <a:normAutofit/>
          </a:bodyPr>
          <a:lstStyle/>
          <a:p>
            <a:r>
              <a:rPr lang="en-IN" sz="3200" b="1" dirty="0" smtClean="0">
                <a:solidFill>
                  <a:srgbClr val="C00000"/>
                </a:solidFill>
                <a:latin typeface="Arial" pitchFamily="34" charset="0"/>
                <a:cs typeface="Arial" pitchFamily="34" charset="0"/>
              </a:rPr>
              <a:t>Domestic Cycle</a:t>
            </a:r>
            <a:endParaRPr lang="en-IN" sz="3200" b="1" dirty="0">
              <a:solidFill>
                <a:srgbClr val="C00000"/>
              </a:solidFill>
              <a:latin typeface="Arial" pitchFamily="34" charset="0"/>
              <a:cs typeface="Arial" pitchFamily="34" charset="0"/>
            </a:endParaRPr>
          </a:p>
        </p:txBody>
      </p:sp>
      <p:sp>
        <p:nvSpPr>
          <p:cNvPr id="6" name="Content Placeholder 5"/>
          <p:cNvSpPr>
            <a:spLocks noGrp="1"/>
          </p:cNvSpPr>
          <p:nvPr>
            <p:ph idx="1"/>
          </p:nvPr>
        </p:nvSpPr>
        <p:spPr>
          <a:xfrm>
            <a:off x="152400" y="1447800"/>
            <a:ext cx="8610600" cy="5410200"/>
          </a:xfrm>
        </p:spPr>
        <p:txBody>
          <a:bodyPr>
            <a:noAutofit/>
          </a:bodyPr>
          <a:lstStyle/>
          <a:p>
            <a:pPr algn="just">
              <a:lnSpc>
                <a:spcPct val="110000"/>
              </a:lnSpc>
            </a:pPr>
            <a:r>
              <a:rPr lang="en-IN" sz="2400" dirty="0" smtClean="0">
                <a:latin typeface="Arial" pitchFamily="34" charset="0"/>
                <a:cs typeface="Arial" pitchFamily="34" charset="0"/>
              </a:rPr>
              <a:t>Primary outbreaks of African swine fever in domestic swine in Africa probably result from the bite of an infected tick, although tissues of acutely infected warthogs, if eaten by domestic swine, can also cause infection.</a:t>
            </a:r>
          </a:p>
          <a:p>
            <a:pPr algn="just">
              <a:lnSpc>
                <a:spcPct val="110000"/>
              </a:lnSpc>
            </a:pPr>
            <a:endParaRPr lang="en-IN" sz="2400" dirty="0" smtClean="0">
              <a:latin typeface="Arial" pitchFamily="34" charset="0"/>
              <a:cs typeface="Arial" pitchFamily="34" charset="0"/>
            </a:endParaRPr>
          </a:p>
          <a:p>
            <a:pPr algn="just">
              <a:lnSpc>
                <a:spcPct val="110000"/>
              </a:lnSpc>
            </a:pPr>
            <a:r>
              <a:rPr lang="en-IN" sz="2400" dirty="0" smtClean="0">
                <a:latin typeface="Arial" pitchFamily="34" charset="0"/>
                <a:cs typeface="Arial" pitchFamily="34" charset="0"/>
              </a:rPr>
              <a:t>Introduction of the virus into a previously non-infected country may result in indigenous ticks becoming infected and acting as biological vectors and reservoirs of </a:t>
            </a:r>
            <a:r>
              <a:rPr lang="en-IN" sz="2400" dirty="0" err="1" smtClean="0">
                <a:latin typeface="Arial" pitchFamily="34" charset="0"/>
                <a:cs typeface="Arial" pitchFamily="34" charset="0"/>
              </a:rPr>
              <a:t>disease~a</a:t>
            </a:r>
            <a:r>
              <a:rPr lang="en-IN" sz="2400" dirty="0" smtClean="0">
                <a:latin typeface="Arial" pitchFamily="34" charset="0"/>
                <a:cs typeface="Arial" pitchFamily="34" charset="0"/>
              </a:rPr>
              <a:t> feature of great epidemiologic significance.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lnSpc>
                <a:spcPct val="110000"/>
              </a:lnSpc>
            </a:pPr>
            <a:r>
              <a:rPr lang="en-IN" sz="2400" dirty="0" smtClean="0">
                <a:latin typeface="Arial" pitchFamily="34" charset="0"/>
                <a:cs typeface="Arial" pitchFamily="34" charset="0"/>
              </a:rPr>
              <a:t>Once the virus has been introduced into domestic swine, either by the bite of infected ticks or through infected meat, infected animals form the most important source of virus for susceptible swine. </a:t>
            </a:r>
          </a:p>
          <a:p>
            <a:pPr algn="just">
              <a:lnSpc>
                <a:spcPct val="110000"/>
              </a:lnSpc>
            </a:pPr>
            <a:r>
              <a:rPr lang="en-IN" sz="2400" dirty="0" smtClean="0">
                <a:latin typeface="Arial" pitchFamily="34" charset="0"/>
                <a:cs typeface="Arial" pitchFamily="34" charset="0"/>
              </a:rPr>
              <a:t>Disease spreads rapidly by contact and within buildings by aerosol. </a:t>
            </a:r>
          </a:p>
          <a:p>
            <a:pPr algn="just">
              <a:lnSpc>
                <a:spcPct val="110000"/>
              </a:lnSpc>
            </a:pPr>
            <a:r>
              <a:rPr lang="en-IN" sz="2400" dirty="0" smtClean="0">
                <a:latin typeface="Arial" pitchFamily="34" charset="0"/>
                <a:cs typeface="Arial" pitchFamily="34" charset="0"/>
              </a:rPr>
              <a:t>Mechanical spread by people, vehicles, and </a:t>
            </a:r>
            <a:r>
              <a:rPr lang="en-IN" sz="2400" dirty="0" err="1" smtClean="0">
                <a:latin typeface="Arial" pitchFamily="34" charset="0"/>
                <a:cs typeface="Arial" pitchFamily="34" charset="0"/>
              </a:rPr>
              <a:t>fomites</a:t>
            </a:r>
            <a:r>
              <a:rPr lang="en-IN" sz="2400" dirty="0" smtClean="0">
                <a:latin typeface="Arial" pitchFamily="34" charset="0"/>
                <a:cs typeface="Arial" pitchFamily="34" charset="0"/>
              </a:rPr>
              <a:t> is possible because of the stability of the virus in swine blood, </a:t>
            </a:r>
            <a:r>
              <a:rPr lang="en-IN" sz="2400" dirty="0" err="1" smtClean="0">
                <a:latin typeface="Arial" pitchFamily="34" charset="0"/>
                <a:cs typeface="Arial" pitchFamily="34" charset="0"/>
              </a:rPr>
              <a:t>feces</a:t>
            </a:r>
            <a:r>
              <a:rPr lang="en-IN" sz="2400" dirty="0" smtClean="0">
                <a:latin typeface="Arial" pitchFamily="34" charset="0"/>
                <a:cs typeface="Arial" pitchFamily="34" charset="0"/>
              </a:rPr>
              <a:t>, and tissues.</a:t>
            </a:r>
          </a:p>
          <a:p>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normAutofit/>
          </a:bodyPr>
          <a:lstStyle/>
          <a:p>
            <a:r>
              <a:rPr lang="en-US" sz="4000" b="1" dirty="0">
                <a:solidFill>
                  <a:srgbClr val="FF0000"/>
                </a:solidFill>
                <a:latin typeface="Arial Unicode MS" pitchFamily="34" charset="-128"/>
              </a:rPr>
              <a:t>Transmission</a:t>
            </a:r>
          </a:p>
        </p:txBody>
      </p:sp>
      <p:sp>
        <p:nvSpPr>
          <p:cNvPr id="239619" name="Rectangle 3"/>
          <p:cNvSpPr>
            <a:spLocks noGrp="1" noChangeArrowheads="1"/>
          </p:cNvSpPr>
          <p:nvPr>
            <p:ph idx="1"/>
          </p:nvPr>
        </p:nvSpPr>
        <p:spPr/>
        <p:txBody>
          <a:bodyPr/>
          <a:lstStyle/>
          <a:p>
            <a:r>
              <a:rPr lang="en-US" sz="2800">
                <a:latin typeface="Arial Unicode MS" pitchFamily="34" charset="-128"/>
              </a:rPr>
              <a:t>Transmission by contact and ticks</a:t>
            </a:r>
          </a:p>
          <a:p>
            <a:endParaRPr lang="en-US" sz="2800">
              <a:latin typeface="Arial Unicode MS" pitchFamily="34" charset="-128"/>
            </a:endParaRPr>
          </a:p>
        </p:txBody>
      </p:sp>
      <p:pic>
        <p:nvPicPr>
          <p:cNvPr id="239620" name="Picture 4" descr="ASF-01"/>
          <p:cNvPicPr>
            <a:picLocks noChangeAspect="1" noChangeArrowheads="1"/>
          </p:cNvPicPr>
          <p:nvPr/>
        </p:nvPicPr>
        <p:blipFill>
          <a:blip r:embed="rId3" cstate="print"/>
          <a:srcRect/>
          <a:stretch>
            <a:fillRect/>
          </a:stretch>
        </p:blipFill>
        <p:spPr bwMode="auto">
          <a:xfrm>
            <a:off x="4724400" y="2971800"/>
            <a:ext cx="3941763" cy="2576513"/>
          </a:xfrm>
          <a:prstGeom prst="rect">
            <a:avLst/>
          </a:prstGeom>
          <a:noFill/>
        </p:spPr>
      </p:pic>
      <p:pic>
        <p:nvPicPr>
          <p:cNvPr id="239621" name="Picture 5" descr="warthog"/>
          <p:cNvPicPr>
            <a:picLocks noChangeAspect="1" noChangeArrowheads="1"/>
          </p:cNvPicPr>
          <p:nvPr/>
        </p:nvPicPr>
        <p:blipFill>
          <a:blip r:embed="rId4" cstate="print"/>
          <a:srcRect/>
          <a:stretch>
            <a:fillRect/>
          </a:stretch>
        </p:blipFill>
        <p:spPr bwMode="auto">
          <a:xfrm>
            <a:off x="609600" y="2895600"/>
            <a:ext cx="3924300" cy="2616200"/>
          </a:xfrm>
          <a:prstGeom prst="rect">
            <a:avLst/>
          </a:prstGeom>
          <a:noFill/>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normAutofit/>
          </a:bodyPr>
          <a:lstStyle/>
          <a:p>
            <a:r>
              <a:rPr lang="en-US" sz="4000" b="1" dirty="0">
                <a:solidFill>
                  <a:srgbClr val="FF0000"/>
                </a:solidFill>
              </a:rPr>
              <a:t>Transmission</a:t>
            </a:r>
          </a:p>
        </p:txBody>
      </p:sp>
      <p:sp>
        <p:nvSpPr>
          <p:cNvPr id="137219" name="Rectangle 3"/>
          <p:cNvSpPr>
            <a:spLocks noGrp="1" noChangeArrowheads="1"/>
          </p:cNvSpPr>
          <p:nvPr>
            <p:ph idx="1"/>
          </p:nvPr>
        </p:nvSpPr>
        <p:spPr>
          <a:xfrm>
            <a:off x="304800" y="1600200"/>
            <a:ext cx="8316913" cy="4489450"/>
          </a:xfrm>
        </p:spPr>
        <p:txBody>
          <a:bodyPr>
            <a:normAutofit/>
          </a:bodyPr>
          <a:lstStyle/>
          <a:p>
            <a:pPr>
              <a:lnSpc>
                <a:spcPct val="120000"/>
              </a:lnSpc>
            </a:pPr>
            <a:r>
              <a:rPr lang="en-US" sz="2800" dirty="0">
                <a:latin typeface="Arial" pitchFamily="34" charset="0"/>
                <a:cs typeface="Arial" pitchFamily="34" charset="0"/>
              </a:rPr>
              <a:t>Ingestion </a:t>
            </a:r>
            <a:r>
              <a:rPr lang="en-US" sz="2800" dirty="0">
                <a:latin typeface="Arial" pitchFamily="34" charset="0"/>
                <a:cs typeface="Arial" pitchFamily="34" charset="0"/>
                <a:sym typeface="Wingdings" pitchFamily="2" charset="2"/>
              </a:rPr>
              <a:t></a:t>
            </a:r>
            <a:r>
              <a:rPr lang="en-US" sz="2800" dirty="0">
                <a:latin typeface="Arial" pitchFamily="34" charset="0"/>
                <a:cs typeface="Arial" pitchFamily="34" charset="0"/>
              </a:rPr>
              <a:t> Tonsil </a:t>
            </a:r>
            <a:r>
              <a:rPr lang="en-US" sz="2800" dirty="0">
                <a:latin typeface="Arial" pitchFamily="34" charset="0"/>
                <a:cs typeface="Arial" pitchFamily="34" charset="0"/>
                <a:sym typeface="Wingdings" pitchFamily="2" charset="2"/>
              </a:rPr>
              <a:t></a:t>
            </a:r>
            <a:r>
              <a:rPr lang="en-US" sz="2800" dirty="0">
                <a:latin typeface="Arial" pitchFamily="34" charset="0"/>
                <a:cs typeface="Arial" pitchFamily="34" charset="0"/>
              </a:rPr>
              <a:t> Local LNs </a:t>
            </a:r>
            <a:r>
              <a:rPr lang="en-US" sz="2800" dirty="0">
                <a:latin typeface="Arial" pitchFamily="34" charset="0"/>
                <a:cs typeface="Arial" pitchFamily="34" charset="0"/>
                <a:sym typeface="Wingdings" pitchFamily="2" charset="2"/>
              </a:rPr>
              <a:t></a:t>
            </a:r>
            <a:r>
              <a:rPr lang="en-US" sz="2800" dirty="0">
                <a:latin typeface="Arial" pitchFamily="34" charset="0"/>
                <a:cs typeface="Arial" pitchFamily="34" charset="0"/>
              </a:rPr>
              <a:t> </a:t>
            </a:r>
            <a:r>
              <a:rPr lang="en-US" sz="2800" dirty="0" err="1">
                <a:latin typeface="Arial" pitchFamily="34" charset="0"/>
                <a:cs typeface="Arial" pitchFamily="34" charset="0"/>
              </a:rPr>
              <a:t>Viremia</a:t>
            </a:r>
            <a:r>
              <a:rPr lang="en-US" sz="2800" dirty="0">
                <a:latin typeface="Arial" pitchFamily="34" charset="0"/>
                <a:cs typeface="Arial" pitchFamily="34" charset="0"/>
              </a:rPr>
              <a:t> </a:t>
            </a:r>
          </a:p>
          <a:p>
            <a:pPr>
              <a:lnSpc>
                <a:spcPct val="120000"/>
              </a:lnSpc>
            </a:pPr>
            <a:r>
              <a:rPr lang="en-US" sz="2800" dirty="0">
                <a:latin typeface="Arial" pitchFamily="34" charset="0"/>
                <a:cs typeface="Arial" pitchFamily="34" charset="0"/>
              </a:rPr>
              <a:t>Virus in excretions and secretions, blood.</a:t>
            </a:r>
          </a:p>
          <a:p>
            <a:pPr>
              <a:lnSpc>
                <a:spcPct val="120000"/>
              </a:lnSpc>
            </a:pPr>
            <a:r>
              <a:rPr lang="en-US" sz="2800" dirty="0">
                <a:latin typeface="Arial" pitchFamily="34" charset="0"/>
                <a:cs typeface="Arial" pitchFamily="34" charset="0"/>
              </a:rPr>
              <a:t>Carrier pigs incriminated in maintaining infection in herds.</a:t>
            </a:r>
          </a:p>
          <a:p>
            <a:pPr>
              <a:lnSpc>
                <a:spcPct val="120000"/>
              </a:lnSpc>
            </a:pPr>
            <a:r>
              <a:rPr lang="en-US" sz="2800" dirty="0">
                <a:latin typeface="Arial" pitchFamily="34" charset="0"/>
                <a:cs typeface="Arial" pitchFamily="34" charset="0"/>
              </a:rPr>
              <a:t>Pigs with mild forms of ASF may shed virus for ~ 30 days.</a:t>
            </a:r>
          </a:p>
          <a:p>
            <a:pPr>
              <a:lnSpc>
                <a:spcPct val="120000"/>
              </a:lnSpc>
            </a:pPr>
            <a:r>
              <a:rPr lang="en-US" sz="2800" dirty="0">
                <a:latin typeface="Arial" pitchFamily="34" charset="0"/>
                <a:cs typeface="Arial" pitchFamily="34" charset="0"/>
              </a:rPr>
              <a:t>Bites of infected ticks.</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533400" y="304800"/>
            <a:ext cx="8229600" cy="1143000"/>
          </a:xfrm>
        </p:spPr>
        <p:txBody>
          <a:bodyPr>
            <a:normAutofit/>
          </a:bodyPr>
          <a:lstStyle/>
          <a:p>
            <a:r>
              <a:rPr lang="en-US" sz="4000" dirty="0">
                <a:solidFill>
                  <a:srgbClr val="FF0000"/>
                </a:solidFill>
                <a:latin typeface="Arial Unicode MS" pitchFamily="34" charset="-128"/>
              </a:rPr>
              <a:t>General Clinical Signs</a:t>
            </a:r>
          </a:p>
        </p:txBody>
      </p:sp>
      <p:sp>
        <p:nvSpPr>
          <p:cNvPr id="214019" name="Rectangle 3"/>
          <p:cNvSpPr>
            <a:spLocks noGrp="1" noChangeArrowheads="1"/>
          </p:cNvSpPr>
          <p:nvPr>
            <p:ph idx="1"/>
          </p:nvPr>
        </p:nvSpPr>
        <p:spPr/>
        <p:txBody>
          <a:bodyPr/>
          <a:lstStyle/>
          <a:p>
            <a:r>
              <a:rPr lang="en-US" sz="2800" b="1" dirty="0">
                <a:latin typeface="Arial Unicode MS" pitchFamily="34" charset="-128"/>
              </a:rPr>
              <a:t>HOT, SICK, RED pigs</a:t>
            </a:r>
          </a:p>
          <a:p>
            <a:endParaRPr lang="en-US" sz="2800" dirty="0">
              <a:latin typeface="Arial Unicode MS" pitchFamily="34" charset="-128"/>
            </a:endParaRPr>
          </a:p>
        </p:txBody>
      </p:sp>
      <p:pic>
        <p:nvPicPr>
          <p:cNvPr id="214024" name="Picture 8" descr="ASF (37)"/>
          <p:cNvPicPr>
            <a:picLocks noChangeAspect="1" noChangeArrowheads="1"/>
          </p:cNvPicPr>
          <p:nvPr/>
        </p:nvPicPr>
        <p:blipFill>
          <a:blip r:embed="rId3" cstate="print"/>
          <a:srcRect/>
          <a:stretch>
            <a:fillRect/>
          </a:stretch>
        </p:blipFill>
        <p:spPr bwMode="auto">
          <a:xfrm>
            <a:off x="762000" y="2655637"/>
            <a:ext cx="3733800" cy="3197476"/>
          </a:xfrm>
          <a:prstGeom prst="rect">
            <a:avLst/>
          </a:prstGeom>
          <a:noFill/>
        </p:spPr>
      </p:pic>
      <p:pic>
        <p:nvPicPr>
          <p:cNvPr id="214025" name="Picture 9" descr="ASF (35)"/>
          <p:cNvPicPr>
            <a:picLocks noChangeAspect="1" noChangeArrowheads="1"/>
          </p:cNvPicPr>
          <p:nvPr/>
        </p:nvPicPr>
        <p:blipFill>
          <a:blip r:embed="rId4" cstate="print"/>
          <a:srcRect/>
          <a:stretch>
            <a:fillRect/>
          </a:stretch>
        </p:blipFill>
        <p:spPr bwMode="auto">
          <a:xfrm>
            <a:off x="5410200" y="2133600"/>
            <a:ext cx="2819400" cy="3684588"/>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33400" y="381000"/>
            <a:ext cx="8229600" cy="1143000"/>
          </a:xfrm>
        </p:spPr>
        <p:txBody>
          <a:bodyPr>
            <a:normAutofit/>
          </a:bodyPr>
          <a:lstStyle/>
          <a:p>
            <a:r>
              <a:rPr lang="en-US" sz="4000" b="1" dirty="0">
                <a:solidFill>
                  <a:srgbClr val="FF0000"/>
                </a:solidFill>
              </a:rPr>
              <a:t>General Clinical Signs</a:t>
            </a:r>
          </a:p>
        </p:txBody>
      </p:sp>
      <p:sp>
        <p:nvSpPr>
          <p:cNvPr id="27659" name="Rectangle 11"/>
          <p:cNvSpPr>
            <a:spLocks noGrp="1" noChangeArrowheads="1"/>
          </p:cNvSpPr>
          <p:nvPr>
            <p:ph idx="1"/>
          </p:nvPr>
        </p:nvSpPr>
        <p:spPr>
          <a:xfrm>
            <a:off x="685800" y="1524000"/>
            <a:ext cx="7772400" cy="4953000"/>
          </a:xfrm>
        </p:spPr>
        <p:txBody>
          <a:bodyPr>
            <a:normAutofit/>
          </a:bodyPr>
          <a:lstStyle/>
          <a:p>
            <a:r>
              <a:rPr lang="en-US" dirty="0">
                <a:latin typeface="Arial" pitchFamily="34" charset="0"/>
                <a:cs typeface="Arial" pitchFamily="34" charset="0"/>
              </a:rPr>
              <a:t>In contrast to pigs with hog cholera:</a:t>
            </a:r>
          </a:p>
          <a:p>
            <a:pPr lvl="1"/>
            <a:r>
              <a:rPr lang="en-US" dirty="0">
                <a:latin typeface="Arial" pitchFamily="34" charset="0"/>
                <a:cs typeface="Arial" pitchFamily="34" charset="0"/>
              </a:rPr>
              <a:t>African Swine Fever pigs </a:t>
            </a:r>
            <a:r>
              <a:rPr lang="en-US" b="1" dirty="0">
                <a:latin typeface="Arial" pitchFamily="34" charset="0"/>
                <a:cs typeface="Arial" pitchFamily="34" charset="0"/>
              </a:rPr>
              <a:t>do not</a:t>
            </a:r>
            <a:r>
              <a:rPr lang="en-US" dirty="0">
                <a:latin typeface="Arial" pitchFamily="34" charset="0"/>
                <a:cs typeface="Arial" pitchFamily="34" charset="0"/>
              </a:rPr>
              <a:t> develop conjunctivitis or encephalitis </a:t>
            </a:r>
          </a:p>
          <a:p>
            <a:pPr lvl="1"/>
            <a:r>
              <a:rPr lang="en-US" dirty="0">
                <a:latin typeface="Arial" pitchFamily="34" charset="0"/>
                <a:cs typeface="Arial" pitchFamily="34" charset="0"/>
              </a:rPr>
              <a:t>Despite high fever, ASF infected pigs stay in good condition, whereas hog cholera infected pigs drastically lose weight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normAutofit/>
          </a:bodyPr>
          <a:lstStyle/>
          <a:p>
            <a:r>
              <a:rPr lang="en-US" sz="4000" b="1" dirty="0">
                <a:solidFill>
                  <a:srgbClr val="FF0000"/>
                </a:solidFill>
              </a:rPr>
              <a:t>Abortion</a:t>
            </a:r>
          </a:p>
        </p:txBody>
      </p:sp>
      <p:sp>
        <p:nvSpPr>
          <p:cNvPr id="248835" name="Rectangle 3"/>
          <p:cNvSpPr>
            <a:spLocks noGrp="1" noChangeArrowheads="1"/>
          </p:cNvSpPr>
          <p:nvPr>
            <p:ph idx="1"/>
          </p:nvPr>
        </p:nvSpPr>
        <p:spPr/>
        <p:txBody>
          <a:bodyPr>
            <a:normAutofit/>
          </a:bodyPr>
          <a:lstStyle/>
          <a:p>
            <a:pPr>
              <a:spcBef>
                <a:spcPts val="500"/>
              </a:spcBef>
              <a:spcAft>
                <a:spcPts val="500"/>
              </a:spcAft>
            </a:pPr>
            <a:r>
              <a:rPr lang="en-US" sz="2800" dirty="0">
                <a:latin typeface="Arial" pitchFamily="34" charset="0"/>
                <a:cs typeface="Arial" pitchFamily="34" charset="0"/>
              </a:rPr>
              <a:t>Occurs whether isolates are high, moderate or low in virulence.</a:t>
            </a:r>
            <a:br>
              <a:rPr lang="en-US" sz="2800" dirty="0">
                <a:latin typeface="Arial" pitchFamily="34" charset="0"/>
                <a:cs typeface="Arial" pitchFamily="34" charset="0"/>
              </a:rPr>
            </a:br>
            <a:r>
              <a:rPr lang="en-US" sz="2800" dirty="0">
                <a:latin typeface="Arial" pitchFamily="34" charset="0"/>
                <a:cs typeface="Arial" pitchFamily="34" charset="0"/>
              </a:rPr>
              <a:t/>
            </a:r>
            <a:br>
              <a:rPr lang="en-US" sz="2800" dirty="0">
                <a:latin typeface="Arial" pitchFamily="34" charset="0"/>
                <a:cs typeface="Arial" pitchFamily="34" charset="0"/>
              </a:rPr>
            </a:br>
            <a:r>
              <a:rPr lang="en-US" sz="2800" dirty="0">
                <a:latin typeface="Arial" pitchFamily="34" charset="0"/>
                <a:cs typeface="Arial" pitchFamily="34" charset="0"/>
              </a:rPr>
              <a:t>- Fetuses may be </a:t>
            </a:r>
            <a:r>
              <a:rPr lang="en-US" sz="2800" dirty="0" err="1">
                <a:latin typeface="Arial" pitchFamily="34" charset="0"/>
                <a:cs typeface="Arial" pitchFamily="34" charset="0"/>
              </a:rPr>
              <a:t>anasarcous</a:t>
            </a:r>
            <a:r>
              <a:rPr lang="en-US" sz="2800" dirty="0">
                <a:latin typeface="Arial" pitchFamily="34" charset="0"/>
                <a:cs typeface="Arial" pitchFamily="34" charset="0"/>
              </a:rPr>
              <a:t>.</a:t>
            </a:r>
            <a:br>
              <a:rPr lang="en-US" sz="2800" dirty="0">
                <a:latin typeface="Arial" pitchFamily="34" charset="0"/>
                <a:cs typeface="Arial" pitchFamily="34" charset="0"/>
              </a:rPr>
            </a:br>
            <a:r>
              <a:rPr lang="en-US" sz="2800" dirty="0">
                <a:latin typeface="Arial" pitchFamily="34" charset="0"/>
                <a:cs typeface="Arial" pitchFamily="34" charset="0"/>
              </a:rPr>
              <a:t/>
            </a:r>
            <a:br>
              <a:rPr lang="en-US" sz="2800" dirty="0">
                <a:latin typeface="Arial" pitchFamily="34" charset="0"/>
                <a:cs typeface="Arial" pitchFamily="34" charset="0"/>
              </a:rPr>
            </a:br>
            <a:r>
              <a:rPr lang="en-US" sz="2800" dirty="0">
                <a:latin typeface="Arial" pitchFamily="34" charset="0"/>
                <a:cs typeface="Arial" pitchFamily="34" charset="0"/>
              </a:rPr>
              <a:t>- May find </a:t>
            </a:r>
            <a:r>
              <a:rPr lang="en-US" sz="2800" dirty="0" err="1">
                <a:latin typeface="Arial" pitchFamily="34" charset="0"/>
                <a:cs typeface="Arial" pitchFamily="34" charset="0"/>
              </a:rPr>
              <a:t>petechiae</a:t>
            </a:r>
            <a:r>
              <a:rPr lang="en-US" sz="2800" dirty="0">
                <a:latin typeface="Arial" pitchFamily="34" charset="0"/>
                <a:cs typeface="Arial" pitchFamily="34" charset="0"/>
              </a:rPr>
              <a:t> in placenta, skin, and</a:t>
            </a:r>
            <a:br>
              <a:rPr lang="en-US" sz="2800" dirty="0">
                <a:latin typeface="Arial" pitchFamily="34" charset="0"/>
                <a:cs typeface="Arial" pitchFamily="34" charset="0"/>
              </a:rPr>
            </a:br>
            <a:r>
              <a:rPr lang="en-US" sz="2800" dirty="0">
                <a:latin typeface="Arial" pitchFamily="34" charset="0"/>
                <a:cs typeface="Arial" pitchFamily="34" charset="0"/>
              </a:rPr>
              <a:t>   myocardium, and a mottled liver. </a:t>
            </a:r>
            <a:br>
              <a:rPr lang="en-US" sz="2800" dirty="0">
                <a:latin typeface="Arial" pitchFamily="34" charset="0"/>
                <a:cs typeface="Arial" pitchFamily="34" charset="0"/>
              </a:rPr>
            </a:br>
            <a:r>
              <a:rPr lang="en-US" sz="2800" dirty="0">
                <a:latin typeface="Arial" pitchFamily="34" charset="0"/>
                <a:cs typeface="Arial" pitchFamily="34" charset="0"/>
              </a:rPr>
              <a:t/>
            </a:r>
            <a:br>
              <a:rPr lang="en-US" sz="2800" dirty="0">
                <a:latin typeface="Arial" pitchFamily="34" charset="0"/>
                <a:cs typeface="Arial" pitchFamily="34" charset="0"/>
              </a:rPr>
            </a:b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normAutofit/>
          </a:bodyPr>
          <a:lstStyle/>
          <a:p>
            <a:r>
              <a:rPr lang="en-US" sz="3600" b="1" dirty="0">
                <a:solidFill>
                  <a:srgbClr val="FF0000"/>
                </a:solidFill>
              </a:rPr>
              <a:t>Clinical Signs</a:t>
            </a:r>
          </a:p>
        </p:txBody>
      </p:sp>
      <p:sp>
        <p:nvSpPr>
          <p:cNvPr id="246787" name="Rectangle 3"/>
          <p:cNvSpPr>
            <a:spLocks noGrp="1" noChangeArrowheads="1"/>
          </p:cNvSpPr>
          <p:nvPr>
            <p:ph idx="1"/>
          </p:nvPr>
        </p:nvSpPr>
        <p:spPr/>
        <p:txBody>
          <a:bodyPr>
            <a:normAutofit/>
          </a:bodyPr>
          <a:lstStyle/>
          <a:p>
            <a:r>
              <a:rPr lang="en-IN" sz="2800" dirty="0" smtClean="0">
                <a:latin typeface="Arial" pitchFamily="34" charset="0"/>
                <a:cs typeface="Arial" pitchFamily="34" charset="0"/>
              </a:rPr>
              <a:t>The predilection of ASF viruses for cells of the </a:t>
            </a:r>
            <a:r>
              <a:rPr lang="en-IN" sz="2800" dirty="0" err="1" smtClean="0">
                <a:latin typeface="Arial" pitchFamily="34" charset="0"/>
                <a:cs typeface="Arial" pitchFamily="34" charset="0"/>
              </a:rPr>
              <a:t>monocyte</a:t>
            </a:r>
            <a:r>
              <a:rPr lang="en-IN" sz="2800" dirty="0" smtClean="0">
                <a:latin typeface="Arial" pitchFamily="34" charset="0"/>
                <a:cs typeface="Arial" pitchFamily="34" charset="0"/>
              </a:rPr>
              <a:t>/ macrophage lineage results in major defects in the immune system of infected pigs</a:t>
            </a:r>
            <a:endParaRPr lang="en-US" sz="2800" dirty="0" smtClean="0">
              <a:latin typeface="Arial" pitchFamily="34" charset="0"/>
              <a:cs typeface="Arial" pitchFamily="34" charset="0"/>
            </a:endParaRPr>
          </a:p>
          <a:p>
            <a:r>
              <a:rPr lang="en-US" sz="2800" dirty="0" err="1" smtClean="0">
                <a:latin typeface="Arial" pitchFamily="34" charset="0"/>
                <a:cs typeface="Arial" pitchFamily="34" charset="0"/>
              </a:rPr>
              <a:t>Coagulopathy</a:t>
            </a:r>
            <a:r>
              <a:rPr lang="en-US" sz="2800" dirty="0">
                <a:latin typeface="Arial" pitchFamily="34" charset="0"/>
                <a:cs typeface="Arial" pitchFamily="34" charset="0"/>
              </a:rPr>
              <a:t>, abnormal clotting</a:t>
            </a:r>
          </a:p>
          <a:p>
            <a:r>
              <a:rPr lang="en-US" sz="2800" dirty="0">
                <a:latin typeface="Arial" pitchFamily="34" charset="0"/>
                <a:cs typeface="Arial" pitchFamily="34" charset="0"/>
              </a:rPr>
              <a:t>Thrombocytopenia</a:t>
            </a:r>
          </a:p>
          <a:p>
            <a:r>
              <a:rPr lang="en-US" sz="2800" dirty="0">
                <a:latin typeface="Arial" pitchFamily="34" charset="0"/>
                <a:cs typeface="Arial" pitchFamily="34" charset="0"/>
              </a:rPr>
              <a:t>Hemorrhages</a:t>
            </a:r>
          </a:p>
          <a:p>
            <a:r>
              <a:rPr lang="en-US" sz="2800" dirty="0">
                <a:latin typeface="Arial" pitchFamily="34" charset="0"/>
                <a:cs typeface="Arial" pitchFamily="34" charset="0"/>
              </a:rPr>
              <a:t>Sudden death in </a:t>
            </a:r>
            <a:r>
              <a:rPr lang="en-US" sz="2800" dirty="0" err="1" smtClean="0">
                <a:latin typeface="Arial" pitchFamily="34" charset="0"/>
                <a:cs typeface="Arial" pitchFamily="34" charset="0"/>
              </a:rPr>
              <a:t>peracute</a:t>
            </a:r>
            <a:r>
              <a:rPr lang="en-US" sz="2800" dirty="0" smtClean="0">
                <a:latin typeface="Arial" pitchFamily="34" charset="0"/>
                <a:cs typeface="Arial" pitchFamily="34" charset="0"/>
              </a:rPr>
              <a:t> cases</a:t>
            </a:r>
            <a:endParaRPr lang="en-US" sz="2800" dirty="0">
              <a:latin typeface="Arial" pitchFamily="34" charset="0"/>
              <a:cs typeface="Arial" pitchFamily="34" charset="0"/>
            </a:endParaRPr>
          </a:p>
          <a:p>
            <a:r>
              <a:rPr lang="en-US" sz="2800" dirty="0">
                <a:latin typeface="Arial" pitchFamily="34" charset="0"/>
                <a:cs typeface="Arial" pitchFamily="34" charset="0"/>
              </a:rPr>
              <a:t>High fever, low appetite, huddling, shallow breathing, reluctant to move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b="1" dirty="0">
                <a:solidFill>
                  <a:srgbClr val="FF0000"/>
                </a:solidFill>
                <a:latin typeface="Arial" pitchFamily="34" charset="0"/>
                <a:cs typeface="Arial" pitchFamily="34" charset="0"/>
              </a:rPr>
              <a:t>Clinical Signs </a:t>
            </a:r>
          </a:p>
        </p:txBody>
      </p:sp>
      <p:sp>
        <p:nvSpPr>
          <p:cNvPr id="3075" name="Rectangle 3"/>
          <p:cNvSpPr>
            <a:spLocks noGrp="1" noChangeArrowheads="1"/>
          </p:cNvSpPr>
          <p:nvPr>
            <p:ph idx="1"/>
          </p:nvPr>
        </p:nvSpPr>
        <p:spPr>
          <a:xfrm>
            <a:off x="457200" y="1752600"/>
            <a:ext cx="8153400" cy="4724400"/>
          </a:xfrm>
        </p:spPr>
        <p:txBody>
          <a:bodyPr>
            <a:normAutofit/>
          </a:bodyPr>
          <a:lstStyle/>
          <a:p>
            <a:pPr>
              <a:buClr>
                <a:srgbClr val="669900"/>
              </a:buClr>
              <a:buSzTx/>
            </a:pPr>
            <a:r>
              <a:rPr lang="en-US" sz="2800" dirty="0">
                <a:latin typeface="Arial" pitchFamily="34" charset="0"/>
                <a:cs typeface="Arial" pitchFamily="34" charset="0"/>
              </a:rPr>
              <a:t>These signs are influenced by the virulence and the physiological state (age, pregnancy status)</a:t>
            </a:r>
          </a:p>
          <a:p>
            <a:pPr>
              <a:buClr>
                <a:srgbClr val="669900"/>
              </a:buClr>
              <a:buSzTx/>
              <a:buFont typeface="Wingdings" pitchFamily="2" charset="2"/>
              <a:buNone/>
            </a:pPr>
            <a:endParaRPr lang="en-US" sz="2800" dirty="0">
              <a:latin typeface="Arial" pitchFamily="34" charset="0"/>
              <a:cs typeface="Arial" pitchFamily="34" charset="0"/>
            </a:endParaRPr>
          </a:p>
          <a:p>
            <a:pPr>
              <a:buClr>
                <a:srgbClr val="669900"/>
              </a:buClr>
              <a:buSzTx/>
            </a:pPr>
            <a:r>
              <a:rPr lang="en-US" sz="2800" dirty="0">
                <a:latin typeface="Arial" pitchFamily="34" charset="0"/>
                <a:cs typeface="Arial" pitchFamily="34" charset="0"/>
              </a:rPr>
              <a:t>There are three categories:</a:t>
            </a:r>
          </a:p>
          <a:p>
            <a:pPr lvl="1">
              <a:buClr>
                <a:srgbClr val="669900"/>
              </a:buClr>
              <a:buFont typeface="Wingdings" pitchFamily="2" charset="2"/>
              <a:buBlip>
                <a:blip r:embed="rId2"/>
              </a:buBlip>
            </a:pPr>
            <a:r>
              <a:rPr lang="en-US" dirty="0">
                <a:latin typeface="Arial" pitchFamily="34" charset="0"/>
                <a:cs typeface="Arial" pitchFamily="34" charset="0"/>
              </a:rPr>
              <a:t>Highly Virulent Isolate</a:t>
            </a:r>
          </a:p>
          <a:p>
            <a:pPr lvl="1">
              <a:buClr>
                <a:srgbClr val="669900"/>
              </a:buClr>
              <a:buFont typeface="Wingdings" pitchFamily="2" charset="2"/>
              <a:buBlip>
                <a:blip r:embed="rId2"/>
              </a:buBlip>
            </a:pPr>
            <a:r>
              <a:rPr lang="en-US" dirty="0">
                <a:latin typeface="Arial" pitchFamily="34" charset="0"/>
                <a:cs typeface="Arial" pitchFamily="34" charset="0"/>
              </a:rPr>
              <a:t>Moderately Virulent Isolate</a:t>
            </a:r>
          </a:p>
          <a:p>
            <a:pPr lvl="1">
              <a:buClr>
                <a:srgbClr val="669900"/>
              </a:buClr>
              <a:buFont typeface="Wingdings" pitchFamily="2" charset="2"/>
              <a:buBlip>
                <a:blip r:embed="rId2"/>
              </a:buBlip>
            </a:pPr>
            <a:r>
              <a:rPr lang="en-US" dirty="0">
                <a:latin typeface="Arial" pitchFamily="34" charset="0"/>
                <a:cs typeface="Arial" pitchFamily="34" charset="0"/>
              </a:rPr>
              <a:t>Low-Virulent Isolate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sz="4000" b="1" dirty="0">
                <a:latin typeface="+mn-lt"/>
              </a:rPr>
              <a:t> Clinical Signs: </a:t>
            </a:r>
            <a:br>
              <a:rPr lang="en-US" sz="4000" b="1" dirty="0">
                <a:latin typeface="+mn-lt"/>
              </a:rPr>
            </a:br>
            <a:r>
              <a:rPr lang="en-US" sz="4000" b="1" dirty="0">
                <a:solidFill>
                  <a:srgbClr val="FF0000"/>
                </a:solidFill>
                <a:latin typeface="+mn-lt"/>
              </a:rPr>
              <a:t>Highly Virulent</a:t>
            </a:r>
          </a:p>
        </p:txBody>
      </p:sp>
      <p:sp>
        <p:nvSpPr>
          <p:cNvPr id="18438" name="Rectangle 6"/>
          <p:cNvSpPr>
            <a:spLocks noGrp="1" noChangeArrowheads="1"/>
          </p:cNvSpPr>
          <p:nvPr>
            <p:ph idx="1"/>
          </p:nvPr>
        </p:nvSpPr>
        <p:spPr>
          <a:xfrm>
            <a:off x="228600" y="2057400"/>
            <a:ext cx="5791200" cy="3733800"/>
          </a:xfrm>
        </p:spPr>
        <p:txBody>
          <a:bodyPr>
            <a:normAutofit/>
          </a:bodyPr>
          <a:lstStyle/>
          <a:p>
            <a:r>
              <a:rPr lang="en-US" sz="2800" dirty="0">
                <a:latin typeface="Arial" pitchFamily="34" charset="0"/>
                <a:cs typeface="Arial" pitchFamily="34" charset="0"/>
              </a:rPr>
              <a:t>Pigs eat and move less</a:t>
            </a:r>
          </a:p>
          <a:p>
            <a:r>
              <a:rPr lang="en-US" sz="2800" dirty="0">
                <a:latin typeface="Arial" pitchFamily="34" charset="0"/>
                <a:cs typeface="Arial" pitchFamily="34" charset="0"/>
              </a:rPr>
              <a:t>Most die between 7 and 10 DPI.</a:t>
            </a:r>
          </a:p>
          <a:p>
            <a:r>
              <a:rPr lang="en-US" sz="2800" dirty="0">
                <a:latin typeface="Arial" pitchFamily="34" charset="0"/>
                <a:cs typeface="Arial" pitchFamily="34" charset="0"/>
              </a:rPr>
              <a:t>It is not unusual to see </a:t>
            </a:r>
          </a:p>
          <a:p>
            <a:pPr>
              <a:buFont typeface="Wingdings" pitchFamily="2" charset="2"/>
              <a:buNone/>
            </a:pPr>
            <a:r>
              <a:rPr lang="en-US" sz="2800" dirty="0">
                <a:latin typeface="Arial" pitchFamily="34" charset="0"/>
                <a:cs typeface="Arial" pitchFamily="34" charset="0"/>
              </a:rPr>
              <a:t>a pig walking and find </a:t>
            </a:r>
          </a:p>
          <a:p>
            <a:pPr>
              <a:buFont typeface="Wingdings" pitchFamily="2" charset="2"/>
              <a:buNone/>
            </a:pPr>
            <a:r>
              <a:rPr lang="en-US" sz="2800" dirty="0">
                <a:latin typeface="Arial" pitchFamily="34" charset="0"/>
                <a:cs typeface="Arial" pitchFamily="34" charset="0"/>
              </a:rPr>
              <a:t>it dead a short time later</a:t>
            </a:r>
          </a:p>
        </p:txBody>
      </p:sp>
      <p:sp>
        <p:nvSpPr>
          <p:cNvPr id="18437" name="Text Box 5"/>
          <p:cNvSpPr txBox="1">
            <a:spLocks noChangeArrowheads="1"/>
          </p:cNvSpPr>
          <p:nvPr/>
        </p:nvSpPr>
        <p:spPr bwMode="auto">
          <a:xfrm>
            <a:off x="1828800" y="1624013"/>
            <a:ext cx="184150" cy="519112"/>
          </a:xfrm>
          <a:prstGeom prst="rect">
            <a:avLst/>
          </a:prstGeom>
          <a:noFill/>
          <a:ln w="9525">
            <a:noFill/>
            <a:miter lim="800000"/>
            <a:headEnd/>
            <a:tailEnd/>
          </a:ln>
          <a:effectLst/>
        </p:spPr>
        <p:txBody>
          <a:bodyPr wrap="none">
            <a:spAutoFit/>
          </a:bodyPr>
          <a:lstStyle/>
          <a:p>
            <a:pPr eaLnBrk="1" hangingPunct="1"/>
            <a:endParaRPr lang="en-US" sz="2800"/>
          </a:p>
        </p:txBody>
      </p:sp>
      <p:pic>
        <p:nvPicPr>
          <p:cNvPr id="18440" name="Picture 8" descr="asfn_8"/>
          <p:cNvPicPr>
            <a:picLocks noChangeAspect="1" noChangeArrowheads="1"/>
          </p:cNvPicPr>
          <p:nvPr/>
        </p:nvPicPr>
        <p:blipFill>
          <a:blip r:embed="rId3" cstate="print"/>
          <a:srcRect/>
          <a:stretch>
            <a:fillRect/>
          </a:stretch>
        </p:blipFill>
        <p:spPr bwMode="auto">
          <a:xfrm>
            <a:off x="5105400" y="3581400"/>
            <a:ext cx="3733800" cy="2371725"/>
          </a:xfrm>
          <a:prstGeom prst="rect">
            <a:avLst/>
          </a:prstGeom>
          <a:noFill/>
        </p:spPr>
      </p:pic>
      <p:sp>
        <p:nvSpPr>
          <p:cNvPr id="18441" name="Text Box 9"/>
          <p:cNvSpPr txBox="1">
            <a:spLocks noChangeArrowheads="1"/>
          </p:cNvSpPr>
          <p:nvPr/>
        </p:nvSpPr>
        <p:spPr bwMode="auto">
          <a:xfrm>
            <a:off x="5334000" y="5715000"/>
            <a:ext cx="3124200" cy="214313"/>
          </a:xfrm>
          <a:prstGeom prst="rect">
            <a:avLst/>
          </a:prstGeom>
          <a:noFill/>
          <a:ln w="9525">
            <a:noFill/>
            <a:miter lim="800000"/>
            <a:headEnd/>
            <a:tailEnd/>
          </a:ln>
          <a:effectLst/>
        </p:spPr>
        <p:txBody>
          <a:bodyPr>
            <a:spAutoFit/>
          </a:bodyPr>
          <a:lstStyle/>
          <a:p>
            <a:pPr>
              <a:spcBef>
                <a:spcPct val="50000"/>
              </a:spcBef>
            </a:pPr>
            <a:r>
              <a:rPr lang="en-US" sz="800"/>
              <a:t>http://www.defra.gov.uk/animalh/diseases/images/v2/asfn_8.jpg</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57200" y="381000"/>
            <a:ext cx="8229600" cy="1143000"/>
          </a:xfrm>
        </p:spPr>
        <p:txBody>
          <a:bodyPr>
            <a:normAutofit/>
          </a:bodyPr>
          <a:lstStyle/>
          <a:p>
            <a:r>
              <a:rPr lang="en-US" sz="4000" b="1" dirty="0">
                <a:solidFill>
                  <a:srgbClr val="FF0000"/>
                </a:solidFill>
              </a:rPr>
              <a:t>Clinical Signs</a:t>
            </a:r>
          </a:p>
        </p:txBody>
      </p:sp>
      <p:sp>
        <p:nvSpPr>
          <p:cNvPr id="147459" name="Rectangle 3"/>
          <p:cNvSpPr>
            <a:spLocks noGrp="1" noChangeArrowheads="1"/>
          </p:cNvSpPr>
          <p:nvPr>
            <p:ph sz="half" idx="1"/>
          </p:nvPr>
        </p:nvSpPr>
        <p:spPr>
          <a:xfrm>
            <a:off x="304800" y="1524000"/>
            <a:ext cx="4572000" cy="4876800"/>
          </a:xfrm>
        </p:spPr>
        <p:txBody>
          <a:bodyPr/>
          <a:lstStyle/>
          <a:p>
            <a:r>
              <a:rPr lang="en-US" sz="3200" dirty="0" err="1">
                <a:latin typeface="Arial" pitchFamily="34" charset="0"/>
                <a:cs typeface="Arial" pitchFamily="34" charset="0"/>
              </a:rPr>
              <a:t>Peracute</a:t>
            </a:r>
            <a:r>
              <a:rPr lang="en-US" dirty="0">
                <a:latin typeface="Arial" pitchFamily="34" charset="0"/>
                <a:cs typeface="Arial" pitchFamily="34" charset="0"/>
              </a:rPr>
              <a:t/>
            </a:r>
            <a:br>
              <a:rPr lang="en-US" dirty="0">
                <a:latin typeface="Arial" pitchFamily="34" charset="0"/>
                <a:cs typeface="Arial" pitchFamily="34" charset="0"/>
              </a:rPr>
            </a:br>
            <a:r>
              <a:rPr lang="en-US" dirty="0">
                <a:latin typeface="Arial" pitchFamily="34" charset="0"/>
                <a:cs typeface="Arial" pitchFamily="34" charset="0"/>
              </a:rPr>
              <a:t> - </a:t>
            </a:r>
            <a:r>
              <a:rPr lang="en-US" sz="2400" dirty="0">
                <a:latin typeface="Arial" pitchFamily="34" charset="0"/>
                <a:cs typeface="Arial" pitchFamily="34" charset="0"/>
              </a:rPr>
              <a:t>Sudden death</a:t>
            </a:r>
            <a:r>
              <a:rPr lang="en-US" dirty="0">
                <a:latin typeface="Arial" pitchFamily="34" charset="0"/>
                <a:cs typeface="Arial" pitchFamily="34" charset="0"/>
              </a:rPr>
              <a:t/>
            </a:r>
            <a:br>
              <a:rPr lang="en-US" dirty="0">
                <a:latin typeface="Arial" pitchFamily="34" charset="0"/>
                <a:cs typeface="Arial" pitchFamily="34" charset="0"/>
              </a:rPr>
            </a:br>
            <a:r>
              <a:rPr lang="en-US" sz="3200" dirty="0">
                <a:latin typeface="Times New Roman" pitchFamily="18" charset="0"/>
              </a:rPr>
              <a:t/>
            </a:r>
            <a:br>
              <a:rPr lang="en-US" sz="3200" dirty="0">
                <a:latin typeface="Times New Roman" pitchFamily="18" charset="0"/>
              </a:rPr>
            </a:br>
            <a:r>
              <a:rPr lang="en-US" sz="3200" dirty="0">
                <a:latin typeface="Times New Roman" pitchFamily="18" charset="0"/>
              </a:rPr>
              <a:t/>
            </a:r>
            <a:br>
              <a:rPr lang="en-US" sz="3200" dirty="0">
                <a:latin typeface="Times New Roman" pitchFamily="18" charset="0"/>
              </a:rPr>
            </a:br>
            <a:endParaRPr lang="en-US" sz="1000" dirty="0">
              <a:latin typeface="Times New Roman" pitchFamily="18" charset="0"/>
            </a:endParaRPr>
          </a:p>
        </p:txBody>
      </p:sp>
      <p:sp>
        <p:nvSpPr>
          <p:cNvPr id="147460" name="Rectangle 4"/>
          <p:cNvSpPr>
            <a:spLocks noGrp="1" noChangeArrowheads="1"/>
          </p:cNvSpPr>
          <p:nvPr>
            <p:ph sz="half" idx="2"/>
          </p:nvPr>
        </p:nvSpPr>
        <p:spPr>
          <a:xfrm>
            <a:off x="3733800" y="1524000"/>
            <a:ext cx="3671888" cy="4211638"/>
          </a:xfrm>
        </p:spPr>
        <p:txBody>
          <a:bodyPr/>
          <a:lstStyle/>
          <a:p>
            <a:r>
              <a:rPr lang="en-US" sz="3600" dirty="0">
                <a:latin typeface="Arial" pitchFamily="34" charset="0"/>
                <a:cs typeface="Arial" pitchFamily="34" charset="0"/>
              </a:rPr>
              <a:t>Acute</a:t>
            </a:r>
            <a:r>
              <a:rPr lang="en-US" sz="3200" dirty="0">
                <a:latin typeface="Arial" pitchFamily="34" charset="0"/>
                <a:cs typeface="Arial" pitchFamily="34" charset="0"/>
              </a:rPr>
              <a:t/>
            </a:r>
            <a:br>
              <a:rPr lang="en-US" sz="3200" dirty="0">
                <a:latin typeface="Arial" pitchFamily="34" charset="0"/>
                <a:cs typeface="Arial" pitchFamily="34" charset="0"/>
              </a:rPr>
            </a:br>
            <a:r>
              <a:rPr lang="en-US" sz="3200" dirty="0">
                <a:latin typeface="Arial" pitchFamily="34" charset="0"/>
                <a:cs typeface="Arial" pitchFamily="34" charset="0"/>
              </a:rPr>
              <a:t>- </a:t>
            </a:r>
            <a:r>
              <a:rPr lang="en-US" dirty="0">
                <a:latin typeface="Arial" pitchFamily="34" charset="0"/>
                <a:cs typeface="Arial" pitchFamily="34" charset="0"/>
              </a:rPr>
              <a:t>Fever (105-107</a:t>
            </a:r>
            <a:r>
              <a:rPr lang="en-US" baseline="30000" dirty="0">
                <a:latin typeface="Arial" pitchFamily="34" charset="0"/>
                <a:cs typeface="Arial" pitchFamily="34" charset="0"/>
              </a:rPr>
              <a:t>o</a:t>
            </a:r>
            <a:r>
              <a:rPr lang="en-US" dirty="0">
                <a:latin typeface="Arial" pitchFamily="34" charset="0"/>
                <a:cs typeface="Arial" pitchFamily="34" charset="0"/>
              </a:rPr>
              <a:t>F) – </a:t>
            </a:r>
          </a:p>
          <a:p>
            <a:pPr>
              <a:buFont typeface="Wingdings" pitchFamily="2" charset="2"/>
              <a:buNone/>
            </a:pPr>
            <a:r>
              <a:rPr lang="en-US" dirty="0">
                <a:latin typeface="Arial" pitchFamily="34" charset="0"/>
                <a:cs typeface="Arial" pitchFamily="34" charset="0"/>
              </a:rPr>
              <a:t>	-Discolored skin </a:t>
            </a:r>
            <a:br>
              <a:rPr lang="en-US" dirty="0">
                <a:latin typeface="Arial" pitchFamily="34" charset="0"/>
                <a:cs typeface="Arial" pitchFamily="34" charset="0"/>
              </a:rPr>
            </a:br>
            <a:r>
              <a:rPr lang="en-US" dirty="0">
                <a:latin typeface="Arial" pitchFamily="34" charset="0"/>
                <a:cs typeface="Arial" pitchFamily="34" charset="0"/>
              </a:rPr>
              <a:t>- Huddling</a:t>
            </a:r>
            <a:br>
              <a:rPr lang="en-US" dirty="0">
                <a:latin typeface="Arial" pitchFamily="34" charset="0"/>
                <a:cs typeface="Arial" pitchFamily="34" charset="0"/>
              </a:rPr>
            </a:br>
            <a:r>
              <a:rPr lang="en-US" dirty="0">
                <a:latin typeface="Arial" pitchFamily="34" charset="0"/>
                <a:cs typeface="Arial" pitchFamily="34" charset="0"/>
              </a:rPr>
              <a:t>- Diarrhea /</a:t>
            </a:r>
            <a:br>
              <a:rPr lang="en-US" dirty="0">
                <a:latin typeface="Arial" pitchFamily="34" charset="0"/>
                <a:cs typeface="Arial" pitchFamily="34" charset="0"/>
              </a:rPr>
            </a:br>
            <a:r>
              <a:rPr lang="en-US" dirty="0">
                <a:latin typeface="Arial" pitchFamily="34" charset="0"/>
                <a:cs typeface="Arial" pitchFamily="34" charset="0"/>
              </a:rPr>
              <a:t>  </a:t>
            </a:r>
            <a:r>
              <a:rPr lang="en-US" dirty="0" err="1">
                <a:latin typeface="Arial" pitchFamily="34" charset="0"/>
                <a:cs typeface="Arial" pitchFamily="34" charset="0"/>
              </a:rPr>
              <a:t>melena</a:t>
            </a:r>
            <a:r>
              <a:rPr lang="en-US" dirty="0">
                <a:latin typeface="Arial" pitchFamily="34" charset="0"/>
                <a:cs typeface="Arial" pitchFamily="34" charset="0"/>
              </a:rPr>
              <a:t/>
            </a:r>
            <a:br>
              <a:rPr lang="en-US" dirty="0">
                <a:latin typeface="Arial" pitchFamily="34" charset="0"/>
                <a:cs typeface="Arial" pitchFamily="34" charset="0"/>
              </a:rPr>
            </a:br>
            <a:r>
              <a:rPr lang="en-US" dirty="0">
                <a:latin typeface="Arial" pitchFamily="34" charset="0"/>
                <a:cs typeface="Arial" pitchFamily="34" charset="0"/>
              </a:rPr>
              <a:t>- Abortions</a:t>
            </a:r>
            <a:br>
              <a:rPr lang="en-US" dirty="0">
                <a:latin typeface="Arial" pitchFamily="34" charset="0"/>
                <a:cs typeface="Arial" pitchFamily="34" charset="0"/>
              </a:rPr>
            </a:br>
            <a:r>
              <a:rPr lang="en-US" dirty="0">
                <a:latin typeface="Arial" pitchFamily="34" charset="0"/>
                <a:cs typeface="Arial" pitchFamily="34" charset="0"/>
              </a:rPr>
              <a:t>- Death</a:t>
            </a:r>
          </a:p>
        </p:txBody>
      </p:sp>
      <p:pic>
        <p:nvPicPr>
          <p:cNvPr id="147466" name="Picture 10" descr="ASF (55)"/>
          <p:cNvPicPr>
            <a:picLocks noChangeAspect="1" noChangeArrowheads="1"/>
          </p:cNvPicPr>
          <p:nvPr/>
        </p:nvPicPr>
        <p:blipFill>
          <a:blip r:embed="rId3" cstate="print"/>
          <a:srcRect/>
          <a:stretch>
            <a:fillRect/>
          </a:stretch>
        </p:blipFill>
        <p:spPr bwMode="auto">
          <a:xfrm>
            <a:off x="457200" y="2895600"/>
            <a:ext cx="2987675" cy="1820863"/>
          </a:xfrm>
          <a:prstGeom prst="rect">
            <a:avLst/>
          </a:prstGeom>
          <a:noFill/>
        </p:spPr>
      </p:pic>
      <p:pic>
        <p:nvPicPr>
          <p:cNvPr id="147467" name="Picture 11" descr="ASF (31)"/>
          <p:cNvPicPr>
            <a:picLocks noChangeAspect="1" noChangeArrowheads="1"/>
          </p:cNvPicPr>
          <p:nvPr/>
        </p:nvPicPr>
        <p:blipFill>
          <a:blip r:embed="rId4" cstate="print"/>
          <a:srcRect/>
          <a:stretch>
            <a:fillRect/>
          </a:stretch>
        </p:blipFill>
        <p:spPr bwMode="auto">
          <a:xfrm>
            <a:off x="6477000" y="4267200"/>
            <a:ext cx="2408238" cy="1189038"/>
          </a:xfrm>
          <a:prstGeom prst="rect">
            <a:avLst/>
          </a:prstGeom>
          <a:noFill/>
        </p:spPr>
      </p:pic>
      <p:pic>
        <p:nvPicPr>
          <p:cNvPr id="147468" name="Picture 12" descr="ASF (33)"/>
          <p:cNvPicPr>
            <a:picLocks noChangeAspect="1" noChangeArrowheads="1"/>
          </p:cNvPicPr>
          <p:nvPr/>
        </p:nvPicPr>
        <p:blipFill>
          <a:blip r:embed="rId5" cstate="print"/>
          <a:srcRect/>
          <a:stretch>
            <a:fillRect/>
          </a:stretch>
        </p:blipFill>
        <p:spPr bwMode="auto">
          <a:xfrm>
            <a:off x="6858000" y="990600"/>
            <a:ext cx="1951038" cy="2925763"/>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8" name="Rectangle 6"/>
          <p:cNvSpPr>
            <a:spLocks noGrp="1" noChangeArrowheads="1"/>
          </p:cNvSpPr>
          <p:nvPr>
            <p:ph type="title"/>
          </p:nvPr>
        </p:nvSpPr>
        <p:spPr/>
        <p:txBody>
          <a:bodyPr>
            <a:normAutofit/>
          </a:bodyPr>
          <a:lstStyle/>
          <a:p>
            <a:r>
              <a:rPr lang="en-US" sz="4000" b="1" dirty="0">
                <a:solidFill>
                  <a:srgbClr val="FF0000"/>
                </a:solidFill>
              </a:rPr>
              <a:t>Clinical Signs</a:t>
            </a:r>
          </a:p>
        </p:txBody>
      </p:sp>
      <p:sp>
        <p:nvSpPr>
          <p:cNvPr id="172039" name="Rectangle 7"/>
          <p:cNvSpPr>
            <a:spLocks noGrp="1" noChangeArrowheads="1"/>
          </p:cNvSpPr>
          <p:nvPr>
            <p:ph idx="1"/>
          </p:nvPr>
        </p:nvSpPr>
        <p:spPr/>
        <p:txBody>
          <a:bodyPr/>
          <a:lstStyle/>
          <a:p>
            <a:r>
              <a:rPr lang="en-US" b="1" dirty="0" err="1">
                <a:effectLst/>
              </a:rPr>
              <a:t>Erythema</a:t>
            </a:r>
            <a:r>
              <a:rPr lang="en-US" b="1" dirty="0">
                <a:effectLst/>
              </a:rPr>
              <a:t> of skin</a:t>
            </a:r>
            <a:r>
              <a:rPr lang="en-US" dirty="0">
                <a:effectLst/>
              </a:rPr>
              <a:t>: </a:t>
            </a:r>
          </a:p>
          <a:p>
            <a:pPr>
              <a:buFont typeface="Wingdings" pitchFamily="2" charset="2"/>
              <a:buNone/>
            </a:pPr>
            <a:r>
              <a:rPr lang="en-US" dirty="0">
                <a:effectLst/>
              </a:rPr>
              <a:t>  </a:t>
            </a:r>
          </a:p>
          <a:p>
            <a:pPr>
              <a:buFont typeface="Wingdings" pitchFamily="2" charset="2"/>
              <a:buNone/>
            </a:pPr>
            <a:endParaRPr lang="en-US" dirty="0"/>
          </a:p>
        </p:txBody>
      </p:sp>
      <p:pic>
        <p:nvPicPr>
          <p:cNvPr id="172040" name="Picture 8" descr="usda"/>
          <p:cNvPicPr>
            <a:picLocks noChangeAspect="1" noChangeArrowheads="1"/>
          </p:cNvPicPr>
          <p:nvPr/>
        </p:nvPicPr>
        <p:blipFill>
          <a:blip r:embed="rId2" cstate="print"/>
          <a:srcRect/>
          <a:stretch>
            <a:fillRect/>
          </a:stretch>
        </p:blipFill>
        <p:spPr bwMode="auto">
          <a:xfrm>
            <a:off x="609600" y="2743200"/>
            <a:ext cx="2789238" cy="2092325"/>
          </a:xfrm>
          <a:prstGeom prst="rect">
            <a:avLst/>
          </a:prstGeom>
          <a:noFill/>
        </p:spPr>
      </p:pic>
      <p:pic>
        <p:nvPicPr>
          <p:cNvPr id="172042" name="Picture 10" descr="LUBROTH"/>
          <p:cNvPicPr>
            <a:picLocks noChangeAspect="1" noChangeArrowheads="1"/>
          </p:cNvPicPr>
          <p:nvPr/>
        </p:nvPicPr>
        <p:blipFill>
          <a:blip r:embed="rId3" cstate="print"/>
          <a:srcRect/>
          <a:stretch>
            <a:fillRect/>
          </a:stretch>
        </p:blipFill>
        <p:spPr bwMode="auto">
          <a:xfrm>
            <a:off x="4343400" y="2133600"/>
            <a:ext cx="3660775" cy="2911475"/>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r>
              <a:rPr lang="en-US" sz="4000" dirty="0"/>
              <a:t> </a:t>
            </a:r>
            <a:r>
              <a:rPr lang="en-US" sz="4000" b="1" dirty="0">
                <a:solidFill>
                  <a:srgbClr val="FF0000"/>
                </a:solidFill>
              </a:rPr>
              <a:t>Clinical Signs: </a:t>
            </a:r>
            <a:br>
              <a:rPr lang="en-US" sz="4000" b="1" dirty="0">
                <a:solidFill>
                  <a:srgbClr val="FF0000"/>
                </a:solidFill>
              </a:rPr>
            </a:br>
            <a:r>
              <a:rPr lang="en-US" sz="4000" b="1" dirty="0">
                <a:solidFill>
                  <a:srgbClr val="FF0000"/>
                </a:solidFill>
              </a:rPr>
              <a:t>Moderately Virulent</a:t>
            </a:r>
          </a:p>
        </p:txBody>
      </p:sp>
      <p:sp>
        <p:nvSpPr>
          <p:cNvPr id="52253" name="Rectangle 29"/>
          <p:cNvSpPr>
            <a:spLocks noGrp="1" noChangeArrowheads="1"/>
          </p:cNvSpPr>
          <p:nvPr>
            <p:ph idx="1"/>
          </p:nvPr>
        </p:nvSpPr>
        <p:spPr>
          <a:xfrm>
            <a:off x="609600" y="1752600"/>
            <a:ext cx="7924800" cy="4267200"/>
          </a:xfrm>
        </p:spPr>
        <p:txBody>
          <a:bodyPr>
            <a:normAutofit/>
          </a:bodyPr>
          <a:lstStyle/>
          <a:p>
            <a:pPr>
              <a:buClr>
                <a:srgbClr val="669900"/>
              </a:buClr>
            </a:pPr>
            <a:r>
              <a:rPr lang="en-US" sz="2800" dirty="0">
                <a:latin typeface="Arial" pitchFamily="34" charset="0"/>
                <a:cs typeface="Arial" pitchFamily="34" charset="0"/>
              </a:rPr>
              <a:t>Infected pigs usually have high fever for 10 to 12 DPI.  Some mortality occurs at this time.</a:t>
            </a:r>
          </a:p>
          <a:p>
            <a:pPr>
              <a:buClr>
                <a:srgbClr val="669900"/>
              </a:buClr>
              <a:buFont typeface="Wingdings" pitchFamily="2" charset="2"/>
              <a:buNone/>
            </a:pPr>
            <a:endParaRPr lang="en-US" sz="2800" dirty="0">
              <a:latin typeface="Arial" pitchFamily="34" charset="0"/>
              <a:cs typeface="Arial" pitchFamily="34" charset="0"/>
            </a:endParaRPr>
          </a:p>
          <a:p>
            <a:pPr>
              <a:buClr>
                <a:srgbClr val="669900"/>
              </a:buClr>
            </a:pPr>
            <a:r>
              <a:rPr lang="en-US" sz="2800" dirty="0">
                <a:latin typeface="Arial" pitchFamily="34" charset="0"/>
                <a:cs typeface="Arial" pitchFamily="34" charset="0"/>
              </a:rPr>
              <a:t>After 12 to 14 DPI, temperatures and leukocyte count begins to return to normal levels. </a:t>
            </a:r>
          </a:p>
          <a:p>
            <a:pPr>
              <a:buClr>
                <a:srgbClr val="669900"/>
              </a:buClr>
              <a:buFont typeface="Wingdings" pitchFamily="2" charset="2"/>
              <a:buNone/>
            </a:pPr>
            <a:endParaRPr lang="en-U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normAutofit fontScale="90000"/>
          </a:bodyPr>
          <a:lstStyle/>
          <a:p>
            <a:r>
              <a:rPr lang="en-US" sz="4000" dirty="0"/>
              <a:t> </a:t>
            </a:r>
            <a:r>
              <a:rPr lang="en-US" sz="4000" b="1" dirty="0">
                <a:solidFill>
                  <a:srgbClr val="FF0000"/>
                </a:solidFill>
              </a:rPr>
              <a:t>Clinical Signs: </a:t>
            </a:r>
            <a:br>
              <a:rPr lang="en-US" sz="4000" b="1" dirty="0">
                <a:solidFill>
                  <a:srgbClr val="FF0000"/>
                </a:solidFill>
              </a:rPr>
            </a:br>
            <a:r>
              <a:rPr lang="en-US" sz="4000" b="1" dirty="0">
                <a:solidFill>
                  <a:srgbClr val="FF0000"/>
                </a:solidFill>
              </a:rPr>
              <a:t>Moderately Virulent</a:t>
            </a:r>
          </a:p>
        </p:txBody>
      </p:sp>
      <p:sp>
        <p:nvSpPr>
          <p:cNvPr id="256003" name="Rectangle 3"/>
          <p:cNvSpPr>
            <a:spLocks noGrp="1" noChangeArrowheads="1"/>
          </p:cNvSpPr>
          <p:nvPr>
            <p:ph idx="1"/>
          </p:nvPr>
        </p:nvSpPr>
        <p:spPr>
          <a:xfrm>
            <a:off x="609600" y="1828800"/>
            <a:ext cx="7924800" cy="4267200"/>
          </a:xfrm>
        </p:spPr>
        <p:txBody>
          <a:bodyPr/>
          <a:lstStyle/>
          <a:p>
            <a:pPr>
              <a:buClr>
                <a:srgbClr val="669900"/>
              </a:buClr>
            </a:pPr>
            <a:r>
              <a:rPr lang="en-US" sz="2800" dirty="0">
                <a:latin typeface="Arial" pitchFamily="34" charset="0"/>
                <a:cs typeface="Arial" pitchFamily="34" charset="0"/>
              </a:rPr>
              <a:t>Very young pigs may have high mortality rate and lesions similar to those caused by highly virulent isolates </a:t>
            </a:r>
          </a:p>
        </p:txBody>
      </p:sp>
      <p:pic>
        <p:nvPicPr>
          <p:cNvPr id="256005" name="Picture 5" descr="ASF (55)"/>
          <p:cNvPicPr>
            <a:picLocks noChangeAspect="1" noChangeArrowheads="1"/>
          </p:cNvPicPr>
          <p:nvPr/>
        </p:nvPicPr>
        <p:blipFill>
          <a:blip r:embed="rId2" cstate="print"/>
          <a:srcRect/>
          <a:stretch>
            <a:fillRect/>
          </a:stretch>
        </p:blipFill>
        <p:spPr bwMode="auto">
          <a:xfrm>
            <a:off x="1676400" y="3429000"/>
            <a:ext cx="2835275" cy="1727200"/>
          </a:xfrm>
          <a:prstGeom prst="rect">
            <a:avLst/>
          </a:prstGeom>
          <a:noFill/>
        </p:spPr>
      </p:pic>
      <p:pic>
        <p:nvPicPr>
          <p:cNvPr id="256006" name="Picture 6" descr="ASF (56)"/>
          <p:cNvPicPr>
            <a:picLocks noChangeAspect="1" noChangeArrowheads="1"/>
          </p:cNvPicPr>
          <p:nvPr/>
        </p:nvPicPr>
        <p:blipFill>
          <a:blip r:embed="rId3" cstate="print"/>
          <a:srcRect/>
          <a:stretch>
            <a:fillRect/>
          </a:stretch>
        </p:blipFill>
        <p:spPr bwMode="auto">
          <a:xfrm>
            <a:off x="5105400" y="3581400"/>
            <a:ext cx="2378075" cy="1563688"/>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sz="4000" dirty="0"/>
              <a:t> </a:t>
            </a:r>
            <a:r>
              <a:rPr lang="en-US" sz="4000" b="1" dirty="0">
                <a:solidFill>
                  <a:srgbClr val="FF0000"/>
                </a:solidFill>
                <a:latin typeface="Arial" pitchFamily="34" charset="0"/>
                <a:cs typeface="Arial" pitchFamily="34" charset="0"/>
              </a:rPr>
              <a:t>Clinical Signs: </a:t>
            </a:r>
            <a:br>
              <a:rPr lang="en-US" sz="4000" b="1" dirty="0">
                <a:solidFill>
                  <a:srgbClr val="FF0000"/>
                </a:solidFill>
                <a:latin typeface="Arial" pitchFamily="34" charset="0"/>
                <a:cs typeface="Arial" pitchFamily="34" charset="0"/>
              </a:rPr>
            </a:br>
            <a:r>
              <a:rPr lang="en-US" sz="4000" b="1" dirty="0">
                <a:solidFill>
                  <a:srgbClr val="FF0000"/>
                </a:solidFill>
                <a:latin typeface="Arial" pitchFamily="34" charset="0"/>
                <a:cs typeface="Arial" pitchFamily="34" charset="0"/>
              </a:rPr>
              <a:t>Moderately Virulent </a:t>
            </a:r>
          </a:p>
        </p:txBody>
      </p:sp>
      <p:sp>
        <p:nvSpPr>
          <p:cNvPr id="36873" name="Rectangle 9"/>
          <p:cNvSpPr>
            <a:spLocks noGrp="1" noChangeArrowheads="1"/>
          </p:cNvSpPr>
          <p:nvPr>
            <p:ph type="body" sz="half" idx="1"/>
          </p:nvPr>
        </p:nvSpPr>
        <p:spPr>
          <a:xfrm>
            <a:off x="457200" y="1905000"/>
            <a:ext cx="4800600" cy="4495800"/>
          </a:xfrm>
        </p:spPr>
        <p:txBody>
          <a:bodyPr>
            <a:normAutofit/>
          </a:bodyPr>
          <a:lstStyle/>
          <a:p>
            <a:pPr>
              <a:buClr>
                <a:srgbClr val="669900"/>
              </a:buClr>
              <a:buFont typeface="Wingdings" pitchFamily="2" charset="2"/>
              <a:buNone/>
            </a:pPr>
            <a:r>
              <a:rPr lang="en-US" sz="2800" dirty="0">
                <a:latin typeface="Arial" pitchFamily="34" charset="0"/>
                <a:cs typeface="Arial" pitchFamily="34" charset="0"/>
              </a:rPr>
              <a:t>Some pigs will die at 7 to 8 DPI, frequently caused by hemorrhage into the stomach</a:t>
            </a:r>
          </a:p>
          <a:p>
            <a:pPr>
              <a:buClr>
                <a:srgbClr val="669900"/>
              </a:buClr>
              <a:buFont typeface="Wingdings" pitchFamily="2" charset="2"/>
              <a:buNone/>
            </a:pPr>
            <a:endParaRPr lang="en-US" sz="2800" dirty="0">
              <a:latin typeface="Arial" pitchFamily="34" charset="0"/>
              <a:cs typeface="Arial" pitchFamily="34" charset="0"/>
            </a:endParaRPr>
          </a:p>
          <a:p>
            <a:pPr>
              <a:buClr>
                <a:srgbClr val="669900"/>
              </a:buClr>
              <a:buFont typeface="Wingdings" pitchFamily="2" charset="2"/>
              <a:buNone/>
            </a:pPr>
            <a:r>
              <a:rPr lang="en-US" sz="2800" dirty="0">
                <a:latin typeface="Arial" pitchFamily="34" charset="0"/>
                <a:cs typeface="Arial" pitchFamily="34" charset="0"/>
              </a:rPr>
              <a:t>Underlying causes: ASF infection causes prolonged bleeding time</a:t>
            </a:r>
          </a:p>
        </p:txBody>
      </p:sp>
      <p:pic>
        <p:nvPicPr>
          <p:cNvPr id="36878" name="Picture 14" descr="ASF (68)"/>
          <p:cNvPicPr>
            <a:picLocks noChangeAspect="1" noChangeArrowheads="1"/>
          </p:cNvPicPr>
          <p:nvPr/>
        </p:nvPicPr>
        <p:blipFill>
          <a:blip r:embed="rId3" cstate="print"/>
          <a:srcRect/>
          <a:stretch>
            <a:fillRect/>
          </a:stretch>
        </p:blipFill>
        <p:spPr bwMode="auto">
          <a:xfrm>
            <a:off x="5791200" y="1447800"/>
            <a:ext cx="2590800" cy="472440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r>
              <a:rPr lang="en-US" sz="4000" b="1" dirty="0"/>
              <a:t>Clinical Signs: </a:t>
            </a:r>
            <a:br>
              <a:rPr lang="en-US" sz="4000" b="1" dirty="0"/>
            </a:br>
            <a:r>
              <a:rPr lang="en-US" sz="4000" b="1" dirty="0">
                <a:solidFill>
                  <a:srgbClr val="FF0000"/>
                </a:solidFill>
              </a:rPr>
              <a:t>Low-virulence </a:t>
            </a:r>
          </a:p>
        </p:txBody>
      </p:sp>
      <p:sp>
        <p:nvSpPr>
          <p:cNvPr id="17417" name="Rectangle 9"/>
          <p:cNvSpPr>
            <a:spLocks noGrp="1" noChangeArrowheads="1"/>
          </p:cNvSpPr>
          <p:nvPr>
            <p:ph idx="1"/>
          </p:nvPr>
        </p:nvSpPr>
        <p:spPr>
          <a:xfrm>
            <a:off x="609600" y="1905000"/>
            <a:ext cx="7772400" cy="3810000"/>
          </a:xfrm>
        </p:spPr>
        <p:txBody>
          <a:bodyPr>
            <a:normAutofit/>
          </a:bodyPr>
          <a:lstStyle/>
          <a:p>
            <a:r>
              <a:rPr lang="en-US" sz="2800" dirty="0">
                <a:latin typeface="Arial" pitchFamily="34" charset="0"/>
                <a:cs typeface="Arial" pitchFamily="34" charset="0"/>
              </a:rPr>
              <a:t>Many </a:t>
            </a:r>
            <a:r>
              <a:rPr lang="en-US" sz="2800" dirty="0" smtClean="0">
                <a:latin typeface="Arial" pitchFamily="34" charset="0"/>
                <a:cs typeface="Arial" pitchFamily="34" charset="0"/>
              </a:rPr>
              <a:t>non-pregnant </a:t>
            </a:r>
            <a:r>
              <a:rPr lang="en-US" sz="2800" dirty="0">
                <a:latin typeface="Arial" pitchFamily="34" charset="0"/>
                <a:cs typeface="Arial" pitchFamily="34" charset="0"/>
              </a:rPr>
              <a:t>animals infected with low-virulence isolates may seroconvert but not show other signs of infection</a:t>
            </a:r>
          </a:p>
          <a:p>
            <a:pPr>
              <a:buFont typeface="Wingdings" pitchFamily="2" charset="2"/>
              <a:buNone/>
            </a:pPr>
            <a:endParaRPr lang="en-US" sz="2800" dirty="0">
              <a:latin typeface="Arial" pitchFamily="34" charset="0"/>
              <a:cs typeface="Arial" pitchFamily="34" charset="0"/>
            </a:endParaRPr>
          </a:p>
          <a:p>
            <a:r>
              <a:rPr lang="en-US" sz="2800" dirty="0">
                <a:latin typeface="Arial" pitchFamily="34" charset="0"/>
                <a:cs typeface="Arial" pitchFamily="34" charset="0"/>
              </a:rPr>
              <a:t>Pregnant animals will abort</a:t>
            </a:r>
          </a:p>
        </p:txBody>
      </p:sp>
      <p:sp>
        <p:nvSpPr>
          <p:cNvPr id="17416" name="Rectangle 8"/>
          <p:cNvSpPr>
            <a:spLocks noChangeArrowheads="1"/>
          </p:cNvSpPr>
          <p:nvPr/>
        </p:nvSpPr>
        <p:spPr bwMode="auto">
          <a:xfrm>
            <a:off x="4800600" y="1447800"/>
            <a:ext cx="1828800" cy="609600"/>
          </a:xfrm>
          <a:prstGeom prst="rect">
            <a:avLst/>
          </a:prstGeom>
          <a:noFill/>
          <a:ln w="9525">
            <a:noFill/>
            <a:miter lim="800000"/>
            <a:headEnd/>
            <a:tailEnd/>
          </a:ln>
          <a:effectLst/>
        </p:spPr>
        <p:txBody>
          <a:bodyPr/>
          <a:lstStyle/>
          <a:p>
            <a:pPr marL="342900" indent="-342900" eaLnBrk="1" hangingPunct="1">
              <a:spcBef>
                <a:spcPct val="20000"/>
              </a:spcBef>
              <a:buClr>
                <a:schemeClr val="hlink"/>
              </a:buClr>
              <a:buSzPct val="90000"/>
              <a:buFont typeface="Wingdings" pitchFamily="2" charset="2"/>
              <a:buNone/>
            </a:pPr>
            <a:endParaRPr lang="en-US" sz="3600">
              <a:effectLst>
                <a:outerShdw blurRad="38100" dist="38100" dir="2700000" algn="tl">
                  <a:srgbClr val="000000"/>
                </a:outerShdw>
              </a:effectLst>
              <a:latin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idx="4294967295"/>
          </p:nvPr>
        </p:nvSpPr>
        <p:spPr>
          <a:xfrm>
            <a:off x="0" y="277813"/>
            <a:ext cx="8229600" cy="1143000"/>
          </a:xfrm>
        </p:spPr>
        <p:txBody>
          <a:bodyPr>
            <a:normAutofit fontScale="90000"/>
          </a:bodyPr>
          <a:lstStyle/>
          <a:p>
            <a:r>
              <a:rPr lang="en-US" sz="4000" b="1" dirty="0"/>
              <a:t>Clinical Signs:</a:t>
            </a:r>
            <a:br>
              <a:rPr lang="en-US" sz="4000" b="1" dirty="0"/>
            </a:br>
            <a:r>
              <a:rPr lang="en-US" sz="4000" b="1" dirty="0">
                <a:solidFill>
                  <a:srgbClr val="FF0000"/>
                </a:solidFill>
              </a:rPr>
              <a:t>Chronic</a:t>
            </a:r>
          </a:p>
        </p:txBody>
      </p:sp>
      <p:sp>
        <p:nvSpPr>
          <p:cNvPr id="149507" name="Rectangle 3"/>
          <p:cNvSpPr>
            <a:spLocks noGrp="1" noChangeArrowheads="1"/>
          </p:cNvSpPr>
          <p:nvPr>
            <p:ph type="body" sz="half" idx="4294967295"/>
          </p:nvPr>
        </p:nvSpPr>
        <p:spPr>
          <a:xfrm>
            <a:off x="0" y="1752600"/>
            <a:ext cx="5334000" cy="4530725"/>
          </a:xfrm>
        </p:spPr>
        <p:txBody>
          <a:bodyPr/>
          <a:lstStyle/>
          <a:p>
            <a:r>
              <a:rPr lang="en-US" sz="2800" dirty="0">
                <a:latin typeface="Arial" pitchFamily="34" charset="0"/>
                <a:cs typeface="Arial" pitchFamily="34" charset="0"/>
              </a:rPr>
              <a:t>Transient / recurrent fever</a:t>
            </a:r>
          </a:p>
          <a:p>
            <a:r>
              <a:rPr lang="en-US" sz="2800" dirty="0">
                <a:latin typeface="Arial" pitchFamily="34" charset="0"/>
                <a:cs typeface="Arial" pitchFamily="34" charset="0"/>
              </a:rPr>
              <a:t>Stunting / emaciation</a:t>
            </a:r>
          </a:p>
          <a:p>
            <a:r>
              <a:rPr lang="en-US" sz="2800" dirty="0">
                <a:latin typeface="Arial" pitchFamily="34" charset="0"/>
                <a:cs typeface="Arial" pitchFamily="34" charset="0"/>
              </a:rPr>
              <a:t>Pneumonia</a:t>
            </a:r>
          </a:p>
          <a:p>
            <a:r>
              <a:rPr lang="en-US" sz="2800" dirty="0">
                <a:latin typeface="Arial" pitchFamily="34" charset="0"/>
                <a:cs typeface="Arial" pitchFamily="34" charset="0"/>
              </a:rPr>
              <a:t>Skin ulcers</a:t>
            </a:r>
            <a:endParaRPr lang="en-US" sz="2400" dirty="0">
              <a:latin typeface="Arial" pitchFamily="34" charset="0"/>
              <a:cs typeface="Arial" pitchFamily="34" charset="0"/>
            </a:endParaRPr>
          </a:p>
        </p:txBody>
      </p:sp>
      <p:pic>
        <p:nvPicPr>
          <p:cNvPr id="149514" name="Picture 10" descr="ASF MVV 1"/>
          <p:cNvPicPr>
            <a:picLocks noChangeAspect="1" noChangeArrowheads="1"/>
          </p:cNvPicPr>
          <p:nvPr/>
        </p:nvPicPr>
        <p:blipFill>
          <a:blip r:embed="rId3" cstate="print"/>
          <a:srcRect/>
          <a:stretch>
            <a:fillRect/>
          </a:stretch>
        </p:blipFill>
        <p:spPr bwMode="auto">
          <a:xfrm>
            <a:off x="914400" y="3962400"/>
            <a:ext cx="3425825" cy="2017713"/>
          </a:xfrm>
          <a:prstGeom prst="rect">
            <a:avLst/>
          </a:prstGeom>
          <a:noFill/>
        </p:spPr>
      </p:pic>
      <p:pic>
        <p:nvPicPr>
          <p:cNvPr id="149515" name="Picture 11" descr="ASF MVV 2+1"/>
          <p:cNvPicPr>
            <a:picLocks noChangeAspect="1" noChangeArrowheads="1"/>
          </p:cNvPicPr>
          <p:nvPr/>
        </p:nvPicPr>
        <p:blipFill>
          <a:blip r:embed="rId4" cstate="print"/>
          <a:srcRect/>
          <a:stretch>
            <a:fillRect/>
          </a:stretch>
        </p:blipFill>
        <p:spPr bwMode="auto">
          <a:xfrm>
            <a:off x="5562600" y="1676400"/>
            <a:ext cx="2968625" cy="2100263"/>
          </a:xfrm>
          <a:prstGeom prst="rect">
            <a:avLst/>
          </a:prstGeom>
          <a:noFill/>
        </p:spPr>
      </p:pic>
      <p:pic>
        <p:nvPicPr>
          <p:cNvPr id="149516" name="Picture 12" descr="ASF MVV 3+1"/>
          <p:cNvPicPr>
            <a:picLocks noChangeAspect="1" noChangeArrowheads="1"/>
          </p:cNvPicPr>
          <p:nvPr/>
        </p:nvPicPr>
        <p:blipFill>
          <a:blip r:embed="rId5" cstate="print"/>
          <a:srcRect/>
          <a:stretch>
            <a:fillRect/>
          </a:stretch>
        </p:blipFill>
        <p:spPr bwMode="auto">
          <a:xfrm>
            <a:off x="5257800" y="3886200"/>
            <a:ext cx="3352800" cy="2255838"/>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fontScale="90000"/>
          </a:bodyPr>
          <a:lstStyle/>
          <a:p>
            <a:r>
              <a:rPr lang="en-US" dirty="0">
                <a:solidFill>
                  <a:schemeClr val="tx1"/>
                </a:solidFill>
              </a:rPr>
              <a:t> </a:t>
            </a:r>
            <a:r>
              <a:rPr lang="en-US" sz="4900" b="1" dirty="0">
                <a:solidFill>
                  <a:srgbClr val="FF0000"/>
                </a:solidFill>
              </a:rPr>
              <a:t>Gross Lesions</a:t>
            </a:r>
            <a:r>
              <a:rPr lang="en-US" sz="4000" b="1" dirty="0">
                <a:solidFill>
                  <a:srgbClr val="FF0000"/>
                </a:solidFill>
              </a:rPr>
              <a:t/>
            </a:r>
            <a:br>
              <a:rPr lang="en-US" sz="4000" b="1" dirty="0">
                <a:solidFill>
                  <a:srgbClr val="FF0000"/>
                </a:solidFill>
              </a:rPr>
            </a:br>
            <a:r>
              <a:rPr lang="en-US" sz="3600" b="1" dirty="0">
                <a:solidFill>
                  <a:srgbClr val="FF0000"/>
                </a:solidFill>
              </a:rPr>
              <a:t>Highly Virulent Virus</a:t>
            </a:r>
            <a:endParaRPr lang="en-US" b="1" dirty="0">
              <a:solidFill>
                <a:srgbClr val="FF0000"/>
              </a:solidFill>
            </a:endParaRPr>
          </a:p>
        </p:txBody>
      </p:sp>
      <p:sp>
        <p:nvSpPr>
          <p:cNvPr id="150531" name="Rectangle 3"/>
          <p:cNvSpPr>
            <a:spLocks noGrp="1" noChangeArrowheads="1"/>
          </p:cNvSpPr>
          <p:nvPr>
            <p:ph idx="1"/>
          </p:nvPr>
        </p:nvSpPr>
        <p:spPr>
          <a:xfrm>
            <a:off x="381000" y="1981200"/>
            <a:ext cx="4724400" cy="4343400"/>
          </a:xfrm>
        </p:spPr>
        <p:txBody>
          <a:bodyPr/>
          <a:lstStyle/>
          <a:p>
            <a:pPr>
              <a:spcBef>
                <a:spcPts val="500"/>
              </a:spcBef>
              <a:spcAft>
                <a:spcPts val="500"/>
              </a:spcAft>
            </a:pPr>
            <a:r>
              <a:rPr lang="en-US" dirty="0" err="1">
                <a:latin typeface="Arial" pitchFamily="34" charset="0"/>
                <a:cs typeface="Arial" pitchFamily="34" charset="0"/>
              </a:rPr>
              <a:t>Peracute</a:t>
            </a:r>
            <a:r>
              <a:rPr lang="en-US" dirty="0">
                <a:latin typeface="Arial" pitchFamily="34" charset="0"/>
                <a:cs typeface="Arial" pitchFamily="34" charset="0"/>
              </a:rPr>
              <a:t> deaths </a:t>
            </a:r>
            <a:br>
              <a:rPr lang="en-US" dirty="0">
                <a:latin typeface="Arial" pitchFamily="34" charset="0"/>
                <a:cs typeface="Arial" pitchFamily="34" charset="0"/>
              </a:rPr>
            </a:br>
            <a:r>
              <a:rPr lang="en-US" dirty="0">
                <a:latin typeface="Arial" pitchFamily="34" charset="0"/>
                <a:cs typeface="Arial" pitchFamily="34" charset="0"/>
              </a:rPr>
              <a:t>- </a:t>
            </a:r>
            <a:r>
              <a:rPr lang="en-US" sz="2800" dirty="0">
                <a:latin typeface="Arial" pitchFamily="34" charset="0"/>
                <a:cs typeface="Arial" pitchFamily="34" charset="0"/>
              </a:rPr>
              <a:t>Lesions may be poorly developed</a:t>
            </a:r>
          </a:p>
          <a:p>
            <a:pPr>
              <a:spcBef>
                <a:spcPts val="500"/>
              </a:spcBef>
              <a:spcAft>
                <a:spcPts val="500"/>
              </a:spcAft>
              <a:buFont typeface="Wingdings" pitchFamily="2" charset="2"/>
              <a:buNone/>
            </a:pPr>
            <a:endParaRPr lang="en-US" sz="2800" dirty="0">
              <a:latin typeface="Arial" pitchFamily="34" charset="0"/>
              <a:cs typeface="Arial" pitchFamily="34" charset="0"/>
            </a:endParaRPr>
          </a:p>
          <a:p>
            <a:pPr>
              <a:spcBef>
                <a:spcPts val="500"/>
              </a:spcBef>
              <a:spcAft>
                <a:spcPts val="500"/>
              </a:spcAft>
            </a:pPr>
            <a:r>
              <a:rPr lang="en-US" dirty="0">
                <a:latin typeface="Arial" pitchFamily="34" charset="0"/>
                <a:cs typeface="Arial" pitchFamily="34" charset="0"/>
              </a:rPr>
              <a:t>Animals that die 7 or more DPI </a:t>
            </a:r>
            <a:br>
              <a:rPr lang="en-US" dirty="0">
                <a:latin typeface="Arial" pitchFamily="34" charset="0"/>
                <a:cs typeface="Arial" pitchFamily="34" charset="0"/>
              </a:rPr>
            </a:br>
            <a:r>
              <a:rPr lang="en-US" dirty="0">
                <a:latin typeface="Arial" pitchFamily="34" charset="0"/>
                <a:cs typeface="Arial" pitchFamily="34" charset="0"/>
              </a:rPr>
              <a:t>- </a:t>
            </a:r>
            <a:r>
              <a:rPr lang="en-US" sz="2800" dirty="0">
                <a:latin typeface="Arial" pitchFamily="34" charset="0"/>
                <a:cs typeface="Arial" pitchFamily="34" charset="0"/>
              </a:rPr>
              <a:t>Classic lesions likely. </a:t>
            </a:r>
          </a:p>
        </p:txBody>
      </p:sp>
      <p:pic>
        <p:nvPicPr>
          <p:cNvPr id="150533" name="Picture 5" descr="ASF (41)"/>
          <p:cNvPicPr>
            <a:picLocks noChangeAspect="1" noChangeArrowheads="1"/>
          </p:cNvPicPr>
          <p:nvPr/>
        </p:nvPicPr>
        <p:blipFill>
          <a:blip r:embed="rId2" cstate="print"/>
          <a:srcRect/>
          <a:stretch>
            <a:fillRect/>
          </a:stretch>
        </p:blipFill>
        <p:spPr bwMode="auto">
          <a:xfrm>
            <a:off x="5105400" y="2057400"/>
            <a:ext cx="3797300" cy="377190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normAutofit/>
          </a:bodyPr>
          <a:lstStyle/>
          <a:p>
            <a:r>
              <a:rPr lang="en-US" sz="4000" b="1" dirty="0">
                <a:solidFill>
                  <a:srgbClr val="FF0000"/>
                </a:solidFill>
                <a:latin typeface="Arial Unicode MS" pitchFamily="34" charset="-128"/>
              </a:rPr>
              <a:t>Lesions</a:t>
            </a:r>
          </a:p>
        </p:txBody>
      </p:sp>
      <p:sp>
        <p:nvSpPr>
          <p:cNvPr id="222211" name="Rectangle 3"/>
          <p:cNvSpPr>
            <a:spLocks noGrp="1" noChangeArrowheads="1"/>
          </p:cNvSpPr>
          <p:nvPr>
            <p:ph idx="1"/>
          </p:nvPr>
        </p:nvSpPr>
        <p:spPr>
          <a:xfrm>
            <a:off x="914400" y="1981200"/>
            <a:ext cx="7772400" cy="4114800"/>
          </a:xfrm>
        </p:spPr>
        <p:txBody>
          <a:bodyPr/>
          <a:lstStyle/>
          <a:p>
            <a:endParaRPr lang="en-US">
              <a:latin typeface="Arial Unicode MS" pitchFamily="34" charset="-128"/>
            </a:endParaRPr>
          </a:p>
          <a:p>
            <a:endParaRPr lang="en-US">
              <a:latin typeface="Arial Unicode MS" pitchFamily="34" charset="-128"/>
            </a:endParaRPr>
          </a:p>
          <a:p>
            <a:endParaRPr lang="en-US">
              <a:solidFill>
                <a:schemeClr val="bg1"/>
              </a:solidFill>
              <a:latin typeface="Arial Unicode MS" pitchFamily="34" charset="-128"/>
            </a:endParaRPr>
          </a:p>
        </p:txBody>
      </p:sp>
      <p:sp>
        <p:nvSpPr>
          <p:cNvPr id="222214" name="Text Box 6"/>
          <p:cNvSpPr txBox="1">
            <a:spLocks noChangeArrowheads="1"/>
          </p:cNvSpPr>
          <p:nvPr/>
        </p:nvSpPr>
        <p:spPr bwMode="auto">
          <a:xfrm>
            <a:off x="381000" y="1752600"/>
            <a:ext cx="3964547" cy="523220"/>
          </a:xfrm>
          <a:prstGeom prst="rect">
            <a:avLst/>
          </a:prstGeom>
          <a:noFill/>
          <a:ln w="9525">
            <a:noFill/>
            <a:miter lim="800000"/>
            <a:headEnd/>
            <a:tailEnd/>
          </a:ln>
          <a:effectLst/>
        </p:spPr>
        <p:txBody>
          <a:bodyPr wrap="none">
            <a:spAutoFit/>
          </a:bodyPr>
          <a:lstStyle/>
          <a:p>
            <a:r>
              <a:rPr lang="en-US" sz="2800" dirty="0">
                <a:latin typeface="Arial" pitchFamily="34" charset="0"/>
                <a:cs typeface="Arial" pitchFamily="34" charset="0"/>
              </a:rPr>
              <a:t>Swollen necrotic spleen</a:t>
            </a:r>
          </a:p>
        </p:txBody>
      </p:sp>
      <p:sp>
        <p:nvSpPr>
          <p:cNvPr id="222215" name="Text Box 7"/>
          <p:cNvSpPr txBox="1">
            <a:spLocks noChangeArrowheads="1"/>
          </p:cNvSpPr>
          <p:nvPr/>
        </p:nvSpPr>
        <p:spPr bwMode="auto">
          <a:xfrm>
            <a:off x="2377404" y="2209800"/>
            <a:ext cx="6766596" cy="523220"/>
          </a:xfrm>
          <a:prstGeom prst="rect">
            <a:avLst/>
          </a:prstGeom>
          <a:noFill/>
          <a:ln w="9525">
            <a:noFill/>
            <a:miter lim="800000"/>
            <a:headEnd/>
            <a:tailEnd/>
          </a:ln>
          <a:effectLst/>
        </p:spPr>
        <p:txBody>
          <a:bodyPr wrap="none">
            <a:spAutoFit/>
          </a:bodyPr>
          <a:lstStyle/>
          <a:p>
            <a:r>
              <a:rPr lang="en-US" sz="2800" dirty="0">
                <a:latin typeface="Arial" pitchFamily="34" charset="0"/>
                <a:cs typeface="Arial" pitchFamily="34" charset="0"/>
              </a:rPr>
              <a:t>Hemorrhagic gastro-hepatic lymph nodes</a:t>
            </a:r>
          </a:p>
        </p:txBody>
      </p:sp>
      <p:pic>
        <p:nvPicPr>
          <p:cNvPr id="222216" name="Picture 8" descr="ASF (71)"/>
          <p:cNvPicPr>
            <a:picLocks noChangeAspect="1" noChangeArrowheads="1"/>
          </p:cNvPicPr>
          <p:nvPr/>
        </p:nvPicPr>
        <p:blipFill>
          <a:blip r:embed="rId3" cstate="print"/>
          <a:srcRect/>
          <a:stretch>
            <a:fillRect/>
          </a:stretch>
        </p:blipFill>
        <p:spPr bwMode="auto">
          <a:xfrm>
            <a:off x="4724400" y="3024188"/>
            <a:ext cx="3895725" cy="2640012"/>
          </a:xfrm>
          <a:prstGeom prst="rect">
            <a:avLst/>
          </a:prstGeom>
          <a:noFill/>
        </p:spPr>
      </p:pic>
      <p:pic>
        <p:nvPicPr>
          <p:cNvPr id="222217" name="Picture 9" descr="ASF (70)"/>
          <p:cNvPicPr>
            <a:picLocks noChangeAspect="1" noChangeArrowheads="1"/>
          </p:cNvPicPr>
          <p:nvPr/>
        </p:nvPicPr>
        <p:blipFill>
          <a:blip r:embed="rId4" cstate="print"/>
          <a:srcRect/>
          <a:stretch>
            <a:fillRect/>
          </a:stretch>
        </p:blipFill>
        <p:spPr bwMode="auto">
          <a:xfrm>
            <a:off x="381000" y="2971800"/>
            <a:ext cx="4035425" cy="2633663"/>
          </a:xfrm>
          <a:prstGeom prst="rect">
            <a:avLst/>
          </a:prstGeom>
          <a:noFill/>
        </p:spPr>
      </p:pic>
      <p:sp>
        <p:nvSpPr>
          <p:cNvPr id="8" name="Down Arrow 7"/>
          <p:cNvSpPr/>
          <p:nvPr/>
        </p:nvSpPr>
        <p:spPr>
          <a:xfrm>
            <a:off x="1600200" y="2286000"/>
            <a:ext cx="76200" cy="152400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9" name="Down Arrow 8"/>
          <p:cNvSpPr/>
          <p:nvPr/>
        </p:nvSpPr>
        <p:spPr>
          <a:xfrm>
            <a:off x="6705600" y="2667000"/>
            <a:ext cx="228600" cy="121920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532" name="Picture 4"/>
          <p:cNvPicPr>
            <a:picLocks noChangeAspect="1" noChangeArrowheads="1"/>
          </p:cNvPicPr>
          <p:nvPr/>
        </p:nvPicPr>
        <p:blipFill>
          <a:blip r:embed="rId2" cstate="print"/>
          <a:srcRect/>
          <a:stretch>
            <a:fillRect/>
          </a:stretch>
        </p:blipFill>
        <p:spPr bwMode="auto">
          <a:xfrm>
            <a:off x="1143000" y="914400"/>
            <a:ext cx="6705600" cy="4946650"/>
          </a:xfrm>
          <a:prstGeom prst="rect">
            <a:avLst/>
          </a:prstGeom>
          <a:noFill/>
          <a:ln w="9525">
            <a:noFill/>
            <a:miter lim="800000"/>
            <a:headEnd/>
            <a:tailEnd/>
          </a:ln>
          <a:effectLst/>
        </p:spPr>
      </p:pic>
      <p:sp>
        <p:nvSpPr>
          <p:cNvPr id="3" name="TextBox 2"/>
          <p:cNvSpPr txBox="1"/>
          <p:nvPr/>
        </p:nvSpPr>
        <p:spPr>
          <a:xfrm>
            <a:off x="2667000" y="6019800"/>
            <a:ext cx="4648200" cy="523220"/>
          </a:xfrm>
          <a:prstGeom prst="rect">
            <a:avLst/>
          </a:prstGeom>
          <a:noFill/>
        </p:spPr>
        <p:txBody>
          <a:bodyPr wrap="square" rtlCol="0">
            <a:spAutoFit/>
          </a:bodyPr>
          <a:lstStyle/>
          <a:p>
            <a:pPr algn="ctr"/>
            <a:r>
              <a:rPr lang="en-US" sz="2800" b="1" dirty="0" err="1" smtClean="0">
                <a:latin typeface="Arial" pitchFamily="34" charset="0"/>
                <a:cs typeface="Arial" pitchFamily="34" charset="0"/>
              </a:rPr>
              <a:t>Splenomegaly</a:t>
            </a:r>
            <a:r>
              <a:rPr lang="en-US" sz="2800" b="1" dirty="0" smtClean="0">
                <a:latin typeface="Arial" pitchFamily="34" charset="0"/>
                <a:cs typeface="Arial" pitchFamily="34" charset="0"/>
              </a:rPr>
              <a:t> </a:t>
            </a:r>
            <a:endParaRPr lang="en-US" sz="2800" b="1" dirty="0">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609600" y="304800"/>
            <a:ext cx="8229600" cy="1143000"/>
          </a:xfrm>
        </p:spPr>
        <p:txBody>
          <a:bodyPr>
            <a:noAutofit/>
          </a:bodyPr>
          <a:lstStyle/>
          <a:p>
            <a:r>
              <a:rPr lang="en-US" sz="3200" b="1" dirty="0">
                <a:solidFill>
                  <a:srgbClr val="FF0000"/>
                </a:solidFill>
                <a:latin typeface="Arial" pitchFamily="34" charset="0"/>
                <a:cs typeface="Arial" pitchFamily="34" charset="0"/>
              </a:rPr>
              <a:t>Gross Lesions</a:t>
            </a:r>
            <a:br>
              <a:rPr lang="en-US" sz="3200" b="1" dirty="0">
                <a:solidFill>
                  <a:srgbClr val="FF0000"/>
                </a:solidFill>
                <a:latin typeface="Arial" pitchFamily="34" charset="0"/>
                <a:cs typeface="Arial" pitchFamily="34" charset="0"/>
              </a:rPr>
            </a:br>
            <a:r>
              <a:rPr lang="en-US" sz="3200" b="1" dirty="0">
                <a:solidFill>
                  <a:srgbClr val="FF0000"/>
                </a:solidFill>
                <a:latin typeface="Arial" pitchFamily="34" charset="0"/>
                <a:cs typeface="Arial" pitchFamily="34" charset="0"/>
              </a:rPr>
              <a:t>Moderately Virulent Virus</a:t>
            </a:r>
          </a:p>
        </p:txBody>
      </p:sp>
      <p:sp>
        <p:nvSpPr>
          <p:cNvPr id="169987" name="Rectangle 3"/>
          <p:cNvSpPr>
            <a:spLocks noGrp="1" noChangeArrowheads="1"/>
          </p:cNvSpPr>
          <p:nvPr>
            <p:ph idx="1"/>
          </p:nvPr>
        </p:nvSpPr>
        <p:spPr>
          <a:xfrm>
            <a:off x="457200" y="1828800"/>
            <a:ext cx="8229600" cy="4195763"/>
          </a:xfrm>
        </p:spPr>
        <p:txBody>
          <a:bodyPr/>
          <a:lstStyle/>
          <a:p>
            <a:pPr>
              <a:lnSpc>
                <a:spcPct val="90000"/>
              </a:lnSpc>
              <a:spcBef>
                <a:spcPts val="500"/>
              </a:spcBef>
              <a:spcAft>
                <a:spcPts val="500"/>
              </a:spcAft>
            </a:pPr>
            <a:r>
              <a:rPr lang="en-US" sz="2800" dirty="0">
                <a:latin typeface="Arial" pitchFamily="34" charset="0"/>
                <a:cs typeface="Arial" pitchFamily="34" charset="0"/>
              </a:rPr>
              <a:t>From 8-12 DPI </a:t>
            </a:r>
            <a:br>
              <a:rPr lang="en-US" sz="2800" dirty="0">
                <a:latin typeface="Arial" pitchFamily="34" charset="0"/>
                <a:cs typeface="Arial" pitchFamily="34" charset="0"/>
              </a:rPr>
            </a:br>
            <a:r>
              <a:rPr lang="en-US" sz="2800" dirty="0">
                <a:latin typeface="Arial" pitchFamily="34" charset="0"/>
                <a:cs typeface="Arial" pitchFamily="34" charset="0"/>
              </a:rPr>
              <a:t>- </a:t>
            </a:r>
            <a:r>
              <a:rPr lang="en-US" sz="2400" dirty="0">
                <a:latin typeface="Arial" pitchFamily="34" charset="0"/>
                <a:cs typeface="Arial" pitchFamily="34" charset="0"/>
              </a:rPr>
              <a:t>Gross lesions are similar  whether pigs are infected with a moderately virulent or highly virulent ASFV. </a:t>
            </a:r>
            <a:br>
              <a:rPr lang="en-US" sz="2400" dirty="0">
                <a:latin typeface="Arial" pitchFamily="34" charset="0"/>
                <a:cs typeface="Arial" pitchFamily="34" charset="0"/>
              </a:rPr>
            </a:br>
            <a:endParaRPr lang="en-US" sz="2400" dirty="0">
              <a:latin typeface="Arial" pitchFamily="34" charset="0"/>
              <a:cs typeface="Arial" pitchFamily="34" charset="0"/>
            </a:endParaRPr>
          </a:p>
          <a:p>
            <a:pPr>
              <a:lnSpc>
                <a:spcPct val="90000"/>
              </a:lnSpc>
              <a:spcBef>
                <a:spcPts val="500"/>
              </a:spcBef>
              <a:spcAft>
                <a:spcPts val="500"/>
              </a:spcAft>
            </a:pPr>
            <a:r>
              <a:rPr lang="en-US" sz="2800" dirty="0">
                <a:latin typeface="Arial" pitchFamily="34" charset="0"/>
                <a:cs typeface="Arial" pitchFamily="34" charset="0"/>
              </a:rPr>
              <a:t>The main difference between these two types of isolates:</a:t>
            </a:r>
            <a:br>
              <a:rPr lang="en-US" sz="2800" dirty="0">
                <a:latin typeface="Arial" pitchFamily="34" charset="0"/>
                <a:cs typeface="Arial" pitchFamily="34" charset="0"/>
              </a:rPr>
            </a:br>
            <a:r>
              <a:rPr lang="en-US" sz="2400" dirty="0">
                <a:latin typeface="Arial" pitchFamily="34" charset="0"/>
                <a:cs typeface="Arial" pitchFamily="34" charset="0"/>
              </a:rPr>
              <a:t>- </a:t>
            </a:r>
            <a:r>
              <a:rPr lang="en-US" sz="2400" dirty="0" err="1">
                <a:latin typeface="Arial" pitchFamily="34" charset="0"/>
                <a:cs typeface="Arial" pitchFamily="34" charset="0"/>
              </a:rPr>
              <a:t>Splenomegaly</a:t>
            </a:r>
            <a:r>
              <a:rPr lang="en-US" sz="2400" dirty="0">
                <a:latin typeface="Arial" pitchFamily="34" charset="0"/>
                <a:cs typeface="Arial" pitchFamily="34" charset="0"/>
              </a:rPr>
              <a:t> is still present,</a:t>
            </a:r>
            <a:br>
              <a:rPr lang="en-US" sz="2400" dirty="0">
                <a:latin typeface="Arial" pitchFamily="34" charset="0"/>
                <a:cs typeface="Arial" pitchFamily="34" charset="0"/>
              </a:rPr>
            </a:br>
            <a:r>
              <a:rPr lang="en-US" sz="2400" dirty="0">
                <a:latin typeface="Arial" pitchFamily="34" charset="0"/>
                <a:cs typeface="Arial" pitchFamily="34" charset="0"/>
              </a:rPr>
              <a:t>- More normal color and is not friable</a:t>
            </a:r>
            <a:r>
              <a:rPr lang="en-US" sz="2800" dirty="0"/>
              <a:t>.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noAutofit/>
          </a:bodyPr>
          <a:lstStyle/>
          <a:p>
            <a:r>
              <a:rPr lang="en-US" sz="3600" b="1" dirty="0">
                <a:solidFill>
                  <a:srgbClr val="FF0000"/>
                </a:solidFill>
              </a:rPr>
              <a:t>Gross Lesions</a:t>
            </a:r>
            <a:br>
              <a:rPr lang="en-US" sz="3600" b="1" dirty="0">
                <a:solidFill>
                  <a:srgbClr val="FF0000"/>
                </a:solidFill>
              </a:rPr>
            </a:br>
            <a:r>
              <a:rPr lang="en-US" sz="3600" b="1" dirty="0">
                <a:solidFill>
                  <a:srgbClr val="FF0000"/>
                </a:solidFill>
              </a:rPr>
              <a:t>Low </a:t>
            </a:r>
            <a:r>
              <a:rPr lang="en-US" sz="3600" b="1" dirty="0" smtClean="0">
                <a:solidFill>
                  <a:srgbClr val="FF0000"/>
                </a:solidFill>
              </a:rPr>
              <a:t>Virulence </a:t>
            </a:r>
            <a:r>
              <a:rPr lang="en-US" sz="3600" b="1" dirty="0">
                <a:solidFill>
                  <a:srgbClr val="FF0000"/>
                </a:solidFill>
              </a:rPr>
              <a:t>Virus</a:t>
            </a:r>
          </a:p>
        </p:txBody>
      </p:sp>
      <p:sp>
        <p:nvSpPr>
          <p:cNvPr id="171011" name="Rectangle 3"/>
          <p:cNvSpPr>
            <a:spLocks noGrp="1" noChangeArrowheads="1"/>
          </p:cNvSpPr>
          <p:nvPr>
            <p:ph type="body" sz="half" idx="1"/>
          </p:nvPr>
        </p:nvSpPr>
        <p:spPr>
          <a:xfrm>
            <a:off x="457200" y="1600200"/>
            <a:ext cx="4724400" cy="4530725"/>
          </a:xfrm>
        </p:spPr>
        <p:txBody>
          <a:bodyPr>
            <a:normAutofit lnSpcReduction="10000"/>
          </a:bodyPr>
          <a:lstStyle/>
          <a:p>
            <a:pPr marL="533400" indent="-533400">
              <a:spcBef>
                <a:spcPts val="500"/>
              </a:spcBef>
              <a:spcAft>
                <a:spcPts val="500"/>
              </a:spcAft>
            </a:pPr>
            <a:r>
              <a:rPr lang="en-US" sz="2800" dirty="0">
                <a:latin typeface="Arial" pitchFamily="34" charset="0"/>
                <a:cs typeface="Arial" pitchFamily="34" charset="0"/>
              </a:rPr>
              <a:t>The most common lesions in chronic ASF</a:t>
            </a:r>
            <a:r>
              <a:rPr lang="en-US" sz="2800" dirty="0">
                <a:solidFill>
                  <a:schemeClr val="hlink"/>
                </a:solidFill>
                <a:latin typeface="Arial" pitchFamily="34" charset="0"/>
                <a:cs typeface="Arial" pitchFamily="34" charset="0"/>
              </a:rPr>
              <a:t>:</a:t>
            </a:r>
          </a:p>
          <a:p>
            <a:pPr marL="533400" indent="-533400">
              <a:spcBef>
                <a:spcPts val="500"/>
              </a:spcBef>
              <a:spcAft>
                <a:spcPts val="500"/>
              </a:spcAft>
              <a:buFont typeface="Wingdings" pitchFamily="2" charset="2"/>
              <a:buNone/>
            </a:pPr>
            <a:r>
              <a:rPr lang="en-US" sz="2800" dirty="0">
                <a:latin typeface="Arial" pitchFamily="34" charset="0"/>
                <a:cs typeface="Arial" pitchFamily="34" charset="0"/>
              </a:rPr>
              <a:t>	-Necrotic skin lesions </a:t>
            </a:r>
          </a:p>
          <a:p>
            <a:pPr marL="533400" indent="-533400">
              <a:spcBef>
                <a:spcPts val="500"/>
              </a:spcBef>
              <a:spcAft>
                <a:spcPts val="500"/>
              </a:spcAft>
              <a:buFont typeface="Wingdings" pitchFamily="2" charset="2"/>
              <a:buNone/>
            </a:pPr>
            <a:r>
              <a:rPr lang="en-US" sz="2800" dirty="0">
                <a:latin typeface="Arial" pitchFamily="34" charset="0"/>
                <a:cs typeface="Arial" pitchFamily="34" charset="0"/>
              </a:rPr>
              <a:t>	-Consolidated lung lobules  </a:t>
            </a:r>
          </a:p>
          <a:p>
            <a:pPr marL="533400" indent="-533400">
              <a:spcBef>
                <a:spcPts val="500"/>
              </a:spcBef>
              <a:spcAft>
                <a:spcPts val="500"/>
              </a:spcAft>
              <a:buFont typeface="Wingdings" pitchFamily="2" charset="2"/>
              <a:buNone/>
            </a:pPr>
            <a:r>
              <a:rPr lang="en-US" sz="2800" dirty="0">
                <a:latin typeface="Arial" pitchFamily="34" charset="0"/>
                <a:cs typeface="Arial" pitchFamily="34" charset="0"/>
              </a:rPr>
              <a:t>	-Generalized </a:t>
            </a:r>
            <a:r>
              <a:rPr lang="en-US" sz="2800" dirty="0" err="1">
                <a:latin typeface="Arial" pitchFamily="34" charset="0"/>
                <a:cs typeface="Arial" pitchFamily="34" charset="0"/>
              </a:rPr>
              <a:t>lymphadenopathy</a:t>
            </a:r>
            <a:r>
              <a:rPr lang="en-US" sz="2800" dirty="0">
                <a:latin typeface="Arial" pitchFamily="34" charset="0"/>
                <a:cs typeface="Arial" pitchFamily="34" charset="0"/>
              </a:rPr>
              <a:t> </a:t>
            </a:r>
          </a:p>
          <a:p>
            <a:pPr marL="533400" indent="-533400">
              <a:spcBef>
                <a:spcPts val="500"/>
              </a:spcBef>
              <a:spcAft>
                <a:spcPts val="500"/>
              </a:spcAft>
              <a:buFont typeface="Wingdings" pitchFamily="2" charset="2"/>
              <a:buNone/>
            </a:pPr>
            <a:r>
              <a:rPr lang="en-US" sz="2800" dirty="0">
                <a:latin typeface="Arial" pitchFamily="34" charset="0"/>
                <a:cs typeface="Arial" pitchFamily="34" charset="0"/>
              </a:rPr>
              <a:t>	-Swollen joints</a:t>
            </a:r>
          </a:p>
          <a:p>
            <a:pPr marL="533400" indent="-533400">
              <a:spcBef>
                <a:spcPts val="500"/>
              </a:spcBef>
              <a:spcAft>
                <a:spcPts val="500"/>
              </a:spcAft>
              <a:buFont typeface="Wingdings" pitchFamily="2" charset="2"/>
              <a:buNone/>
            </a:pPr>
            <a:r>
              <a:rPr lang="en-US" sz="2800" dirty="0">
                <a:latin typeface="Arial" pitchFamily="34" charset="0"/>
                <a:cs typeface="Arial" pitchFamily="34" charset="0"/>
              </a:rPr>
              <a:t>	-</a:t>
            </a:r>
            <a:r>
              <a:rPr lang="en-US" sz="2800" dirty="0" err="1">
                <a:latin typeface="Arial" pitchFamily="34" charset="0"/>
                <a:cs typeface="Arial" pitchFamily="34" charset="0"/>
              </a:rPr>
              <a:t>Pericarditis</a:t>
            </a:r>
            <a:endParaRPr lang="en-US" sz="2800" dirty="0">
              <a:latin typeface="Arial" pitchFamily="34" charset="0"/>
              <a:cs typeface="Arial" pitchFamily="34" charset="0"/>
            </a:endParaRPr>
          </a:p>
        </p:txBody>
      </p:sp>
      <p:pic>
        <p:nvPicPr>
          <p:cNvPr id="171016" name="Picture 8" descr="ASF unk 5"/>
          <p:cNvPicPr>
            <a:picLocks noChangeAspect="1" noChangeArrowheads="1"/>
          </p:cNvPicPr>
          <p:nvPr/>
        </p:nvPicPr>
        <p:blipFill>
          <a:blip r:embed="rId2" cstate="print"/>
          <a:srcRect/>
          <a:stretch>
            <a:fillRect/>
          </a:stretch>
        </p:blipFill>
        <p:spPr bwMode="auto">
          <a:xfrm>
            <a:off x="6553200" y="1143000"/>
            <a:ext cx="2000250" cy="2835275"/>
          </a:xfrm>
          <a:prstGeom prst="rect">
            <a:avLst/>
          </a:prstGeom>
          <a:noFill/>
        </p:spPr>
      </p:pic>
      <p:pic>
        <p:nvPicPr>
          <p:cNvPr id="171017" name="Picture 9" descr="ASF unk 3"/>
          <p:cNvPicPr>
            <a:picLocks noChangeAspect="1" noChangeArrowheads="1"/>
          </p:cNvPicPr>
          <p:nvPr/>
        </p:nvPicPr>
        <p:blipFill>
          <a:blip r:embed="rId3" cstate="print"/>
          <a:srcRect/>
          <a:stretch>
            <a:fillRect/>
          </a:stretch>
        </p:blipFill>
        <p:spPr bwMode="auto">
          <a:xfrm>
            <a:off x="5867400" y="4343400"/>
            <a:ext cx="2432050" cy="2206625"/>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idx="4294967295"/>
          </p:nvPr>
        </p:nvSpPr>
        <p:spPr>
          <a:xfrm>
            <a:off x="914400" y="304800"/>
            <a:ext cx="8229600" cy="1143000"/>
          </a:xfrm>
        </p:spPr>
        <p:txBody>
          <a:bodyPr>
            <a:normAutofit fontScale="90000"/>
          </a:bodyPr>
          <a:lstStyle/>
          <a:p>
            <a:r>
              <a:rPr lang="en-US" sz="4000" b="1" dirty="0">
                <a:solidFill>
                  <a:srgbClr val="FF0000"/>
                </a:solidFill>
              </a:rPr>
              <a:t>Chronic ASF: </a:t>
            </a:r>
            <a:br>
              <a:rPr lang="en-US" sz="4000" b="1" dirty="0">
                <a:solidFill>
                  <a:srgbClr val="FF0000"/>
                </a:solidFill>
              </a:rPr>
            </a:br>
            <a:r>
              <a:rPr lang="en-US" sz="4000" b="1" dirty="0">
                <a:solidFill>
                  <a:srgbClr val="FF0000"/>
                </a:solidFill>
              </a:rPr>
              <a:t>Necrotic skin lesions</a:t>
            </a:r>
          </a:p>
        </p:txBody>
      </p:sp>
      <p:sp>
        <p:nvSpPr>
          <p:cNvPr id="173061" name="Text Box 5"/>
          <p:cNvSpPr txBox="1">
            <a:spLocks noChangeArrowheads="1"/>
          </p:cNvSpPr>
          <p:nvPr/>
        </p:nvSpPr>
        <p:spPr bwMode="auto">
          <a:xfrm>
            <a:off x="914400" y="1981200"/>
            <a:ext cx="4107215" cy="830997"/>
          </a:xfrm>
          <a:prstGeom prst="rect">
            <a:avLst/>
          </a:prstGeom>
          <a:noFill/>
          <a:ln w="9525">
            <a:noFill/>
            <a:miter lim="800000"/>
            <a:headEnd/>
            <a:tailEnd/>
          </a:ln>
          <a:effectLst/>
        </p:spPr>
        <p:txBody>
          <a:bodyPr wrap="none">
            <a:spAutoFit/>
          </a:bodyPr>
          <a:lstStyle/>
          <a:p>
            <a:pPr algn="ctr"/>
            <a:r>
              <a:rPr lang="en-US" sz="2400">
                <a:latin typeface="Arial" pitchFamily="34" charset="0"/>
                <a:cs typeface="Arial" pitchFamily="34" charset="0"/>
              </a:rPr>
              <a:t>Raised reddened areas with </a:t>
            </a:r>
          </a:p>
          <a:p>
            <a:pPr algn="ctr"/>
            <a:r>
              <a:rPr lang="en-US" sz="2400">
                <a:latin typeface="Arial" pitchFamily="34" charset="0"/>
                <a:cs typeface="Arial" pitchFamily="34" charset="0"/>
              </a:rPr>
              <a:t>central areas of necrosis</a:t>
            </a:r>
          </a:p>
        </p:txBody>
      </p:sp>
      <p:sp>
        <p:nvSpPr>
          <p:cNvPr id="173062" name="Text Box 6"/>
          <p:cNvSpPr txBox="1">
            <a:spLocks noChangeArrowheads="1"/>
          </p:cNvSpPr>
          <p:nvPr/>
        </p:nvSpPr>
        <p:spPr bwMode="auto">
          <a:xfrm>
            <a:off x="5486400" y="2133600"/>
            <a:ext cx="3320140" cy="830997"/>
          </a:xfrm>
          <a:prstGeom prst="rect">
            <a:avLst/>
          </a:prstGeom>
          <a:noFill/>
          <a:ln w="9525">
            <a:noFill/>
            <a:miter lim="800000"/>
            <a:headEnd/>
            <a:tailEnd/>
          </a:ln>
          <a:effectLst/>
        </p:spPr>
        <p:txBody>
          <a:bodyPr wrap="none">
            <a:spAutoFit/>
          </a:bodyPr>
          <a:lstStyle/>
          <a:p>
            <a:r>
              <a:rPr lang="en-US" sz="2400" dirty="0">
                <a:latin typeface="Arial" pitchFamily="34" charset="0"/>
                <a:cs typeface="Arial" pitchFamily="34" charset="0"/>
              </a:rPr>
              <a:t>Raised reddened area </a:t>
            </a:r>
          </a:p>
          <a:p>
            <a:r>
              <a:rPr lang="en-US" sz="2400" dirty="0">
                <a:latin typeface="Arial" pitchFamily="34" charset="0"/>
                <a:cs typeface="Arial" pitchFamily="34" charset="0"/>
              </a:rPr>
              <a:t>behind the ear.</a:t>
            </a:r>
          </a:p>
        </p:txBody>
      </p:sp>
      <p:pic>
        <p:nvPicPr>
          <p:cNvPr id="173066" name="Picture 10" descr="ASF unk 2"/>
          <p:cNvPicPr>
            <a:picLocks noChangeAspect="1" noChangeArrowheads="1"/>
          </p:cNvPicPr>
          <p:nvPr/>
        </p:nvPicPr>
        <p:blipFill>
          <a:blip r:embed="rId2" cstate="print"/>
          <a:srcRect/>
          <a:stretch>
            <a:fillRect/>
          </a:stretch>
        </p:blipFill>
        <p:spPr bwMode="auto">
          <a:xfrm>
            <a:off x="5334000" y="3276600"/>
            <a:ext cx="2914650" cy="2189163"/>
          </a:xfrm>
          <a:prstGeom prst="rect">
            <a:avLst/>
          </a:prstGeom>
          <a:noFill/>
        </p:spPr>
      </p:pic>
      <p:pic>
        <p:nvPicPr>
          <p:cNvPr id="173067" name="Picture 11" descr="ASF unk 1"/>
          <p:cNvPicPr>
            <a:picLocks noChangeAspect="1" noChangeArrowheads="1"/>
          </p:cNvPicPr>
          <p:nvPr/>
        </p:nvPicPr>
        <p:blipFill>
          <a:blip r:embed="rId3" cstate="print"/>
          <a:srcRect/>
          <a:stretch>
            <a:fillRect/>
          </a:stretch>
        </p:blipFill>
        <p:spPr bwMode="auto">
          <a:xfrm>
            <a:off x="1066800" y="2971800"/>
            <a:ext cx="3657600" cy="2744788"/>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a:bodyPr>
          <a:lstStyle/>
          <a:p>
            <a:r>
              <a:rPr lang="en-US" sz="4000" b="1" dirty="0">
                <a:solidFill>
                  <a:srgbClr val="FF0000"/>
                </a:solidFill>
              </a:rPr>
              <a:t>Diagnosis</a:t>
            </a:r>
          </a:p>
        </p:txBody>
      </p:sp>
      <p:sp>
        <p:nvSpPr>
          <p:cNvPr id="63491" name="Rectangle 3"/>
          <p:cNvSpPr>
            <a:spLocks noGrp="1" noChangeArrowheads="1"/>
          </p:cNvSpPr>
          <p:nvPr>
            <p:ph idx="1"/>
          </p:nvPr>
        </p:nvSpPr>
        <p:spPr/>
        <p:txBody>
          <a:bodyPr>
            <a:normAutofit/>
          </a:bodyPr>
          <a:lstStyle/>
          <a:p>
            <a:r>
              <a:rPr lang="en-US" sz="2800" dirty="0">
                <a:latin typeface="Arial" pitchFamily="34" charset="0"/>
                <a:cs typeface="Arial" pitchFamily="34" charset="0"/>
              </a:rPr>
              <a:t>African Swine Fever should always be suspected where there are febrile pigs </a:t>
            </a:r>
          </a:p>
          <a:p>
            <a:r>
              <a:rPr lang="en-US" sz="2800" dirty="0">
                <a:latin typeface="Arial" pitchFamily="34" charset="0"/>
                <a:cs typeface="Arial" pitchFamily="34" charset="0"/>
              </a:rPr>
              <a:t>Necropsy findings include:</a:t>
            </a:r>
          </a:p>
          <a:p>
            <a:pPr lvl="1"/>
            <a:r>
              <a:rPr lang="en-US" sz="2400" dirty="0">
                <a:latin typeface="Arial" pitchFamily="34" charset="0"/>
                <a:cs typeface="Arial" pitchFamily="34" charset="0"/>
              </a:rPr>
              <a:t>Greatly enlarged spleen, dark red to black in color, friable spleen</a:t>
            </a:r>
          </a:p>
          <a:p>
            <a:pPr lvl="1"/>
            <a:r>
              <a:rPr lang="en-US" sz="2400" dirty="0">
                <a:latin typeface="Arial" pitchFamily="34" charset="0"/>
                <a:cs typeface="Arial" pitchFamily="34" charset="0"/>
              </a:rPr>
              <a:t>Very enlarged, hemorrhagic </a:t>
            </a:r>
            <a:r>
              <a:rPr lang="en-US" sz="2400" dirty="0" err="1">
                <a:latin typeface="Arial" pitchFamily="34" charset="0"/>
                <a:cs typeface="Arial" pitchFamily="34" charset="0"/>
              </a:rPr>
              <a:t>gastrohepatic</a:t>
            </a:r>
            <a:r>
              <a:rPr lang="en-US" sz="2400" dirty="0">
                <a:latin typeface="Arial" pitchFamily="34" charset="0"/>
                <a:cs typeface="Arial" pitchFamily="34" charset="0"/>
              </a:rPr>
              <a:t> lymph nodes</a:t>
            </a:r>
          </a:p>
          <a:p>
            <a:pPr lvl="1"/>
            <a:r>
              <a:rPr lang="en-US" sz="2400" dirty="0">
                <a:latin typeface="Arial" pitchFamily="34" charset="0"/>
                <a:cs typeface="Arial" pitchFamily="34" charset="0"/>
              </a:rPr>
              <a:t>Very enlarged, hemorrhagic renal lymph nodes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normAutofit/>
          </a:bodyPr>
          <a:lstStyle/>
          <a:p>
            <a:r>
              <a:rPr lang="en-US" sz="4000" b="1" dirty="0">
                <a:solidFill>
                  <a:srgbClr val="FF0000"/>
                </a:solidFill>
              </a:rPr>
              <a:t>Diagnosis</a:t>
            </a:r>
          </a:p>
        </p:txBody>
      </p:sp>
      <p:sp>
        <p:nvSpPr>
          <p:cNvPr id="84995" name="Rectangle 3"/>
          <p:cNvSpPr>
            <a:spLocks noGrp="1" noChangeArrowheads="1"/>
          </p:cNvSpPr>
          <p:nvPr>
            <p:ph idx="1"/>
          </p:nvPr>
        </p:nvSpPr>
        <p:spPr/>
        <p:txBody>
          <a:bodyPr/>
          <a:lstStyle/>
          <a:p>
            <a:r>
              <a:rPr lang="en-US" dirty="0">
                <a:latin typeface="Arial" pitchFamily="34" charset="0"/>
                <a:cs typeface="Arial" pitchFamily="34" charset="0"/>
              </a:rPr>
              <a:t>Hog Cholera vs. African Swine Fever</a:t>
            </a:r>
          </a:p>
          <a:p>
            <a:pPr lvl="1"/>
            <a:r>
              <a:rPr lang="en-US" dirty="0" smtClean="0">
                <a:latin typeface="Arial" pitchFamily="34" charset="0"/>
                <a:cs typeface="Arial" pitchFamily="34" charset="0"/>
              </a:rPr>
              <a:t>ETIOLOGY ?</a:t>
            </a:r>
          </a:p>
          <a:p>
            <a:pPr lvl="1"/>
            <a:r>
              <a:rPr lang="en-US" dirty="0" smtClean="0">
                <a:latin typeface="Arial" pitchFamily="34" charset="0"/>
                <a:cs typeface="Arial" pitchFamily="34" charset="0"/>
              </a:rPr>
              <a:t>Hog </a:t>
            </a:r>
            <a:r>
              <a:rPr lang="en-US" dirty="0">
                <a:latin typeface="Arial" pitchFamily="34" charset="0"/>
                <a:cs typeface="Arial" pitchFamily="34" charset="0"/>
              </a:rPr>
              <a:t>cholera infected pigs become depressed and lose weight, whereas ASF infected pigs have neither symptoms </a:t>
            </a:r>
          </a:p>
          <a:p>
            <a:pPr lvl="1">
              <a:buFontTx/>
              <a:buNone/>
            </a:pPr>
            <a:endParaRPr lang="en-US" dirty="0">
              <a:latin typeface="Arial" pitchFamily="34" charset="0"/>
              <a:cs typeface="Arial" pitchFamily="34" charset="0"/>
            </a:endParaRPr>
          </a:p>
          <a:p>
            <a:pPr lvl="1"/>
            <a:r>
              <a:rPr lang="en-US" dirty="0">
                <a:latin typeface="Arial" pitchFamily="34" charset="0"/>
                <a:cs typeface="Arial" pitchFamily="34" charset="0"/>
              </a:rPr>
              <a:t> Hog cholera is also characterized by a foul-smelling diarrhea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normAutofit fontScale="90000"/>
          </a:bodyPr>
          <a:lstStyle/>
          <a:p>
            <a:r>
              <a:rPr lang="en-US" b="1" dirty="0">
                <a:solidFill>
                  <a:srgbClr val="FF0000"/>
                </a:solidFill>
              </a:rPr>
              <a:t>Diagnosis</a:t>
            </a:r>
            <a:r>
              <a:rPr lang="en-US" dirty="0">
                <a:solidFill>
                  <a:srgbClr val="FF0000"/>
                </a:solidFill>
              </a:rPr>
              <a:t/>
            </a:r>
            <a:br>
              <a:rPr lang="en-US" dirty="0">
                <a:solidFill>
                  <a:srgbClr val="FF0000"/>
                </a:solidFill>
              </a:rPr>
            </a:br>
            <a:r>
              <a:rPr lang="en-US" sz="3600" dirty="0">
                <a:solidFill>
                  <a:srgbClr val="FF0000"/>
                </a:solidFill>
              </a:rPr>
              <a:t>Laboratory Specimens</a:t>
            </a:r>
            <a:endParaRPr lang="en-US" dirty="0">
              <a:solidFill>
                <a:srgbClr val="FF0000"/>
              </a:solidFill>
            </a:endParaRPr>
          </a:p>
        </p:txBody>
      </p:sp>
      <p:sp>
        <p:nvSpPr>
          <p:cNvPr id="178179" name="Rectangle 3"/>
          <p:cNvSpPr>
            <a:spLocks noGrp="1" noChangeArrowheads="1"/>
          </p:cNvSpPr>
          <p:nvPr>
            <p:ph type="body" sz="half" idx="1"/>
          </p:nvPr>
        </p:nvSpPr>
        <p:spPr>
          <a:xfrm>
            <a:off x="1143000" y="1676400"/>
            <a:ext cx="4038600" cy="4530725"/>
          </a:xfrm>
        </p:spPr>
        <p:txBody>
          <a:bodyPr/>
          <a:lstStyle/>
          <a:p>
            <a:r>
              <a:rPr lang="en-US" sz="2800" dirty="0">
                <a:latin typeface="Arial" pitchFamily="34" charset="0"/>
                <a:cs typeface="Arial" pitchFamily="34" charset="0"/>
              </a:rPr>
              <a:t>Serum / clotted blood</a:t>
            </a:r>
          </a:p>
          <a:p>
            <a:r>
              <a:rPr lang="en-US" sz="2800" dirty="0">
                <a:latin typeface="Arial" pitchFamily="34" charset="0"/>
                <a:cs typeface="Arial" pitchFamily="34" charset="0"/>
              </a:rPr>
              <a:t>EDTA, heparin blood</a:t>
            </a:r>
          </a:p>
          <a:p>
            <a:r>
              <a:rPr lang="en-US" sz="2800" dirty="0">
                <a:latin typeface="Arial" pitchFamily="34" charset="0"/>
                <a:cs typeface="Arial" pitchFamily="34" charset="0"/>
              </a:rPr>
              <a:t>Lymph nodes</a:t>
            </a:r>
          </a:p>
          <a:p>
            <a:r>
              <a:rPr lang="en-US" sz="2800" dirty="0">
                <a:latin typeface="Arial" pitchFamily="34" charset="0"/>
                <a:cs typeface="Arial" pitchFamily="34" charset="0"/>
              </a:rPr>
              <a:t>Spleen</a:t>
            </a:r>
          </a:p>
          <a:p>
            <a:r>
              <a:rPr lang="en-US" sz="2800" dirty="0">
                <a:latin typeface="Arial" pitchFamily="34" charset="0"/>
                <a:cs typeface="Arial" pitchFamily="34" charset="0"/>
              </a:rPr>
              <a:t>Tonsil</a:t>
            </a:r>
          </a:p>
          <a:p>
            <a:r>
              <a:rPr lang="en-US" sz="2800" dirty="0">
                <a:latin typeface="Arial" pitchFamily="34" charset="0"/>
                <a:cs typeface="Arial" pitchFamily="34" charset="0"/>
              </a:rPr>
              <a:t>Lung</a:t>
            </a:r>
          </a:p>
          <a:p>
            <a:r>
              <a:rPr lang="en-US" sz="2800" dirty="0">
                <a:latin typeface="Arial" pitchFamily="34" charset="0"/>
                <a:cs typeface="Arial" pitchFamily="34" charset="0"/>
              </a:rPr>
              <a:t>Liver</a:t>
            </a:r>
          </a:p>
          <a:p>
            <a:r>
              <a:rPr lang="en-US" sz="2800" dirty="0">
                <a:latin typeface="Arial" pitchFamily="34" charset="0"/>
                <a:cs typeface="Arial" pitchFamily="34" charset="0"/>
              </a:rPr>
              <a:t>Kidney</a:t>
            </a:r>
          </a:p>
        </p:txBody>
      </p:sp>
      <p:pic>
        <p:nvPicPr>
          <p:cNvPr id="178180" name="Picture 4"/>
          <p:cNvPicPr>
            <a:picLocks noGrp="1" noChangeAspect="1" noChangeArrowheads="1"/>
          </p:cNvPicPr>
          <p:nvPr>
            <p:ph sz="quarter" idx="2"/>
          </p:nvPr>
        </p:nvPicPr>
        <p:blipFill>
          <a:blip r:embed="rId3" cstate="print"/>
          <a:stretch>
            <a:fillRect/>
          </a:stretch>
        </p:blipFill>
        <p:spPr>
          <a:xfrm>
            <a:off x="5457825" y="1785144"/>
            <a:ext cx="2419350" cy="1819275"/>
          </a:xfrm>
          <a:noFill/>
          <a:ln/>
        </p:spPr>
      </p:pic>
      <p:pic>
        <p:nvPicPr>
          <p:cNvPr id="178181" name="Picture 5"/>
          <p:cNvPicPr>
            <a:picLocks noGrp="1" noChangeAspect="1" noChangeArrowheads="1"/>
          </p:cNvPicPr>
          <p:nvPr>
            <p:ph sz="quarter" idx="3"/>
          </p:nvPr>
        </p:nvPicPr>
        <p:blipFill>
          <a:blip r:embed="rId4" cstate="print"/>
          <a:srcRect r="35" b="-32"/>
          <a:stretch>
            <a:fillRect/>
          </a:stretch>
        </p:blipFill>
        <p:spPr>
          <a:xfrm>
            <a:off x="6248400" y="5029200"/>
            <a:ext cx="2276475" cy="1296987"/>
          </a:xfrm>
          <a:noFill/>
          <a:ln/>
        </p:spPr>
      </p:pic>
      <p:pic>
        <p:nvPicPr>
          <p:cNvPr id="178182" name="Picture 6"/>
          <p:cNvPicPr>
            <a:picLocks noChangeAspect="1" noChangeArrowheads="1"/>
          </p:cNvPicPr>
          <p:nvPr/>
        </p:nvPicPr>
        <p:blipFill>
          <a:blip r:embed="rId5" cstate="print"/>
          <a:srcRect r="79" b="31"/>
          <a:stretch>
            <a:fillRect/>
          </a:stretch>
        </p:blipFill>
        <p:spPr bwMode="auto">
          <a:xfrm>
            <a:off x="6705600" y="3657600"/>
            <a:ext cx="1673225"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noAutofit/>
          </a:bodyPr>
          <a:lstStyle/>
          <a:p>
            <a:r>
              <a:rPr lang="en-US" sz="3600" b="1" dirty="0" smtClean="0">
                <a:solidFill>
                  <a:srgbClr val="FF0000"/>
                </a:solidFill>
              </a:rPr>
              <a:t>Laboratory </a:t>
            </a:r>
            <a:r>
              <a:rPr lang="en-US" sz="3600" b="1" dirty="0">
                <a:solidFill>
                  <a:srgbClr val="FF0000"/>
                </a:solidFill>
              </a:rPr>
              <a:t>Diagnosis</a:t>
            </a:r>
          </a:p>
        </p:txBody>
      </p:sp>
      <p:sp>
        <p:nvSpPr>
          <p:cNvPr id="179203" name="Rectangle 3"/>
          <p:cNvSpPr>
            <a:spLocks noGrp="1" noChangeArrowheads="1"/>
          </p:cNvSpPr>
          <p:nvPr>
            <p:ph type="body" sz="half" idx="1"/>
          </p:nvPr>
        </p:nvSpPr>
        <p:spPr>
          <a:xfrm>
            <a:off x="457200" y="1600200"/>
            <a:ext cx="8229600" cy="4530725"/>
          </a:xfrm>
        </p:spPr>
        <p:txBody>
          <a:bodyPr>
            <a:normAutofit fontScale="92500" lnSpcReduction="10000"/>
          </a:bodyPr>
          <a:lstStyle/>
          <a:p>
            <a:pPr>
              <a:lnSpc>
                <a:spcPct val="90000"/>
              </a:lnSpc>
            </a:pPr>
            <a:r>
              <a:rPr lang="en-US" sz="2800" dirty="0">
                <a:latin typeface="Arial" pitchFamily="34" charset="0"/>
                <a:cs typeface="Arial" pitchFamily="34" charset="0"/>
              </a:rPr>
              <a:t>Virus isolation</a:t>
            </a:r>
            <a:r>
              <a:rPr lang="en-US" sz="2400" dirty="0">
                <a:latin typeface="Arial" pitchFamily="34" charset="0"/>
                <a:cs typeface="Arial" pitchFamily="34" charset="0"/>
              </a:rPr>
              <a:t/>
            </a:r>
            <a:br>
              <a:rPr lang="en-US" sz="2400" dirty="0">
                <a:latin typeface="Arial" pitchFamily="34" charset="0"/>
                <a:cs typeface="Arial" pitchFamily="34" charset="0"/>
              </a:rPr>
            </a:br>
            <a:endParaRPr lang="en-US" sz="2400" dirty="0">
              <a:latin typeface="Arial" pitchFamily="34" charset="0"/>
              <a:cs typeface="Arial" pitchFamily="34" charset="0"/>
            </a:endParaRPr>
          </a:p>
          <a:p>
            <a:pPr>
              <a:lnSpc>
                <a:spcPct val="150000"/>
              </a:lnSpc>
              <a:buFont typeface="Wingdings" pitchFamily="2" charset="2"/>
              <a:buNone/>
            </a:pPr>
            <a:r>
              <a:rPr lang="en-US" sz="2000" dirty="0">
                <a:latin typeface="Arial" pitchFamily="34" charset="0"/>
                <a:cs typeface="Arial" pitchFamily="34" charset="0"/>
              </a:rPr>
              <a:t>	</a:t>
            </a:r>
            <a:r>
              <a:rPr lang="en-US" sz="2400" dirty="0">
                <a:latin typeface="Arial" pitchFamily="34" charset="0"/>
                <a:cs typeface="Arial" pitchFamily="34" charset="0"/>
              </a:rPr>
              <a:t>- </a:t>
            </a:r>
            <a:r>
              <a:rPr lang="en-US" sz="2400" dirty="0" err="1">
                <a:latin typeface="Arial" pitchFamily="34" charset="0"/>
                <a:cs typeface="Arial" pitchFamily="34" charset="0"/>
              </a:rPr>
              <a:t>Haemadsorption</a:t>
            </a:r>
            <a:r>
              <a:rPr lang="en-US" sz="2400" dirty="0">
                <a:latin typeface="Arial" pitchFamily="34" charset="0"/>
                <a:cs typeface="Arial" pitchFamily="34" charset="0"/>
              </a:rPr>
              <a:t> test (HAD) of </a:t>
            </a:r>
            <a:r>
              <a:rPr lang="en-US" sz="2400" dirty="0" smtClean="0">
                <a:latin typeface="Arial" pitchFamily="34" charset="0"/>
                <a:cs typeface="Arial" pitchFamily="34" charset="0"/>
              </a:rPr>
              <a:t>leukocyte </a:t>
            </a:r>
            <a:r>
              <a:rPr lang="en-US" sz="2400" dirty="0">
                <a:latin typeface="Arial" pitchFamily="34" charset="0"/>
                <a:cs typeface="Arial" pitchFamily="34" charset="0"/>
              </a:rPr>
              <a:t>cultures.</a:t>
            </a:r>
            <a:br>
              <a:rPr lang="en-US" sz="2400" dirty="0">
                <a:latin typeface="Arial" pitchFamily="34" charset="0"/>
                <a:cs typeface="Arial" pitchFamily="34" charset="0"/>
              </a:rPr>
            </a:br>
            <a:r>
              <a:rPr lang="en-US" sz="2400" dirty="0">
                <a:latin typeface="Arial" pitchFamily="34" charset="0"/>
                <a:cs typeface="Arial" pitchFamily="34" charset="0"/>
              </a:rPr>
              <a:t>- </a:t>
            </a:r>
            <a:r>
              <a:rPr lang="en-US" sz="2400" dirty="0" err="1">
                <a:latin typeface="Arial" pitchFamily="34" charset="0"/>
                <a:cs typeface="Arial" pitchFamily="34" charset="0"/>
              </a:rPr>
              <a:t>Haemadsorption</a:t>
            </a:r>
            <a:r>
              <a:rPr lang="en-US" sz="2400" dirty="0">
                <a:latin typeface="Arial" pitchFamily="34" charset="0"/>
                <a:cs typeface="Arial" pitchFamily="34" charset="0"/>
              </a:rPr>
              <a:t> </a:t>
            </a:r>
            <a:r>
              <a:rPr lang="en-US" sz="2400" dirty="0" err="1" smtClean="0">
                <a:latin typeface="Arial" pitchFamily="34" charset="0"/>
                <a:cs typeface="Arial" pitchFamily="34" charset="0"/>
              </a:rPr>
              <a:t>autorosette</a:t>
            </a:r>
            <a:r>
              <a:rPr lang="en-US" sz="2400" dirty="0" smtClean="0">
                <a:latin typeface="Arial" pitchFamily="34" charset="0"/>
                <a:cs typeface="Arial" pitchFamily="34" charset="0"/>
              </a:rPr>
              <a:t> test </a:t>
            </a:r>
            <a:r>
              <a:rPr lang="en-US" sz="2400" dirty="0">
                <a:latin typeface="Arial" pitchFamily="34" charset="0"/>
                <a:cs typeface="Arial" pitchFamily="34" charset="0"/>
              </a:rPr>
              <a:t>of </a:t>
            </a:r>
            <a:r>
              <a:rPr lang="en-US" sz="2400" dirty="0" smtClean="0">
                <a:latin typeface="Arial" pitchFamily="34" charset="0"/>
                <a:cs typeface="Arial" pitchFamily="34" charset="0"/>
              </a:rPr>
              <a:t>Peripheral Blood Leucocytes(PBL) </a:t>
            </a:r>
            <a:r>
              <a:rPr lang="en-US" sz="2400" dirty="0">
                <a:latin typeface="Arial" pitchFamily="34" charset="0"/>
                <a:cs typeface="Arial" pitchFamily="34" charset="0"/>
              </a:rPr>
              <a:t>of suspect pigs.</a:t>
            </a:r>
            <a:br>
              <a:rPr lang="en-US" sz="2400" dirty="0">
                <a:latin typeface="Arial" pitchFamily="34" charset="0"/>
                <a:cs typeface="Arial" pitchFamily="34" charset="0"/>
              </a:rPr>
            </a:br>
            <a:endParaRPr lang="en-US" sz="2400" dirty="0">
              <a:latin typeface="Arial" pitchFamily="34" charset="0"/>
              <a:cs typeface="Arial" pitchFamily="34" charset="0"/>
            </a:endParaRPr>
          </a:p>
          <a:p>
            <a:pPr>
              <a:lnSpc>
                <a:spcPct val="90000"/>
              </a:lnSpc>
            </a:pPr>
            <a:r>
              <a:rPr lang="en-US" sz="2800" dirty="0">
                <a:latin typeface="Arial" pitchFamily="34" charset="0"/>
                <a:cs typeface="Arial" pitchFamily="34" charset="0"/>
              </a:rPr>
              <a:t>Pig inoculation</a:t>
            </a:r>
            <a:br>
              <a:rPr lang="en-US" sz="2800" dirty="0">
                <a:latin typeface="Arial" pitchFamily="34" charset="0"/>
                <a:cs typeface="Arial" pitchFamily="34" charset="0"/>
              </a:rPr>
            </a:br>
            <a:endParaRPr lang="en-US" sz="2800" dirty="0">
              <a:latin typeface="Arial" pitchFamily="34" charset="0"/>
              <a:cs typeface="Arial" pitchFamily="34" charset="0"/>
            </a:endParaRPr>
          </a:p>
          <a:p>
            <a:pPr>
              <a:lnSpc>
                <a:spcPct val="150000"/>
              </a:lnSpc>
              <a:buFont typeface="Wingdings" pitchFamily="2" charset="2"/>
              <a:buNone/>
            </a:pPr>
            <a:r>
              <a:rPr lang="en-US" sz="2000" dirty="0">
                <a:latin typeface="Arial" pitchFamily="34" charset="0"/>
                <a:cs typeface="Arial" pitchFamily="34" charset="0"/>
              </a:rPr>
              <a:t>	</a:t>
            </a:r>
            <a:r>
              <a:rPr lang="en-US" sz="2400" dirty="0">
                <a:latin typeface="Arial" pitchFamily="34" charset="0"/>
                <a:cs typeface="Arial" pitchFamily="34" charset="0"/>
              </a:rPr>
              <a:t>- Requires inoculation of </a:t>
            </a:r>
            <a:r>
              <a:rPr lang="en-US" sz="2400" dirty="0" smtClean="0">
                <a:latin typeface="Arial" pitchFamily="34" charset="0"/>
                <a:cs typeface="Arial" pitchFamily="34" charset="0"/>
              </a:rPr>
              <a:t>naïve and CSF- vaccinated </a:t>
            </a:r>
            <a:r>
              <a:rPr lang="en-US" sz="2400" dirty="0">
                <a:latin typeface="Arial" pitchFamily="34" charset="0"/>
                <a:cs typeface="Arial" pitchFamily="34" charset="0"/>
              </a:rPr>
              <a:t>pigs.</a:t>
            </a:r>
            <a:br>
              <a:rPr lang="en-US" sz="2400" dirty="0">
                <a:latin typeface="Arial" pitchFamily="34" charset="0"/>
                <a:cs typeface="Arial" pitchFamily="34" charset="0"/>
              </a:rPr>
            </a:br>
            <a:r>
              <a:rPr lang="en-US" sz="2400" dirty="0">
                <a:latin typeface="Arial" pitchFamily="34" charset="0"/>
                <a:cs typeface="Arial" pitchFamily="34" charset="0"/>
              </a:rPr>
              <a:t>- Not recommended with </a:t>
            </a:r>
            <a:r>
              <a:rPr lang="en-US" sz="2400" dirty="0" smtClean="0">
                <a:latin typeface="Arial" pitchFamily="34" charset="0"/>
                <a:cs typeface="Arial" pitchFamily="34" charset="0"/>
              </a:rPr>
              <a:t>newer </a:t>
            </a:r>
            <a:r>
              <a:rPr lang="en-US" sz="2400" dirty="0">
                <a:latin typeface="Arial" pitchFamily="34" charset="0"/>
                <a:cs typeface="Arial" pitchFamily="34" charset="0"/>
              </a:rPr>
              <a:t>tests available.</a:t>
            </a:r>
          </a:p>
          <a:p>
            <a:pPr>
              <a:lnSpc>
                <a:spcPct val="90000"/>
              </a:lnSpc>
            </a:pPr>
            <a:endParaRPr lang="en-U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2. Haemadsorption with rosette formation in ASFV infected PBM cells with a virulent genotype I ASF strain. Details of the haemadsorption on the surface of swine peripheral blood monocytes infected with the virulent genotype I ASFV Spanish strain E70 at: (A) 12 hours after the infection, (B) 24 hours after the infection, and (C) 48 hours after the infection where complete rosette formation on the periphery of the cells can be observed. https://www.wageningenacademic.com/doi/pdf/10.3920/978-90-8686-910-7_5 -Thursday, March 11, 2021 4:29:32 AM -IP Address:193.144.96.4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31750" y="838200"/>
            <a:ext cx="9112250" cy="4800600"/>
          </a:xfrm>
          <a:prstGeom prst="rect">
            <a:avLst/>
          </a:prstGeom>
          <a:noFill/>
          <a:ln w="9525">
            <a:noFill/>
            <a:miter lim="800000"/>
            <a:headEnd/>
            <a:tailEnd/>
          </a:ln>
          <a:effec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noAutofit/>
          </a:bodyPr>
          <a:lstStyle/>
          <a:p>
            <a:r>
              <a:rPr lang="en-US" sz="3600" b="1" dirty="0" smtClean="0">
                <a:solidFill>
                  <a:srgbClr val="FF0000"/>
                </a:solidFill>
              </a:rPr>
              <a:t>Diagnosis</a:t>
            </a:r>
            <a:endParaRPr lang="en-US" sz="3600" b="1" dirty="0">
              <a:solidFill>
                <a:srgbClr val="FF0000"/>
              </a:solidFill>
            </a:endParaRPr>
          </a:p>
        </p:txBody>
      </p:sp>
      <p:sp>
        <p:nvSpPr>
          <p:cNvPr id="180227" name="Rectangle 3"/>
          <p:cNvSpPr>
            <a:spLocks noGrp="1" noChangeArrowheads="1"/>
          </p:cNvSpPr>
          <p:nvPr>
            <p:ph type="body" sz="half" idx="1"/>
          </p:nvPr>
        </p:nvSpPr>
        <p:spPr>
          <a:xfrm>
            <a:off x="228600" y="1600200"/>
            <a:ext cx="8686800" cy="4530725"/>
          </a:xfrm>
        </p:spPr>
        <p:txBody>
          <a:bodyPr>
            <a:normAutofit/>
          </a:bodyPr>
          <a:lstStyle/>
          <a:p>
            <a:r>
              <a:rPr lang="en-US" sz="2400" dirty="0">
                <a:latin typeface="Arial" pitchFamily="34" charset="0"/>
                <a:cs typeface="Arial" pitchFamily="34" charset="0"/>
              </a:rPr>
              <a:t>Virus antigen detection</a:t>
            </a:r>
            <a:br>
              <a:rPr lang="en-US" sz="2400" dirty="0">
                <a:latin typeface="Arial" pitchFamily="34" charset="0"/>
                <a:cs typeface="Arial" pitchFamily="34" charset="0"/>
              </a:rPr>
            </a:br>
            <a:r>
              <a:rPr lang="en-US" sz="2400" dirty="0">
                <a:latin typeface="Arial" pitchFamily="34" charset="0"/>
                <a:cs typeface="Arial" pitchFamily="34" charset="0"/>
              </a:rPr>
              <a:t>- Direct fluorescent </a:t>
            </a:r>
            <a:r>
              <a:rPr lang="en-US" sz="2400" dirty="0" smtClean="0">
                <a:latin typeface="Arial" pitchFamily="34" charset="0"/>
                <a:cs typeface="Arial" pitchFamily="34" charset="0"/>
              </a:rPr>
              <a:t>antibody test </a:t>
            </a:r>
            <a:r>
              <a:rPr lang="en-US" sz="2400" dirty="0">
                <a:latin typeface="Arial" pitchFamily="34" charset="0"/>
                <a:cs typeface="Arial" pitchFamily="34" charset="0"/>
              </a:rPr>
              <a:t>(DFAT)</a:t>
            </a:r>
            <a:br>
              <a:rPr lang="en-US" sz="2400" dirty="0">
                <a:latin typeface="Arial" pitchFamily="34" charset="0"/>
                <a:cs typeface="Arial" pitchFamily="34" charset="0"/>
              </a:rPr>
            </a:br>
            <a:endParaRPr lang="en-US" sz="2400" dirty="0">
              <a:latin typeface="Arial" pitchFamily="34" charset="0"/>
              <a:cs typeface="Arial" pitchFamily="34" charset="0"/>
            </a:endParaRPr>
          </a:p>
          <a:p>
            <a:r>
              <a:rPr lang="en-US" sz="2400" dirty="0">
                <a:latin typeface="Arial" pitchFamily="34" charset="0"/>
                <a:cs typeface="Arial" pitchFamily="34" charset="0"/>
              </a:rPr>
              <a:t>Virus genome detection</a:t>
            </a:r>
            <a:br>
              <a:rPr lang="en-US" sz="2400" dirty="0">
                <a:latin typeface="Arial" pitchFamily="34" charset="0"/>
                <a:cs typeface="Arial" pitchFamily="34" charset="0"/>
              </a:rPr>
            </a:br>
            <a:r>
              <a:rPr lang="en-US" sz="2400" dirty="0">
                <a:latin typeface="Arial" pitchFamily="34" charset="0"/>
                <a:cs typeface="Arial" pitchFamily="34" charset="0"/>
              </a:rPr>
              <a:t>- Polymerase Chain Reaction </a:t>
            </a:r>
            <a:r>
              <a:rPr lang="en-US" sz="2400" dirty="0" smtClean="0">
                <a:latin typeface="Arial" pitchFamily="34" charset="0"/>
                <a:cs typeface="Arial" pitchFamily="34" charset="0"/>
              </a:rPr>
              <a:t>(</a:t>
            </a:r>
            <a:r>
              <a:rPr lang="en-US" sz="2400" dirty="0">
                <a:latin typeface="Arial" pitchFamily="34" charset="0"/>
                <a:cs typeface="Arial" pitchFamily="34" charset="0"/>
              </a:rPr>
              <a:t>PCR) </a:t>
            </a:r>
            <a:br>
              <a:rPr lang="en-US" sz="2400" dirty="0">
                <a:latin typeface="Arial" pitchFamily="34" charset="0"/>
                <a:cs typeface="Arial" pitchFamily="34" charset="0"/>
              </a:rPr>
            </a:br>
            <a:r>
              <a:rPr lang="en-US" sz="2400" dirty="0">
                <a:latin typeface="Arial" pitchFamily="34" charset="0"/>
                <a:cs typeface="Arial" pitchFamily="34" charset="0"/>
              </a:rPr>
              <a:t>-  PCR-based sequencing method </a:t>
            </a:r>
            <a:r>
              <a:rPr lang="en-US" sz="2400" dirty="0" smtClean="0">
                <a:latin typeface="Arial" pitchFamily="34" charset="0"/>
                <a:cs typeface="Arial" pitchFamily="34" charset="0"/>
              </a:rPr>
              <a:t>which permits detection </a:t>
            </a:r>
            <a:r>
              <a:rPr lang="en-US" sz="2400" dirty="0">
                <a:latin typeface="Arial" pitchFamily="34" charset="0"/>
                <a:cs typeface="Arial" pitchFamily="34" charset="0"/>
              </a:rPr>
              <a:t>and characterization </a:t>
            </a:r>
            <a:r>
              <a:rPr lang="en-US" sz="2400" dirty="0" smtClean="0">
                <a:latin typeface="Arial" pitchFamily="34" charset="0"/>
                <a:cs typeface="Arial" pitchFamily="34" charset="0"/>
              </a:rPr>
              <a:t>of ASFV </a:t>
            </a:r>
            <a:r>
              <a:rPr lang="en-US" sz="2400" dirty="0">
                <a:latin typeface="Arial" pitchFamily="34" charset="0"/>
                <a:cs typeface="Arial" pitchFamily="34" charset="0"/>
              </a:rPr>
              <a:t>variants.</a:t>
            </a:r>
            <a:br>
              <a:rPr lang="en-US" sz="2400" dirty="0">
                <a:latin typeface="Arial" pitchFamily="34" charset="0"/>
                <a:cs typeface="Arial" pitchFamily="34" charset="0"/>
              </a:rPr>
            </a:br>
            <a:r>
              <a:rPr lang="en-US" sz="2400" dirty="0">
                <a:latin typeface="Arial" pitchFamily="34" charset="0"/>
                <a:cs typeface="Arial" pitchFamily="34" charset="0"/>
              </a:rPr>
              <a:t>- Useful for molecular </a:t>
            </a:r>
            <a:r>
              <a:rPr lang="en-US" sz="2400" dirty="0" smtClean="0">
                <a:latin typeface="Arial" pitchFamily="34" charset="0"/>
                <a:cs typeface="Arial" pitchFamily="34" charset="0"/>
              </a:rPr>
              <a:t>epidemiological clarification </a:t>
            </a:r>
            <a:r>
              <a:rPr lang="en-US" sz="2400" dirty="0">
                <a:latin typeface="Arial" pitchFamily="34" charset="0"/>
                <a:cs typeface="Arial" pitchFamily="34" charset="0"/>
              </a:rPr>
              <a:t>of ASFV</a:t>
            </a:r>
            <a:br>
              <a:rPr lang="en-US" sz="2400" dirty="0">
                <a:latin typeface="Arial" pitchFamily="34" charset="0"/>
                <a:cs typeface="Arial" pitchFamily="34" charset="0"/>
              </a:rPr>
            </a:br>
            <a:endParaRPr lang="en-U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640</TotalTime>
  <Words>1377</Words>
  <Application>Microsoft Office PowerPoint</Application>
  <PresentationFormat>On-screen Show (4:3)</PresentationFormat>
  <Paragraphs>238</Paragraphs>
  <Slides>43</Slides>
  <Notes>18</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FAMILY ASFARVIRIDAE</vt:lpstr>
      <vt:lpstr>Slide 2</vt:lpstr>
      <vt:lpstr>ASF virus  </vt:lpstr>
      <vt:lpstr>Morphology </vt:lpstr>
      <vt:lpstr>Slide 5</vt:lpstr>
      <vt:lpstr>VIRAL REPLICATION</vt:lpstr>
      <vt:lpstr>Slide 7</vt:lpstr>
      <vt:lpstr>African Swine Fever  </vt:lpstr>
      <vt:lpstr>African Swine Fever</vt:lpstr>
      <vt:lpstr>Host Range</vt:lpstr>
      <vt:lpstr>Host Range</vt:lpstr>
      <vt:lpstr>Host Range</vt:lpstr>
      <vt:lpstr>Epidemiology</vt:lpstr>
      <vt:lpstr>Slide 14</vt:lpstr>
      <vt:lpstr>Domestic Cycle</vt:lpstr>
      <vt:lpstr>Slide 16</vt:lpstr>
      <vt:lpstr>Transmission</vt:lpstr>
      <vt:lpstr>Transmission</vt:lpstr>
      <vt:lpstr>General Clinical Signs</vt:lpstr>
      <vt:lpstr>General Clinical Signs</vt:lpstr>
      <vt:lpstr>Abortion</vt:lpstr>
      <vt:lpstr>Clinical Signs</vt:lpstr>
      <vt:lpstr>Clinical Signs </vt:lpstr>
      <vt:lpstr> Clinical Signs:  Highly Virulent</vt:lpstr>
      <vt:lpstr>Clinical Signs</vt:lpstr>
      <vt:lpstr>Clinical Signs</vt:lpstr>
      <vt:lpstr> Clinical Signs:  Moderately Virulent</vt:lpstr>
      <vt:lpstr> Clinical Signs:  Moderately Virulent</vt:lpstr>
      <vt:lpstr> Clinical Signs:  Moderately Virulent </vt:lpstr>
      <vt:lpstr>Clinical Signs:  Low-virulence </vt:lpstr>
      <vt:lpstr>Clinical Signs: Chronic</vt:lpstr>
      <vt:lpstr> Gross Lesions Highly Virulent Virus</vt:lpstr>
      <vt:lpstr>Lesions</vt:lpstr>
      <vt:lpstr>Slide 34</vt:lpstr>
      <vt:lpstr>Gross Lesions Moderately Virulent Virus</vt:lpstr>
      <vt:lpstr>Gross Lesions Low Virulence Virus</vt:lpstr>
      <vt:lpstr>Chronic ASF:  Necrotic skin lesions</vt:lpstr>
      <vt:lpstr>Diagnosis</vt:lpstr>
      <vt:lpstr>Diagnosis</vt:lpstr>
      <vt:lpstr>Diagnosis Laboratory Specimens</vt:lpstr>
      <vt:lpstr>Laboratory Diagnosis</vt:lpstr>
      <vt:lpstr>Slide 42</vt:lpstr>
      <vt:lpstr>Diagnosis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ASFARVIRIDAE</dc:title>
  <dc:creator>admin</dc:creator>
  <cp:lastModifiedBy>RATHORE</cp:lastModifiedBy>
  <cp:revision>53</cp:revision>
  <dcterms:created xsi:type="dcterms:W3CDTF">2006-08-16T00:00:00Z</dcterms:created>
  <dcterms:modified xsi:type="dcterms:W3CDTF">2025-04-23T06:46:09Z</dcterms:modified>
</cp:coreProperties>
</file>