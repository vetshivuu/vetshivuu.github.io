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Layouts/slideLayout39.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 id="2147483696" r:id="rId3"/>
    <p:sldMasterId id="2147483708" r:id="rId4"/>
  </p:sldMasterIdLst>
  <p:notesMasterIdLst>
    <p:notesMasterId r:id="rId50"/>
  </p:notesMasterIdLst>
  <p:sldIdLst>
    <p:sldId id="256" r:id="rId5"/>
    <p:sldId id="321" r:id="rId6"/>
    <p:sldId id="257" r:id="rId7"/>
    <p:sldId id="331" r:id="rId8"/>
    <p:sldId id="337" r:id="rId9"/>
    <p:sldId id="262" r:id="rId10"/>
    <p:sldId id="322" r:id="rId11"/>
    <p:sldId id="332" r:id="rId12"/>
    <p:sldId id="264" r:id="rId13"/>
    <p:sldId id="263" r:id="rId14"/>
    <p:sldId id="324" r:id="rId15"/>
    <p:sldId id="323" r:id="rId16"/>
    <p:sldId id="265" r:id="rId17"/>
    <p:sldId id="326" r:id="rId18"/>
    <p:sldId id="328" r:id="rId19"/>
    <p:sldId id="338" r:id="rId20"/>
    <p:sldId id="267" r:id="rId21"/>
    <p:sldId id="268" r:id="rId22"/>
    <p:sldId id="336" r:id="rId23"/>
    <p:sldId id="334" r:id="rId24"/>
    <p:sldId id="330" r:id="rId25"/>
    <p:sldId id="271" r:id="rId26"/>
    <p:sldId id="270" r:id="rId27"/>
    <p:sldId id="283" r:id="rId28"/>
    <p:sldId id="280" r:id="rId29"/>
    <p:sldId id="285" r:id="rId30"/>
    <p:sldId id="335" r:id="rId31"/>
    <p:sldId id="297" r:id="rId32"/>
    <p:sldId id="299" r:id="rId33"/>
    <p:sldId id="288" r:id="rId34"/>
    <p:sldId id="286" r:id="rId35"/>
    <p:sldId id="303" r:id="rId36"/>
    <p:sldId id="340" r:id="rId37"/>
    <p:sldId id="304" r:id="rId38"/>
    <p:sldId id="341" r:id="rId39"/>
    <p:sldId id="305" r:id="rId40"/>
    <p:sldId id="339" r:id="rId41"/>
    <p:sldId id="307" r:id="rId42"/>
    <p:sldId id="309" r:id="rId43"/>
    <p:sldId id="310" r:id="rId44"/>
    <p:sldId id="316" r:id="rId45"/>
    <p:sldId id="317" r:id="rId46"/>
    <p:sldId id="318" r:id="rId47"/>
    <p:sldId id="319" r:id="rId48"/>
    <p:sldId id="320"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79" autoAdjust="0"/>
    <p:restoredTop sz="89020" autoAdjust="0"/>
  </p:normalViewPr>
  <p:slideViewPr>
    <p:cSldViewPr>
      <p:cViewPr>
        <p:scale>
          <a:sx n="60" d="100"/>
          <a:sy n="60" d="100"/>
        </p:scale>
        <p:origin x="-1188" y="-12"/>
      </p:cViewPr>
      <p:guideLst>
        <p:guide orient="horz" pos="2160"/>
        <p:guide pos="2880"/>
      </p:guideLst>
    </p:cSldViewPr>
  </p:slideViewPr>
  <p:outlineViewPr>
    <p:cViewPr>
      <p:scale>
        <a:sx n="33" d="100"/>
        <a:sy n="33" d="100"/>
      </p:scale>
      <p:origin x="0" y="1368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24C5C4-135B-4353-85F7-763FFED91EDE}" type="datetimeFigureOut">
              <a:rPr lang="en-US" smtClean="0"/>
              <a:pPr/>
              <a:t>8/4/2025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85B71DC-8C81-4789-AFFD-2AA9F86B0917}" type="slidenum">
              <a:rPr lang="en-US" smtClean="0"/>
              <a:pPr/>
              <a:t>‹#›</a:t>
            </a:fld>
            <a:endParaRPr lang="en-US"/>
          </a:p>
        </p:txBody>
      </p:sp>
    </p:spTree>
    <p:extLst>
      <p:ext uri="{BB962C8B-B14F-4D97-AF65-F5344CB8AC3E}">
        <p14:creationId xmlns:p14="http://schemas.microsoft.com/office/powerpoint/2010/main" xmlns="" val="314739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495535A2-B185-444D-A9E5-A3F2BD09A436}" type="slidenum">
              <a:rPr lang="en-US" smtClean="0">
                <a:solidFill>
                  <a:prstClr val="black"/>
                </a:solidFill>
                <a:latin typeface="Arial" charset="0"/>
              </a:rPr>
              <a:pPr eaLnBrk="1" hangingPunct="1">
                <a:lnSpc>
                  <a:spcPct val="100000"/>
                </a:lnSpc>
                <a:spcBef>
                  <a:spcPct val="0"/>
                </a:spcBef>
                <a:buClrTx/>
                <a:buSzTx/>
                <a:buFontTx/>
                <a:buNone/>
                <a:defRPr/>
              </a:pPr>
              <a:t>28</a:t>
            </a:fld>
            <a:endParaRPr lang="en-US" smtClean="0">
              <a:solidFill>
                <a:prstClr val="black"/>
              </a:solidFill>
              <a:latin typeface="Arial"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xfrm>
            <a:off x="914400" y="4344025"/>
            <a:ext cx="5029200" cy="411448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dirty="0" smtClean="0"/>
              <a:t>The severity of classical swine fever varies. The age and immune status of the animals also affects the disease outcome. Younger animals often have higher mortality rates than adult pigs. Disease from highly virulent strains most commonly result in acute infection with high morbidity and mortality rates; the case fatality rate can approach 100%. </a:t>
            </a:r>
            <a:r>
              <a:rPr lang="en-US" dirty="0" err="1" smtClean="0"/>
              <a:t>Subacute</a:t>
            </a:r>
            <a:r>
              <a:rPr lang="en-US" dirty="0" smtClean="0"/>
              <a:t> disease usually has lower case-fatality rates compared to acute cases; mild cases of illness have lower mortality rates. Less virulent strains may be more difficult to detect as can chronic infections of CSF. Only a few animals in the herd may show signs of illness and these signs can resemble other swine diseases. Some infections of CSF can by asymptomatic; these animals may serve as carriers for further dissemination of the disease.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10B0D312-C734-4309-A129-710B4F6749B0}" type="slidenum">
              <a:rPr lang="en-US" smtClean="0">
                <a:solidFill>
                  <a:prstClr val="black"/>
                </a:solidFill>
                <a:latin typeface="Arial" charset="0"/>
              </a:rPr>
              <a:pPr eaLnBrk="1" hangingPunct="1">
                <a:lnSpc>
                  <a:spcPct val="100000"/>
                </a:lnSpc>
                <a:spcBef>
                  <a:spcPct val="0"/>
                </a:spcBef>
                <a:buClrTx/>
                <a:buSzTx/>
                <a:buFontTx/>
                <a:buNone/>
                <a:defRPr/>
              </a:pPr>
              <a:t>29</a:t>
            </a:fld>
            <a:endParaRPr lang="en-US" smtClean="0">
              <a:solidFill>
                <a:prstClr val="black"/>
              </a:solidFill>
              <a:latin typeface="Arial"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dirty="0" smtClean="0"/>
              <a:t>Classical swine fever virus is highly contagious. Sources of virus include blood and all tissues, secretions and excretion (saliva, urine, feces, semen) of sick and dead animals. Transmission primarily occurs from ingestion of the virus. This can occur following feeding of contaminated garbage or meat products. Transfer of the virus can also occur through direct contact of pigs with infected animals; this can occur through the mucous membranes, conjunctiva, and skin abrasions. Transfer of the virus by contaminated objects (</a:t>
            </a:r>
            <a:r>
              <a:rPr lang="en-US" dirty="0" err="1" smtClean="0"/>
              <a:t>fomites</a:t>
            </a:r>
            <a:r>
              <a:rPr lang="en-US" dirty="0" smtClean="0"/>
              <a:t>), such as boots, vehicles, equipment is also possible. Aerosol spread can occur in confined spaces; however the virus does not travel long distances in the air. This is a less common route of transmission as is transfer by insect vectors. Infected pigs are the only reservoir of virus.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smtClean="0"/>
              <a:t>The subacute disease form may resemble acute disease, but symptoms are usually less sever. Infected pigs may also survive. Chronic disease symptoms include fever, anorexia, stunted growth, and alopecia; these symptoms may wax and wane for months. Chronic infections are almost always fatal. Reproductive symptoms may also be seen with any level of virulence. Infected sows may give birth to persistently infected piglets; they typically die before one year of age. </a:t>
            </a:r>
          </a:p>
        </p:txBody>
      </p:sp>
      <p:sp>
        <p:nvSpPr>
          <p:cNvPr id="68612" name="Slide Number Placeholder 3"/>
          <p:cNvSpPr>
            <a:spLocks noGrp="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B063602B-CA3F-4077-A6CD-7B7992DF61F2}" type="slidenum">
              <a:rPr lang="en-US" smtClean="0">
                <a:solidFill>
                  <a:prstClr val="black"/>
                </a:solidFill>
                <a:latin typeface="Arial" charset="0"/>
              </a:rPr>
              <a:pPr eaLnBrk="1" hangingPunct="1">
                <a:lnSpc>
                  <a:spcPct val="100000"/>
                </a:lnSpc>
                <a:spcBef>
                  <a:spcPct val="0"/>
                </a:spcBef>
                <a:buClrTx/>
                <a:buSzTx/>
                <a:buFontTx/>
                <a:buNone/>
                <a:defRPr/>
              </a:pPr>
              <a:t>32</a:t>
            </a:fld>
            <a:endParaRPr lang="en-US" smtClean="0">
              <a:solidFill>
                <a:prstClr val="black"/>
              </a:solidFill>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E3B5FD5D-ECB9-44AB-B86C-2E0E4D415DA0}" type="slidenum">
              <a:rPr lang="en-US" smtClean="0">
                <a:solidFill>
                  <a:prstClr val="black"/>
                </a:solidFill>
                <a:latin typeface="Arial" charset="0"/>
              </a:rPr>
              <a:pPr eaLnBrk="1" hangingPunct="1">
                <a:lnSpc>
                  <a:spcPct val="100000"/>
                </a:lnSpc>
                <a:spcBef>
                  <a:spcPct val="0"/>
                </a:spcBef>
                <a:buClrTx/>
                <a:buSzTx/>
                <a:buFontTx/>
                <a:buNone/>
                <a:defRPr/>
              </a:pPr>
              <a:t>34</a:t>
            </a:fld>
            <a:endParaRPr lang="en-US" smtClean="0">
              <a:solidFill>
                <a:prstClr val="black"/>
              </a:solidFill>
              <a:latin typeface="Arial"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56517652-ABCB-4551-AA4A-087552DC9C1D}" type="slidenum">
              <a:rPr lang="en-US" smtClean="0">
                <a:solidFill>
                  <a:prstClr val="black"/>
                </a:solidFill>
                <a:latin typeface="Arial" charset="0"/>
              </a:rPr>
              <a:pPr eaLnBrk="1" hangingPunct="1">
                <a:lnSpc>
                  <a:spcPct val="100000"/>
                </a:lnSpc>
                <a:spcBef>
                  <a:spcPct val="0"/>
                </a:spcBef>
                <a:buClrTx/>
                <a:buSzTx/>
                <a:buFontTx/>
                <a:buNone/>
                <a:defRPr/>
              </a:pPr>
              <a:t>36</a:t>
            </a:fld>
            <a:endParaRPr lang="en-US" smtClean="0">
              <a:solidFill>
                <a:prstClr val="black"/>
              </a:solidFill>
              <a:latin typeface="Arial"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E0B1FDAC-5718-4EEC-9697-8C06C9ED3B8A}" type="slidenum">
              <a:rPr lang="en-US" smtClean="0">
                <a:solidFill>
                  <a:prstClr val="black"/>
                </a:solidFill>
                <a:latin typeface="Arial" charset="0"/>
              </a:rPr>
              <a:pPr eaLnBrk="1" hangingPunct="1">
                <a:lnSpc>
                  <a:spcPct val="100000"/>
                </a:lnSpc>
                <a:spcBef>
                  <a:spcPct val="0"/>
                </a:spcBef>
                <a:buClrTx/>
                <a:buSzTx/>
                <a:buFontTx/>
                <a:buNone/>
                <a:defRPr/>
              </a:pPr>
              <a:t>38</a:t>
            </a:fld>
            <a:endParaRPr lang="en-US" smtClean="0">
              <a:solidFill>
                <a:prstClr val="black"/>
              </a:solidFill>
              <a:latin typeface="Arial"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xfrm>
            <a:off x="914400" y="4344025"/>
            <a:ext cx="5029200" cy="411448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dirty="0" smtClean="0"/>
              <a:t>CSF should be suspected in pigs with septicemia and a high fever. Other previously described clinical signs may be noted. History of the pigs or recent traffic onto the farm is also important. Potential introduction should be considered if the history includes feeding uncooked or undercooked scraps or garbage, particularly meat products, addition of new or returning animals to the herd, recent international travel of personnel on the farm, the presence of foreign visitors or workers, and/or lack of response by ill pigs to routine treatments. Diagnosis is impossible without laboratory confirmation, and tonsil is the preferred sample.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D93A24B4-D6EF-4344-82F4-BD8796994EED}" type="slidenum">
              <a:rPr lang="en-US" smtClean="0">
                <a:solidFill>
                  <a:prstClr val="black"/>
                </a:solidFill>
                <a:latin typeface="Arial" charset="0"/>
              </a:rPr>
              <a:pPr eaLnBrk="1" hangingPunct="1">
                <a:lnSpc>
                  <a:spcPct val="100000"/>
                </a:lnSpc>
                <a:spcBef>
                  <a:spcPct val="0"/>
                </a:spcBef>
                <a:buClrTx/>
                <a:buSzTx/>
                <a:buFontTx/>
                <a:buNone/>
                <a:defRPr/>
              </a:pPr>
              <a:t>39</a:t>
            </a:fld>
            <a:endParaRPr lang="en-US" smtClean="0">
              <a:solidFill>
                <a:prstClr val="black"/>
              </a:solidFill>
              <a:latin typeface="Arial"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914400" y="4344025"/>
            <a:ext cx="5029200" cy="411448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dirty="0" smtClean="0"/>
              <a:t>Differentiation of classical swine fever from other diseases (especially African swine fever, from which CSF is clinically indistinguishable) requires laboratory testing. CSF can be distinguished by detecting the virus or its antigens in whole blood or tissue samples. CSF surveillance most commonly uses </a:t>
            </a:r>
            <a:r>
              <a:rPr lang="en-US" dirty="0" err="1" smtClean="0"/>
              <a:t>rRT</a:t>
            </a:r>
            <a:r>
              <a:rPr lang="en-US" dirty="0" smtClean="0"/>
              <a:t>-PCR (real-time reverse transcriptase polymerase chain reaction) testing on tonsils and nasal swabs. Virus antigens in tissue may also be detected by direct </a:t>
            </a:r>
            <a:r>
              <a:rPr lang="en-US" dirty="0" err="1" smtClean="0"/>
              <a:t>immunofluorescence</a:t>
            </a:r>
            <a:r>
              <a:rPr lang="en-US" dirty="0" smtClean="0"/>
              <a:t> or ELISAs. Serology can also be used for diagnosis; the most commonly used serological tests are virus neutralization tests and ELISAs. The definitive test for differentiation is the comparative neutralization test.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0028DF7C-BC45-4951-A52D-C1DB476A25CA}" type="slidenum">
              <a:rPr lang="en-US" smtClean="0">
                <a:solidFill>
                  <a:prstClr val="black"/>
                </a:solidFill>
                <a:latin typeface="Arial" charset="0"/>
              </a:rPr>
              <a:pPr eaLnBrk="1" hangingPunct="1">
                <a:lnSpc>
                  <a:spcPct val="100000"/>
                </a:lnSpc>
                <a:spcBef>
                  <a:spcPct val="0"/>
                </a:spcBef>
                <a:buClrTx/>
                <a:buSzTx/>
                <a:buFontTx/>
                <a:buNone/>
                <a:defRPr/>
              </a:pPr>
              <a:t>40</a:t>
            </a:fld>
            <a:endParaRPr lang="en-US" smtClean="0">
              <a:solidFill>
                <a:prstClr val="black"/>
              </a:solidFill>
              <a:latin typeface="Arial"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BD2199D2-8EAB-46E1-9C61-8D506432F09C}" type="slidenum">
              <a:rPr lang="en-US" smtClean="0">
                <a:solidFill>
                  <a:prstClr val="black"/>
                </a:solidFill>
                <a:latin typeface="Arial" charset="0"/>
              </a:rPr>
              <a:pPr eaLnBrk="1" hangingPunct="1">
                <a:lnSpc>
                  <a:spcPct val="100000"/>
                </a:lnSpc>
                <a:spcBef>
                  <a:spcPct val="0"/>
                </a:spcBef>
                <a:buClrTx/>
                <a:buSzTx/>
                <a:buFontTx/>
                <a:buNone/>
                <a:defRPr/>
              </a:pPr>
              <a:t>41</a:t>
            </a:fld>
            <a:endParaRPr lang="en-US" smtClean="0">
              <a:solidFill>
                <a:prstClr val="black"/>
              </a:solidFill>
              <a:latin typeface="Arial"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xfrm>
            <a:off x="914400" y="4344025"/>
            <a:ext cx="5029200" cy="411448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smtClean="0"/>
              <a:t>CSFV is moderately fragile in the environment. The virus is sensitive to drying and ultraviolet light. It is rapidly inactivated by pH 3 or less or pH greater than 11. The virus is stable at pH 5 to 10. Sodium hypochlorite and phenolic compounds are effective disinfectants. The virus can be destroyed by cooking at temperatures of 65.5 </a:t>
            </a:r>
            <a:r>
              <a:rPr lang="en-US" baseline="30000" smtClean="0"/>
              <a:t>o</a:t>
            </a:r>
            <a:r>
              <a:rPr lang="en-US" smtClean="0"/>
              <a:t>C (150 </a:t>
            </a:r>
            <a:r>
              <a:rPr lang="en-US" baseline="30000" smtClean="0"/>
              <a:t>o</a:t>
            </a:r>
            <a:r>
              <a:rPr lang="en-US" smtClean="0"/>
              <a:t>F) for greater than 30 minutes or 71 </a:t>
            </a:r>
            <a:r>
              <a:rPr lang="en-US" baseline="30000" smtClean="0"/>
              <a:t>o</a:t>
            </a:r>
            <a:r>
              <a:rPr lang="en-US" smtClean="0"/>
              <a:t>C (160 </a:t>
            </a:r>
            <a:r>
              <a:rPr lang="en-US" baseline="30000" smtClean="0"/>
              <a:t>o</a:t>
            </a:r>
            <a:r>
              <a:rPr lang="en-US" smtClean="0"/>
              <a:t>F) for one minute.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F6BD7558-238A-45B0-B375-931AE299661B}" type="slidenum">
              <a:rPr lang="en-US" smtClean="0">
                <a:solidFill>
                  <a:prstClr val="black"/>
                </a:solidFill>
                <a:latin typeface="Arial" charset="0"/>
              </a:rPr>
              <a:pPr eaLnBrk="1" hangingPunct="1">
                <a:lnSpc>
                  <a:spcPct val="100000"/>
                </a:lnSpc>
                <a:spcBef>
                  <a:spcPct val="0"/>
                </a:spcBef>
                <a:buClrTx/>
                <a:buSzTx/>
                <a:buFontTx/>
                <a:buNone/>
                <a:defRPr/>
              </a:pPr>
              <a:t>42</a:t>
            </a:fld>
            <a:endParaRPr lang="en-US" smtClean="0">
              <a:solidFill>
                <a:prstClr val="black"/>
              </a:solidFill>
              <a:latin typeface="Arial"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smtClean="0"/>
              <a:t>To prevent the introduction of CSF into the U.S., pigs should not be fed uncooked or undercooked garbage (swill) or meat products. Since the CSFV is stable in the tissues of infected animals, feeding these materials may transfer the virus to susceptible swine. Additionally, visitors onto the farm should be minimized. This is especially important for those who have traveled internationally within the last 5 days. Some visitors are essential to the continued operation of the farm. These individuals should check in with farm personnel upon arrival and follow biosecurity measures while on the farm (e.g., wear clean coveralls and clean and disinfect boots before entering and after leaving animal areas).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05FE02A0-45AD-47A3-82A2-0BD28CF92A90}" type="slidenum">
              <a:rPr lang="en-US" smtClean="0">
                <a:solidFill>
                  <a:prstClr val="black"/>
                </a:solidFill>
                <a:latin typeface="Arial" charset="0"/>
              </a:rPr>
              <a:pPr eaLnBrk="1" hangingPunct="1">
                <a:lnSpc>
                  <a:spcPct val="100000"/>
                </a:lnSpc>
                <a:spcBef>
                  <a:spcPct val="0"/>
                </a:spcBef>
                <a:buClrTx/>
                <a:buSzTx/>
                <a:buFontTx/>
                <a:buNone/>
                <a:defRPr/>
              </a:pPr>
              <a:t>43</a:t>
            </a:fld>
            <a:endParaRPr lang="en-US" smtClean="0">
              <a:solidFill>
                <a:prstClr val="black"/>
              </a:solidFill>
              <a:latin typeface="Arial"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smtClean="0"/>
              <a:t>Prompt recognition of the disease is essential to minimize spread. Monitor and inspect animals daily for signs of illness or disease. Farm personnel should be familiar with signs to look for and who to contact when signs are noted. Vehicles and equipment can serve as fomites for the spread of the virus. They should be cleaned after each use. Additionally, boots should be disinfected, and clean clothing should always be worn when coming in contact with pigs.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D31B47E1-BEB2-46A5-9809-658FF067736C}" type="slidenum">
              <a:rPr lang="en-US" smtClean="0">
                <a:solidFill>
                  <a:prstClr val="black"/>
                </a:solidFill>
                <a:latin typeface="Arial" charset="0"/>
              </a:rPr>
              <a:pPr eaLnBrk="1" hangingPunct="1">
                <a:lnSpc>
                  <a:spcPct val="100000"/>
                </a:lnSpc>
                <a:spcBef>
                  <a:spcPct val="0"/>
                </a:spcBef>
                <a:buClrTx/>
                <a:buSzTx/>
                <a:buFontTx/>
                <a:buNone/>
                <a:defRPr/>
              </a:pPr>
              <a:t>44</a:t>
            </a:fld>
            <a:endParaRPr lang="en-US" smtClean="0">
              <a:solidFill>
                <a:prstClr val="black"/>
              </a:solidFill>
              <a:latin typeface="Arial"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smtClean="0"/>
              <a:t>Animals infected with CSF can rapidly spread the virus to other susceptible pigs. Therefore, any animals showing signs of illness should be isolated immediately. Additionally, because pigs can be asymptomatic or can shed the virus before clinical signs are seen, newly purchased or returning animals should be quarantined a minimum of 30 days prior to introduction into the herd. Keeping health records on every animal is equally important, as it will help in the history and possible trace back (if needed) for animals in the herd.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100"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defTabSz="92710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defTabSz="9271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defTabSz="9271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lnSpc>
                <a:spcPct val="100000"/>
              </a:lnSpc>
              <a:spcBef>
                <a:spcPct val="0"/>
              </a:spcBef>
              <a:buClrTx/>
              <a:buSzTx/>
              <a:buFontTx/>
              <a:buNone/>
              <a:defRPr/>
            </a:pPr>
            <a:fld id="{40F6A544-7673-4ECE-8654-120B557CE3EA}" type="slidenum">
              <a:rPr lang="en-US" smtClean="0">
                <a:solidFill>
                  <a:prstClr val="black"/>
                </a:solidFill>
                <a:latin typeface="Arial" charset="0"/>
              </a:rPr>
              <a:pPr eaLnBrk="1" hangingPunct="1">
                <a:lnSpc>
                  <a:spcPct val="100000"/>
                </a:lnSpc>
                <a:spcBef>
                  <a:spcPct val="0"/>
                </a:spcBef>
                <a:buClrTx/>
                <a:buSzTx/>
                <a:buFontTx/>
                <a:buNone/>
                <a:defRPr/>
              </a:pPr>
              <a:t>45</a:t>
            </a:fld>
            <a:endParaRPr lang="en-US" smtClean="0">
              <a:solidFill>
                <a:prstClr val="black"/>
              </a:solidFill>
              <a:latin typeface="Arial"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xfrm>
            <a:off x="914400" y="4344025"/>
            <a:ext cx="5029200" cy="411448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smtClean="0"/>
              <a:t>Vaccines are available in endemic countries. While vaccination can protect animals from clinical disease, it does not eliminate infection, and therefore may be inappropriate in countries with an eradication policy. In countries free of CSF, periodic surveillance is necessary to confirm freedom from infection.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CA"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CA"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BA2125D-5E43-4395-B3E2-3DD828F3EEF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3741723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Content Placeholder 2"/>
          <p:cNvSpPr>
            <a:spLocks noGrp="1"/>
          </p:cNvSpPr>
          <p:nvPr>
            <p:ph idx="1"/>
          </p:nvPr>
        </p:nvSpPr>
        <p:spPr/>
        <p:txBody>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C702259-0774-45C7-A3C9-47916D8DEB3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14220281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CA"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D74EC71-7E0B-40AF-B3B5-F00ADD23E64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742377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1F96132-56AB-44FF-B6BD-EC39CD96397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22475838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CA"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D10E5EE6-A81E-478D-85EC-AC6DB0ED743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31821841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D23B9ECA-A3AE-4A1C-A6ED-F30A66D550E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6857810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E5250915-8845-4327-96DE-D012D3D93B1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13531582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F3C9D69-3DF6-404C-9FDF-E32AA01F6EC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26800882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F30522AE-A0EF-4E9D-BBA9-AE93C821576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368432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9DA1A66-F293-4C6D-BAEA-96DFB5E257A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901839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CA"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65982A0-EADF-4930-8301-E0E63BB6E70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14875110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CA"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CA"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BA2125D-5E43-4395-B3E2-3DD828F3EEF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21820999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Content Placeholder 2"/>
          <p:cNvSpPr>
            <a:spLocks noGrp="1"/>
          </p:cNvSpPr>
          <p:nvPr>
            <p:ph idx="1"/>
          </p:nvPr>
        </p:nvSpPr>
        <p:spPr/>
        <p:txBody>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C702259-0774-45C7-A3C9-47916D8DEB3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7585576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CA"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D74EC71-7E0B-40AF-B3B5-F00ADD23E64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16193554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1F96132-56AB-44FF-B6BD-EC39CD96397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16608415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CA"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D10E5EE6-A81E-478D-85EC-AC6DB0ED743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881188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D23B9ECA-A3AE-4A1C-A6ED-F30A66D550E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37890309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E5250915-8845-4327-96DE-D012D3D93B1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7246569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F3C9D69-3DF6-404C-9FDF-E32AA01F6EC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947285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F30522AE-A0EF-4E9D-BBA9-AE93C821576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1362368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9DA1A66-F293-4C6D-BAEA-96DFB5E257A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20580487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CA"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65982A0-EADF-4930-8301-E0E63BB6E70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xmlns="" val="18492151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6" descr="cfsph_logo"/>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315200" y="5924550"/>
            <a:ext cx="1571625" cy="723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78530" name="Rectangle 2"/>
          <p:cNvSpPr>
            <a:spLocks noGrp="1" noChangeArrowheads="1"/>
          </p:cNvSpPr>
          <p:nvPr>
            <p:ph type="ctrTitle"/>
          </p:nvPr>
        </p:nvSpPr>
        <p:spPr>
          <a:xfrm>
            <a:off x="685800" y="2130425"/>
            <a:ext cx="7772400" cy="1470025"/>
          </a:xfrm>
        </p:spPr>
        <p:txBody>
          <a:bodyPr/>
          <a:lstStyle>
            <a:lvl1pPr>
              <a:defRPr/>
            </a:lvl1pPr>
          </a:lstStyle>
          <a:p>
            <a:r>
              <a:rPr lang="en-US" smtClean="0"/>
              <a:t>Click to edit Master title style</a:t>
            </a:r>
            <a:endParaRPr lang="en-US"/>
          </a:p>
        </p:txBody>
      </p:sp>
      <p:sp>
        <p:nvSpPr>
          <p:cNvPr id="278531"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smtClean="0"/>
              <a:t>Click to edit Master subtitle style</a:t>
            </a:r>
            <a:endParaRPr lang="en-US"/>
          </a:p>
        </p:txBody>
      </p:sp>
      <p:sp>
        <p:nvSpPr>
          <p:cNvPr id="5" name="Rectangle 4"/>
          <p:cNvSpPr>
            <a:spLocks noGrp="1" noChangeArrowheads="1"/>
          </p:cNvSpPr>
          <p:nvPr>
            <p:ph type="dt" sz="half" idx="10"/>
          </p:nvPr>
        </p:nvSpPr>
        <p:spPr>
          <a:xfrm>
            <a:off x="457200" y="6245225"/>
            <a:ext cx="2133600" cy="476250"/>
          </a:xfrm>
        </p:spPr>
        <p:txBody>
          <a:bodyPr/>
          <a:lstStyle>
            <a:lvl1pPr>
              <a:defRPr/>
            </a:lvl1pPr>
          </a:lstStyle>
          <a:p>
            <a:pPr>
              <a:defRPr/>
            </a:pPr>
            <a:endParaRPr lang="en-US"/>
          </a:p>
        </p:txBody>
      </p:sp>
    </p:spTree>
    <p:extLst>
      <p:ext uri="{BB962C8B-B14F-4D97-AF65-F5344CB8AC3E}">
        <p14:creationId xmlns:p14="http://schemas.microsoft.com/office/powerpoint/2010/main" xmlns="" val="37141394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6"/>
          <p:cNvSpPr txBox="1">
            <a:spLocks noChangeArrowheads="1"/>
          </p:cNvSpPr>
          <p:nvPr/>
        </p:nvSpPr>
        <p:spPr bwMode="auto">
          <a:xfrm>
            <a:off x="2667000" y="6457950"/>
            <a:ext cx="2133600" cy="247650"/>
          </a:xfrm>
          <a:prstGeom prst="rect">
            <a:avLst/>
          </a:prstGeom>
          <a:noFill/>
          <a:ln w="9525">
            <a:noFill/>
            <a:miter lim="800000"/>
            <a:headEnd/>
            <a:tailEnd/>
          </a:ln>
          <a:effectLst/>
        </p:spPr>
        <p:txBody>
          <a:bodyPr/>
          <a:lstStyle>
            <a:defPPr>
              <a:defRPr lang="en-US"/>
            </a:defPPr>
            <a:lvl1pPr algn="r" rtl="0" fontAlgn="base">
              <a:spcBef>
                <a:spcPct val="0"/>
              </a:spcBef>
              <a:spcAft>
                <a:spcPct val="0"/>
              </a:spcAft>
              <a:defRPr sz="14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nSpc>
                <a:spcPct val="80000"/>
              </a:lnSpc>
              <a:buClr>
                <a:srgbClr val="E9C04B"/>
              </a:buClr>
              <a:buSzPct val="80000"/>
              <a:buFontTx/>
              <a:buChar char="•"/>
              <a:defRPr/>
            </a:pPr>
            <a:endParaRPr lang="en-US" dirty="0">
              <a:solidFill>
                <a:srgbClr val="000000"/>
              </a:solidFill>
            </a:endParaRPr>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a:xfrm>
            <a:off x="3733800" y="6477000"/>
            <a:ext cx="5029200" cy="228600"/>
          </a:xfrm>
        </p:spPr>
        <p:txBody>
          <a:bodyPr/>
          <a:lstStyle>
            <a:lvl1pPr>
              <a:defRPr/>
            </a:lvl1pPr>
          </a:lstStyle>
          <a:p>
            <a:pPr>
              <a:defRPr/>
            </a:pPr>
            <a:r>
              <a:rPr lang="en-US">
                <a:solidFill>
                  <a:srgbClr val="FFFFFF"/>
                </a:solidFill>
              </a:rPr>
              <a:t>Center for Food Security and Public Health, Iowa State University, 2011</a:t>
            </a:r>
            <a:endParaRPr lang="en-US" dirty="0">
              <a:solidFill>
                <a:srgbClr val="FFFFFF"/>
              </a:solidFill>
            </a:endParaRPr>
          </a:p>
        </p:txBody>
      </p:sp>
    </p:spTree>
    <p:extLst>
      <p:ext uri="{BB962C8B-B14F-4D97-AF65-F5344CB8AC3E}">
        <p14:creationId xmlns:p14="http://schemas.microsoft.com/office/powerpoint/2010/main" xmlns="" val="37378350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8925"/>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1066800" y="42148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FFFFFF"/>
                </a:solidFill>
              </a:rPr>
              <a:t>Center for Food Security and Public Health, Iowa State University, 2011</a:t>
            </a:r>
            <a:endParaRPr lang="en-US" dirty="0">
              <a:solidFill>
                <a:srgbClr val="FFFFFF"/>
              </a:solidFill>
            </a:endParaRPr>
          </a:p>
        </p:txBody>
      </p:sp>
    </p:spTree>
    <p:extLst>
      <p:ext uri="{BB962C8B-B14F-4D97-AF65-F5344CB8AC3E}">
        <p14:creationId xmlns:p14="http://schemas.microsoft.com/office/powerpoint/2010/main" xmlns="" val="15379452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FFFFFF"/>
                </a:solidFill>
              </a:rPr>
              <a:t>Center for Food Security and Public Health, Iowa State University, 2011</a:t>
            </a:r>
            <a:endParaRPr lang="en-US" dirty="0">
              <a:solidFill>
                <a:srgbClr val="FFFFFF"/>
              </a:solidFill>
            </a:endParaRPr>
          </a:p>
        </p:txBody>
      </p:sp>
    </p:spTree>
    <p:extLst>
      <p:ext uri="{BB962C8B-B14F-4D97-AF65-F5344CB8AC3E}">
        <p14:creationId xmlns:p14="http://schemas.microsoft.com/office/powerpoint/2010/main" xmlns="" val="19890658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solidFill>
                  <a:srgbClr val="FFFFFF"/>
                </a:solidFill>
              </a:rPr>
              <a:t>Center for Food Security and Public Health, Iowa State University, 2011</a:t>
            </a:r>
            <a:endParaRPr lang="en-US" dirty="0">
              <a:solidFill>
                <a:srgbClr val="FFFFFF"/>
              </a:solidFill>
            </a:endParaRPr>
          </a:p>
        </p:txBody>
      </p:sp>
    </p:spTree>
    <p:extLst>
      <p:ext uri="{BB962C8B-B14F-4D97-AF65-F5344CB8AC3E}">
        <p14:creationId xmlns:p14="http://schemas.microsoft.com/office/powerpoint/2010/main" xmlns="" val="35084675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solidFill>
                  <a:srgbClr val="FFFFFF"/>
                </a:solidFill>
              </a:rPr>
              <a:t>Center for Food Security and Public Health, Iowa State University, 2011</a:t>
            </a:r>
            <a:endParaRPr lang="en-US" dirty="0">
              <a:solidFill>
                <a:srgbClr val="FFFFFF"/>
              </a:solidFill>
            </a:endParaRPr>
          </a:p>
        </p:txBody>
      </p:sp>
    </p:spTree>
    <p:extLst>
      <p:ext uri="{BB962C8B-B14F-4D97-AF65-F5344CB8AC3E}">
        <p14:creationId xmlns:p14="http://schemas.microsoft.com/office/powerpoint/2010/main" xmlns="" val="34525350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a:xfrm>
            <a:off x="4953000" y="6477000"/>
            <a:ext cx="3810000" cy="228600"/>
          </a:xfrm>
        </p:spPr>
        <p:txBody>
          <a:bodyPr/>
          <a:lstStyle>
            <a:lvl1pPr>
              <a:defRPr/>
            </a:lvl1pPr>
          </a:lstStyle>
          <a:p>
            <a:pPr>
              <a:defRPr/>
            </a:pPr>
            <a:r>
              <a:rPr lang="en-US">
                <a:solidFill>
                  <a:srgbClr val="FFFFFF"/>
                </a:solidFill>
              </a:rPr>
              <a:t>Center for Food Security and Public Health, Iowa State University, 2011</a:t>
            </a:r>
            <a:endParaRPr lang="en-US" dirty="0">
              <a:solidFill>
                <a:srgbClr val="FFFFFF"/>
              </a:solidFill>
            </a:endParaRPr>
          </a:p>
        </p:txBody>
      </p:sp>
    </p:spTree>
    <p:extLst>
      <p:ext uri="{BB962C8B-B14F-4D97-AF65-F5344CB8AC3E}">
        <p14:creationId xmlns:p14="http://schemas.microsoft.com/office/powerpoint/2010/main" xmlns="" val="25112741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a:xfrm>
            <a:off x="4800600" y="6477000"/>
            <a:ext cx="3962400" cy="171450"/>
          </a:xfrm>
        </p:spPr>
        <p:txBody>
          <a:bodyPr/>
          <a:lstStyle>
            <a:lvl1pPr>
              <a:defRPr/>
            </a:lvl1pPr>
          </a:lstStyle>
          <a:p>
            <a:pPr>
              <a:defRPr/>
            </a:pPr>
            <a:r>
              <a:rPr lang="en-US">
                <a:solidFill>
                  <a:srgbClr val="FFFFFF"/>
                </a:solidFill>
              </a:rPr>
              <a:t>Center for Food Security and Public Health, Iowa State University, 2011</a:t>
            </a:r>
            <a:endParaRPr lang="en-US" dirty="0">
              <a:solidFill>
                <a:srgbClr val="FFFFFF"/>
              </a:solidFill>
            </a:endParaRPr>
          </a:p>
        </p:txBody>
      </p:sp>
    </p:spTree>
    <p:extLst>
      <p:ext uri="{BB962C8B-B14F-4D97-AF65-F5344CB8AC3E}">
        <p14:creationId xmlns:p14="http://schemas.microsoft.com/office/powerpoint/2010/main" xmlns="" val="18543902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600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600200"/>
            <a:ext cx="4038600" cy="4600575"/>
          </a:xfrm>
        </p:spPr>
        <p:txBody>
          <a:bodyPr/>
          <a:lstStyle/>
          <a:p>
            <a:pPr lvl="0"/>
            <a:endParaRPr lang="en-US" noProof="0" smtClean="0"/>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a:xfrm>
            <a:off x="4140200" y="6477000"/>
            <a:ext cx="4622800" cy="265113"/>
          </a:xfrm>
        </p:spPr>
        <p:txBody>
          <a:bodyPr/>
          <a:lstStyle>
            <a:lvl1pPr>
              <a:defRPr/>
            </a:lvl1pPr>
          </a:lstStyle>
          <a:p>
            <a:pPr>
              <a:defRPr/>
            </a:pPr>
            <a:r>
              <a:rPr lang="en-US">
                <a:solidFill>
                  <a:srgbClr val="FFFFFF"/>
                </a:solidFill>
              </a:rPr>
              <a:t>Center for Food Security and Public Health, Iowa State University, 2011</a:t>
            </a:r>
            <a:endParaRPr lang="en-US" dirty="0">
              <a:solidFill>
                <a:srgbClr val="FFFFFF"/>
              </a:solidFill>
            </a:endParaRPr>
          </a:p>
        </p:txBody>
      </p:sp>
    </p:spTree>
    <p:extLst>
      <p:ext uri="{BB962C8B-B14F-4D97-AF65-F5344CB8AC3E}">
        <p14:creationId xmlns:p14="http://schemas.microsoft.com/office/powerpoint/2010/main" xmlns="" val="273997215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image" Target="../media/image1.jpeg"/><Relationship Id="rId5" Type="http://schemas.openxmlformats.org/officeDocument/2006/relationships/slideLayout" Target="../slideLayouts/slideLayout38.xml"/><Relationship Id="rId10" Type="http://schemas.openxmlformats.org/officeDocument/2006/relationships/theme" Target="../theme/theme4.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charset="0"/>
                <a:ea typeface="+mn-ea"/>
              </a:defRPr>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charset="0"/>
                <a:ea typeface="+mn-ea"/>
              </a:defRPr>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atin typeface="Times" pitchFamily="-105" charset="0"/>
              </a:defRPr>
            </a:lvl1pPr>
          </a:lstStyle>
          <a:p>
            <a:pPr eaLnBrk="0" fontAlgn="base" hangingPunct="0">
              <a:spcBef>
                <a:spcPct val="0"/>
              </a:spcBef>
              <a:spcAft>
                <a:spcPct val="0"/>
              </a:spcAft>
              <a:defRPr/>
            </a:pPr>
            <a:fld id="{06007F77-7B7C-4A46-8A0E-8BEB2E046A96}" type="slidenum">
              <a:rPr lang="en-US">
                <a:solidFill>
                  <a:srgbClr val="000000"/>
                </a:solidFill>
                <a:ea typeface="ＭＳ Ｐゴシック" pitchFamily="-105" charset="-128"/>
              </a:rPr>
              <a:pPr eaLnBrk="0" fontAlgn="base" hangingPunct="0">
                <a:spcBef>
                  <a:spcPct val="0"/>
                </a:spcBef>
                <a:spcAft>
                  <a:spcPct val="0"/>
                </a:spcAft>
                <a:defRPr/>
              </a:pPr>
              <a:t>‹#›</a:t>
            </a:fld>
            <a:endParaRPr lang="en-US">
              <a:solidFill>
                <a:srgbClr val="000000"/>
              </a:solidFill>
              <a:ea typeface="ＭＳ Ｐゴシック" pitchFamily="-105" charset="-128"/>
            </a:endParaRPr>
          </a:p>
        </p:txBody>
      </p:sp>
    </p:spTree>
    <p:extLst>
      <p:ext uri="{BB962C8B-B14F-4D97-AF65-F5344CB8AC3E}">
        <p14:creationId xmlns:p14="http://schemas.microsoft.com/office/powerpoint/2010/main" xmlns="" val="18698347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000">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4000">
          <a:solidFill>
            <a:schemeClr val="tx2"/>
          </a:solidFill>
          <a:latin typeface="Helvetica" charset="0"/>
          <a:ea typeface="ＭＳ Ｐゴシック" charset="-128"/>
          <a:cs typeface="ＭＳ Ｐゴシック" charset="-128"/>
        </a:defRPr>
      </a:lvl2pPr>
      <a:lvl3pPr algn="ctr" rtl="0" eaLnBrk="0" fontAlgn="base" hangingPunct="0">
        <a:spcBef>
          <a:spcPct val="0"/>
        </a:spcBef>
        <a:spcAft>
          <a:spcPct val="0"/>
        </a:spcAft>
        <a:defRPr sz="4000">
          <a:solidFill>
            <a:schemeClr val="tx2"/>
          </a:solidFill>
          <a:latin typeface="Helvetica" charset="0"/>
          <a:ea typeface="ＭＳ Ｐゴシック" charset="-128"/>
          <a:cs typeface="ＭＳ Ｐゴシック" charset="-128"/>
        </a:defRPr>
      </a:lvl3pPr>
      <a:lvl4pPr algn="ctr" rtl="0" eaLnBrk="0" fontAlgn="base" hangingPunct="0">
        <a:spcBef>
          <a:spcPct val="0"/>
        </a:spcBef>
        <a:spcAft>
          <a:spcPct val="0"/>
        </a:spcAft>
        <a:defRPr sz="4000">
          <a:solidFill>
            <a:schemeClr val="tx2"/>
          </a:solidFill>
          <a:latin typeface="Helvetica" charset="0"/>
          <a:ea typeface="ＭＳ Ｐゴシック" charset="-128"/>
          <a:cs typeface="ＭＳ Ｐゴシック" charset="-128"/>
        </a:defRPr>
      </a:lvl4pPr>
      <a:lvl5pPr algn="ctr" rtl="0" eaLnBrk="0" fontAlgn="base" hangingPunct="0">
        <a:spcBef>
          <a:spcPct val="0"/>
        </a:spcBef>
        <a:spcAft>
          <a:spcPct val="0"/>
        </a:spcAft>
        <a:defRPr sz="4000">
          <a:solidFill>
            <a:schemeClr val="tx2"/>
          </a:solidFill>
          <a:latin typeface="Helvetica" charset="0"/>
          <a:ea typeface="ＭＳ Ｐゴシック" charset="-128"/>
          <a:cs typeface="ＭＳ Ｐゴシック" charset="-128"/>
        </a:defRPr>
      </a:lvl5pPr>
      <a:lvl6pPr marL="457200" algn="ctr" rtl="0" fontAlgn="base">
        <a:spcBef>
          <a:spcPct val="0"/>
        </a:spcBef>
        <a:spcAft>
          <a:spcPct val="0"/>
        </a:spcAft>
        <a:defRPr sz="4000">
          <a:solidFill>
            <a:schemeClr val="tx2"/>
          </a:solidFill>
          <a:latin typeface="Helvetica" charset="0"/>
        </a:defRPr>
      </a:lvl6pPr>
      <a:lvl7pPr marL="914400" algn="ctr" rtl="0" fontAlgn="base">
        <a:spcBef>
          <a:spcPct val="0"/>
        </a:spcBef>
        <a:spcAft>
          <a:spcPct val="0"/>
        </a:spcAft>
        <a:defRPr sz="4000">
          <a:solidFill>
            <a:schemeClr val="tx2"/>
          </a:solidFill>
          <a:latin typeface="Helvetica" charset="0"/>
        </a:defRPr>
      </a:lvl7pPr>
      <a:lvl8pPr marL="1371600" algn="ctr" rtl="0" fontAlgn="base">
        <a:spcBef>
          <a:spcPct val="0"/>
        </a:spcBef>
        <a:spcAft>
          <a:spcPct val="0"/>
        </a:spcAft>
        <a:defRPr sz="4000">
          <a:solidFill>
            <a:schemeClr val="tx2"/>
          </a:solidFill>
          <a:latin typeface="Helvetica" charset="0"/>
        </a:defRPr>
      </a:lvl8pPr>
      <a:lvl9pPr marL="1828800" algn="ctr" rtl="0" fontAlgn="base">
        <a:spcBef>
          <a:spcPct val="0"/>
        </a:spcBef>
        <a:spcAft>
          <a:spcPct val="0"/>
        </a:spcAft>
        <a:defRPr sz="4000">
          <a:solidFill>
            <a:schemeClr val="tx2"/>
          </a:solidFill>
          <a:latin typeface="Helvetica"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charset="0"/>
                <a:ea typeface="+mn-ea"/>
              </a:defRPr>
            </a:lvl1pPr>
          </a:lstStyle>
          <a:p>
            <a:pPr eaLnBrk="0" fontAlgn="base" hangingPunct="0">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charset="0"/>
                <a:ea typeface="+mn-ea"/>
              </a:defRPr>
            </a:lvl1pPr>
          </a:lstStyle>
          <a:p>
            <a:pPr eaLnBrk="0" fontAlgn="base" hangingPunct="0">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atin typeface="Times" pitchFamily="-105" charset="0"/>
              </a:defRPr>
            </a:lvl1pPr>
          </a:lstStyle>
          <a:p>
            <a:pPr eaLnBrk="0" fontAlgn="base" hangingPunct="0">
              <a:spcBef>
                <a:spcPct val="0"/>
              </a:spcBef>
              <a:spcAft>
                <a:spcPct val="0"/>
              </a:spcAft>
              <a:defRPr/>
            </a:pPr>
            <a:fld id="{06007F77-7B7C-4A46-8A0E-8BEB2E046A96}" type="slidenum">
              <a:rPr lang="en-US">
                <a:solidFill>
                  <a:srgbClr val="000000"/>
                </a:solidFill>
                <a:ea typeface="ＭＳ Ｐゴシック" pitchFamily="-105" charset="-128"/>
              </a:rPr>
              <a:pPr eaLnBrk="0" fontAlgn="base" hangingPunct="0">
                <a:spcBef>
                  <a:spcPct val="0"/>
                </a:spcBef>
                <a:spcAft>
                  <a:spcPct val="0"/>
                </a:spcAft>
                <a:defRPr/>
              </a:pPr>
              <a:t>‹#›</a:t>
            </a:fld>
            <a:endParaRPr lang="en-US">
              <a:solidFill>
                <a:srgbClr val="000000"/>
              </a:solidFill>
              <a:ea typeface="ＭＳ Ｐゴシック" pitchFamily="-105" charset="-128"/>
            </a:endParaRPr>
          </a:p>
        </p:txBody>
      </p:sp>
    </p:spTree>
    <p:extLst>
      <p:ext uri="{BB962C8B-B14F-4D97-AF65-F5344CB8AC3E}">
        <p14:creationId xmlns:p14="http://schemas.microsoft.com/office/powerpoint/2010/main" xmlns="" val="162365626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rtl="0" eaLnBrk="0" fontAlgn="base" hangingPunct="0">
        <a:spcBef>
          <a:spcPct val="0"/>
        </a:spcBef>
        <a:spcAft>
          <a:spcPct val="0"/>
        </a:spcAft>
        <a:defRPr sz="4000">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4000">
          <a:solidFill>
            <a:schemeClr val="tx2"/>
          </a:solidFill>
          <a:latin typeface="Helvetica" charset="0"/>
          <a:ea typeface="ＭＳ Ｐゴシック" charset="-128"/>
          <a:cs typeface="ＭＳ Ｐゴシック" charset="-128"/>
        </a:defRPr>
      </a:lvl2pPr>
      <a:lvl3pPr algn="ctr" rtl="0" eaLnBrk="0" fontAlgn="base" hangingPunct="0">
        <a:spcBef>
          <a:spcPct val="0"/>
        </a:spcBef>
        <a:spcAft>
          <a:spcPct val="0"/>
        </a:spcAft>
        <a:defRPr sz="4000">
          <a:solidFill>
            <a:schemeClr val="tx2"/>
          </a:solidFill>
          <a:latin typeface="Helvetica" charset="0"/>
          <a:ea typeface="ＭＳ Ｐゴシック" charset="-128"/>
          <a:cs typeface="ＭＳ Ｐゴシック" charset="-128"/>
        </a:defRPr>
      </a:lvl3pPr>
      <a:lvl4pPr algn="ctr" rtl="0" eaLnBrk="0" fontAlgn="base" hangingPunct="0">
        <a:spcBef>
          <a:spcPct val="0"/>
        </a:spcBef>
        <a:spcAft>
          <a:spcPct val="0"/>
        </a:spcAft>
        <a:defRPr sz="4000">
          <a:solidFill>
            <a:schemeClr val="tx2"/>
          </a:solidFill>
          <a:latin typeface="Helvetica" charset="0"/>
          <a:ea typeface="ＭＳ Ｐゴシック" charset="-128"/>
          <a:cs typeface="ＭＳ Ｐゴシック" charset="-128"/>
        </a:defRPr>
      </a:lvl4pPr>
      <a:lvl5pPr algn="ctr" rtl="0" eaLnBrk="0" fontAlgn="base" hangingPunct="0">
        <a:spcBef>
          <a:spcPct val="0"/>
        </a:spcBef>
        <a:spcAft>
          <a:spcPct val="0"/>
        </a:spcAft>
        <a:defRPr sz="4000">
          <a:solidFill>
            <a:schemeClr val="tx2"/>
          </a:solidFill>
          <a:latin typeface="Helvetica" charset="0"/>
          <a:ea typeface="ＭＳ Ｐゴシック" charset="-128"/>
          <a:cs typeface="ＭＳ Ｐゴシック" charset="-128"/>
        </a:defRPr>
      </a:lvl5pPr>
      <a:lvl6pPr marL="457200" algn="ctr" rtl="0" fontAlgn="base">
        <a:spcBef>
          <a:spcPct val="0"/>
        </a:spcBef>
        <a:spcAft>
          <a:spcPct val="0"/>
        </a:spcAft>
        <a:defRPr sz="4000">
          <a:solidFill>
            <a:schemeClr val="tx2"/>
          </a:solidFill>
          <a:latin typeface="Helvetica" charset="0"/>
        </a:defRPr>
      </a:lvl6pPr>
      <a:lvl7pPr marL="914400" algn="ctr" rtl="0" fontAlgn="base">
        <a:spcBef>
          <a:spcPct val="0"/>
        </a:spcBef>
        <a:spcAft>
          <a:spcPct val="0"/>
        </a:spcAft>
        <a:defRPr sz="4000">
          <a:solidFill>
            <a:schemeClr val="tx2"/>
          </a:solidFill>
          <a:latin typeface="Helvetica" charset="0"/>
        </a:defRPr>
      </a:lvl7pPr>
      <a:lvl8pPr marL="1371600" algn="ctr" rtl="0" fontAlgn="base">
        <a:spcBef>
          <a:spcPct val="0"/>
        </a:spcBef>
        <a:spcAft>
          <a:spcPct val="0"/>
        </a:spcAft>
        <a:defRPr sz="4000">
          <a:solidFill>
            <a:schemeClr val="tx2"/>
          </a:solidFill>
          <a:latin typeface="Helvetica" charset="0"/>
        </a:defRPr>
      </a:lvl8pPr>
      <a:lvl9pPr marL="1828800" algn="ctr" rtl="0" fontAlgn="base">
        <a:spcBef>
          <a:spcPct val="0"/>
        </a:spcBef>
        <a:spcAft>
          <a:spcPct val="0"/>
        </a:spcAft>
        <a:defRPr sz="4000">
          <a:solidFill>
            <a:schemeClr val="tx2"/>
          </a:solidFill>
          <a:latin typeface="Helvetica"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1"/>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Headline</a:t>
            </a:r>
          </a:p>
        </p:txBody>
      </p:sp>
      <p:sp>
        <p:nvSpPr>
          <p:cNvPr id="1027" name="Rectangle 3"/>
          <p:cNvSpPr>
            <a:spLocks noGrp="1" noChangeArrowheads="1"/>
          </p:cNvSpPr>
          <p:nvPr>
            <p:ph type="body" idx="1"/>
          </p:nvPr>
        </p:nvSpPr>
        <p:spPr bwMode="auto">
          <a:xfrm>
            <a:off x="457200" y="1600200"/>
            <a:ext cx="8229600" cy="472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80000"/>
              </a:lnSpc>
              <a:spcBef>
                <a:spcPct val="20000"/>
              </a:spcBef>
              <a:buClr>
                <a:srgbClr val="E9C04B"/>
              </a:buClr>
              <a:buSzPct val="80000"/>
              <a:buFontTx/>
              <a:buChar char="•"/>
              <a:defRPr sz="1400">
                <a:cs typeface="+mn-cs"/>
              </a:defRPr>
            </a:lvl1pPr>
          </a:lstStyle>
          <a:p>
            <a:pPr fontAlgn="base">
              <a:spcAft>
                <a:spcPct val="0"/>
              </a:spcAft>
              <a:defRPr/>
            </a:pPr>
            <a:endParaRPr lang="en-US">
              <a:solidFill>
                <a:srgbClr val="DDEBFF"/>
              </a:solidFill>
            </a:endParaRPr>
          </a:p>
        </p:txBody>
      </p:sp>
      <p:sp>
        <p:nvSpPr>
          <p:cNvPr id="1029" name="Rectangle 5"/>
          <p:cNvSpPr>
            <a:spLocks noGrp="1" noChangeArrowheads="1"/>
          </p:cNvSpPr>
          <p:nvPr>
            <p:ph type="ftr" sz="quarter" idx="3"/>
          </p:nvPr>
        </p:nvSpPr>
        <p:spPr bwMode="auto">
          <a:xfrm>
            <a:off x="3995738" y="6477000"/>
            <a:ext cx="4767262"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80000"/>
              </a:lnSpc>
              <a:spcBef>
                <a:spcPct val="20000"/>
              </a:spcBef>
              <a:buClr>
                <a:srgbClr val="E9C04B"/>
              </a:buClr>
              <a:buSzPct val="80000"/>
              <a:defRPr sz="900">
                <a:solidFill>
                  <a:schemeClr val="bg1"/>
                </a:solidFill>
                <a:cs typeface="+mn-cs"/>
              </a:defRPr>
            </a:lvl1pPr>
          </a:lstStyle>
          <a:p>
            <a:pPr fontAlgn="base">
              <a:spcAft>
                <a:spcPct val="0"/>
              </a:spcAft>
              <a:defRPr/>
            </a:pPr>
            <a:r>
              <a:rPr lang="en-US">
                <a:solidFill>
                  <a:srgbClr val="FFFFFF"/>
                </a:solidFill>
              </a:rPr>
              <a:t>Center for Food Security and Public Health, Iowa State University, 2011</a:t>
            </a:r>
            <a:endParaRPr lang="en-US" dirty="0">
              <a:solidFill>
                <a:srgbClr val="FFFFFF"/>
              </a:solidFill>
            </a:endParaRPr>
          </a:p>
        </p:txBody>
      </p:sp>
      <p:sp>
        <p:nvSpPr>
          <p:cNvPr id="9" name="Rectangle 6"/>
          <p:cNvSpPr txBox="1">
            <a:spLocks noChangeArrowheads="1"/>
          </p:cNvSpPr>
          <p:nvPr/>
        </p:nvSpPr>
        <p:spPr bwMode="auto">
          <a:xfrm>
            <a:off x="2667000" y="6457950"/>
            <a:ext cx="2133600" cy="247650"/>
          </a:xfrm>
          <a:prstGeom prst="rect">
            <a:avLst/>
          </a:prstGeom>
          <a:noFill/>
          <a:ln w="9525">
            <a:noFill/>
            <a:miter lim="800000"/>
            <a:headEnd/>
            <a:tailEnd/>
          </a:ln>
          <a:effectLst/>
        </p:spPr>
        <p:txBody>
          <a:bodyPr/>
          <a:lstStyle>
            <a:defPPr>
              <a:defRPr lang="en-US"/>
            </a:defPPr>
            <a:lvl1pPr algn="r" rtl="0" fontAlgn="base">
              <a:spcBef>
                <a:spcPct val="0"/>
              </a:spcBef>
              <a:spcAft>
                <a:spcPct val="0"/>
              </a:spcAft>
              <a:defRPr sz="1400"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nSpc>
                <a:spcPct val="80000"/>
              </a:lnSpc>
              <a:buClr>
                <a:srgbClr val="E9C04B"/>
              </a:buClr>
              <a:buSzPct val="80000"/>
              <a:buFontTx/>
              <a:buChar char="•"/>
              <a:defRPr/>
            </a:pPr>
            <a:endParaRPr lang="en-US" dirty="0">
              <a:solidFill>
                <a:srgbClr val="000000"/>
              </a:solidFill>
            </a:endParaRPr>
          </a:p>
        </p:txBody>
      </p:sp>
    </p:spTree>
    <p:extLst>
      <p:ext uri="{BB962C8B-B14F-4D97-AF65-F5344CB8AC3E}">
        <p14:creationId xmlns:p14="http://schemas.microsoft.com/office/powerpoint/2010/main" xmlns="" val="392489095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Lst>
  <p:hf sldNum="0" hdr="0" dt="0"/>
  <p:txStyles>
    <p:title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Verdana" pitchFamily="34" charset="0"/>
        </a:defRPr>
      </a:lvl2pPr>
      <a:lvl3pPr algn="ctr" rtl="0" eaLnBrk="0" fontAlgn="base" hangingPunct="0">
        <a:spcBef>
          <a:spcPct val="0"/>
        </a:spcBef>
        <a:spcAft>
          <a:spcPct val="0"/>
        </a:spcAft>
        <a:defRPr sz="4400">
          <a:solidFill>
            <a:schemeClr val="bg1"/>
          </a:solidFill>
          <a:latin typeface="Verdana" pitchFamily="34" charset="0"/>
        </a:defRPr>
      </a:lvl3pPr>
      <a:lvl4pPr algn="ctr" rtl="0" eaLnBrk="0" fontAlgn="base" hangingPunct="0">
        <a:spcBef>
          <a:spcPct val="0"/>
        </a:spcBef>
        <a:spcAft>
          <a:spcPct val="0"/>
        </a:spcAft>
        <a:defRPr sz="4400">
          <a:solidFill>
            <a:schemeClr val="bg1"/>
          </a:solidFill>
          <a:latin typeface="Verdana" pitchFamily="34" charset="0"/>
        </a:defRPr>
      </a:lvl4pPr>
      <a:lvl5pPr algn="ctr" rtl="0" eaLnBrk="0" fontAlgn="base" hangingPunct="0">
        <a:spcBef>
          <a:spcPct val="0"/>
        </a:spcBef>
        <a:spcAft>
          <a:spcPct val="0"/>
        </a:spcAft>
        <a:defRPr sz="4400">
          <a:solidFill>
            <a:schemeClr val="bg1"/>
          </a:solidFill>
          <a:latin typeface="Verdana" pitchFamily="34" charset="0"/>
        </a:defRPr>
      </a:lvl5pPr>
      <a:lvl6pPr marL="457200" algn="ctr" rtl="0" eaLnBrk="1" fontAlgn="base" hangingPunct="1">
        <a:spcBef>
          <a:spcPct val="0"/>
        </a:spcBef>
        <a:spcAft>
          <a:spcPct val="0"/>
        </a:spcAft>
        <a:defRPr sz="4400">
          <a:solidFill>
            <a:schemeClr val="bg1"/>
          </a:solidFill>
          <a:latin typeface="Verdana" pitchFamily="34" charset="0"/>
        </a:defRPr>
      </a:lvl6pPr>
      <a:lvl7pPr marL="914400" algn="ctr" rtl="0" eaLnBrk="1" fontAlgn="base" hangingPunct="1">
        <a:spcBef>
          <a:spcPct val="0"/>
        </a:spcBef>
        <a:spcAft>
          <a:spcPct val="0"/>
        </a:spcAft>
        <a:defRPr sz="4400">
          <a:solidFill>
            <a:schemeClr val="bg1"/>
          </a:solidFill>
          <a:latin typeface="Verdana" pitchFamily="34" charset="0"/>
        </a:defRPr>
      </a:lvl7pPr>
      <a:lvl8pPr marL="1371600" algn="ctr" rtl="0" eaLnBrk="1" fontAlgn="base" hangingPunct="1">
        <a:spcBef>
          <a:spcPct val="0"/>
        </a:spcBef>
        <a:spcAft>
          <a:spcPct val="0"/>
        </a:spcAft>
        <a:defRPr sz="4400">
          <a:solidFill>
            <a:schemeClr val="bg1"/>
          </a:solidFill>
          <a:latin typeface="Verdana" pitchFamily="34" charset="0"/>
        </a:defRPr>
      </a:lvl8pPr>
      <a:lvl9pPr marL="1828800" algn="ctr" rtl="0" eaLnBrk="1" fontAlgn="base" hangingPunct="1">
        <a:spcBef>
          <a:spcPct val="0"/>
        </a:spcBef>
        <a:spcAft>
          <a:spcPct val="0"/>
        </a:spcAft>
        <a:defRPr sz="4400">
          <a:solidFill>
            <a:schemeClr val="bg1"/>
          </a:solidFill>
          <a:latin typeface="Verdana" pitchFamily="34" charset="0"/>
        </a:defRPr>
      </a:lvl9pPr>
    </p:titleStyle>
    <p:bodyStyle>
      <a:lvl1pPr marL="342900" indent="-342900" algn="l" rtl="0" eaLnBrk="0" fontAlgn="base" hangingPunct="0">
        <a:spcBef>
          <a:spcPct val="20000"/>
        </a:spcBef>
        <a:spcAft>
          <a:spcPct val="0"/>
        </a:spcAft>
        <a:buChar char="•"/>
        <a:defRPr sz="32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bg1"/>
          </a:solidFill>
          <a:latin typeface="+mn-lt"/>
        </a:defRPr>
      </a:lvl2pPr>
      <a:lvl3pPr marL="1143000" indent="-228600" algn="l" rtl="0" eaLnBrk="0" fontAlgn="base" hangingPunct="0">
        <a:spcBef>
          <a:spcPct val="20000"/>
        </a:spcBef>
        <a:spcAft>
          <a:spcPct val="0"/>
        </a:spcAft>
        <a:buChar char="•"/>
        <a:defRPr sz="2400">
          <a:solidFill>
            <a:schemeClr val="bg1"/>
          </a:solidFill>
          <a:latin typeface="+mn-lt"/>
        </a:defRPr>
      </a:lvl3pPr>
      <a:lvl4pPr marL="1600200" indent="-228600" algn="l" rtl="0" eaLnBrk="0" fontAlgn="base" hangingPunct="0">
        <a:spcBef>
          <a:spcPct val="20000"/>
        </a:spcBef>
        <a:spcAft>
          <a:spcPct val="0"/>
        </a:spcAft>
        <a:buChar char="–"/>
        <a:defRPr sz="2000">
          <a:solidFill>
            <a:schemeClr val="bg1"/>
          </a:solidFill>
          <a:latin typeface="+mn-lt"/>
        </a:defRPr>
      </a:lvl4pPr>
      <a:lvl5pPr marL="2057400" indent="-228600" algn="l" rtl="0" eaLnBrk="0" fontAlgn="base" hangingPunct="0">
        <a:spcBef>
          <a:spcPct val="20000"/>
        </a:spcBef>
        <a:spcAft>
          <a:spcPct val="0"/>
        </a:spcAft>
        <a:buChar char="»"/>
        <a:defRPr sz="2000">
          <a:solidFill>
            <a:schemeClr val="bg1"/>
          </a:solidFill>
          <a:latin typeface="+mn-lt"/>
        </a:defRPr>
      </a:lvl5pPr>
      <a:lvl6pPr marL="2514600" indent="-228600" algn="l" rtl="0" eaLnBrk="1" fontAlgn="base" hangingPunct="1">
        <a:spcBef>
          <a:spcPct val="20000"/>
        </a:spcBef>
        <a:spcAft>
          <a:spcPct val="0"/>
        </a:spcAft>
        <a:buChar char="»"/>
        <a:defRPr sz="2000">
          <a:solidFill>
            <a:schemeClr val="bg1"/>
          </a:solidFill>
          <a:latin typeface="+mn-lt"/>
        </a:defRPr>
      </a:lvl6pPr>
      <a:lvl7pPr marL="2971800" indent="-228600" algn="l" rtl="0" eaLnBrk="1" fontAlgn="base" hangingPunct="1">
        <a:spcBef>
          <a:spcPct val="20000"/>
        </a:spcBef>
        <a:spcAft>
          <a:spcPct val="0"/>
        </a:spcAft>
        <a:buChar char="»"/>
        <a:defRPr sz="2000">
          <a:solidFill>
            <a:schemeClr val="bg1"/>
          </a:solidFill>
          <a:latin typeface="+mn-lt"/>
        </a:defRPr>
      </a:lvl7pPr>
      <a:lvl8pPr marL="3429000" indent="-228600" algn="l" rtl="0" eaLnBrk="1" fontAlgn="base" hangingPunct="1">
        <a:spcBef>
          <a:spcPct val="20000"/>
        </a:spcBef>
        <a:spcAft>
          <a:spcPct val="0"/>
        </a:spcAft>
        <a:buChar char="»"/>
        <a:defRPr sz="2000">
          <a:solidFill>
            <a:schemeClr val="bg1"/>
          </a:solidFill>
          <a:latin typeface="+mn-lt"/>
        </a:defRPr>
      </a:lvl8pPr>
      <a:lvl9pPr marL="3886200"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normAutofit/>
          </a:bodyPr>
          <a:lstStyle/>
          <a:p>
            <a:r>
              <a:rPr lang="en-US" sz="4800" b="1" dirty="0" smtClean="0">
                <a:solidFill>
                  <a:srgbClr val="FF0000"/>
                </a:solidFill>
                <a:latin typeface="Algerian" pitchFamily="82" charset="0"/>
              </a:rPr>
              <a:t>FLAVIVIRIDAE</a:t>
            </a:r>
            <a:endParaRPr lang="en-US" sz="4800" b="1" dirty="0">
              <a:solidFill>
                <a:srgbClr val="FF0000"/>
              </a:solidFill>
              <a:latin typeface="Algerian" pitchFamily="82" charset="0"/>
            </a:endParaRPr>
          </a:p>
        </p:txBody>
      </p:sp>
      <p:sp>
        <p:nvSpPr>
          <p:cNvPr id="7" name="Subtitle 6"/>
          <p:cNvSpPr>
            <a:spLocks noGrp="1"/>
          </p:cNvSpPr>
          <p:nvPr>
            <p:ph type="subTitle" idx="1"/>
          </p:nvPr>
        </p:nvSpPr>
        <p:spPr>
          <a:xfrm>
            <a:off x="357158" y="3786190"/>
            <a:ext cx="8429684" cy="1971692"/>
          </a:xfrm>
        </p:spPr>
        <p:txBody>
          <a:bodyPr>
            <a:normAutofit fontScale="92500" lnSpcReduction="10000"/>
          </a:bodyPr>
          <a:lstStyle/>
          <a:p>
            <a:r>
              <a:rPr lang="en-US" b="1" dirty="0" smtClean="0">
                <a:solidFill>
                  <a:schemeClr val="tx1"/>
                </a:solidFill>
                <a:latin typeface="Arial Black" pitchFamily="34" charset="0"/>
              </a:rPr>
              <a:t>Baltimore group IV (+) SSRNA viruses.</a:t>
            </a:r>
          </a:p>
          <a:p>
            <a:r>
              <a:rPr lang="en-US" b="1" dirty="0" smtClean="0">
                <a:solidFill>
                  <a:schemeClr val="tx1"/>
                </a:solidFill>
                <a:latin typeface="Arial Black" pitchFamily="34" charset="0"/>
              </a:rPr>
              <a:t>(Group </a:t>
            </a:r>
            <a:r>
              <a:rPr lang="en-US" dirty="0" smtClean="0">
                <a:solidFill>
                  <a:schemeClr val="tx1"/>
                </a:solidFill>
                <a:latin typeface="Arial Black" pitchFamily="34" charset="0"/>
              </a:rPr>
              <a:t>B </a:t>
            </a:r>
            <a:r>
              <a:rPr lang="en-US" b="1" dirty="0" err="1" smtClean="0">
                <a:solidFill>
                  <a:schemeClr val="tx1"/>
                </a:solidFill>
                <a:latin typeface="Arial Black" pitchFamily="34" charset="0"/>
              </a:rPr>
              <a:t>Arboviruses</a:t>
            </a:r>
            <a:r>
              <a:rPr lang="en-US" b="1" dirty="0" smtClean="0">
                <a:solidFill>
                  <a:schemeClr val="tx1"/>
                </a:solidFill>
                <a:latin typeface="Arial Black" pitchFamily="34" charset="0"/>
              </a:rPr>
              <a:t>)</a:t>
            </a:r>
          </a:p>
          <a:p>
            <a:r>
              <a:rPr lang="en-US" b="1" dirty="0" smtClean="0">
                <a:solidFill>
                  <a:schemeClr val="tx1"/>
                </a:solidFill>
                <a:latin typeface="Arial Black" pitchFamily="34" charset="0"/>
              </a:rPr>
              <a:t>Typical member- </a:t>
            </a:r>
            <a:r>
              <a:rPr lang="en-US" b="1" i="1" dirty="0" err="1" smtClean="0">
                <a:solidFill>
                  <a:schemeClr val="tx1"/>
                </a:solidFill>
                <a:latin typeface="Arial Black" pitchFamily="34" charset="0"/>
              </a:rPr>
              <a:t>Flavivirus</a:t>
            </a:r>
            <a:r>
              <a:rPr lang="en-US" b="1" i="1" dirty="0" smtClean="0">
                <a:solidFill>
                  <a:schemeClr val="tx1"/>
                </a:solidFill>
                <a:latin typeface="Arial Black" pitchFamily="34" charset="0"/>
              </a:rPr>
              <a:t> or Yellow fever virus</a:t>
            </a:r>
            <a:endParaRPr lang="en-US" b="1" dirty="0">
              <a:solidFill>
                <a:schemeClr val="tx1"/>
              </a:solidFill>
              <a:latin typeface="Arial Black" pitchFamily="34" charset="0"/>
            </a:endParaRPr>
          </a:p>
        </p:txBody>
      </p:sp>
    </p:spTree>
    <p:extLst>
      <p:ext uri="{BB962C8B-B14F-4D97-AF65-F5344CB8AC3E}">
        <p14:creationId xmlns:p14="http://schemas.microsoft.com/office/powerpoint/2010/main" xmlns="" val="536643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5"/>
          <p:cNvSpPr>
            <a:spLocks noChangeArrowheads="1"/>
          </p:cNvSpPr>
          <p:nvPr/>
        </p:nvSpPr>
        <p:spPr bwMode="auto">
          <a:xfrm>
            <a:off x="1981200" y="2438400"/>
            <a:ext cx="5029200" cy="91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fontAlgn="base">
              <a:spcBef>
                <a:spcPct val="0"/>
              </a:spcBef>
              <a:spcAft>
                <a:spcPct val="0"/>
              </a:spcAft>
            </a:pPr>
            <a:r>
              <a:rPr lang="en-US" sz="4000" b="1" i="1" dirty="0" err="1" smtClean="0">
                <a:solidFill>
                  <a:srgbClr val="7030A0"/>
                </a:solidFill>
                <a:ea typeface="ＭＳ Ｐゴシック" pitchFamily="-105" charset="-128"/>
              </a:rPr>
              <a:t>Flaviviridae</a:t>
            </a:r>
            <a:endParaRPr lang="en-US" sz="4000" b="1" dirty="0" smtClean="0">
              <a:solidFill>
                <a:srgbClr val="7030A0"/>
              </a:solidFill>
              <a:ea typeface="ＭＳ Ｐゴシック" pitchFamily="-105" charset="-128"/>
            </a:endParaRPr>
          </a:p>
        </p:txBody>
      </p:sp>
      <p:sp>
        <p:nvSpPr>
          <p:cNvPr id="3075" name="Text Box 6"/>
          <p:cNvSpPr txBox="1">
            <a:spLocks noChangeArrowheads="1"/>
          </p:cNvSpPr>
          <p:nvPr/>
        </p:nvSpPr>
        <p:spPr bwMode="auto">
          <a:xfrm>
            <a:off x="2428860" y="1071546"/>
            <a:ext cx="2303836"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Helvetica" pitchFamily="-105" charset="0"/>
                <a:ea typeface="ＭＳ Ｐゴシック" pitchFamily="-105" charset="-128"/>
              </a:defRPr>
            </a:lvl1pPr>
            <a:lvl2pPr marL="742950" indent="-285750">
              <a:defRPr sz="2400">
                <a:solidFill>
                  <a:schemeClr val="tx1"/>
                </a:solidFill>
                <a:latin typeface="Helvetica" pitchFamily="-105" charset="0"/>
                <a:ea typeface="ＭＳ Ｐゴシック" pitchFamily="-105" charset="-128"/>
              </a:defRPr>
            </a:lvl2pPr>
            <a:lvl3pPr marL="1143000" indent="-228600">
              <a:defRPr sz="2400">
                <a:solidFill>
                  <a:schemeClr val="tx1"/>
                </a:solidFill>
                <a:latin typeface="Helvetica" pitchFamily="-105" charset="0"/>
                <a:ea typeface="ＭＳ Ｐゴシック" pitchFamily="-105" charset="-128"/>
              </a:defRPr>
            </a:lvl3pPr>
            <a:lvl4pPr marL="1600200" indent="-228600">
              <a:defRPr sz="2400">
                <a:solidFill>
                  <a:schemeClr val="tx1"/>
                </a:solidFill>
                <a:latin typeface="Helvetica" pitchFamily="-105" charset="0"/>
                <a:ea typeface="ＭＳ Ｐゴシック" pitchFamily="-105" charset="-128"/>
              </a:defRPr>
            </a:lvl4pPr>
            <a:lvl5pPr marL="2057400" indent="-228600">
              <a:defRPr sz="2400">
                <a:solidFill>
                  <a:schemeClr val="tx1"/>
                </a:solidFill>
                <a:latin typeface="Helvetica" pitchFamily="-105" charset="0"/>
                <a:ea typeface="ＭＳ Ｐゴシック" pitchFamily="-105" charset="-128"/>
              </a:defRPr>
            </a:lvl5pPr>
            <a:lvl6pPr marL="25146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6pPr>
            <a:lvl7pPr marL="29718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7pPr>
            <a:lvl8pPr marL="34290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8pPr>
            <a:lvl9pPr marL="38862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9pPr>
          </a:lstStyle>
          <a:p>
            <a:pPr eaLnBrk="0" fontAlgn="base" hangingPunct="0">
              <a:spcBef>
                <a:spcPct val="0"/>
              </a:spcBef>
              <a:spcAft>
                <a:spcPct val="0"/>
              </a:spcAft>
            </a:pPr>
            <a:r>
              <a:rPr lang="en-US" sz="2800" b="1" dirty="0" err="1" smtClean="0">
                <a:solidFill>
                  <a:srgbClr val="000000"/>
                </a:solidFill>
              </a:rPr>
              <a:t>Pestiviruses</a:t>
            </a:r>
            <a:endParaRPr lang="en-US" sz="2800" b="1" dirty="0" smtClean="0">
              <a:solidFill>
                <a:srgbClr val="000000"/>
              </a:solidFill>
            </a:endParaRPr>
          </a:p>
        </p:txBody>
      </p:sp>
      <p:sp>
        <p:nvSpPr>
          <p:cNvPr id="3076" name="Text Box 7"/>
          <p:cNvSpPr txBox="1">
            <a:spLocks noChangeArrowheads="1"/>
          </p:cNvSpPr>
          <p:nvPr/>
        </p:nvSpPr>
        <p:spPr bwMode="auto">
          <a:xfrm>
            <a:off x="1143000" y="4044950"/>
            <a:ext cx="3340979"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Helvetica" pitchFamily="-105" charset="0"/>
                <a:ea typeface="ＭＳ Ｐゴシック" pitchFamily="-105" charset="-128"/>
              </a:defRPr>
            </a:lvl1pPr>
            <a:lvl2pPr marL="742950" indent="-285750">
              <a:defRPr sz="2400">
                <a:solidFill>
                  <a:schemeClr val="tx1"/>
                </a:solidFill>
                <a:latin typeface="Helvetica" pitchFamily="-105" charset="0"/>
                <a:ea typeface="ＭＳ Ｐゴシック" pitchFamily="-105" charset="-128"/>
              </a:defRPr>
            </a:lvl2pPr>
            <a:lvl3pPr marL="1143000" indent="-228600">
              <a:defRPr sz="2400">
                <a:solidFill>
                  <a:schemeClr val="tx1"/>
                </a:solidFill>
                <a:latin typeface="Helvetica" pitchFamily="-105" charset="0"/>
                <a:ea typeface="ＭＳ Ｐゴシック" pitchFamily="-105" charset="-128"/>
              </a:defRPr>
            </a:lvl3pPr>
            <a:lvl4pPr marL="1600200" indent="-228600">
              <a:defRPr sz="2400">
                <a:solidFill>
                  <a:schemeClr val="tx1"/>
                </a:solidFill>
                <a:latin typeface="Helvetica" pitchFamily="-105" charset="0"/>
                <a:ea typeface="ＭＳ Ｐゴシック" pitchFamily="-105" charset="-128"/>
              </a:defRPr>
            </a:lvl4pPr>
            <a:lvl5pPr marL="2057400" indent="-228600">
              <a:defRPr sz="2400">
                <a:solidFill>
                  <a:schemeClr val="tx1"/>
                </a:solidFill>
                <a:latin typeface="Helvetica" pitchFamily="-105" charset="0"/>
                <a:ea typeface="ＭＳ Ｐゴシック" pitchFamily="-105" charset="-128"/>
              </a:defRPr>
            </a:lvl5pPr>
            <a:lvl6pPr marL="25146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6pPr>
            <a:lvl7pPr marL="29718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7pPr>
            <a:lvl8pPr marL="34290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8pPr>
            <a:lvl9pPr marL="38862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9pPr>
          </a:lstStyle>
          <a:p>
            <a:pPr eaLnBrk="0" fontAlgn="base" hangingPunct="0">
              <a:spcBef>
                <a:spcPct val="0"/>
              </a:spcBef>
              <a:spcAft>
                <a:spcPct val="0"/>
              </a:spcAft>
            </a:pPr>
            <a:r>
              <a:rPr lang="en-US" sz="2800" b="1" dirty="0" smtClean="0">
                <a:solidFill>
                  <a:srgbClr val="000000"/>
                </a:solidFill>
              </a:rPr>
              <a:t>Ortho </a:t>
            </a:r>
            <a:r>
              <a:rPr lang="en-US" sz="2800" b="1" dirty="0" err="1" smtClean="0">
                <a:solidFill>
                  <a:srgbClr val="000000"/>
                </a:solidFill>
              </a:rPr>
              <a:t>Flaviviruses</a:t>
            </a:r>
            <a:endParaRPr lang="en-US" sz="2800" b="1" dirty="0" smtClean="0">
              <a:solidFill>
                <a:srgbClr val="000000"/>
              </a:solidFill>
            </a:endParaRPr>
          </a:p>
        </p:txBody>
      </p:sp>
      <p:sp>
        <p:nvSpPr>
          <p:cNvPr id="3077" name="Text Box 8"/>
          <p:cNvSpPr txBox="1">
            <a:spLocks noChangeArrowheads="1"/>
          </p:cNvSpPr>
          <p:nvPr/>
        </p:nvSpPr>
        <p:spPr bwMode="auto">
          <a:xfrm>
            <a:off x="5929322" y="1214422"/>
            <a:ext cx="2444900"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Helvetica" pitchFamily="-105" charset="0"/>
                <a:ea typeface="ＭＳ Ｐゴシック" pitchFamily="-105" charset="-128"/>
              </a:defRPr>
            </a:lvl1pPr>
            <a:lvl2pPr marL="742950" indent="-285750">
              <a:defRPr sz="2400">
                <a:solidFill>
                  <a:schemeClr val="tx1"/>
                </a:solidFill>
                <a:latin typeface="Helvetica" pitchFamily="-105" charset="0"/>
                <a:ea typeface="ＭＳ Ｐゴシック" pitchFamily="-105" charset="-128"/>
              </a:defRPr>
            </a:lvl2pPr>
            <a:lvl3pPr marL="1143000" indent="-228600">
              <a:defRPr sz="2400">
                <a:solidFill>
                  <a:schemeClr val="tx1"/>
                </a:solidFill>
                <a:latin typeface="Helvetica" pitchFamily="-105" charset="0"/>
                <a:ea typeface="ＭＳ Ｐゴシック" pitchFamily="-105" charset="-128"/>
              </a:defRPr>
            </a:lvl3pPr>
            <a:lvl4pPr marL="1600200" indent="-228600">
              <a:defRPr sz="2400">
                <a:solidFill>
                  <a:schemeClr val="tx1"/>
                </a:solidFill>
                <a:latin typeface="Helvetica" pitchFamily="-105" charset="0"/>
                <a:ea typeface="ＭＳ Ｐゴシック" pitchFamily="-105" charset="-128"/>
              </a:defRPr>
            </a:lvl4pPr>
            <a:lvl5pPr marL="2057400" indent="-228600">
              <a:defRPr sz="2400">
                <a:solidFill>
                  <a:schemeClr val="tx1"/>
                </a:solidFill>
                <a:latin typeface="Helvetica" pitchFamily="-105" charset="0"/>
                <a:ea typeface="ＭＳ Ｐゴシック" pitchFamily="-105" charset="-128"/>
              </a:defRPr>
            </a:lvl5pPr>
            <a:lvl6pPr marL="25146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6pPr>
            <a:lvl7pPr marL="29718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7pPr>
            <a:lvl8pPr marL="34290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8pPr>
            <a:lvl9pPr marL="38862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9pPr>
          </a:lstStyle>
          <a:p>
            <a:pPr eaLnBrk="0" fontAlgn="base" hangingPunct="0">
              <a:spcBef>
                <a:spcPct val="0"/>
              </a:spcBef>
              <a:spcAft>
                <a:spcPct val="0"/>
              </a:spcAft>
            </a:pPr>
            <a:r>
              <a:rPr lang="en-US" sz="2800" dirty="0" err="1" smtClean="0">
                <a:solidFill>
                  <a:srgbClr val="000000"/>
                </a:solidFill>
              </a:rPr>
              <a:t>Hepaciviruses</a:t>
            </a:r>
            <a:endParaRPr lang="en-US" sz="2800" dirty="0" smtClean="0">
              <a:solidFill>
                <a:srgbClr val="000000"/>
              </a:solidFill>
            </a:endParaRPr>
          </a:p>
          <a:p>
            <a:pPr eaLnBrk="0" fontAlgn="base" hangingPunct="0">
              <a:spcBef>
                <a:spcPct val="0"/>
              </a:spcBef>
              <a:spcAft>
                <a:spcPct val="0"/>
              </a:spcAft>
            </a:pPr>
            <a:r>
              <a:rPr lang="en-US" sz="2000" dirty="0" smtClean="0">
                <a:solidFill>
                  <a:srgbClr val="000000"/>
                </a:solidFill>
              </a:rPr>
              <a:t>Hepatitis C virus</a:t>
            </a:r>
          </a:p>
        </p:txBody>
      </p:sp>
      <p:sp>
        <p:nvSpPr>
          <p:cNvPr id="3078" name="Text Box 9"/>
          <p:cNvSpPr txBox="1">
            <a:spLocks noChangeArrowheads="1"/>
          </p:cNvSpPr>
          <p:nvPr/>
        </p:nvSpPr>
        <p:spPr bwMode="auto">
          <a:xfrm>
            <a:off x="1357290" y="571480"/>
            <a:ext cx="5008102"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Helvetica" pitchFamily="-105" charset="0"/>
                <a:ea typeface="ＭＳ Ｐゴシック" pitchFamily="-105" charset="-128"/>
              </a:defRPr>
            </a:lvl1pPr>
            <a:lvl2pPr marL="742950" indent="-285750">
              <a:defRPr sz="2400">
                <a:solidFill>
                  <a:schemeClr val="tx1"/>
                </a:solidFill>
                <a:latin typeface="Helvetica" pitchFamily="-105" charset="0"/>
                <a:ea typeface="ＭＳ Ｐゴシック" pitchFamily="-105" charset="-128"/>
              </a:defRPr>
            </a:lvl2pPr>
            <a:lvl3pPr marL="1143000" indent="-228600">
              <a:defRPr sz="2400">
                <a:solidFill>
                  <a:schemeClr val="tx1"/>
                </a:solidFill>
                <a:latin typeface="Helvetica" pitchFamily="-105" charset="0"/>
                <a:ea typeface="ＭＳ Ｐゴシック" pitchFamily="-105" charset="-128"/>
              </a:defRPr>
            </a:lvl3pPr>
            <a:lvl4pPr marL="1600200" indent="-228600">
              <a:defRPr sz="2400">
                <a:solidFill>
                  <a:schemeClr val="tx1"/>
                </a:solidFill>
                <a:latin typeface="Helvetica" pitchFamily="-105" charset="0"/>
                <a:ea typeface="ＭＳ Ｐゴシック" pitchFamily="-105" charset="-128"/>
              </a:defRPr>
            </a:lvl4pPr>
            <a:lvl5pPr marL="2057400" indent="-228600">
              <a:defRPr sz="2400">
                <a:solidFill>
                  <a:schemeClr val="tx1"/>
                </a:solidFill>
                <a:latin typeface="Helvetica" pitchFamily="-105" charset="0"/>
                <a:ea typeface="ＭＳ Ｐゴシック" pitchFamily="-105" charset="-128"/>
              </a:defRPr>
            </a:lvl5pPr>
            <a:lvl6pPr marL="25146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6pPr>
            <a:lvl7pPr marL="29718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7pPr>
            <a:lvl8pPr marL="34290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8pPr>
            <a:lvl9pPr marL="38862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9pPr>
          </a:lstStyle>
          <a:p>
            <a:pPr eaLnBrk="0" fontAlgn="base" hangingPunct="0">
              <a:spcBef>
                <a:spcPct val="0"/>
              </a:spcBef>
              <a:spcAft>
                <a:spcPct val="0"/>
              </a:spcAft>
            </a:pPr>
            <a:r>
              <a:rPr lang="en-US" b="1" dirty="0" smtClean="0">
                <a:solidFill>
                  <a:srgbClr val="FF0000"/>
                </a:solidFill>
              </a:rPr>
              <a:t>BVD</a:t>
            </a:r>
            <a:r>
              <a:rPr lang="en-US" dirty="0" smtClean="0">
                <a:solidFill>
                  <a:srgbClr val="000000"/>
                </a:solidFill>
              </a:rPr>
              <a:t>, </a:t>
            </a:r>
            <a:r>
              <a:rPr lang="en-US" b="1" dirty="0" smtClean="0">
                <a:solidFill>
                  <a:srgbClr val="000000"/>
                </a:solidFill>
              </a:rPr>
              <a:t>Hog cholera</a:t>
            </a:r>
            <a:r>
              <a:rPr lang="en-US" dirty="0" smtClean="0">
                <a:solidFill>
                  <a:srgbClr val="000000"/>
                </a:solidFill>
              </a:rPr>
              <a:t>, Border disease</a:t>
            </a:r>
          </a:p>
        </p:txBody>
      </p:sp>
      <p:sp>
        <p:nvSpPr>
          <p:cNvPr id="3079" name="Text Box 10"/>
          <p:cNvSpPr txBox="1">
            <a:spLocks noChangeArrowheads="1"/>
          </p:cNvSpPr>
          <p:nvPr/>
        </p:nvSpPr>
        <p:spPr bwMode="auto">
          <a:xfrm>
            <a:off x="838200" y="4495800"/>
            <a:ext cx="3200400" cy="191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Helvetica" pitchFamily="-105" charset="0"/>
                <a:ea typeface="ＭＳ Ｐゴシック" pitchFamily="-105" charset="-128"/>
              </a:defRPr>
            </a:lvl1pPr>
            <a:lvl2pPr marL="742950" indent="-285750">
              <a:defRPr sz="2400">
                <a:solidFill>
                  <a:schemeClr val="tx1"/>
                </a:solidFill>
                <a:latin typeface="Helvetica" pitchFamily="-105" charset="0"/>
                <a:ea typeface="ＭＳ Ｐゴシック" pitchFamily="-105" charset="-128"/>
              </a:defRPr>
            </a:lvl2pPr>
            <a:lvl3pPr marL="1143000" indent="-228600">
              <a:defRPr sz="2400">
                <a:solidFill>
                  <a:schemeClr val="tx1"/>
                </a:solidFill>
                <a:latin typeface="Helvetica" pitchFamily="-105" charset="0"/>
                <a:ea typeface="ＭＳ Ｐゴシック" pitchFamily="-105" charset="-128"/>
              </a:defRPr>
            </a:lvl3pPr>
            <a:lvl4pPr marL="1600200" indent="-228600">
              <a:defRPr sz="2400">
                <a:solidFill>
                  <a:schemeClr val="tx1"/>
                </a:solidFill>
                <a:latin typeface="Helvetica" pitchFamily="-105" charset="0"/>
                <a:ea typeface="ＭＳ Ｐゴシック" pitchFamily="-105" charset="-128"/>
              </a:defRPr>
            </a:lvl4pPr>
            <a:lvl5pPr marL="2057400" indent="-228600">
              <a:defRPr sz="2400">
                <a:solidFill>
                  <a:schemeClr val="tx1"/>
                </a:solidFill>
                <a:latin typeface="Helvetica" pitchFamily="-105" charset="0"/>
                <a:ea typeface="ＭＳ Ｐゴシック" pitchFamily="-105" charset="-128"/>
              </a:defRPr>
            </a:lvl5pPr>
            <a:lvl6pPr marL="25146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6pPr>
            <a:lvl7pPr marL="29718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7pPr>
            <a:lvl8pPr marL="34290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8pPr>
            <a:lvl9pPr marL="38862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9pPr>
          </a:lstStyle>
          <a:p>
            <a:pPr eaLnBrk="0" fontAlgn="base" hangingPunct="0">
              <a:spcBef>
                <a:spcPct val="0"/>
              </a:spcBef>
              <a:spcAft>
                <a:spcPct val="0"/>
              </a:spcAft>
            </a:pPr>
            <a:r>
              <a:rPr lang="en-US" smtClean="0">
                <a:solidFill>
                  <a:srgbClr val="000000"/>
                </a:solidFill>
              </a:rPr>
              <a:t>Yellow fever</a:t>
            </a:r>
          </a:p>
          <a:p>
            <a:pPr eaLnBrk="0" fontAlgn="base" hangingPunct="0">
              <a:spcBef>
                <a:spcPct val="0"/>
              </a:spcBef>
              <a:spcAft>
                <a:spcPct val="0"/>
              </a:spcAft>
            </a:pPr>
            <a:r>
              <a:rPr lang="en-US" smtClean="0">
                <a:solidFill>
                  <a:srgbClr val="000000"/>
                </a:solidFill>
              </a:rPr>
              <a:t>Japanese encephalitis</a:t>
            </a:r>
          </a:p>
          <a:p>
            <a:pPr eaLnBrk="0" fontAlgn="base" hangingPunct="0">
              <a:spcBef>
                <a:spcPct val="0"/>
              </a:spcBef>
              <a:spcAft>
                <a:spcPct val="0"/>
              </a:spcAft>
            </a:pPr>
            <a:r>
              <a:rPr lang="en-US" smtClean="0">
                <a:solidFill>
                  <a:srgbClr val="000000"/>
                </a:solidFill>
              </a:rPr>
              <a:t>St. Louis encephalitis</a:t>
            </a:r>
          </a:p>
          <a:p>
            <a:pPr eaLnBrk="0" fontAlgn="base" hangingPunct="0">
              <a:spcBef>
                <a:spcPct val="0"/>
              </a:spcBef>
              <a:spcAft>
                <a:spcPct val="0"/>
              </a:spcAft>
            </a:pPr>
            <a:r>
              <a:rPr lang="en-US" smtClean="0">
                <a:solidFill>
                  <a:srgbClr val="000000"/>
                </a:solidFill>
              </a:rPr>
              <a:t>Dengue</a:t>
            </a:r>
          </a:p>
          <a:p>
            <a:pPr eaLnBrk="0" fontAlgn="base" hangingPunct="0">
              <a:spcBef>
                <a:spcPct val="0"/>
              </a:spcBef>
              <a:spcAft>
                <a:spcPct val="0"/>
              </a:spcAft>
            </a:pPr>
            <a:r>
              <a:rPr lang="en-US" b="1" smtClean="0">
                <a:solidFill>
                  <a:srgbClr val="FF0000"/>
                </a:solidFill>
              </a:rPr>
              <a:t>West Nile virus</a:t>
            </a:r>
          </a:p>
        </p:txBody>
      </p:sp>
      <p:sp>
        <p:nvSpPr>
          <p:cNvPr id="3080" name="AutoShape 11"/>
          <p:cNvSpPr>
            <a:spLocks noChangeArrowheads="1"/>
          </p:cNvSpPr>
          <p:nvPr/>
        </p:nvSpPr>
        <p:spPr bwMode="auto">
          <a:xfrm rot="19131199">
            <a:off x="3663395" y="1826625"/>
            <a:ext cx="455275" cy="883366"/>
          </a:xfrm>
          <a:prstGeom prst="upArrow">
            <a:avLst>
              <a:gd name="adj1" fmla="val 50000"/>
              <a:gd name="adj2" fmla="val 50245"/>
            </a:avLst>
          </a:prstGeom>
          <a:solidFill>
            <a:schemeClr val="accent1"/>
          </a:solidFill>
          <a:ln w="9525">
            <a:solidFill>
              <a:schemeClr val="tx1"/>
            </a:solidFill>
            <a:miter lim="800000"/>
            <a:headEnd/>
            <a:tailEnd/>
          </a:ln>
        </p:spPr>
        <p:txBody>
          <a:bodyPr wrap="none" anchor="ctr"/>
          <a:lstStyle/>
          <a:p>
            <a:pPr eaLnBrk="0" fontAlgn="base" hangingPunct="0">
              <a:spcBef>
                <a:spcPct val="0"/>
              </a:spcBef>
              <a:spcAft>
                <a:spcPct val="0"/>
              </a:spcAft>
            </a:pPr>
            <a:endParaRPr lang="en-US" sz="2400" smtClean="0">
              <a:solidFill>
                <a:srgbClr val="000000"/>
              </a:solidFill>
              <a:ea typeface="ＭＳ Ｐゴシック" pitchFamily="-105" charset="-128"/>
            </a:endParaRPr>
          </a:p>
        </p:txBody>
      </p:sp>
      <p:sp>
        <p:nvSpPr>
          <p:cNvPr id="3081" name="AutoShape 12"/>
          <p:cNvSpPr>
            <a:spLocks noChangeArrowheads="1"/>
          </p:cNvSpPr>
          <p:nvPr/>
        </p:nvSpPr>
        <p:spPr bwMode="auto">
          <a:xfrm rot="-2875909">
            <a:off x="5350669" y="3336131"/>
            <a:ext cx="485775" cy="976313"/>
          </a:xfrm>
          <a:prstGeom prst="downArrow">
            <a:avLst>
              <a:gd name="adj1" fmla="val 50000"/>
              <a:gd name="adj2" fmla="val 50245"/>
            </a:avLst>
          </a:prstGeom>
          <a:solidFill>
            <a:schemeClr val="accent1"/>
          </a:solidFill>
          <a:ln w="9525">
            <a:solidFill>
              <a:schemeClr val="tx1"/>
            </a:solidFill>
            <a:miter lim="800000"/>
            <a:headEnd/>
            <a:tailEnd/>
          </a:ln>
        </p:spPr>
        <p:txBody>
          <a:bodyPr wrap="none" anchor="ctr"/>
          <a:lstStyle/>
          <a:p>
            <a:pPr eaLnBrk="0" fontAlgn="base" hangingPunct="0">
              <a:spcBef>
                <a:spcPct val="0"/>
              </a:spcBef>
              <a:spcAft>
                <a:spcPct val="0"/>
              </a:spcAft>
            </a:pPr>
            <a:endParaRPr lang="en-US" sz="2400" smtClean="0">
              <a:solidFill>
                <a:srgbClr val="000000"/>
              </a:solidFill>
              <a:ea typeface="ＭＳ Ｐゴシック" pitchFamily="-105" charset="-128"/>
            </a:endParaRPr>
          </a:p>
        </p:txBody>
      </p:sp>
      <p:sp>
        <p:nvSpPr>
          <p:cNvPr id="3082" name="AutoShape 13"/>
          <p:cNvSpPr>
            <a:spLocks noChangeArrowheads="1"/>
          </p:cNvSpPr>
          <p:nvPr/>
        </p:nvSpPr>
        <p:spPr bwMode="auto">
          <a:xfrm rot="3790593">
            <a:off x="3064669" y="3183731"/>
            <a:ext cx="485775" cy="976313"/>
          </a:xfrm>
          <a:prstGeom prst="downArrow">
            <a:avLst>
              <a:gd name="adj1" fmla="val 50000"/>
              <a:gd name="adj2" fmla="val 50245"/>
            </a:avLst>
          </a:prstGeom>
          <a:solidFill>
            <a:schemeClr val="accent1"/>
          </a:solidFill>
          <a:ln w="9525">
            <a:solidFill>
              <a:schemeClr val="tx1"/>
            </a:solidFill>
            <a:miter lim="800000"/>
            <a:headEnd/>
            <a:tailEnd/>
          </a:ln>
        </p:spPr>
        <p:txBody>
          <a:bodyPr wrap="none" anchor="ctr"/>
          <a:lstStyle/>
          <a:p>
            <a:pPr eaLnBrk="0" fontAlgn="base" hangingPunct="0">
              <a:spcBef>
                <a:spcPct val="0"/>
              </a:spcBef>
              <a:spcAft>
                <a:spcPct val="0"/>
              </a:spcAft>
            </a:pPr>
            <a:endParaRPr lang="en-US" sz="2400" smtClean="0">
              <a:solidFill>
                <a:srgbClr val="000000"/>
              </a:solidFill>
              <a:ea typeface="ＭＳ Ｐゴシック" pitchFamily="-105" charset="-128"/>
            </a:endParaRPr>
          </a:p>
        </p:txBody>
      </p:sp>
      <p:sp>
        <p:nvSpPr>
          <p:cNvPr id="3083" name="Text Box 14"/>
          <p:cNvSpPr txBox="1">
            <a:spLocks noChangeArrowheads="1"/>
          </p:cNvSpPr>
          <p:nvPr/>
        </p:nvSpPr>
        <p:spPr bwMode="auto">
          <a:xfrm>
            <a:off x="381000" y="6248400"/>
            <a:ext cx="435133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Helvetica" pitchFamily="-105" charset="0"/>
                <a:ea typeface="ＭＳ Ｐゴシック" pitchFamily="-105" charset="-128"/>
              </a:defRPr>
            </a:lvl1pPr>
            <a:lvl2pPr marL="742950" indent="-285750">
              <a:defRPr sz="2400">
                <a:solidFill>
                  <a:schemeClr val="tx1"/>
                </a:solidFill>
                <a:latin typeface="Helvetica" pitchFamily="-105" charset="0"/>
                <a:ea typeface="ＭＳ Ｐゴシック" pitchFamily="-105" charset="-128"/>
              </a:defRPr>
            </a:lvl2pPr>
            <a:lvl3pPr marL="1143000" indent="-228600">
              <a:defRPr sz="2400">
                <a:solidFill>
                  <a:schemeClr val="tx1"/>
                </a:solidFill>
                <a:latin typeface="Helvetica" pitchFamily="-105" charset="0"/>
                <a:ea typeface="ＭＳ Ｐゴシック" pitchFamily="-105" charset="-128"/>
              </a:defRPr>
            </a:lvl3pPr>
            <a:lvl4pPr marL="1600200" indent="-228600">
              <a:defRPr sz="2400">
                <a:solidFill>
                  <a:schemeClr val="tx1"/>
                </a:solidFill>
                <a:latin typeface="Helvetica" pitchFamily="-105" charset="0"/>
                <a:ea typeface="ＭＳ Ｐゴシック" pitchFamily="-105" charset="-128"/>
              </a:defRPr>
            </a:lvl4pPr>
            <a:lvl5pPr marL="2057400" indent="-228600">
              <a:defRPr sz="2400">
                <a:solidFill>
                  <a:schemeClr val="tx1"/>
                </a:solidFill>
                <a:latin typeface="Helvetica" pitchFamily="-105" charset="0"/>
                <a:ea typeface="ＭＳ Ｐゴシック" pitchFamily="-105" charset="-128"/>
              </a:defRPr>
            </a:lvl5pPr>
            <a:lvl6pPr marL="25146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6pPr>
            <a:lvl7pPr marL="29718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7pPr>
            <a:lvl8pPr marL="34290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8pPr>
            <a:lvl9pPr marL="38862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9pPr>
          </a:lstStyle>
          <a:p>
            <a:pPr eaLnBrk="0" fontAlgn="base" hangingPunct="0">
              <a:spcBef>
                <a:spcPct val="0"/>
              </a:spcBef>
              <a:spcAft>
                <a:spcPct val="0"/>
              </a:spcAft>
            </a:pPr>
            <a:r>
              <a:rPr lang="en-US" smtClean="0">
                <a:solidFill>
                  <a:srgbClr val="000000"/>
                </a:solidFill>
              </a:rPr>
              <a:t>(arthropods, biological vectors)</a:t>
            </a:r>
          </a:p>
        </p:txBody>
      </p:sp>
      <p:sp>
        <p:nvSpPr>
          <p:cNvPr id="12" name="AutoShape 11"/>
          <p:cNvSpPr>
            <a:spLocks noChangeArrowheads="1"/>
          </p:cNvSpPr>
          <p:nvPr/>
        </p:nvSpPr>
        <p:spPr bwMode="auto">
          <a:xfrm rot="2748238">
            <a:off x="5391225" y="1815354"/>
            <a:ext cx="455275" cy="883366"/>
          </a:xfrm>
          <a:prstGeom prst="upArrow">
            <a:avLst>
              <a:gd name="adj1" fmla="val 50000"/>
              <a:gd name="adj2" fmla="val 50245"/>
            </a:avLst>
          </a:prstGeom>
          <a:solidFill>
            <a:schemeClr val="accent1"/>
          </a:solidFill>
          <a:ln w="9525">
            <a:solidFill>
              <a:schemeClr val="tx1"/>
            </a:solidFill>
            <a:miter lim="800000"/>
            <a:headEnd/>
            <a:tailEnd/>
          </a:ln>
        </p:spPr>
        <p:txBody>
          <a:bodyPr wrap="none" anchor="ctr"/>
          <a:lstStyle/>
          <a:p>
            <a:pPr eaLnBrk="0" fontAlgn="base" hangingPunct="0">
              <a:spcBef>
                <a:spcPct val="0"/>
              </a:spcBef>
              <a:spcAft>
                <a:spcPct val="0"/>
              </a:spcAft>
            </a:pPr>
            <a:endParaRPr lang="en-US" sz="2400" smtClean="0">
              <a:solidFill>
                <a:srgbClr val="000000"/>
              </a:solidFill>
              <a:ea typeface="ＭＳ Ｐゴシック" pitchFamily="-105" charset="-128"/>
            </a:endParaRPr>
          </a:p>
        </p:txBody>
      </p:sp>
      <p:sp>
        <p:nvSpPr>
          <p:cNvPr id="13" name="Text Box 8"/>
          <p:cNvSpPr txBox="1">
            <a:spLocks noChangeArrowheads="1"/>
          </p:cNvSpPr>
          <p:nvPr/>
        </p:nvSpPr>
        <p:spPr bwMode="auto">
          <a:xfrm>
            <a:off x="5715008" y="4286256"/>
            <a:ext cx="2124299"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Helvetica" pitchFamily="-105" charset="0"/>
                <a:ea typeface="ＭＳ Ｐゴシック" pitchFamily="-105" charset="-128"/>
              </a:defRPr>
            </a:lvl1pPr>
            <a:lvl2pPr marL="742950" indent="-285750">
              <a:defRPr sz="2400">
                <a:solidFill>
                  <a:schemeClr val="tx1"/>
                </a:solidFill>
                <a:latin typeface="Helvetica" pitchFamily="-105" charset="0"/>
                <a:ea typeface="ＭＳ Ｐゴシック" pitchFamily="-105" charset="-128"/>
              </a:defRPr>
            </a:lvl2pPr>
            <a:lvl3pPr marL="1143000" indent="-228600">
              <a:defRPr sz="2400">
                <a:solidFill>
                  <a:schemeClr val="tx1"/>
                </a:solidFill>
                <a:latin typeface="Helvetica" pitchFamily="-105" charset="0"/>
                <a:ea typeface="ＭＳ Ｐゴシック" pitchFamily="-105" charset="-128"/>
              </a:defRPr>
            </a:lvl3pPr>
            <a:lvl4pPr marL="1600200" indent="-228600">
              <a:defRPr sz="2400">
                <a:solidFill>
                  <a:schemeClr val="tx1"/>
                </a:solidFill>
                <a:latin typeface="Helvetica" pitchFamily="-105" charset="0"/>
                <a:ea typeface="ＭＳ Ｐゴシック" pitchFamily="-105" charset="-128"/>
              </a:defRPr>
            </a:lvl4pPr>
            <a:lvl5pPr marL="2057400" indent="-228600">
              <a:defRPr sz="2400">
                <a:solidFill>
                  <a:schemeClr val="tx1"/>
                </a:solidFill>
                <a:latin typeface="Helvetica" pitchFamily="-105" charset="0"/>
                <a:ea typeface="ＭＳ Ｐゴシック" pitchFamily="-105" charset="-128"/>
              </a:defRPr>
            </a:lvl5pPr>
            <a:lvl6pPr marL="25146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6pPr>
            <a:lvl7pPr marL="29718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7pPr>
            <a:lvl8pPr marL="34290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8pPr>
            <a:lvl9pPr marL="3886200" indent="-228600" eaLnBrk="0" fontAlgn="base" hangingPunct="0">
              <a:spcBef>
                <a:spcPct val="0"/>
              </a:spcBef>
              <a:spcAft>
                <a:spcPct val="0"/>
              </a:spcAft>
              <a:defRPr sz="2400">
                <a:solidFill>
                  <a:schemeClr val="tx1"/>
                </a:solidFill>
                <a:latin typeface="Helvetica" pitchFamily="-105" charset="0"/>
                <a:ea typeface="ＭＳ Ｐゴシック" pitchFamily="-105" charset="-128"/>
              </a:defRPr>
            </a:lvl9pPr>
          </a:lstStyle>
          <a:p>
            <a:pPr eaLnBrk="0" fontAlgn="base" hangingPunct="0">
              <a:spcBef>
                <a:spcPct val="0"/>
              </a:spcBef>
              <a:spcAft>
                <a:spcPct val="0"/>
              </a:spcAft>
            </a:pPr>
            <a:r>
              <a:rPr lang="en-US" sz="2800" dirty="0" err="1" smtClean="0">
                <a:solidFill>
                  <a:srgbClr val="000000"/>
                </a:solidFill>
              </a:rPr>
              <a:t>Pegiviruses</a:t>
            </a:r>
            <a:endParaRPr lang="en-US" sz="2800" dirty="0" smtClean="0">
              <a:solidFill>
                <a:srgbClr val="000000"/>
              </a:solidFill>
            </a:endParaRPr>
          </a:p>
          <a:p>
            <a:pPr eaLnBrk="0" fontAlgn="base" hangingPunct="0">
              <a:spcBef>
                <a:spcPct val="0"/>
              </a:spcBef>
              <a:spcAft>
                <a:spcPct val="0"/>
              </a:spcAft>
            </a:pPr>
            <a:endParaRPr lang="en-US" sz="2000" dirty="0" smtClean="0">
              <a:solidFill>
                <a:srgbClr val="000000"/>
              </a:solidFill>
            </a:endParaRPr>
          </a:p>
        </p:txBody>
      </p:sp>
    </p:spTree>
    <p:extLst>
      <p:ext uri="{BB962C8B-B14F-4D97-AF65-F5344CB8AC3E}">
        <p14:creationId xmlns:p14="http://schemas.microsoft.com/office/powerpoint/2010/main" xmlns="" val="2195606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Morphology </a:t>
            </a:r>
            <a:endParaRPr lang="en-US" sz="4000" b="1" dirty="0">
              <a:solidFill>
                <a:srgbClr val="FF0000"/>
              </a:solidFill>
            </a:endParaRPr>
          </a:p>
        </p:txBody>
      </p:sp>
      <p:sp>
        <p:nvSpPr>
          <p:cNvPr id="3" name="Content Placeholder 2"/>
          <p:cNvSpPr>
            <a:spLocks noGrp="1"/>
          </p:cNvSpPr>
          <p:nvPr>
            <p:ph idx="1"/>
          </p:nvPr>
        </p:nvSpPr>
        <p:spPr>
          <a:xfrm>
            <a:off x="214282" y="1285860"/>
            <a:ext cx="8929718" cy="4525963"/>
          </a:xfrm>
        </p:spPr>
        <p:txBody>
          <a:bodyPr>
            <a:normAutofit/>
          </a:bodyPr>
          <a:lstStyle/>
          <a:p>
            <a:r>
              <a:rPr lang="en-US" sz="2800" dirty="0" err="1" smtClean="0">
                <a:latin typeface="Times New Roman" pitchFamily="18" charset="0"/>
                <a:cs typeface="Times New Roman" pitchFamily="18" charset="0"/>
              </a:rPr>
              <a:t>Virion</a:t>
            </a:r>
            <a:r>
              <a:rPr lang="en-US" sz="2800" dirty="0" smtClean="0">
                <a:latin typeface="Times New Roman" pitchFamily="18" charset="0"/>
                <a:cs typeface="Times New Roman" pitchFamily="18" charset="0"/>
              </a:rPr>
              <a:t> are </a:t>
            </a:r>
            <a:r>
              <a:rPr lang="en-US" sz="2800" dirty="0" err="1" smtClean="0">
                <a:latin typeface="Times New Roman" pitchFamily="18" charset="0"/>
                <a:cs typeface="Times New Roman" pitchFamily="18" charset="0"/>
              </a:rPr>
              <a:t>icosahedral</a:t>
            </a:r>
            <a:r>
              <a:rPr lang="en-US" sz="2800" dirty="0" smtClean="0">
                <a:latin typeface="Times New Roman" pitchFamily="18" charset="0"/>
                <a:cs typeface="Times New Roman" pitchFamily="18" charset="0"/>
              </a:rPr>
              <a:t> in symmetry and 50 nm in diameter.</a:t>
            </a:r>
          </a:p>
          <a:p>
            <a:r>
              <a:rPr lang="en-US" sz="2800" dirty="0" smtClean="0">
                <a:latin typeface="Times New Roman" pitchFamily="18" charset="0"/>
                <a:cs typeface="Times New Roman" pitchFamily="18" charset="0"/>
              </a:rPr>
              <a:t>Tightly adherent envelop with indistinct </a:t>
            </a:r>
            <a:r>
              <a:rPr lang="en-US" sz="2800" dirty="0" err="1" smtClean="0">
                <a:latin typeface="Times New Roman" pitchFamily="18" charset="0"/>
                <a:cs typeface="Times New Roman" pitchFamily="18" charset="0"/>
              </a:rPr>
              <a:t>peplomers</a:t>
            </a:r>
            <a:endParaRPr lang="en-US" sz="2800" dirty="0" smtClean="0">
              <a:latin typeface="Times New Roman" pitchFamily="18" charset="0"/>
              <a:cs typeface="Times New Roman" pitchFamily="18" charset="0"/>
            </a:endParaRPr>
          </a:p>
          <a:p>
            <a:r>
              <a:rPr lang="en-GB" sz="2800" dirty="0" err="1" smtClean="0">
                <a:latin typeface="Times New Roman" pitchFamily="18" charset="0"/>
                <a:cs typeface="Times New Roman" pitchFamily="18" charset="0"/>
              </a:rPr>
              <a:t>Virions</a:t>
            </a:r>
            <a:r>
              <a:rPr lang="en-GB" sz="2800" dirty="0" smtClean="0">
                <a:latin typeface="Times New Roman" pitchFamily="18" charset="0"/>
                <a:cs typeface="Times New Roman" pitchFamily="18" charset="0"/>
              </a:rPr>
              <a:t> have a smooth, </a:t>
            </a:r>
            <a:r>
              <a:rPr lang="en-GB" sz="2800" b="1" dirty="0" smtClean="0">
                <a:latin typeface="Times New Roman" pitchFamily="18" charset="0"/>
                <a:cs typeface="Times New Roman" pitchFamily="18" charset="0"/>
              </a:rPr>
              <a:t>golf-ball-type appearance </a:t>
            </a:r>
            <a:r>
              <a:rPr lang="en-GB" sz="2800" dirty="0" smtClean="0">
                <a:latin typeface="Times New Roman" pitchFamily="18" charset="0"/>
                <a:cs typeface="Times New Roman" pitchFamily="18" charset="0"/>
              </a:rPr>
              <a:t>due to the arrangement of the surface </a:t>
            </a:r>
            <a:r>
              <a:rPr lang="en-GB" sz="2800" dirty="0" err="1" smtClean="0">
                <a:latin typeface="Times New Roman" pitchFamily="18" charset="0"/>
                <a:cs typeface="Times New Roman" pitchFamily="18" charset="0"/>
              </a:rPr>
              <a:t>glycoproteins</a:t>
            </a:r>
            <a:r>
              <a:rPr lang="en-GB" sz="2800" dirty="0" smtClean="0">
                <a:latin typeface="Times New Roman" pitchFamily="18" charset="0"/>
                <a:cs typeface="Times New Roman" pitchFamily="18" charset="0"/>
              </a:rPr>
              <a:t> that lie flat on the envelope.</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Structural proteins are:</a:t>
            </a:r>
          </a:p>
          <a:p>
            <a:r>
              <a:rPr lang="en-US" sz="2800" b="1" dirty="0" smtClean="0">
                <a:latin typeface="Times New Roman" pitchFamily="18" charset="0"/>
                <a:cs typeface="Times New Roman" pitchFamily="18" charset="0"/>
              </a:rPr>
              <a:t>C</a:t>
            </a:r>
            <a:r>
              <a:rPr lang="en-US" sz="2800" dirty="0" smtClean="0">
                <a:latin typeface="Times New Roman" pitchFamily="18" charset="0"/>
                <a:cs typeface="Times New Roman" pitchFamily="18" charset="0"/>
              </a:rPr>
              <a:t> - A </a:t>
            </a:r>
            <a:r>
              <a:rPr lang="en-US" sz="2800" dirty="0" err="1" smtClean="0">
                <a:latin typeface="Times New Roman" pitchFamily="18" charset="0"/>
                <a:cs typeface="Times New Roman" pitchFamily="18" charset="0"/>
              </a:rPr>
              <a:t>nucleocapsid</a:t>
            </a:r>
            <a:r>
              <a:rPr lang="en-US" sz="2800" dirty="0" smtClean="0">
                <a:latin typeface="Times New Roman" pitchFamily="18" charset="0"/>
                <a:cs typeface="Times New Roman" pitchFamily="18" charset="0"/>
              </a:rPr>
              <a:t> protein</a:t>
            </a:r>
          </a:p>
          <a:p>
            <a:r>
              <a:rPr lang="en-US" sz="2800" b="1" dirty="0" smtClean="0">
                <a:latin typeface="Times New Roman" pitchFamily="18" charset="0"/>
                <a:cs typeface="Times New Roman" pitchFamily="18" charset="0"/>
              </a:rPr>
              <a:t>M -</a:t>
            </a:r>
            <a:r>
              <a:rPr lang="en-US" sz="2800" dirty="0" smtClean="0">
                <a:latin typeface="Times New Roman" pitchFamily="18" charset="0"/>
                <a:cs typeface="Times New Roman" pitchFamily="18" charset="0"/>
              </a:rPr>
              <a:t> A </a:t>
            </a:r>
            <a:r>
              <a:rPr lang="en-US" sz="2800" dirty="0" err="1" smtClean="0">
                <a:latin typeface="Times New Roman" pitchFamily="18" charset="0"/>
                <a:cs typeface="Times New Roman" pitchFamily="18" charset="0"/>
              </a:rPr>
              <a:t>transmembrane</a:t>
            </a:r>
            <a:r>
              <a:rPr lang="en-US" sz="2800" dirty="0" smtClean="0">
                <a:latin typeface="Times New Roman" pitchFamily="18" charset="0"/>
                <a:cs typeface="Times New Roman" pitchFamily="18" charset="0"/>
              </a:rPr>
              <a:t> protein</a:t>
            </a:r>
          </a:p>
          <a:p>
            <a:r>
              <a:rPr lang="en-US" sz="2800" b="1" dirty="0" smtClean="0">
                <a:latin typeface="Times New Roman" pitchFamily="18" charset="0"/>
                <a:cs typeface="Times New Roman" pitchFamily="18" charset="0"/>
              </a:rPr>
              <a:t>E</a:t>
            </a:r>
            <a:r>
              <a:rPr lang="en-US" sz="2800" dirty="0" smtClean="0">
                <a:latin typeface="Times New Roman" pitchFamily="18" charset="0"/>
                <a:cs typeface="Times New Roman" pitchFamily="18" charset="0"/>
              </a:rPr>
              <a:t> - The </a:t>
            </a:r>
            <a:r>
              <a:rPr lang="en-US" sz="2800" dirty="0" err="1" smtClean="0">
                <a:latin typeface="Times New Roman" pitchFamily="18" charset="0"/>
                <a:cs typeface="Times New Roman" pitchFamily="18" charset="0"/>
              </a:rPr>
              <a:t>peplomer</a:t>
            </a:r>
            <a:r>
              <a:rPr lang="en-US" sz="2800" dirty="0" smtClean="0">
                <a:latin typeface="Times New Roman" pitchFamily="18" charset="0"/>
                <a:cs typeface="Times New Roman" pitchFamily="18" charset="0"/>
              </a:rPr>
              <a:t> glycoprotein (E1 and E2)</a:t>
            </a:r>
          </a:p>
        </p:txBody>
      </p:sp>
      <p:pic>
        <p:nvPicPr>
          <p:cNvPr id="5" name="Picture 2"/>
          <p:cNvPicPr>
            <a:picLocks noChangeAspect="1" noChangeArrowheads="1"/>
          </p:cNvPicPr>
          <p:nvPr/>
        </p:nvPicPr>
        <p:blipFill>
          <a:blip r:embed="rId2"/>
          <a:srcRect/>
          <a:stretch>
            <a:fillRect/>
          </a:stretch>
        </p:blipFill>
        <p:spPr bwMode="auto">
          <a:xfrm>
            <a:off x="5857884" y="3571876"/>
            <a:ext cx="2789405" cy="1684794"/>
          </a:xfrm>
          <a:prstGeom prst="rect">
            <a:avLst/>
          </a:prstGeom>
          <a:noFill/>
          <a:ln w="9525">
            <a:noFill/>
            <a:miter lim="800000"/>
            <a:headEnd/>
            <a:tailEnd/>
          </a:ln>
          <a:effectLst/>
        </p:spPr>
      </p:pic>
    </p:spTree>
    <p:extLst>
      <p:ext uri="{BB962C8B-B14F-4D97-AF65-F5344CB8AC3E}">
        <p14:creationId xmlns:p14="http://schemas.microsoft.com/office/powerpoint/2010/main" xmlns="" val="906213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42844" y="1285860"/>
            <a:ext cx="8730744" cy="42148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laviviridae - Wikipedia"/>
          <p:cNvPicPr>
            <a:picLocks noChangeAspect="1" noChangeArrowheads="1"/>
          </p:cNvPicPr>
          <p:nvPr/>
        </p:nvPicPr>
        <p:blipFill>
          <a:blip r:embed="rId2" cstate="print"/>
          <a:srcRect/>
          <a:stretch>
            <a:fillRect/>
          </a:stretch>
        </p:blipFill>
        <p:spPr bwMode="auto">
          <a:xfrm>
            <a:off x="714348" y="571480"/>
            <a:ext cx="7715304" cy="634444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1143000"/>
          </a:xfrm>
        </p:spPr>
        <p:txBody>
          <a:bodyPr/>
          <a:lstStyle/>
          <a:p>
            <a:r>
              <a:rPr lang="en-US" b="1" dirty="0" smtClean="0">
                <a:solidFill>
                  <a:srgbClr val="FF0000"/>
                </a:solidFill>
              </a:rPr>
              <a:t>GENOME</a:t>
            </a:r>
            <a:endParaRPr lang="en-US" b="1" dirty="0">
              <a:solidFill>
                <a:srgbClr val="FF0000"/>
              </a:solidFill>
            </a:endParaRPr>
          </a:p>
        </p:txBody>
      </p:sp>
      <p:sp>
        <p:nvSpPr>
          <p:cNvPr id="3" name="Content Placeholder 2"/>
          <p:cNvSpPr>
            <a:spLocks noGrp="1"/>
          </p:cNvSpPr>
          <p:nvPr>
            <p:ph idx="1"/>
          </p:nvPr>
        </p:nvSpPr>
        <p:spPr>
          <a:xfrm>
            <a:off x="214282" y="857232"/>
            <a:ext cx="8929718" cy="5000660"/>
          </a:xfrm>
        </p:spPr>
        <p:txBody>
          <a:bodyPr>
            <a:noAutofit/>
          </a:bodyPr>
          <a:lstStyle/>
          <a:p>
            <a:r>
              <a:rPr lang="en-US" sz="2800" dirty="0" smtClean="0">
                <a:latin typeface="Times New Roman" pitchFamily="18" charset="0"/>
                <a:cs typeface="Times New Roman" pitchFamily="18" charset="0"/>
              </a:rPr>
              <a:t>Single molecule of linear positive sense, SS RNA 9.5 – 12.5 </a:t>
            </a:r>
            <a:r>
              <a:rPr lang="en-US" sz="2800" dirty="0" err="1" smtClean="0">
                <a:latin typeface="Times New Roman" pitchFamily="18" charset="0"/>
                <a:cs typeface="Times New Roman" pitchFamily="18" charset="0"/>
              </a:rPr>
              <a:t>Kbp</a:t>
            </a:r>
            <a:r>
              <a:rPr lang="en-US" sz="2800" dirty="0" smtClean="0">
                <a:latin typeface="Times New Roman" pitchFamily="18" charset="0"/>
                <a:cs typeface="Times New Roman" pitchFamily="18" charset="0"/>
              </a:rPr>
              <a:t> in size.</a:t>
            </a:r>
          </a:p>
          <a:p>
            <a:r>
              <a:rPr lang="en-GB" sz="2800" dirty="0" err="1" smtClean="0">
                <a:latin typeface="Times New Roman" pitchFamily="18" charset="0"/>
                <a:cs typeface="Times New Roman" pitchFamily="18" charset="0"/>
              </a:rPr>
              <a:t>Flaviviruses</a:t>
            </a:r>
            <a:r>
              <a:rPr lang="en-GB" sz="2800" dirty="0" smtClean="0">
                <a:latin typeface="Times New Roman" pitchFamily="18" charset="0"/>
                <a:cs typeface="Times New Roman" pitchFamily="18" charset="0"/>
              </a:rPr>
              <a:t> have a 5′-terminal cap structure, whereas </a:t>
            </a:r>
            <a:r>
              <a:rPr lang="en-GB" sz="2800" dirty="0" err="1" smtClean="0">
                <a:latin typeface="Times New Roman" pitchFamily="18" charset="0"/>
                <a:cs typeface="Times New Roman" pitchFamily="18" charset="0"/>
              </a:rPr>
              <a:t>pestiviruses</a:t>
            </a:r>
            <a:r>
              <a:rPr lang="en-GB" sz="2800" dirty="0" smtClean="0">
                <a:latin typeface="Times New Roman" pitchFamily="18" charset="0"/>
                <a:cs typeface="Times New Roman" pitchFamily="18" charset="0"/>
              </a:rPr>
              <a:t>, </a:t>
            </a:r>
            <a:r>
              <a:rPr lang="en-GB" sz="2800" dirty="0" err="1" smtClean="0">
                <a:latin typeface="Times New Roman" pitchFamily="18" charset="0"/>
                <a:cs typeface="Times New Roman" pitchFamily="18" charset="0"/>
              </a:rPr>
              <a:t>hepaciviruses</a:t>
            </a:r>
            <a:r>
              <a:rPr lang="en-GB" sz="2800" dirty="0" smtClean="0">
                <a:latin typeface="Times New Roman" pitchFamily="18" charset="0"/>
                <a:cs typeface="Times New Roman" pitchFamily="18" charset="0"/>
              </a:rPr>
              <a:t>, and </a:t>
            </a:r>
            <a:r>
              <a:rPr lang="en-GB" sz="2800" dirty="0" err="1" smtClean="0">
                <a:latin typeface="Times New Roman" pitchFamily="18" charset="0"/>
                <a:cs typeface="Times New Roman" pitchFamily="18" charset="0"/>
              </a:rPr>
              <a:t>pegiviruses</a:t>
            </a:r>
            <a:r>
              <a:rPr lang="en-GB" sz="2800" dirty="0" smtClean="0">
                <a:latin typeface="Times New Roman" pitchFamily="18" charset="0"/>
                <a:cs typeface="Times New Roman" pitchFamily="18" charset="0"/>
              </a:rPr>
              <a:t> do not. </a:t>
            </a:r>
          </a:p>
          <a:p>
            <a:r>
              <a:rPr lang="en-GB" sz="2800" dirty="0" smtClean="0">
                <a:latin typeface="Times New Roman" pitchFamily="18" charset="0"/>
                <a:cs typeface="Times New Roman" pitchFamily="18" charset="0"/>
              </a:rPr>
              <a:t>Instead of the 5′ cap, the </a:t>
            </a:r>
            <a:r>
              <a:rPr lang="en-GB" sz="2800" dirty="0" err="1" smtClean="0">
                <a:latin typeface="Times New Roman" pitchFamily="18" charset="0"/>
                <a:cs typeface="Times New Roman" pitchFamily="18" charset="0"/>
              </a:rPr>
              <a:t>hepaci</a:t>
            </a:r>
            <a:r>
              <a:rPr lang="en-GB" sz="2800" dirty="0" smtClean="0">
                <a:latin typeface="Times New Roman" pitchFamily="18" charset="0"/>
                <a:cs typeface="Times New Roman" pitchFamily="18" charset="0"/>
              </a:rPr>
              <a:t>-, </a:t>
            </a:r>
            <a:r>
              <a:rPr lang="en-GB" sz="2800" dirty="0" err="1" smtClean="0">
                <a:latin typeface="Times New Roman" pitchFamily="18" charset="0"/>
                <a:cs typeface="Times New Roman" pitchFamily="18" charset="0"/>
              </a:rPr>
              <a:t>pesti</a:t>
            </a:r>
            <a:r>
              <a:rPr lang="en-GB" sz="2800" dirty="0" smtClean="0">
                <a:latin typeface="Times New Roman" pitchFamily="18" charset="0"/>
                <a:cs typeface="Times New Roman" pitchFamily="18" charset="0"/>
              </a:rPr>
              <a:t>-, and </a:t>
            </a:r>
            <a:r>
              <a:rPr lang="en-GB" sz="2800" dirty="0" err="1" smtClean="0">
                <a:latin typeface="Times New Roman" pitchFamily="18" charset="0"/>
                <a:cs typeface="Times New Roman" pitchFamily="18" charset="0"/>
              </a:rPr>
              <a:t>pegiviruses</a:t>
            </a:r>
            <a:r>
              <a:rPr lang="en-GB" sz="2800" dirty="0" smtClean="0">
                <a:latin typeface="Times New Roman" pitchFamily="18" charset="0"/>
                <a:cs typeface="Times New Roman" pitchFamily="18" charset="0"/>
              </a:rPr>
              <a:t> have an </a:t>
            </a:r>
            <a:r>
              <a:rPr lang="en-GB" sz="2800" b="1" dirty="0" smtClean="0">
                <a:latin typeface="Times New Roman" pitchFamily="18" charset="0"/>
                <a:cs typeface="Times New Roman" pitchFamily="18" charset="0"/>
              </a:rPr>
              <a:t>internal ribosomal entry site</a:t>
            </a:r>
            <a:r>
              <a:rPr lang="en-GB" sz="2800" dirty="0" smtClean="0">
                <a:latin typeface="Times New Roman" pitchFamily="18" charset="0"/>
                <a:cs typeface="Times New Roman" pitchFamily="18" charset="0"/>
              </a:rPr>
              <a:t> in the 5′ non translated region.</a:t>
            </a:r>
            <a:endParaRPr lang="en-US"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All members lack a poly-A tail at the 3′-end of the genome.</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There is single ORF which codes for 10 or more proteins.</a:t>
            </a:r>
          </a:p>
          <a:p>
            <a:r>
              <a:rPr lang="en-US" sz="2800" dirty="0" smtClean="0">
                <a:latin typeface="Times New Roman" pitchFamily="18" charset="0"/>
                <a:cs typeface="Times New Roman" pitchFamily="18" charset="0"/>
              </a:rPr>
              <a:t>At 5’ end structural proteins are coded and at 3’ end nonstructural proteins are coded.</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3039648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1600200"/>
            <a:ext cx="8543956" cy="4757758"/>
          </a:xfrm>
        </p:spPr>
        <p:txBody>
          <a:bodyPr>
            <a:normAutofit/>
          </a:bodyPr>
          <a:lstStyle/>
          <a:p>
            <a:r>
              <a:rPr lang="en-US" sz="2800" dirty="0" smtClean="0">
                <a:latin typeface="Times New Roman" pitchFamily="18" charset="0"/>
                <a:cs typeface="Times New Roman" pitchFamily="18" charset="0"/>
              </a:rPr>
              <a:t>There are seven or eight nonstructural Proteins.</a:t>
            </a:r>
          </a:p>
          <a:p>
            <a:r>
              <a:rPr lang="en-US" sz="2800" dirty="0" smtClean="0">
                <a:latin typeface="Times New Roman" pitchFamily="18" charset="0"/>
                <a:cs typeface="Times New Roman" pitchFamily="18" charset="0"/>
              </a:rPr>
              <a:t>NS5: The RNA-dependent RNA polymerase.</a:t>
            </a:r>
          </a:p>
          <a:p>
            <a:r>
              <a:rPr lang="en-US" sz="2800" dirty="0" smtClean="0">
                <a:latin typeface="Times New Roman" pitchFamily="18" charset="0"/>
                <a:cs typeface="Times New Roman" pitchFamily="18" charset="0"/>
              </a:rPr>
              <a:t>NS3:  A </a:t>
            </a:r>
            <a:r>
              <a:rPr lang="en-US" sz="2800" dirty="0" err="1" smtClean="0">
                <a:latin typeface="Times New Roman" pitchFamily="18" charset="0"/>
                <a:cs typeface="Times New Roman" pitchFamily="18" charset="0"/>
              </a:rPr>
              <a:t>helicase</a:t>
            </a:r>
            <a:r>
              <a:rPr lang="en-US" sz="2800" dirty="0" smtClean="0">
                <a:latin typeface="Times New Roman" pitchFamily="18" charset="0"/>
                <a:cs typeface="Times New Roman" pitchFamily="18" charset="0"/>
              </a:rPr>
              <a:t> and protease and as part of the RNA polymerase complex.</a:t>
            </a:r>
          </a:p>
          <a:p>
            <a:r>
              <a:rPr lang="en-GB" sz="2800" dirty="0" smtClean="0">
                <a:latin typeface="Times New Roman" pitchFamily="18" charset="0"/>
                <a:cs typeface="Times New Roman" pitchFamily="18" charset="0"/>
              </a:rPr>
              <a:t>Viral NS2B and NS3 and cellular proteases are responsible for cleavage of the </a:t>
            </a:r>
            <a:r>
              <a:rPr lang="en-GB" sz="2800" dirty="0" err="1" smtClean="0">
                <a:latin typeface="Times New Roman" pitchFamily="18" charset="0"/>
                <a:cs typeface="Times New Roman" pitchFamily="18" charset="0"/>
              </a:rPr>
              <a:t>polyprotein</a:t>
            </a:r>
            <a:r>
              <a:rPr lang="en-GB" sz="2800" dirty="0" smtClean="0">
                <a:latin typeface="Times New Roman" pitchFamily="18" charset="0"/>
                <a:cs typeface="Times New Roman" pitchFamily="18" charset="0"/>
              </a:rPr>
              <a:t>, </a:t>
            </a:r>
          </a:p>
          <a:p>
            <a:r>
              <a:rPr lang="en-GB" sz="2800" dirty="0" smtClean="0">
                <a:latin typeface="Times New Roman" pitchFamily="18" charset="0"/>
                <a:cs typeface="Times New Roman" pitchFamily="18" charset="0"/>
              </a:rPr>
              <a:t> </a:t>
            </a:r>
            <a:r>
              <a:rPr lang="en-GB" sz="2800" dirty="0" err="1" smtClean="0">
                <a:latin typeface="Times New Roman" pitchFamily="18" charset="0"/>
                <a:cs typeface="Times New Roman" pitchFamily="18" charset="0"/>
              </a:rPr>
              <a:t>Flaviviruses</a:t>
            </a:r>
            <a:r>
              <a:rPr lang="en-GB" sz="2800" dirty="0" smtClean="0">
                <a:latin typeface="Times New Roman" pitchFamily="18" charset="0"/>
                <a:cs typeface="Times New Roman" pitchFamily="18" charset="0"/>
              </a:rPr>
              <a:t> encode only the NS3 protease, and the </a:t>
            </a:r>
            <a:r>
              <a:rPr lang="en-GB" sz="2800" dirty="0" err="1" smtClean="0">
                <a:latin typeface="Times New Roman" pitchFamily="18" charset="0"/>
                <a:cs typeface="Times New Roman" pitchFamily="18" charset="0"/>
              </a:rPr>
              <a:t>hepaci</a:t>
            </a:r>
            <a:r>
              <a:rPr lang="en-GB" sz="2800" dirty="0" smtClean="0">
                <a:latin typeface="Times New Roman" pitchFamily="18" charset="0"/>
                <a:cs typeface="Times New Roman" pitchFamily="18" charset="0"/>
              </a:rPr>
              <a:t>- and </a:t>
            </a:r>
            <a:r>
              <a:rPr lang="en-GB" sz="2800" dirty="0" err="1" smtClean="0">
                <a:latin typeface="Times New Roman" pitchFamily="18" charset="0"/>
                <a:cs typeface="Times New Roman" pitchFamily="18" charset="0"/>
              </a:rPr>
              <a:t>pestiviruses</a:t>
            </a:r>
            <a:r>
              <a:rPr lang="en-GB" sz="2800" dirty="0" smtClean="0">
                <a:latin typeface="Times New Roman" pitchFamily="18" charset="0"/>
                <a:cs typeface="Times New Roman" pitchFamily="18" charset="0"/>
              </a:rPr>
              <a:t> encode a second protease in the NS2 region that cleaves between NS2 and NS3.</a:t>
            </a:r>
            <a:endParaRPr lang="en-US" sz="2800" dirty="0" smtClean="0">
              <a:latin typeface="Times New Roman" pitchFamily="18" charset="0"/>
              <a:cs typeface="Times New Roman" pitchFamily="18" charset="0"/>
            </a:endParaRPr>
          </a:p>
          <a:p>
            <a:endParaRPr lang="en-US" sz="3600" dirty="0" smtClean="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285728"/>
            <a:ext cx="8809181" cy="2500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Rectangle 4"/>
          <p:cNvSpPr/>
          <p:nvPr/>
        </p:nvSpPr>
        <p:spPr>
          <a:xfrm>
            <a:off x="142844" y="2887682"/>
            <a:ext cx="9001156" cy="3970318"/>
          </a:xfrm>
          <a:prstGeom prst="rect">
            <a:avLst/>
          </a:prstGeom>
        </p:spPr>
        <p:txBody>
          <a:bodyPr wrap="square">
            <a:spAutoFit/>
          </a:bodyPr>
          <a:lstStyle/>
          <a:p>
            <a:pPr>
              <a:buFont typeface="Arial" pitchFamily="34" charset="0"/>
              <a:buChar char="•"/>
            </a:pPr>
            <a:r>
              <a:rPr lang="en-US" sz="2800" dirty="0" smtClean="0">
                <a:latin typeface="Times New Roman" pitchFamily="18" charset="0"/>
                <a:cs typeface="Times New Roman" pitchFamily="18" charset="0"/>
              </a:rPr>
              <a:t>Structural proteins of </a:t>
            </a:r>
            <a:r>
              <a:rPr lang="en-US" sz="2800" b="1" dirty="0" err="1" smtClean="0">
                <a:latin typeface="Times New Roman" pitchFamily="18" charset="0"/>
                <a:cs typeface="Times New Roman" pitchFamily="18" charset="0"/>
              </a:rPr>
              <a:t>flaviviruse</a:t>
            </a:r>
            <a:r>
              <a:rPr lang="en-US" sz="2800" dirty="0" err="1" smtClean="0">
                <a:latin typeface="Times New Roman" pitchFamily="18" charset="0"/>
                <a:cs typeface="Times New Roman" pitchFamily="18" charset="0"/>
              </a:rPr>
              <a:t>s</a:t>
            </a:r>
            <a:r>
              <a:rPr lang="en-US" sz="2800" dirty="0" smtClean="0">
                <a:latin typeface="Times New Roman" pitchFamily="18" charset="0"/>
                <a:cs typeface="Times New Roman" pitchFamily="18" charset="0"/>
              </a:rPr>
              <a:t> include: C, the </a:t>
            </a:r>
            <a:r>
              <a:rPr lang="en-US" sz="2800" dirty="0" err="1" smtClean="0">
                <a:latin typeface="Times New Roman" pitchFamily="18" charset="0"/>
                <a:cs typeface="Times New Roman" pitchFamily="18" charset="0"/>
              </a:rPr>
              <a:t>nucleocapsid</a:t>
            </a:r>
            <a:r>
              <a:rPr lang="en-US" sz="2800" dirty="0" smtClean="0">
                <a:latin typeface="Times New Roman" pitchFamily="18" charset="0"/>
                <a:cs typeface="Times New Roman" pitchFamily="18" charset="0"/>
              </a:rPr>
              <a:t> protein; </a:t>
            </a:r>
            <a:r>
              <a:rPr lang="en-US" sz="2800" dirty="0" err="1" smtClean="0">
                <a:latin typeface="Times New Roman" pitchFamily="18" charset="0"/>
                <a:cs typeface="Times New Roman" pitchFamily="18" charset="0"/>
              </a:rPr>
              <a:t>prM</a:t>
            </a:r>
            <a:r>
              <a:rPr lang="en-US" sz="2800" dirty="0" smtClean="0">
                <a:latin typeface="Times New Roman" pitchFamily="18" charset="0"/>
                <a:cs typeface="Times New Roman" pitchFamily="18" charset="0"/>
              </a:rPr>
              <a:t>, a precursor glycoprotein that is cleaved during virus maturation to yield M, the </a:t>
            </a:r>
            <a:r>
              <a:rPr lang="en-US" sz="2800" dirty="0" err="1" smtClean="0">
                <a:latin typeface="Times New Roman" pitchFamily="18" charset="0"/>
                <a:cs typeface="Times New Roman" pitchFamily="18" charset="0"/>
              </a:rPr>
              <a:t>transmembrane</a:t>
            </a:r>
            <a:r>
              <a:rPr lang="en-US" sz="2800" dirty="0" smtClean="0">
                <a:latin typeface="Times New Roman" pitchFamily="18" charset="0"/>
                <a:cs typeface="Times New Roman" pitchFamily="18" charset="0"/>
              </a:rPr>
              <a:t> protein; E, the major spike glycoprotein, which also is the major target for neutralizing antibodies. </a:t>
            </a:r>
          </a:p>
          <a:p>
            <a:pPr>
              <a:buFont typeface="Arial" pitchFamily="34" charset="0"/>
              <a:buChar char="•"/>
            </a:pPr>
            <a:endParaRPr lang="en-US" sz="2800" dirty="0" smtClean="0">
              <a:latin typeface="Times New Roman" pitchFamily="18" charset="0"/>
              <a:cs typeface="Times New Roman" pitchFamily="18" charset="0"/>
            </a:endParaRPr>
          </a:p>
          <a:p>
            <a:pPr>
              <a:buFont typeface="Arial" pitchFamily="34" charset="0"/>
              <a:buChar char="•"/>
            </a:pPr>
            <a:r>
              <a:rPr lang="en-US" sz="2800" dirty="0" err="1" smtClean="0">
                <a:latin typeface="Times New Roman" pitchFamily="18" charset="0"/>
                <a:cs typeface="Times New Roman" pitchFamily="18" charset="0"/>
              </a:rPr>
              <a:t>Pestiviruses</a:t>
            </a:r>
            <a:r>
              <a:rPr lang="en-US" sz="2800" dirty="0" smtClean="0">
                <a:latin typeface="Times New Roman" pitchFamily="18" charset="0"/>
                <a:cs typeface="Times New Roman" pitchFamily="18" charset="0"/>
              </a:rPr>
              <a:t> have four structural proteins, including C (</a:t>
            </a:r>
            <a:r>
              <a:rPr lang="en-US" sz="2800" dirty="0" err="1" smtClean="0">
                <a:latin typeface="Times New Roman" pitchFamily="18" charset="0"/>
                <a:cs typeface="Times New Roman" pitchFamily="18" charset="0"/>
              </a:rPr>
              <a:t>nucleocapsid</a:t>
            </a:r>
            <a:r>
              <a:rPr lang="en-US" sz="2800" dirty="0" smtClean="0">
                <a:latin typeface="Times New Roman" pitchFamily="18" charset="0"/>
                <a:cs typeface="Times New Roman" pitchFamily="18" charset="0"/>
              </a:rPr>
              <a:t> protein) and the </a:t>
            </a:r>
            <a:r>
              <a:rPr lang="en-US" sz="2800" dirty="0" err="1" smtClean="0">
                <a:latin typeface="Times New Roman" pitchFamily="18" charset="0"/>
                <a:cs typeface="Times New Roman" pitchFamily="18" charset="0"/>
              </a:rPr>
              <a:t>Erns</a:t>
            </a:r>
            <a:r>
              <a:rPr lang="en-US" sz="2800" dirty="0" smtClean="0">
                <a:latin typeface="Times New Roman" pitchFamily="18" charset="0"/>
                <a:cs typeface="Times New Roman" pitchFamily="18" charset="0"/>
              </a:rPr>
              <a:t>, E1, and E2 envelope </a:t>
            </a:r>
            <a:r>
              <a:rPr lang="en-US" sz="2800" dirty="0" err="1" smtClean="0">
                <a:latin typeface="Times New Roman" pitchFamily="18" charset="0"/>
                <a:cs typeface="Times New Roman" pitchFamily="18" charset="0"/>
              </a:rPr>
              <a:t>glycoproteins</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0"/>
            <a:ext cx="8229600" cy="1143000"/>
          </a:xfrm>
        </p:spPr>
        <p:txBody>
          <a:bodyPr/>
          <a:lstStyle/>
          <a:p>
            <a:r>
              <a:rPr lang="en-US" b="1" dirty="0" smtClean="0">
                <a:solidFill>
                  <a:srgbClr val="FF0000"/>
                </a:solidFill>
              </a:rPr>
              <a:t>Replication </a:t>
            </a:r>
            <a:endParaRPr lang="en-US" b="1" dirty="0">
              <a:solidFill>
                <a:srgbClr val="FF0000"/>
              </a:solidFill>
            </a:endParaRPr>
          </a:p>
        </p:txBody>
      </p:sp>
      <p:sp>
        <p:nvSpPr>
          <p:cNvPr id="3" name="Content Placeholder 2"/>
          <p:cNvSpPr>
            <a:spLocks noGrp="1"/>
          </p:cNvSpPr>
          <p:nvPr>
            <p:ph idx="1"/>
          </p:nvPr>
        </p:nvSpPr>
        <p:spPr>
          <a:xfrm>
            <a:off x="285720" y="928670"/>
            <a:ext cx="8501122" cy="5357850"/>
          </a:xfrm>
        </p:spPr>
        <p:txBody>
          <a:bodyPr>
            <a:normAutofit/>
          </a:bodyPr>
          <a:lstStyle/>
          <a:p>
            <a:r>
              <a:rPr lang="en-US" sz="2800" dirty="0" smtClean="0">
                <a:latin typeface="Times New Roman" pitchFamily="18" charset="0"/>
                <a:cs typeface="Times New Roman" pitchFamily="18" charset="0"/>
              </a:rPr>
              <a:t>Virus attaches via E glycoprotein</a:t>
            </a:r>
          </a:p>
          <a:p>
            <a:r>
              <a:rPr lang="en-US" sz="2800" dirty="0" err="1" smtClean="0">
                <a:latin typeface="Times New Roman" pitchFamily="18" charset="0"/>
                <a:cs typeface="Times New Roman" pitchFamily="18" charset="0"/>
              </a:rPr>
              <a:t>Uncoating</a:t>
            </a:r>
            <a:r>
              <a:rPr lang="en-US" sz="2800" dirty="0" smtClean="0">
                <a:latin typeface="Times New Roman" pitchFamily="18" charset="0"/>
                <a:cs typeface="Times New Roman" pitchFamily="18" charset="0"/>
              </a:rPr>
              <a:t> and +sense RNA released in the cytoplasm</a:t>
            </a:r>
          </a:p>
          <a:p>
            <a:r>
              <a:rPr lang="en-GB" sz="2800" dirty="0" smtClean="0">
                <a:latin typeface="Times New Roman" pitchFamily="18" charset="0"/>
                <a:cs typeface="Times New Roman" pitchFamily="18" charset="0"/>
              </a:rPr>
              <a:t>Replication takes place at the surface of endoplasmic reticulum in </a:t>
            </a:r>
            <a:r>
              <a:rPr lang="en-GB" sz="2800" dirty="0" err="1" smtClean="0">
                <a:latin typeface="Times New Roman" pitchFamily="18" charset="0"/>
                <a:cs typeface="Times New Roman" pitchFamily="18" charset="0"/>
              </a:rPr>
              <a:t>cytoplasmic</a:t>
            </a:r>
            <a:r>
              <a:rPr lang="en-GB" sz="2800" dirty="0" smtClean="0">
                <a:latin typeface="Times New Roman" pitchFamily="18" charset="0"/>
                <a:cs typeface="Times New Roman" pitchFamily="18" charset="0"/>
              </a:rPr>
              <a:t> viral factories. </a:t>
            </a:r>
          </a:p>
          <a:p>
            <a:r>
              <a:rPr lang="en-GB" sz="2800" dirty="0" smtClean="0">
                <a:latin typeface="Times New Roman" pitchFamily="18" charset="0"/>
                <a:cs typeface="Times New Roman" pitchFamily="18" charset="0"/>
              </a:rPr>
              <a:t>The </a:t>
            </a:r>
            <a:r>
              <a:rPr lang="en-GB" sz="2800" dirty="0" err="1" smtClean="0">
                <a:latin typeface="Times New Roman" pitchFamily="18" charset="0"/>
                <a:cs typeface="Times New Roman" pitchFamily="18" charset="0"/>
              </a:rPr>
              <a:t>dsRNA</a:t>
            </a:r>
            <a:r>
              <a:rPr lang="en-GB" sz="2800" dirty="0" smtClean="0">
                <a:latin typeface="Times New Roman" pitchFamily="18" charset="0"/>
                <a:cs typeface="Times New Roman" pitchFamily="18" charset="0"/>
              </a:rPr>
              <a:t> genome is transcribed/replicated thereby providing viral mRNAs/new </a:t>
            </a:r>
            <a:r>
              <a:rPr lang="en-GB" sz="2800" dirty="0" err="1" smtClean="0">
                <a:latin typeface="Times New Roman" pitchFamily="18" charset="0"/>
                <a:cs typeface="Times New Roman" pitchFamily="18" charset="0"/>
              </a:rPr>
              <a:t>ssRNA</a:t>
            </a:r>
            <a:r>
              <a:rPr lang="en-GB" sz="2800" dirty="0" smtClean="0">
                <a:latin typeface="Times New Roman" pitchFamily="18" charset="0"/>
                <a:cs typeface="Times New Roman" pitchFamily="18" charset="0"/>
              </a:rPr>
              <a:t>(+) genomes.</a:t>
            </a:r>
          </a:p>
          <a:p>
            <a:r>
              <a:rPr lang="en-GB" sz="2800" dirty="0" smtClean="0">
                <a:latin typeface="Times New Roman" pitchFamily="18" charset="0"/>
                <a:cs typeface="Times New Roman" pitchFamily="18" charset="0"/>
              </a:rPr>
              <a:t>Virus assembly occurs at the endoplasmic reticulum and seems to be facilitated by the viral ionic channel. The </a:t>
            </a:r>
            <a:r>
              <a:rPr lang="en-GB" sz="2800" dirty="0" err="1" smtClean="0">
                <a:latin typeface="Times New Roman" pitchFamily="18" charset="0"/>
                <a:cs typeface="Times New Roman" pitchFamily="18" charset="0"/>
              </a:rPr>
              <a:t>virion</a:t>
            </a:r>
            <a:r>
              <a:rPr lang="en-GB" sz="2800" dirty="0" smtClean="0">
                <a:latin typeface="Times New Roman" pitchFamily="18" charset="0"/>
                <a:cs typeface="Times New Roman" pitchFamily="18" charset="0"/>
              </a:rPr>
              <a:t> buds at the endoplasmic reticulum and is transported to the Golgi apparatus.</a:t>
            </a:r>
          </a:p>
          <a:p>
            <a:r>
              <a:rPr lang="en-GB" sz="2800" dirty="0" smtClean="0">
                <a:latin typeface="Times New Roman" pitchFamily="18" charset="0"/>
                <a:cs typeface="Times New Roman" pitchFamily="18" charset="0"/>
              </a:rPr>
              <a:t>Release of new </a:t>
            </a:r>
            <a:r>
              <a:rPr lang="en-GB" sz="2800" dirty="0" err="1" smtClean="0">
                <a:latin typeface="Times New Roman" pitchFamily="18" charset="0"/>
                <a:cs typeface="Times New Roman" pitchFamily="18" charset="0"/>
              </a:rPr>
              <a:t>virions</a:t>
            </a:r>
            <a:r>
              <a:rPr lang="en-GB" sz="2800" dirty="0" smtClean="0">
                <a:latin typeface="Times New Roman" pitchFamily="18" charset="0"/>
                <a:cs typeface="Times New Roman" pitchFamily="18" charset="0"/>
              </a:rPr>
              <a:t> by </a:t>
            </a:r>
            <a:r>
              <a:rPr lang="en-GB" sz="2800" dirty="0" err="1" smtClean="0">
                <a:latin typeface="Times New Roman" pitchFamily="18" charset="0"/>
                <a:cs typeface="Times New Roman" pitchFamily="18" charset="0"/>
              </a:rPr>
              <a:t>exocytosis</a:t>
            </a:r>
            <a:r>
              <a:rPr lang="en-GB" sz="2800" dirty="0" smtClean="0">
                <a:latin typeface="Times New Roman" pitchFamily="18" charset="0"/>
                <a:cs typeface="Times New Roman" pitchFamily="18" charset="0"/>
              </a:rPr>
              <a:t>.</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3176183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Grp="1" noChangeAspect="1" noChangeArrowheads="1"/>
          </p:cNvPicPr>
          <p:nvPr>
            <p:ph idx="4294967295"/>
          </p:nvPr>
        </p:nvPicPr>
        <p:blipFill>
          <a:blip r:embed="rId2">
            <a:extLst>
              <a:ext uri="{28A0092B-C50C-407E-A947-70E740481C1C}">
                <a14:useLocalDpi xmlns:a14="http://schemas.microsoft.com/office/drawing/2010/main" xmlns="" val="0"/>
              </a:ext>
            </a:extLst>
          </a:blip>
          <a:srcRect/>
          <a:stretch>
            <a:fillRect/>
          </a:stretch>
        </p:blipFill>
        <p:spPr bwMode="auto">
          <a:xfrm>
            <a:off x="1028240" y="268612"/>
            <a:ext cx="6687032" cy="601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08414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descr="M33032-063-f002"/>
          <p:cNvPicPr>
            <a:picLocks noGrp="1" noChangeAspect="1" noChangeArrowheads="1"/>
          </p:cNvPicPr>
          <p:nvPr>
            <p:ph idx="4294967295"/>
          </p:nvPr>
        </p:nvPicPr>
        <p:blipFill>
          <a:blip r:embed="rId2"/>
          <a:srcRect/>
          <a:stretch>
            <a:fillRect/>
          </a:stretch>
        </p:blipFill>
        <p:spPr bwMode="auto">
          <a:xfrm>
            <a:off x="152336" y="571480"/>
            <a:ext cx="8415502" cy="5929354"/>
          </a:xfrm>
          <a:prstGeom prst="rect">
            <a:avLst/>
          </a:prstGeom>
          <a:noFill/>
          <a:ln w="9525">
            <a:solidFill>
              <a:schemeClr val="tx1"/>
            </a:solid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Stability </a:t>
            </a:r>
            <a:endParaRPr lang="en-US" b="1" dirty="0">
              <a:solidFill>
                <a:srgbClr val="FF0000"/>
              </a:solidFill>
            </a:endParaRPr>
          </a:p>
        </p:txBody>
      </p:sp>
      <p:sp>
        <p:nvSpPr>
          <p:cNvPr id="3" name="Content Placeholder 2"/>
          <p:cNvSpPr>
            <a:spLocks noGrp="1"/>
          </p:cNvSpPr>
          <p:nvPr>
            <p:ph idx="1"/>
          </p:nvPr>
        </p:nvSpPr>
        <p:spPr/>
        <p:txBody>
          <a:bodyPr>
            <a:noAutofit/>
          </a:bodyPr>
          <a:lstStyle/>
          <a:p>
            <a:r>
              <a:rPr lang="en-US" sz="2800" dirty="0" smtClean="0">
                <a:latin typeface="Times New Roman" pitchFamily="18" charset="0"/>
                <a:cs typeface="Times New Roman" pitchFamily="18" charset="0"/>
              </a:rPr>
              <a:t>The viruses are not very stable in the environment and are inactivated easily by heat and by common disinfectants.</a:t>
            </a:r>
          </a:p>
          <a:p>
            <a:endParaRPr lang="en-GB"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The lipid envelope is susceptible to organic solvents.</a:t>
            </a:r>
            <a:endParaRPr lang="en-US"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However, the stability of hog cholera virus in meat products and offal for weeks or even months has contributed importantly to its spread and reintroduction</a:t>
            </a:r>
          </a:p>
          <a:p>
            <a:endParaRPr lang="en-US" sz="36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solidFill>
                  <a:srgbClr val="FF0000"/>
                </a:solidFill>
              </a:rPr>
              <a:t>Bovine viral </a:t>
            </a:r>
            <a:r>
              <a:rPr lang="en-US" sz="3600" b="1" dirty="0" err="1" smtClean="0">
                <a:solidFill>
                  <a:srgbClr val="FF0000"/>
                </a:solidFill>
              </a:rPr>
              <a:t>diarrhoea</a:t>
            </a:r>
            <a:r>
              <a:rPr lang="en-US" sz="3600" b="1" dirty="0" smtClean="0">
                <a:solidFill>
                  <a:srgbClr val="FF0000"/>
                </a:solidFill>
              </a:rPr>
              <a:t> (BVD) and Mucosal disease complex</a:t>
            </a:r>
            <a:endParaRPr lang="en-US" sz="3600" b="1" dirty="0">
              <a:solidFill>
                <a:srgbClr val="FF0000"/>
              </a:solidFill>
            </a:endParaRPr>
          </a:p>
        </p:txBody>
      </p:sp>
      <p:sp>
        <p:nvSpPr>
          <p:cNvPr id="4" name="Content Placeholder 3"/>
          <p:cNvSpPr>
            <a:spLocks noGrp="1"/>
          </p:cNvSpPr>
          <p:nvPr>
            <p:ph idx="1"/>
          </p:nvPr>
        </p:nvSpPr>
        <p:spPr>
          <a:xfrm>
            <a:off x="285720" y="1600200"/>
            <a:ext cx="8401080" cy="4525963"/>
          </a:xfrm>
        </p:spPr>
        <p:txBody>
          <a:bodyPr>
            <a:normAutofit fontScale="92500" lnSpcReduction="20000"/>
          </a:bodyPr>
          <a:lstStyle/>
          <a:p>
            <a:r>
              <a:rPr lang="en-US" sz="2800" dirty="0" smtClean="0">
                <a:latin typeface="Times New Roman" pitchFamily="18" charset="0"/>
                <a:cs typeface="Times New Roman" pitchFamily="18" charset="0"/>
              </a:rPr>
              <a:t>Bovine viral diarrhea and mucosal disease are clinically dissimilar disease syndromes caused by same virus.</a:t>
            </a:r>
          </a:p>
          <a:p>
            <a:r>
              <a:rPr lang="en-US" sz="2800" dirty="0" smtClean="0">
                <a:latin typeface="Times New Roman" pitchFamily="18" charset="0"/>
                <a:cs typeface="Times New Roman" pitchFamily="18" charset="0"/>
              </a:rPr>
              <a:t>The acute disease is called </a:t>
            </a:r>
            <a:r>
              <a:rPr lang="en-US" sz="2800" b="1" dirty="0" smtClean="0">
                <a:solidFill>
                  <a:srgbClr val="FF0000"/>
                </a:solidFill>
                <a:latin typeface="Times New Roman" pitchFamily="18" charset="0"/>
                <a:cs typeface="Times New Roman" pitchFamily="18" charset="0"/>
              </a:rPr>
              <a:t>bovine viral diarrhea</a:t>
            </a:r>
          </a:p>
          <a:p>
            <a:r>
              <a:rPr lang="en-US" sz="2800" dirty="0" smtClean="0">
                <a:latin typeface="Times New Roman" pitchFamily="18" charset="0"/>
                <a:cs typeface="Times New Roman" pitchFamily="18" charset="0"/>
              </a:rPr>
              <a:t>The chronic disease associated with persistent infection is called </a:t>
            </a:r>
            <a:r>
              <a:rPr lang="en-US" sz="2800" b="1" dirty="0" smtClean="0">
                <a:solidFill>
                  <a:srgbClr val="FF0000"/>
                </a:solidFill>
                <a:latin typeface="Times New Roman" pitchFamily="18" charset="0"/>
                <a:cs typeface="Times New Roman" pitchFamily="18" charset="0"/>
              </a:rPr>
              <a:t>mucosal disease</a:t>
            </a:r>
            <a:r>
              <a:rPr lang="en-US" sz="2800" dirty="0" smtClean="0">
                <a:solidFill>
                  <a:srgbClr val="FF0000"/>
                </a:solidFill>
                <a:latin typeface="Times New Roman" pitchFamily="18" charset="0"/>
                <a:cs typeface="Times New Roman" pitchFamily="18" charset="0"/>
              </a:rPr>
              <a:t>. </a:t>
            </a:r>
          </a:p>
          <a:p>
            <a:r>
              <a:rPr lang="en-US" sz="2800" dirty="0" smtClean="0">
                <a:latin typeface="Times New Roman" pitchFamily="18" charset="0"/>
                <a:cs typeface="Times New Roman" pitchFamily="18" charset="0"/>
              </a:rPr>
              <a:t>By genus </a:t>
            </a:r>
            <a:r>
              <a:rPr lang="en-US" sz="2800" b="1" i="1" dirty="0" err="1" smtClean="0">
                <a:latin typeface="Times New Roman" pitchFamily="18" charset="0"/>
                <a:cs typeface="Times New Roman" pitchFamily="18" charset="0"/>
              </a:rPr>
              <a:t>Pestivirus</a:t>
            </a:r>
            <a:endParaRPr lang="en-US" sz="2800" b="1" i="1"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There are two distinct serotypes of BVDV</a:t>
            </a:r>
          </a:p>
          <a:p>
            <a:pPr marL="0" indent="0">
              <a:buNone/>
            </a:pPr>
            <a:r>
              <a:rPr lang="en-US" sz="2800" dirty="0" smtClean="0">
                <a:latin typeface="Times New Roman" pitchFamily="18" charset="0"/>
                <a:cs typeface="Times New Roman" pitchFamily="18" charset="0"/>
              </a:rPr>
              <a:t>	(BVDV1 and BVDV2)</a:t>
            </a:r>
          </a:p>
          <a:p>
            <a:r>
              <a:rPr lang="en-US" sz="2800" dirty="0" smtClean="0">
                <a:latin typeface="Times New Roman" pitchFamily="18" charset="0"/>
                <a:cs typeface="Times New Roman" pitchFamily="18" charset="0"/>
              </a:rPr>
              <a:t>Two distinct </a:t>
            </a:r>
            <a:r>
              <a:rPr lang="en-US" sz="2800" b="1" dirty="0" smtClean="0">
                <a:latin typeface="Times New Roman" pitchFamily="18" charset="0"/>
                <a:cs typeface="Times New Roman" pitchFamily="18" charset="0"/>
              </a:rPr>
              <a:t>biotypes</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cytopathic</a:t>
            </a:r>
            <a:r>
              <a:rPr lang="en-US" sz="2800" dirty="0" smtClean="0">
                <a:latin typeface="Times New Roman" pitchFamily="18" charset="0"/>
                <a:cs typeface="Times New Roman" pitchFamily="18" charset="0"/>
              </a:rPr>
              <a:t> (CP) and non-</a:t>
            </a:r>
            <a:r>
              <a:rPr lang="en-US" sz="2800" dirty="0" err="1" smtClean="0">
                <a:latin typeface="Times New Roman" pitchFamily="18" charset="0"/>
                <a:cs typeface="Times New Roman" pitchFamily="18" charset="0"/>
              </a:rPr>
              <a:t>cytopathic</a:t>
            </a:r>
            <a:r>
              <a:rPr lang="en-US" sz="2800" dirty="0" smtClean="0">
                <a:latin typeface="Times New Roman" pitchFamily="18" charset="0"/>
                <a:cs typeface="Times New Roman" pitchFamily="18" charset="0"/>
              </a:rPr>
              <a:t> (NCP)</a:t>
            </a:r>
          </a:p>
          <a:p>
            <a:r>
              <a:rPr lang="en-GB" sz="2800" dirty="0" smtClean="0">
                <a:latin typeface="Times New Roman" pitchFamily="18" charset="0"/>
                <a:cs typeface="Times New Roman" pitchFamily="18" charset="0"/>
              </a:rPr>
              <a:t>The </a:t>
            </a:r>
            <a:r>
              <a:rPr lang="en-GB" sz="2800" b="1" dirty="0" smtClean="0">
                <a:latin typeface="Times New Roman" pitchFamily="18" charset="0"/>
                <a:cs typeface="Times New Roman" pitchFamily="18" charset="0"/>
              </a:rPr>
              <a:t>NCP biotype predominates in the cattle population</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15339249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Clinical Signs</a:t>
            </a:r>
            <a:endParaRPr lang="en-US" dirty="0">
              <a:solidFill>
                <a:srgbClr val="FF0000"/>
              </a:solidFill>
            </a:endParaRPr>
          </a:p>
        </p:txBody>
      </p:sp>
      <p:sp>
        <p:nvSpPr>
          <p:cNvPr id="3" name="Content Placeholder 2"/>
          <p:cNvSpPr>
            <a:spLocks noGrp="1"/>
          </p:cNvSpPr>
          <p:nvPr>
            <p:ph idx="1"/>
          </p:nvPr>
        </p:nvSpPr>
        <p:spPr/>
        <p:txBody>
          <a:bodyPr>
            <a:normAutofit/>
          </a:bodyPr>
          <a:lstStyle/>
          <a:p>
            <a:r>
              <a:rPr lang="en-US" sz="2800" dirty="0" smtClean="0">
                <a:latin typeface="Times New Roman" pitchFamily="18" charset="0"/>
                <a:cs typeface="Times New Roman" pitchFamily="18" charset="0"/>
              </a:rPr>
              <a:t>The clinical and pathologic manifestations of infection in individual cattle vary with age and pregnancy status.</a:t>
            </a:r>
          </a:p>
          <a:p>
            <a:pPr>
              <a:buNone/>
            </a:pPr>
            <a:endParaRPr lang="en-US" sz="2400" dirty="0" smtClean="0">
              <a:latin typeface="Times New Roman" pitchFamily="18" charset="0"/>
              <a:cs typeface="Times New Roman" pitchFamily="18" charset="0"/>
            </a:endParaRPr>
          </a:p>
          <a:p>
            <a:pPr>
              <a:buNone/>
            </a:pPr>
            <a:r>
              <a:rPr lang="en-US" sz="2800" dirty="0" smtClean="0">
                <a:latin typeface="Times New Roman" pitchFamily="18" charset="0"/>
                <a:cs typeface="Times New Roman" pitchFamily="18" charset="0"/>
              </a:rPr>
              <a:t>Three situations are considered: </a:t>
            </a:r>
          </a:p>
          <a:p>
            <a:r>
              <a:rPr lang="en-US" sz="2800" dirty="0" smtClean="0">
                <a:latin typeface="Times New Roman" pitchFamily="18" charset="0"/>
                <a:cs typeface="Times New Roman" pitchFamily="18" charset="0"/>
              </a:rPr>
              <a:t>Postnatal infection in non-pregnant cattle.</a:t>
            </a:r>
          </a:p>
          <a:p>
            <a:r>
              <a:rPr lang="en-US" sz="2800" dirty="0" smtClean="0">
                <a:latin typeface="Times New Roman" pitchFamily="18" charset="0"/>
                <a:cs typeface="Times New Roman" pitchFamily="18" charset="0"/>
              </a:rPr>
              <a:t>Infection in pregnant cows. </a:t>
            </a:r>
          </a:p>
          <a:p>
            <a:r>
              <a:rPr lang="en-US" sz="2800" dirty="0" smtClean="0">
                <a:latin typeface="Times New Roman" pitchFamily="18" charset="0"/>
                <a:cs typeface="Times New Roman" pitchFamily="18" charset="0"/>
              </a:rPr>
              <a:t>Persistent infection in calves and Mucosal disease.</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14282" y="214290"/>
            <a:ext cx="8786874" cy="6643710"/>
          </a:xfrm>
        </p:spPr>
        <p:txBody>
          <a:bodyPr>
            <a:normAutofit/>
          </a:bodyPr>
          <a:lstStyle/>
          <a:p>
            <a:pPr>
              <a:buNone/>
            </a:pPr>
            <a:r>
              <a:rPr lang="en-US" b="1" dirty="0" smtClean="0">
                <a:solidFill>
                  <a:srgbClr val="FF0000"/>
                </a:solidFill>
                <a:latin typeface="Times New Roman" pitchFamily="18" charset="0"/>
                <a:cs typeface="Times New Roman" pitchFamily="18" charset="0"/>
              </a:rPr>
              <a:t>Post natal infection in non pregnant cattle </a:t>
            </a:r>
          </a:p>
          <a:p>
            <a:pPr>
              <a:spcBef>
                <a:spcPts val="0"/>
              </a:spcBef>
            </a:pPr>
            <a:endParaRPr lang="en-GB" sz="3400" dirty="0" smtClean="0">
              <a:latin typeface="Times New Roman" pitchFamily="18" charset="0"/>
              <a:cs typeface="Times New Roman" pitchFamily="18" charset="0"/>
            </a:endParaRPr>
          </a:p>
          <a:p>
            <a:pPr>
              <a:spcBef>
                <a:spcPts val="0"/>
              </a:spcBef>
            </a:pPr>
            <a:endParaRPr lang="en-GB" sz="3400" dirty="0" smtClean="0">
              <a:latin typeface="Times New Roman" pitchFamily="18" charset="0"/>
              <a:cs typeface="Times New Roman" pitchFamily="18" charset="0"/>
            </a:endParaRPr>
          </a:p>
          <a:p>
            <a:pPr>
              <a:spcBef>
                <a:spcPts val="0"/>
              </a:spcBef>
            </a:pPr>
            <a:r>
              <a:rPr lang="en-GB" sz="2800" dirty="0" smtClean="0">
                <a:latin typeface="Times New Roman" pitchFamily="18" charset="0"/>
                <a:cs typeface="Times New Roman" pitchFamily="18" charset="0"/>
              </a:rPr>
              <a:t>Cattle of all ages are susceptible, but </a:t>
            </a:r>
            <a:r>
              <a:rPr lang="en-US" sz="2800" dirty="0" smtClean="0">
                <a:latin typeface="Times New Roman" pitchFamily="18" charset="0"/>
                <a:cs typeface="Times New Roman" pitchFamily="18" charset="0"/>
              </a:rPr>
              <a:t>Common between 8- 24 months of age.</a:t>
            </a:r>
          </a:p>
          <a:p>
            <a:pPr>
              <a:spcBef>
                <a:spcPts val="0"/>
              </a:spcBef>
            </a:pPr>
            <a:endParaRPr lang="en-US" sz="2800" dirty="0" smtClean="0">
              <a:latin typeface="Times New Roman" pitchFamily="18" charset="0"/>
              <a:cs typeface="Times New Roman" pitchFamily="18" charset="0"/>
            </a:endParaRPr>
          </a:p>
          <a:p>
            <a:pPr>
              <a:spcBef>
                <a:spcPts val="0"/>
              </a:spcBef>
            </a:pPr>
            <a:r>
              <a:rPr lang="en-US" sz="2800" dirty="0" smtClean="0">
                <a:latin typeface="Times New Roman" pitchFamily="18" charset="0"/>
                <a:cs typeface="Times New Roman" pitchFamily="18" charset="0"/>
              </a:rPr>
              <a:t>After incubation period of 5- 7 days there is fever, </a:t>
            </a:r>
            <a:r>
              <a:rPr lang="en-US" sz="2800" dirty="0" err="1" smtClean="0">
                <a:latin typeface="Times New Roman" pitchFamily="18" charset="0"/>
                <a:cs typeface="Times New Roman" pitchFamily="18" charset="0"/>
              </a:rPr>
              <a:t>diarrhoea</a:t>
            </a:r>
            <a:r>
              <a:rPr lang="en-US" sz="2800" dirty="0" smtClean="0">
                <a:latin typeface="Times New Roman" pitchFamily="18" charset="0"/>
                <a:cs typeface="Times New Roman" pitchFamily="18" charset="0"/>
              </a:rPr>
              <a:t>, nasal discharge, ocular discharge, stomatitis, leucopenia and in dairy cows decreased milk yield.</a:t>
            </a:r>
          </a:p>
          <a:p>
            <a:pPr>
              <a:lnSpc>
                <a:spcPct val="170000"/>
              </a:lnSpc>
              <a:spcBef>
                <a:spcPts val="0"/>
              </a:spcBef>
            </a:pPr>
            <a:endParaRPr lang="en-US"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xmlns="" val="34161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solidFill>
                  <a:srgbClr val="FF0000"/>
                </a:solidFill>
                <a:latin typeface="Times New Roman" pitchFamily="18" charset="0"/>
                <a:cs typeface="Times New Roman" pitchFamily="18" charset="0"/>
              </a:rPr>
              <a:t>Infection of pregnant cows</a:t>
            </a:r>
            <a:br>
              <a:rPr lang="en-US" sz="3600" b="1" dirty="0" smtClean="0">
                <a:solidFill>
                  <a:srgbClr val="FF0000"/>
                </a:solidFill>
                <a:latin typeface="Times New Roman" pitchFamily="18" charset="0"/>
                <a:cs typeface="Times New Roman" pitchFamily="18" charset="0"/>
              </a:rPr>
            </a:br>
            <a:endParaRPr lang="en-US" sz="3600" b="1" dirty="0">
              <a:solidFill>
                <a:srgbClr val="FF0000"/>
              </a:solidFill>
            </a:endParaRPr>
          </a:p>
        </p:txBody>
      </p:sp>
      <p:sp>
        <p:nvSpPr>
          <p:cNvPr id="3" name="Content Placeholder 2"/>
          <p:cNvSpPr>
            <a:spLocks noGrp="1"/>
          </p:cNvSpPr>
          <p:nvPr>
            <p:ph idx="1"/>
          </p:nvPr>
        </p:nvSpPr>
        <p:spPr>
          <a:xfrm>
            <a:off x="285720" y="1071546"/>
            <a:ext cx="8643998" cy="5357850"/>
          </a:xfrm>
        </p:spPr>
        <p:txBody>
          <a:bodyPr>
            <a:noAutofit/>
          </a:bodyPr>
          <a:lstStyle/>
          <a:p>
            <a:pPr algn="just">
              <a:lnSpc>
                <a:spcPct val="120000"/>
              </a:lnSpc>
              <a:spcBef>
                <a:spcPts val="0"/>
              </a:spcBef>
            </a:pPr>
            <a:r>
              <a:rPr lang="en-US" sz="2400" dirty="0" smtClean="0">
                <a:latin typeface="Times New Roman" pitchFamily="18" charset="0"/>
                <a:cs typeface="Times New Roman" pitchFamily="18" charset="0"/>
              </a:rPr>
              <a:t>Infection in early pregnancy results in embryonic death and </a:t>
            </a:r>
            <a:r>
              <a:rPr lang="en-US" sz="2400" dirty="0" err="1" smtClean="0">
                <a:latin typeface="Times New Roman" pitchFamily="18" charset="0"/>
                <a:cs typeface="Times New Roman" pitchFamily="18" charset="0"/>
              </a:rPr>
              <a:t>reabsorption</a:t>
            </a:r>
            <a:r>
              <a:rPr lang="en-US" sz="2400" dirty="0" smtClean="0">
                <a:latin typeface="Times New Roman" pitchFamily="18" charset="0"/>
                <a:cs typeface="Times New Roman" pitchFamily="18" charset="0"/>
              </a:rPr>
              <a:t>.</a:t>
            </a:r>
          </a:p>
          <a:p>
            <a:pPr algn="just">
              <a:lnSpc>
                <a:spcPct val="120000"/>
              </a:lnSpc>
              <a:spcBef>
                <a:spcPts val="0"/>
              </a:spcBef>
            </a:pPr>
            <a:r>
              <a:rPr lang="en-US" sz="2400" dirty="0" smtClean="0">
                <a:latin typeface="Times New Roman" pitchFamily="18" charset="0"/>
                <a:cs typeface="Times New Roman" pitchFamily="18" charset="0"/>
              </a:rPr>
              <a:t>Infection at 80 to 125 days of gestation results in destructive fetal lesions, like monsters, low birth weight (weal calf syndrome)  or </a:t>
            </a:r>
            <a:r>
              <a:rPr lang="en-US" sz="2400" dirty="0" err="1" smtClean="0">
                <a:latin typeface="Times New Roman" pitchFamily="18" charset="0"/>
                <a:cs typeface="Times New Roman" pitchFamily="18" charset="0"/>
              </a:rPr>
              <a:t>foetal</a:t>
            </a:r>
            <a:r>
              <a:rPr lang="en-US" sz="2400" dirty="0" smtClean="0">
                <a:latin typeface="Times New Roman" pitchFamily="18" charset="0"/>
                <a:cs typeface="Times New Roman" pitchFamily="18" charset="0"/>
              </a:rPr>
              <a:t> death. </a:t>
            </a:r>
          </a:p>
          <a:p>
            <a:pPr algn="just">
              <a:lnSpc>
                <a:spcPct val="120000"/>
              </a:lnSpc>
              <a:spcBef>
                <a:spcPts val="0"/>
              </a:spcBef>
            </a:pPr>
            <a:r>
              <a:rPr lang="en-US" sz="2400" dirty="0" smtClean="0">
                <a:latin typeface="Times New Roman" pitchFamily="18" charset="0"/>
                <a:cs typeface="Times New Roman" pitchFamily="18" charset="0"/>
              </a:rPr>
              <a:t>Surviving calves remain infected for life and are persistently infected with no immune response. </a:t>
            </a:r>
          </a:p>
          <a:p>
            <a:pPr algn="just">
              <a:lnSpc>
                <a:spcPct val="120000"/>
              </a:lnSpc>
              <a:spcBef>
                <a:spcPts val="0"/>
              </a:spcBef>
            </a:pPr>
            <a:r>
              <a:rPr lang="en-US" sz="2400" dirty="0" smtClean="0">
                <a:latin typeface="Times New Roman" pitchFamily="18" charset="0"/>
                <a:cs typeface="Times New Roman" pitchFamily="18" charset="0"/>
              </a:rPr>
              <a:t>Virus is shed by such animals in large amounts in all body secretions and source of virus to other animals in the herd.</a:t>
            </a:r>
          </a:p>
          <a:p>
            <a:pPr algn="just">
              <a:lnSpc>
                <a:spcPct val="120000"/>
              </a:lnSpc>
              <a:spcBef>
                <a:spcPts val="0"/>
              </a:spcBef>
            </a:pPr>
            <a:r>
              <a:rPr lang="en-GB" sz="2400" dirty="0" err="1" smtClean="0">
                <a:latin typeface="Times New Roman" pitchFamily="18" charset="0"/>
                <a:cs typeface="Times New Roman" pitchFamily="18" charset="0"/>
              </a:rPr>
              <a:t>Fetuses</a:t>
            </a:r>
            <a:r>
              <a:rPr lang="en-GB" sz="2400" dirty="0" smtClean="0">
                <a:latin typeface="Times New Roman" pitchFamily="18" charset="0"/>
                <a:cs typeface="Times New Roman" pitchFamily="18" charset="0"/>
              </a:rPr>
              <a:t> infected after about 125 days of gestation usually survive, whether manifesting pathologic damage or not, and usually develop neutralizing antibody and eliminate the virus.</a:t>
            </a:r>
            <a:endParaRPr lang="en-US" sz="2400" dirty="0" smtClean="0">
              <a:latin typeface="Times New Roman" pitchFamily="18" charset="0"/>
              <a:cs typeface="Times New Roman" pitchFamily="18" charset="0"/>
            </a:endParaRPr>
          </a:p>
          <a:p>
            <a:pPr algn="just">
              <a:lnSpc>
                <a:spcPct val="120000"/>
              </a:lnSpc>
            </a:pP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57158" y="285728"/>
            <a:ext cx="8572560" cy="6215106"/>
          </a:xfrm>
        </p:spPr>
        <p:txBody>
          <a:bodyPr>
            <a:normAutofit/>
          </a:bodyPr>
          <a:lstStyle/>
          <a:p>
            <a:pPr>
              <a:lnSpc>
                <a:spcPct val="170000"/>
              </a:lnSpc>
              <a:spcBef>
                <a:spcPts val="0"/>
              </a:spcBef>
              <a:buNone/>
            </a:pPr>
            <a:r>
              <a:rPr lang="en-US" b="1" dirty="0" smtClean="0">
                <a:solidFill>
                  <a:srgbClr val="FF0000"/>
                </a:solidFill>
                <a:latin typeface="Times New Roman" pitchFamily="18" charset="0"/>
                <a:cs typeface="Times New Roman" pitchFamily="18" charset="0"/>
              </a:rPr>
              <a:t>Persistent infection in calves</a:t>
            </a:r>
          </a:p>
          <a:p>
            <a:pPr>
              <a:spcBef>
                <a:spcPts val="0"/>
              </a:spcBef>
            </a:pPr>
            <a:r>
              <a:rPr lang="en-US" sz="2800" dirty="0" smtClean="0">
                <a:latin typeface="Times New Roman" pitchFamily="18" charset="0"/>
                <a:cs typeface="Times New Roman" pitchFamily="18" charset="0"/>
              </a:rPr>
              <a:t>Results from infection with </a:t>
            </a:r>
            <a:r>
              <a:rPr lang="en-US" sz="2800" b="1" dirty="0" smtClean="0">
                <a:latin typeface="Times New Roman" pitchFamily="18" charset="0"/>
                <a:cs typeface="Times New Roman" pitchFamily="18" charset="0"/>
              </a:rPr>
              <a:t>non-</a:t>
            </a:r>
            <a:r>
              <a:rPr lang="en-US" sz="2800" b="1" dirty="0" err="1" smtClean="0">
                <a:latin typeface="Times New Roman" pitchFamily="18" charset="0"/>
                <a:cs typeface="Times New Roman" pitchFamily="18" charset="0"/>
              </a:rPr>
              <a:t>cytopathic</a:t>
            </a:r>
            <a:r>
              <a:rPr lang="en-US" sz="2800" b="1" dirty="0" smtClean="0">
                <a:latin typeface="Times New Roman" pitchFamily="18" charset="0"/>
                <a:cs typeface="Times New Roman" pitchFamily="18" charset="0"/>
              </a:rPr>
              <a:t> virus </a:t>
            </a:r>
            <a:r>
              <a:rPr lang="en-US" sz="2800" dirty="0" smtClean="0">
                <a:latin typeface="Times New Roman" pitchFamily="18" charset="0"/>
                <a:cs typeface="Times New Roman" pitchFamily="18" charset="0"/>
              </a:rPr>
              <a:t>during the first 125 days of gestation. </a:t>
            </a:r>
          </a:p>
          <a:p>
            <a:pPr>
              <a:spcBef>
                <a:spcPts val="0"/>
              </a:spcBef>
            </a:pPr>
            <a:r>
              <a:rPr lang="en-US" sz="2800" dirty="0" smtClean="0">
                <a:latin typeface="Times New Roman" pitchFamily="18" charset="0"/>
                <a:cs typeface="Times New Roman" pitchFamily="18" charset="0"/>
              </a:rPr>
              <a:t>The infected fetus develops an immune tolerance to the virus and sheds virus throughout its subsequent lifetime. </a:t>
            </a:r>
          </a:p>
          <a:p>
            <a:pPr>
              <a:spcBef>
                <a:spcPts val="0"/>
              </a:spcBef>
            </a:pPr>
            <a:r>
              <a:rPr lang="en-GB" sz="2800" dirty="0" smtClean="0">
                <a:latin typeface="Times New Roman" pitchFamily="18" charset="0"/>
                <a:cs typeface="Times New Roman" pitchFamily="18" charset="0"/>
              </a:rPr>
              <a:t>Mucosal disease only occurs when two biotypes of bovine viral </a:t>
            </a:r>
            <a:r>
              <a:rPr lang="en-GB" sz="2800" dirty="0" err="1" smtClean="0">
                <a:latin typeface="Times New Roman" pitchFamily="18" charset="0"/>
                <a:cs typeface="Times New Roman" pitchFamily="18" charset="0"/>
              </a:rPr>
              <a:t>diarrhea</a:t>
            </a:r>
            <a:r>
              <a:rPr lang="en-GB" sz="2800" dirty="0" smtClean="0">
                <a:latin typeface="Times New Roman" pitchFamily="18" charset="0"/>
                <a:cs typeface="Times New Roman" pitchFamily="18" charset="0"/>
              </a:rPr>
              <a:t> virus are present </a:t>
            </a:r>
          </a:p>
          <a:p>
            <a:pPr>
              <a:spcBef>
                <a:spcPts val="0"/>
              </a:spcBef>
            </a:pPr>
            <a:r>
              <a:rPr lang="en-GB" sz="2800" dirty="0" smtClean="0">
                <a:latin typeface="Times New Roman" pitchFamily="18" charset="0"/>
                <a:cs typeface="Times New Roman" pitchFamily="18" charset="0"/>
              </a:rPr>
              <a:t>The clinical features of mucosal disease mirror bovine viral </a:t>
            </a:r>
            <a:r>
              <a:rPr lang="en-GB" sz="2800" dirty="0" err="1" smtClean="0">
                <a:latin typeface="Times New Roman" pitchFamily="18" charset="0"/>
                <a:cs typeface="Times New Roman" pitchFamily="18" charset="0"/>
              </a:rPr>
              <a:t>diarrhea,but</a:t>
            </a:r>
            <a:r>
              <a:rPr lang="en-GB" sz="2800" dirty="0" smtClean="0">
                <a:latin typeface="Times New Roman" pitchFamily="18" charset="0"/>
                <a:cs typeface="Times New Roman" pitchFamily="18" charset="0"/>
              </a:rPr>
              <a:t> with much greater severity.</a:t>
            </a:r>
            <a:endParaRPr lang="en-US" sz="2800" dirty="0" smtClean="0">
              <a:latin typeface="Times New Roman" pitchFamily="18" charset="0"/>
              <a:cs typeface="Times New Roman" pitchFamily="18" charset="0"/>
            </a:endParaRPr>
          </a:p>
        </p:txBody>
      </p:sp>
    </p:spTree>
    <p:extLst>
      <p:ext uri="{BB962C8B-B14F-4D97-AF65-F5344CB8AC3E}">
        <p14:creationId xmlns:p14="http://schemas.microsoft.com/office/powerpoint/2010/main" xmlns="" val="30753799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57158" y="214290"/>
            <a:ext cx="8643998" cy="5715040"/>
          </a:xfrm>
        </p:spPr>
        <p:txBody>
          <a:bodyPr>
            <a:noAutofit/>
          </a:bodyPr>
          <a:lstStyle/>
          <a:p>
            <a:pPr>
              <a:spcBef>
                <a:spcPts val="0"/>
              </a:spcBef>
            </a:pPr>
            <a:r>
              <a:rPr lang="en-US" b="1" dirty="0">
                <a:solidFill>
                  <a:srgbClr val="FF0000"/>
                </a:solidFill>
                <a:latin typeface="Times New Roman" pitchFamily="18" charset="0"/>
                <a:cs typeface="Times New Roman" pitchFamily="18" charset="0"/>
              </a:rPr>
              <a:t>Mucosal disease (MD</a:t>
            </a:r>
            <a:r>
              <a:rPr lang="en-US" b="1" dirty="0" smtClean="0">
                <a:solidFill>
                  <a:srgbClr val="FF0000"/>
                </a:solidFill>
                <a:latin typeface="Times New Roman" pitchFamily="18" charset="0"/>
                <a:cs typeface="Times New Roman" pitchFamily="18" charset="0"/>
              </a:rPr>
              <a:t>)</a:t>
            </a:r>
            <a:r>
              <a:rPr lang="en-US" dirty="0" smtClean="0">
                <a:solidFill>
                  <a:srgbClr val="FF0000"/>
                </a:solidFill>
                <a:latin typeface="Times New Roman" pitchFamily="18" charset="0"/>
                <a:cs typeface="Times New Roman" pitchFamily="18" charset="0"/>
              </a:rPr>
              <a:t> </a:t>
            </a:r>
          </a:p>
          <a:p>
            <a:pPr>
              <a:spcBef>
                <a:spcPts val="0"/>
              </a:spcBef>
              <a:buNone/>
            </a:pPr>
            <a:endParaRPr lang="en-US" sz="2400" dirty="0" smtClean="0">
              <a:latin typeface="Times New Roman" pitchFamily="18" charset="0"/>
              <a:cs typeface="Times New Roman" pitchFamily="18" charset="0"/>
            </a:endParaRPr>
          </a:p>
          <a:p>
            <a:pPr>
              <a:spcBef>
                <a:spcPts val="0"/>
              </a:spcBef>
            </a:pPr>
            <a:r>
              <a:rPr lang="en-GB" sz="2400" dirty="0" smtClean="0">
                <a:latin typeface="Times New Roman" pitchFamily="18" charset="0"/>
                <a:cs typeface="Times New Roman" pitchFamily="18" charset="0"/>
              </a:rPr>
              <a:t> Mucosal disease, a severe and often fatal form, typically arises in persistently infected  animals </a:t>
            </a:r>
            <a:r>
              <a:rPr lang="en-US" sz="2400" dirty="0" smtClean="0">
                <a:latin typeface="Times New Roman" pitchFamily="18" charset="0"/>
                <a:cs typeface="Times New Roman" pitchFamily="18" charset="0"/>
              </a:rPr>
              <a:t>characterized </a:t>
            </a:r>
            <a:r>
              <a:rPr lang="en-US" sz="2400" dirty="0">
                <a:latin typeface="Times New Roman" pitchFamily="18" charset="0"/>
                <a:cs typeface="Times New Roman" pitchFamily="18" charset="0"/>
              </a:rPr>
              <a:t>by low morbidity and 100% </a:t>
            </a:r>
            <a:r>
              <a:rPr lang="en-US" sz="2400" dirty="0" smtClean="0">
                <a:latin typeface="Times New Roman" pitchFamily="18" charset="0"/>
                <a:cs typeface="Times New Roman" pitchFamily="18" charset="0"/>
              </a:rPr>
              <a:t>mortality</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spcBef>
                <a:spcPts val="0"/>
              </a:spcBef>
            </a:pPr>
            <a:r>
              <a:rPr lang="en-US" sz="2400" dirty="0" smtClean="0">
                <a:latin typeface="Times New Roman" pitchFamily="18" charset="0"/>
                <a:cs typeface="Times New Roman" pitchFamily="18" charset="0"/>
              </a:rPr>
              <a:t>Clinical </a:t>
            </a:r>
            <a:r>
              <a:rPr lang="en-US" sz="2400" dirty="0">
                <a:latin typeface="Times New Roman" pitchFamily="18" charset="0"/>
                <a:cs typeface="Times New Roman" pitchFamily="18" charset="0"/>
              </a:rPr>
              <a:t>signs include severe and bloody diarrhea, sores in the </a:t>
            </a:r>
            <a:r>
              <a:rPr lang="en-US" sz="2400" dirty="0" smtClean="0">
                <a:latin typeface="Times New Roman" pitchFamily="18" charset="0"/>
                <a:cs typeface="Times New Roman" pitchFamily="18" charset="0"/>
              </a:rPr>
              <a:t>mouth</a:t>
            </a:r>
            <a:r>
              <a:rPr lang="en-US" sz="2400" dirty="0">
                <a:latin typeface="Times New Roman" pitchFamily="18" charset="0"/>
                <a:cs typeface="Times New Roman" pitchFamily="18" charset="0"/>
              </a:rPr>
              <a:t>, and rapid wasting</a:t>
            </a:r>
            <a:r>
              <a:rPr lang="en-US" sz="2400" dirty="0" smtClean="0">
                <a:latin typeface="Times New Roman" pitchFamily="18" charset="0"/>
                <a:cs typeface="Times New Roman" pitchFamily="18" charset="0"/>
              </a:rPr>
              <a:t>.</a:t>
            </a:r>
          </a:p>
          <a:p>
            <a:pPr>
              <a:spcBef>
                <a:spcPts val="0"/>
              </a:spcBef>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MD occurs in animals born persistently infected </a:t>
            </a:r>
            <a:r>
              <a:rPr lang="en-US" sz="2400" dirty="0" smtClean="0">
                <a:latin typeface="Times New Roman" pitchFamily="18" charset="0"/>
                <a:cs typeface="Times New Roman" pitchFamily="18" charset="0"/>
              </a:rPr>
              <a:t>with </a:t>
            </a:r>
            <a:r>
              <a:rPr lang="en-US" sz="2400" dirty="0">
                <a:latin typeface="Times New Roman" pitchFamily="18" charset="0"/>
                <a:cs typeface="Times New Roman" pitchFamily="18" charset="0"/>
              </a:rPr>
              <a:t>a </a:t>
            </a:r>
            <a:r>
              <a:rPr lang="en-US" sz="2400" dirty="0" err="1">
                <a:latin typeface="Times New Roman" pitchFamily="18" charset="0"/>
                <a:cs typeface="Times New Roman" pitchFamily="18" charset="0"/>
              </a:rPr>
              <a:t>noncytopathic</a:t>
            </a:r>
            <a:r>
              <a:rPr lang="en-US" sz="2400" dirty="0">
                <a:latin typeface="Times New Roman" pitchFamily="18" charset="0"/>
                <a:cs typeface="Times New Roman" pitchFamily="18" charset="0"/>
              </a:rPr>
              <a:t> BVDV that are subsequently superinfected with a </a:t>
            </a:r>
            <a:r>
              <a:rPr lang="en-US" sz="2400" dirty="0" err="1" smtClean="0">
                <a:latin typeface="Times New Roman" pitchFamily="18" charset="0"/>
                <a:cs typeface="Times New Roman" pitchFamily="18" charset="0"/>
              </a:rPr>
              <a:t>cytopathic</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bovine viral diarrhea virus (BVDV). </a:t>
            </a:r>
            <a:endParaRPr lang="en-US" sz="2400" dirty="0" smtClean="0">
              <a:latin typeface="Times New Roman" pitchFamily="18" charset="0"/>
              <a:cs typeface="Times New Roman" pitchFamily="18" charset="0"/>
            </a:endParaRPr>
          </a:p>
          <a:p>
            <a:pPr>
              <a:spcBef>
                <a:spcPts val="0"/>
              </a:spcBef>
            </a:pPr>
            <a:r>
              <a:rPr lang="en-US" sz="2400" dirty="0" smtClean="0">
                <a:latin typeface="Times New Roman" pitchFamily="18" charset="0"/>
                <a:cs typeface="Times New Roman" pitchFamily="18" charset="0"/>
              </a:rPr>
              <a:t>While </a:t>
            </a:r>
            <a:r>
              <a:rPr lang="en-US" sz="2400" dirty="0">
                <a:latin typeface="Times New Roman" pitchFamily="18" charset="0"/>
                <a:cs typeface="Times New Roman" pitchFamily="18" charset="0"/>
              </a:rPr>
              <a:t>similar in clinical </a:t>
            </a:r>
            <a:r>
              <a:rPr lang="en-US" sz="2400" dirty="0" smtClean="0">
                <a:latin typeface="Times New Roman" pitchFamily="18" charset="0"/>
                <a:cs typeface="Times New Roman" pitchFamily="18" charset="0"/>
              </a:rPr>
              <a:t>presentation </a:t>
            </a:r>
            <a:r>
              <a:rPr lang="en-US" sz="2400" dirty="0">
                <a:latin typeface="Times New Roman" pitchFamily="18" charset="0"/>
                <a:cs typeface="Times New Roman" pitchFamily="18" charset="0"/>
              </a:rPr>
              <a:t>to hemorrhagic syndrome it differs in that it only occurs in </a:t>
            </a:r>
            <a:r>
              <a:rPr lang="en-US" sz="2400" dirty="0" smtClean="0">
                <a:latin typeface="Times New Roman" pitchFamily="18" charset="0"/>
                <a:cs typeface="Times New Roman" pitchFamily="18" charset="0"/>
              </a:rPr>
              <a:t>persistently </a:t>
            </a:r>
            <a:r>
              <a:rPr lang="en-US" sz="2400" dirty="0">
                <a:latin typeface="Times New Roman" pitchFamily="18" charset="0"/>
                <a:cs typeface="Times New Roman" pitchFamily="18" charset="0"/>
              </a:rPr>
              <a:t>infected animals, </a:t>
            </a:r>
            <a:r>
              <a:rPr lang="en-US" sz="2400" b="1" dirty="0">
                <a:latin typeface="Times New Roman" pitchFamily="18" charset="0"/>
                <a:cs typeface="Times New Roman" pitchFamily="18" charset="0"/>
              </a:rPr>
              <a:t>two biotypes of virus are present</a:t>
            </a:r>
            <a:r>
              <a:rPr lang="en-US" sz="2400" dirty="0">
                <a:latin typeface="Times New Roman" pitchFamily="18" charset="0"/>
                <a:cs typeface="Times New Roman" pitchFamily="18" charset="0"/>
              </a:rPr>
              <a:t>, and it is </a:t>
            </a:r>
            <a:r>
              <a:rPr lang="en-US" sz="2400" dirty="0" smtClean="0">
                <a:latin typeface="Times New Roman" pitchFamily="18" charset="0"/>
                <a:cs typeface="Times New Roman" pitchFamily="18" charset="0"/>
              </a:rPr>
              <a:t>100</a:t>
            </a:r>
            <a:r>
              <a:rPr lang="en-US" sz="2400" dirty="0">
                <a:latin typeface="Times New Roman" pitchFamily="18" charset="0"/>
                <a:cs typeface="Times New Roman" pitchFamily="18" charset="0"/>
              </a:rPr>
              <a:t>% fatal.</a:t>
            </a:r>
          </a:p>
          <a:p>
            <a:endParaRPr lang="en-US" sz="1600" dirty="0"/>
          </a:p>
        </p:txBody>
      </p:sp>
    </p:spTree>
    <p:extLst>
      <p:ext uri="{BB962C8B-B14F-4D97-AF65-F5344CB8AC3E}">
        <p14:creationId xmlns:p14="http://schemas.microsoft.com/office/powerpoint/2010/main" xmlns="" val="41512988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ovine Virus Diarrhea Virus - an overview | ScienceDirect Topics"/>
          <p:cNvPicPr>
            <a:picLocks noChangeAspect="1" noChangeArrowheads="1"/>
          </p:cNvPicPr>
          <p:nvPr/>
        </p:nvPicPr>
        <p:blipFill>
          <a:blip r:embed="rId2"/>
          <a:srcRect l="7829"/>
          <a:stretch>
            <a:fillRect/>
          </a:stretch>
        </p:blipFill>
        <p:spPr bwMode="auto">
          <a:xfrm>
            <a:off x="1139069" y="428604"/>
            <a:ext cx="6945303" cy="6072230"/>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00034" y="357166"/>
            <a:ext cx="8229600" cy="4525963"/>
          </a:xfrm>
        </p:spPr>
        <p:txBody>
          <a:bodyPr>
            <a:noAutofit/>
          </a:bodyPr>
          <a:lstStyle/>
          <a:p>
            <a:pPr>
              <a:spcBef>
                <a:spcPts val="0"/>
              </a:spcBef>
            </a:pPr>
            <a:r>
              <a:rPr lang="en-US" sz="2800" b="1" dirty="0" smtClean="0">
                <a:latin typeface="Times New Roman" pitchFamily="18" charset="0"/>
                <a:cs typeface="Times New Roman" pitchFamily="18" charset="0"/>
              </a:rPr>
              <a:t>Hemorrhagic syndrome</a:t>
            </a:r>
            <a:r>
              <a:rPr lang="en-US" sz="2800" dirty="0" smtClean="0">
                <a:latin typeface="Times New Roman" pitchFamily="18" charset="0"/>
                <a:cs typeface="Times New Roman" pitchFamily="18" charset="0"/>
              </a:rPr>
              <a:t> </a:t>
            </a:r>
          </a:p>
          <a:p>
            <a:pPr>
              <a:spcBef>
                <a:spcPts val="0"/>
              </a:spcBef>
            </a:pPr>
            <a:r>
              <a:rPr lang="en-US" sz="2800" dirty="0" smtClean="0">
                <a:latin typeface="Times New Roman" pitchFamily="18" charset="0"/>
                <a:cs typeface="Times New Roman" pitchFamily="18" charset="0"/>
              </a:rPr>
              <a:t>Form of severe acute bovine viral diarrhea (BVD) characterized by high morbidity and mortality as high as 50%. </a:t>
            </a:r>
          </a:p>
          <a:p>
            <a:pPr>
              <a:spcBef>
                <a:spcPts val="0"/>
              </a:spcBef>
            </a:pPr>
            <a:r>
              <a:rPr lang="en-US" sz="2800" dirty="0" smtClean="0">
                <a:latin typeface="Times New Roman" pitchFamily="18" charset="0"/>
                <a:cs typeface="Times New Roman" pitchFamily="18" charset="0"/>
              </a:rPr>
              <a:t>Clinical signs include hemorrhages throughout digestive system, high fevers and  bloody diarrhea. </a:t>
            </a:r>
          </a:p>
          <a:p>
            <a:pPr>
              <a:spcBef>
                <a:spcPts val="0"/>
              </a:spcBef>
            </a:pPr>
            <a:r>
              <a:rPr lang="en-US" sz="2800" dirty="0" smtClean="0">
                <a:latin typeface="Times New Roman" pitchFamily="18" charset="0"/>
                <a:cs typeface="Times New Roman" pitchFamily="18" charset="0"/>
              </a:rPr>
              <a:t>While similar in clinical presentation to mucosal disease it differs in that it is the result of an uncomplicated acute infection, </a:t>
            </a:r>
            <a:r>
              <a:rPr lang="en-US" sz="2800" b="1" dirty="0" smtClean="0">
                <a:latin typeface="Times New Roman" pitchFamily="18" charset="0"/>
                <a:cs typeface="Times New Roman" pitchFamily="18" charset="0"/>
              </a:rPr>
              <a:t>only one biotype is present (</a:t>
            </a:r>
            <a:r>
              <a:rPr lang="en-US" sz="2800" b="1" dirty="0" err="1" smtClean="0">
                <a:latin typeface="Times New Roman" pitchFamily="18" charset="0"/>
                <a:cs typeface="Times New Roman" pitchFamily="18" charset="0"/>
              </a:rPr>
              <a:t>noncytopathic</a:t>
            </a:r>
            <a:r>
              <a:rPr lang="en-US" sz="2800" b="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and it is not 100%  fatal.</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hp\Desktop\img_1.jpg"/>
          <p:cNvPicPr>
            <a:picLocks noGrp="1" noChangeAspect="1" noChangeArrowheads="1"/>
          </p:cNvPicPr>
          <p:nvPr>
            <p:ph idx="4294967295"/>
          </p:nvPr>
        </p:nvPicPr>
        <p:blipFill>
          <a:blip r:embed="rId2"/>
          <a:srcRect/>
          <a:stretch>
            <a:fillRect/>
          </a:stretch>
        </p:blipFill>
        <p:spPr bwMode="auto">
          <a:xfrm>
            <a:off x="857224" y="142852"/>
            <a:ext cx="8072494" cy="6091914"/>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4294967295"/>
          </p:nvPr>
        </p:nvPicPr>
        <p:blipFill>
          <a:blip r:embed="rId2">
            <a:extLst>
              <a:ext uri="{28A0092B-C50C-407E-A947-70E740481C1C}">
                <a14:useLocalDpi xmlns:a14="http://schemas.microsoft.com/office/drawing/2010/main" xmlns="" val="0"/>
              </a:ext>
            </a:extLst>
          </a:blip>
          <a:srcRect/>
          <a:stretch>
            <a:fillRect/>
          </a:stretch>
        </p:blipFill>
        <p:spPr bwMode="auto">
          <a:xfrm>
            <a:off x="142844" y="357166"/>
            <a:ext cx="8415318" cy="60938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7893269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Pathogenesis</a:t>
            </a:r>
            <a:endParaRPr lang="en-US" b="1" dirty="0">
              <a:solidFill>
                <a:srgbClr val="FF0000"/>
              </a:solidFill>
            </a:endParaRPr>
          </a:p>
        </p:txBody>
      </p:sp>
      <p:sp>
        <p:nvSpPr>
          <p:cNvPr id="3" name="Content Placeholder 2"/>
          <p:cNvSpPr>
            <a:spLocks noGrp="1"/>
          </p:cNvSpPr>
          <p:nvPr>
            <p:ph idx="1"/>
          </p:nvPr>
        </p:nvSpPr>
        <p:spPr/>
        <p:txBody>
          <a:bodyPr>
            <a:normAutofit/>
          </a:bodyPr>
          <a:lstStyle/>
          <a:p>
            <a:pPr>
              <a:buNone/>
            </a:pPr>
            <a:r>
              <a:rPr lang="en-US" sz="2800" dirty="0" smtClean="0">
                <a:latin typeface="Times New Roman" pitchFamily="18" charset="0"/>
                <a:cs typeface="Times New Roman" pitchFamily="18" charset="0"/>
              </a:rPr>
              <a:t>Features that govern the pathogenesis are:</a:t>
            </a:r>
          </a:p>
          <a:p>
            <a:r>
              <a:rPr lang="en-US" sz="2800" dirty="0" smtClean="0">
                <a:latin typeface="Times New Roman" pitchFamily="18" charset="0"/>
                <a:cs typeface="Times New Roman" pitchFamily="18" charset="0"/>
              </a:rPr>
              <a:t>Ability of the virus to cause </a:t>
            </a:r>
            <a:r>
              <a:rPr lang="en-US" sz="2800" dirty="0" err="1" smtClean="0">
                <a:latin typeface="Times New Roman" pitchFamily="18" charset="0"/>
                <a:cs typeface="Times New Roman" pitchFamily="18" charset="0"/>
              </a:rPr>
              <a:t>viraemia</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Ability of the virus to cause immunosuppression as virus impairs neutrophil functions and antibody secretion from the B cells.</a:t>
            </a:r>
          </a:p>
          <a:p>
            <a:r>
              <a:rPr lang="en-US" sz="2800" dirty="0" smtClean="0">
                <a:latin typeface="Times New Roman" pitchFamily="18" charset="0"/>
                <a:cs typeface="Times New Roman" pitchFamily="18" charset="0"/>
              </a:rPr>
              <a:t>Ability of the virus to infect the </a:t>
            </a:r>
            <a:r>
              <a:rPr lang="en-US" sz="2800" dirty="0" err="1" smtClean="0">
                <a:latin typeface="Times New Roman" pitchFamily="18" charset="0"/>
                <a:cs typeface="Times New Roman" pitchFamily="18" charset="0"/>
              </a:rPr>
              <a:t>foetus</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transplacentally</a:t>
            </a:r>
            <a:r>
              <a:rPr lang="en-US" sz="2800" dirty="0" smtClean="0">
                <a:latin typeface="Times New Roman" pitchFamily="18" charset="0"/>
                <a:cs typeface="Times New Roman" pitchFamily="18" charset="0"/>
              </a:rPr>
              <a:t>.</a:t>
            </a:r>
          </a:p>
          <a:p>
            <a:endParaRPr lang="en-US"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14496135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785786" y="214290"/>
            <a:ext cx="7772400" cy="1143000"/>
          </a:xfrm>
        </p:spPr>
        <p:txBody>
          <a:bodyPr/>
          <a:lstStyle/>
          <a:p>
            <a:pPr eaLnBrk="1" hangingPunct="1"/>
            <a:r>
              <a:rPr lang="en-US" sz="3600" b="1" dirty="0" smtClean="0">
                <a:solidFill>
                  <a:srgbClr val="FF0000"/>
                </a:solidFill>
                <a:ea typeface="ＭＳ Ｐゴシック" pitchFamily="-105" charset="-128"/>
              </a:rPr>
              <a:t>Diagnostic procedures</a:t>
            </a:r>
          </a:p>
        </p:txBody>
      </p:sp>
      <p:sp>
        <p:nvSpPr>
          <p:cNvPr id="40963" name="Rectangle 3"/>
          <p:cNvSpPr>
            <a:spLocks noGrp="1" noChangeArrowheads="1"/>
          </p:cNvSpPr>
          <p:nvPr>
            <p:ph type="body" idx="4294967295"/>
          </p:nvPr>
        </p:nvSpPr>
        <p:spPr>
          <a:xfrm>
            <a:off x="500034" y="1357298"/>
            <a:ext cx="7772400" cy="4114800"/>
          </a:xfrm>
        </p:spPr>
        <p:txBody>
          <a:bodyPr/>
          <a:lstStyle/>
          <a:p>
            <a:pPr eaLnBrk="1" hangingPunct="1">
              <a:lnSpc>
                <a:spcPct val="90000"/>
              </a:lnSpc>
            </a:pPr>
            <a:r>
              <a:rPr lang="en-US" dirty="0" smtClean="0">
                <a:latin typeface="Times New Roman" pitchFamily="18" charset="0"/>
                <a:ea typeface="ＭＳ Ｐゴシック" pitchFamily="-105" charset="-128"/>
                <a:cs typeface="Times New Roman" pitchFamily="18" charset="0"/>
              </a:rPr>
              <a:t>Virus isolation</a:t>
            </a:r>
          </a:p>
          <a:p>
            <a:pPr lvl="1" eaLnBrk="1" hangingPunct="1">
              <a:lnSpc>
                <a:spcPct val="90000"/>
              </a:lnSpc>
            </a:pPr>
            <a:r>
              <a:rPr lang="en-US" dirty="0" smtClean="0">
                <a:latin typeface="Times New Roman" pitchFamily="18" charset="0"/>
                <a:ea typeface="ＭＳ Ｐゴシック" pitchFamily="-105" charset="-128"/>
                <a:cs typeface="Times New Roman" pitchFamily="18" charset="0"/>
              </a:rPr>
              <a:t>Small numbers </a:t>
            </a:r>
          </a:p>
          <a:p>
            <a:pPr lvl="1" eaLnBrk="1" hangingPunct="1">
              <a:lnSpc>
                <a:spcPct val="90000"/>
              </a:lnSpc>
            </a:pPr>
            <a:r>
              <a:rPr lang="en-US" dirty="0" smtClean="0">
                <a:latin typeface="Times New Roman" pitchFamily="18" charset="0"/>
                <a:ea typeface="ＭＳ Ｐゴシック" pitchFamily="-105" charset="-128"/>
                <a:cs typeface="Times New Roman" pitchFamily="18" charset="0"/>
              </a:rPr>
              <a:t>Herd screening - </a:t>
            </a:r>
            <a:r>
              <a:rPr lang="en-US" dirty="0" err="1" smtClean="0">
                <a:latin typeface="Times New Roman" pitchFamily="18" charset="0"/>
                <a:ea typeface="ＭＳ Ｐゴシック" pitchFamily="-105" charset="-128"/>
                <a:cs typeface="Times New Roman" pitchFamily="18" charset="0"/>
              </a:rPr>
              <a:t>microtitre</a:t>
            </a:r>
            <a:r>
              <a:rPr lang="en-US" dirty="0" smtClean="0">
                <a:latin typeface="Times New Roman" pitchFamily="18" charset="0"/>
                <a:ea typeface="ＭＳ Ｐゴシック" pitchFamily="-105" charset="-128"/>
                <a:cs typeface="Times New Roman" pitchFamily="18" charset="0"/>
              </a:rPr>
              <a:t> </a:t>
            </a:r>
          </a:p>
          <a:p>
            <a:pPr eaLnBrk="1" hangingPunct="1">
              <a:lnSpc>
                <a:spcPct val="90000"/>
              </a:lnSpc>
            </a:pPr>
            <a:r>
              <a:rPr lang="en-US" dirty="0" smtClean="0">
                <a:latin typeface="Times New Roman" pitchFamily="18" charset="0"/>
                <a:ea typeface="ＭＳ Ｐゴシック" pitchFamily="-105" charset="-128"/>
                <a:cs typeface="Times New Roman" pitchFamily="18" charset="0"/>
              </a:rPr>
              <a:t>Antigen capture ELISA</a:t>
            </a:r>
          </a:p>
          <a:p>
            <a:pPr lvl="1" eaLnBrk="1" hangingPunct="1">
              <a:lnSpc>
                <a:spcPct val="90000"/>
              </a:lnSpc>
            </a:pPr>
            <a:r>
              <a:rPr lang="en-US" dirty="0" smtClean="0">
                <a:latin typeface="Times New Roman" pitchFamily="18" charset="0"/>
                <a:ea typeface="ＭＳ Ｐゴシック" pitchFamily="-105" charset="-128"/>
                <a:cs typeface="Times New Roman" pitchFamily="18" charset="0"/>
              </a:rPr>
              <a:t>Herd screening</a:t>
            </a:r>
          </a:p>
          <a:p>
            <a:pPr eaLnBrk="1" hangingPunct="1">
              <a:lnSpc>
                <a:spcPct val="90000"/>
              </a:lnSpc>
            </a:pPr>
            <a:r>
              <a:rPr lang="en-US" dirty="0" smtClean="0">
                <a:latin typeface="Times New Roman" pitchFamily="18" charset="0"/>
                <a:ea typeface="ＭＳ Ｐゴシック" pitchFamily="-105" charset="-128"/>
                <a:cs typeface="Times New Roman" pitchFamily="18" charset="0"/>
              </a:rPr>
              <a:t>Serology</a:t>
            </a:r>
          </a:p>
          <a:p>
            <a:pPr lvl="1" eaLnBrk="1" hangingPunct="1">
              <a:lnSpc>
                <a:spcPct val="90000"/>
              </a:lnSpc>
            </a:pPr>
            <a:r>
              <a:rPr lang="en-US" dirty="0" smtClean="0">
                <a:latin typeface="Times New Roman" pitchFamily="18" charset="0"/>
                <a:ea typeface="ＭＳ Ｐゴシック" pitchFamily="-105" charset="-128"/>
                <a:cs typeface="Times New Roman" pitchFamily="18" charset="0"/>
              </a:rPr>
              <a:t>VN </a:t>
            </a:r>
          </a:p>
          <a:p>
            <a:pPr lvl="1" eaLnBrk="1" hangingPunct="1">
              <a:lnSpc>
                <a:spcPct val="90000"/>
              </a:lnSpc>
            </a:pPr>
            <a:r>
              <a:rPr lang="en-US" dirty="0" smtClean="0">
                <a:latin typeface="Times New Roman" pitchFamily="18" charset="0"/>
                <a:ea typeface="ＭＳ Ｐゴシック" pitchFamily="-105" charset="-128"/>
                <a:cs typeface="Times New Roman" pitchFamily="18" charset="0"/>
              </a:rPr>
              <a:t>ELISA </a:t>
            </a:r>
          </a:p>
          <a:p>
            <a:pPr eaLnBrk="1" hangingPunct="1">
              <a:lnSpc>
                <a:spcPct val="90000"/>
              </a:lnSpc>
            </a:pPr>
            <a:r>
              <a:rPr lang="en-US" dirty="0" smtClean="0">
                <a:latin typeface="Times New Roman" pitchFamily="18" charset="0"/>
                <a:ea typeface="ＭＳ Ｐゴシック" pitchFamily="-105" charset="-128"/>
                <a:cs typeface="Times New Roman" pitchFamily="18" charset="0"/>
              </a:rPr>
              <a:t>PCR</a:t>
            </a:r>
          </a:p>
          <a:p>
            <a:pPr lvl="1" eaLnBrk="1" hangingPunct="1">
              <a:lnSpc>
                <a:spcPct val="90000"/>
              </a:lnSpc>
            </a:pPr>
            <a:r>
              <a:rPr lang="en-US" dirty="0" smtClean="0">
                <a:latin typeface="Times New Roman" pitchFamily="18" charset="0"/>
                <a:ea typeface="ＭＳ Ｐゴシック" pitchFamily="-105" charset="-128"/>
                <a:cs typeface="Times New Roman" pitchFamily="18" charset="0"/>
              </a:rPr>
              <a:t>genotyping </a:t>
            </a:r>
          </a:p>
          <a:p>
            <a:pPr lvl="1" eaLnBrk="1" hangingPunct="1">
              <a:lnSpc>
                <a:spcPct val="90000"/>
              </a:lnSpc>
            </a:pPr>
            <a:r>
              <a:rPr lang="en-US" dirty="0" smtClean="0">
                <a:latin typeface="Times New Roman" pitchFamily="18" charset="0"/>
                <a:ea typeface="ＭＳ Ｐゴシック" pitchFamily="-105" charset="-128"/>
                <a:cs typeface="Times New Roman" pitchFamily="18" charset="0"/>
              </a:rPr>
              <a:t>pooled samples </a:t>
            </a:r>
          </a:p>
        </p:txBody>
      </p:sp>
    </p:spTree>
    <p:extLst>
      <p:ext uri="{BB962C8B-B14F-4D97-AF65-F5344CB8AC3E}">
        <p14:creationId xmlns:p14="http://schemas.microsoft.com/office/powerpoint/2010/main" xmlns="" val="25729529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dirty="0" smtClean="0">
                <a:solidFill>
                  <a:srgbClr val="FF0000"/>
                </a:solidFill>
                <a:latin typeface="Times New Roman" pitchFamily="18" charset="0"/>
                <a:ea typeface="ＭＳ Ｐゴシック" pitchFamily="-105" charset="-128"/>
                <a:cs typeface="Times New Roman" pitchFamily="18" charset="0"/>
              </a:rPr>
              <a:t>Vaccines</a:t>
            </a:r>
          </a:p>
        </p:txBody>
      </p:sp>
      <p:sp>
        <p:nvSpPr>
          <p:cNvPr id="49155" name="Rectangle 3"/>
          <p:cNvSpPr>
            <a:spLocks noGrp="1" noChangeArrowheads="1"/>
          </p:cNvSpPr>
          <p:nvPr>
            <p:ph type="body" idx="4294967295"/>
          </p:nvPr>
        </p:nvSpPr>
        <p:spPr/>
        <p:txBody>
          <a:bodyPr/>
          <a:lstStyle/>
          <a:p>
            <a:pPr eaLnBrk="1" hangingPunct="1"/>
            <a:r>
              <a:rPr lang="en-US" sz="2800" dirty="0" smtClean="0">
                <a:latin typeface="Times New Roman" pitchFamily="18" charset="0"/>
                <a:ea typeface="ＭＳ Ｐゴシック" pitchFamily="-105" charset="-128"/>
                <a:cs typeface="Times New Roman" pitchFamily="18" charset="0"/>
              </a:rPr>
              <a:t>Inactivated or attenuated</a:t>
            </a:r>
          </a:p>
          <a:p>
            <a:pPr eaLnBrk="1" hangingPunct="1"/>
            <a:r>
              <a:rPr lang="en-US" sz="2800" dirty="0" smtClean="0">
                <a:latin typeface="Times New Roman" pitchFamily="18" charset="0"/>
                <a:ea typeface="ＭＳ Ｐゴシック" pitchFamily="-105" charset="-128"/>
                <a:cs typeface="Times New Roman" pitchFamily="18" charset="0"/>
              </a:rPr>
              <a:t>Most (all) contain CP BVDV</a:t>
            </a:r>
          </a:p>
          <a:p>
            <a:pPr eaLnBrk="1" hangingPunct="1"/>
            <a:r>
              <a:rPr lang="en-US" sz="2800" dirty="0" smtClean="0">
                <a:latin typeface="Times New Roman" pitchFamily="18" charset="0"/>
                <a:ea typeface="ＭＳ Ｐゴシック" pitchFamily="-105" charset="-128"/>
                <a:cs typeface="Times New Roman" pitchFamily="18" charset="0"/>
              </a:rPr>
              <a:t>Vaccination between 6-8 months</a:t>
            </a:r>
          </a:p>
          <a:p>
            <a:pPr eaLnBrk="1" hangingPunct="1"/>
            <a:r>
              <a:rPr lang="en-US" sz="2800" dirty="0" smtClean="0">
                <a:latin typeface="Times New Roman" pitchFamily="18" charset="0"/>
                <a:ea typeface="ＭＳ Ｐゴシック" pitchFamily="-105" charset="-128"/>
                <a:cs typeface="Times New Roman" pitchFamily="18" charset="0"/>
              </a:rPr>
              <a:t>Vaccination of persistently infected </a:t>
            </a:r>
            <a:r>
              <a:rPr lang="en-US" sz="2800" dirty="0" err="1" smtClean="0">
                <a:latin typeface="Times New Roman" pitchFamily="18" charset="0"/>
                <a:ea typeface="ＭＳ Ｐゴシック" pitchFamily="-105" charset="-128"/>
                <a:cs typeface="Times New Roman" pitchFamily="18" charset="0"/>
              </a:rPr>
              <a:t>immunotolerant</a:t>
            </a:r>
            <a:r>
              <a:rPr lang="en-US" sz="2800" dirty="0" smtClean="0">
                <a:latin typeface="Times New Roman" pitchFamily="18" charset="0"/>
                <a:ea typeface="ＭＳ Ｐゴシック" pitchFamily="-105" charset="-128"/>
                <a:cs typeface="Times New Roman" pitchFamily="18" charset="0"/>
              </a:rPr>
              <a:t> calves with vaccine results in severe mucosal disease</a:t>
            </a:r>
            <a:r>
              <a:rPr lang="en-US" dirty="0" smtClean="0">
                <a:latin typeface="Times New Roman" pitchFamily="18" charset="0"/>
                <a:ea typeface="ＭＳ Ｐゴシック" pitchFamily="-105" charset="-128"/>
                <a:cs typeface="Times New Roman" pitchFamily="18" charset="0"/>
              </a:rPr>
              <a:t>.</a:t>
            </a:r>
          </a:p>
        </p:txBody>
      </p:sp>
    </p:spTree>
    <p:extLst>
      <p:ext uri="{BB962C8B-B14F-4D97-AF65-F5344CB8AC3E}">
        <p14:creationId xmlns:p14="http://schemas.microsoft.com/office/powerpoint/2010/main" xmlns="" val="14809639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2143116"/>
            <a:ext cx="7772400" cy="1143000"/>
          </a:xfrm>
        </p:spPr>
        <p:txBody>
          <a:bodyPr/>
          <a:lstStyle/>
          <a:p>
            <a:r>
              <a:rPr lang="en-US" b="1" dirty="0" smtClean="0">
                <a:solidFill>
                  <a:srgbClr val="FF0000"/>
                </a:solidFill>
              </a:rPr>
              <a:t>HOG CHOLERA</a:t>
            </a:r>
            <a:br>
              <a:rPr lang="en-US" b="1" dirty="0" smtClean="0">
                <a:solidFill>
                  <a:srgbClr val="FF0000"/>
                </a:solidFill>
              </a:rPr>
            </a:br>
            <a:r>
              <a:rPr lang="en-US" b="1" dirty="0" smtClean="0">
                <a:solidFill>
                  <a:srgbClr val="FF0000"/>
                </a:solidFill>
              </a:rPr>
              <a:t>or CLASSICAL SWINE FEVER (CSF)</a:t>
            </a:r>
            <a:endParaRPr lang="en-US" b="1" dirty="0">
              <a:solidFill>
                <a:srgbClr val="FF0000"/>
              </a:solidFill>
            </a:endParaRPr>
          </a:p>
        </p:txBody>
      </p:sp>
    </p:spTree>
    <p:extLst>
      <p:ext uri="{BB962C8B-B14F-4D97-AF65-F5344CB8AC3E}">
        <p14:creationId xmlns:p14="http://schemas.microsoft.com/office/powerpoint/2010/main" xmlns="" val="4208529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1472" y="142852"/>
            <a:ext cx="7772400" cy="1143000"/>
          </a:xfrm>
        </p:spPr>
        <p:txBody>
          <a:bodyPr/>
          <a:lstStyle/>
          <a:p>
            <a:r>
              <a:rPr lang="en-US" b="1" dirty="0" smtClean="0">
                <a:solidFill>
                  <a:srgbClr val="FF0000"/>
                </a:solidFill>
              </a:rPr>
              <a:t>Introduction </a:t>
            </a:r>
            <a:endParaRPr lang="en-US" b="1" dirty="0">
              <a:solidFill>
                <a:srgbClr val="FF0000"/>
              </a:solidFill>
            </a:endParaRPr>
          </a:p>
        </p:txBody>
      </p:sp>
      <p:sp>
        <p:nvSpPr>
          <p:cNvPr id="4" name="Content Placeholder 3"/>
          <p:cNvSpPr>
            <a:spLocks noGrp="1"/>
          </p:cNvSpPr>
          <p:nvPr>
            <p:ph idx="1"/>
          </p:nvPr>
        </p:nvSpPr>
        <p:spPr>
          <a:xfrm>
            <a:off x="500034" y="1285860"/>
            <a:ext cx="8101042" cy="4448196"/>
          </a:xfrm>
        </p:spPr>
        <p:txBody>
          <a:bodyPr/>
          <a:lstStyle/>
          <a:p>
            <a:r>
              <a:rPr lang="en-GB" sz="2800" dirty="0" smtClean="0">
                <a:latin typeface="Times New Roman" pitchFamily="18" charset="0"/>
                <a:cs typeface="Times New Roman" pitchFamily="18" charset="0"/>
              </a:rPr>
              <a:t>By </a:t>
            </a:r>
            <a:r>
              <a:rPr lang="en-GB" sz="2800" b="1" i="1" dirty="0" err="1" smtClean="0">
                <a:latin typeface="Times New Roman" pitchFamily="18" charset="0"/>
                <a:cs typeface="Times New Roman" pitchFamily="18" charset="0"/>
              </a:rPr>
              <a:t>Pestivirus</a:t>
            </a:r>
            <a:r>
              <a:rPr lang="en-GB" sz="2800" i="1" dirty="0" smtClean="0">
                <a:latin typeface="Times New Roman" pitchFamily="18" charset="0"/>
                <a:cs typeface="Times New Roman" pitchFamily="18" charset="0"/>
              </a:rPr>
              <a:t>.</a:t>
            </a:r>
          </a:p>
          <a:p>
            <a:r>
              <a:rPr lang="en-GB" sz="2800" dirty="0" smtClean="0">
                <a:latin typeface="Times New Roman" pitchFamily="18" charset="0"/>
                <a:cs typeface="Times New Roman" pitchFamily="18" charset="0"/>
              </a:rPr>
              <a:t>Wild boars and domestic pigs are the only natural reservoirs of CSF. </a:t>
            </a:r>
          </a:p>
          <a:p>
            <a:r>
              <a:rPr lang="en-GB" sz="2800" dirty="0" smtClean="0">
                <a:latin typeface="Times New Roman" pitchFamily="18" charset="0"/>
                <a:cs typeface="Times New Roman" pitchFamily="18" charset="0"/>
              </a:rPr>
              <a:t>Humans are not infected or affected by the CSF virus. </a:t>
            </a:r>
          </a:p>
          <a:p>
            <a:r>
              <a:rPr lang="en-GB" sz="2800" dirty="0" smtClean="0">
                <a:latin typeface="Times New Roman" pitchFamily="18" charset="0"/>
                <a:cs typeface="Times New Roman" pitchFamily="18" charset="0"/>
              </a:rPr>
              <a:t>The OIE has placed CSF on </a:t>
            </a:r>
            <a:r>
              <a:rPr lang="en-GB" sz="2800" b="1" dirty="0" smtClean="0">
                <a:latin typeface="Times New Roman" pitchFamily="18" charset="0"/>
                <a:cs typeface="Times New Roman" pitchFamily="18" charset="0"/>
              </a:rPr>
              <a:t>List A</a:t>
            </a:r>
            <a:r>
              <a:rPr lang="en-GB" sz="2800" dirty="0" smtClean="0">
                <a:latin typeface="Times New Roman" pitchFamily="18" charset="0"/>
                <a:cs typeface="Times New Roman" pitchFamily="18" charset="0"/>
              </a:rPr>
              <a:t>.</a:t>
            </a:r>
          </a:p>
          <a:p>
            <a:r>
              <a:rPr lang="en-GB" sz="2800" dirty="0" smtClean="0">
                <a:latin typeface="Times New Roman" pitchFamily="18" charset="0"/>
                <a:cs typeface="Times New Roman" pitchFamily="18" charset="0"/>
              </a:rPr>
              <a:t> CSF is endemic in parts of Africa, Asia, Europe, and Central and South America. </a:t>
            </a:r>
            <a:endParaRPr lang="en-US" sz="28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1"/>
          <p:cNvSpPr>
            <a:spLocks noGrp="1" noChangeArrowheads="1"/>
          </p:cNvSpPr>
          <p:nvPr>
            <p:ph type="title"/>
          </p:nvPr>
        </p:nvSpPr>
        <p:spPr/>
        <p:txBody>
          <a:bodyPr/>
          <a:lstStyle/>
          <a:p>
            <a:pPr eaLnBrk="1" hangingPunct="1"/>
            <a:r>
              <a:rPr lang="en-US" dirty="0" smtClean="0">
                <a:solidFill>
                  <a:srgbClr val="FF0000"/>
                </a:solidFill>
              </a:rPr>
              <a:t>Morbidity and Mortality</a:t>
            </a:r>
          </a:p>
        </p:txBody>
      </p:sp>
      <p:sp>
        <p:nvSpPr>
          <p:cNvPr id="28675" name="Rectangle 12"/>
          <p:cNvSpPr>
            <a:spLocks noGrp="1" noChangeArrowheads="1"/>
          </p:cNvSpPr>
          <p:nvPr>
            <p:ph idx="1"/>
          </p:nvPr>
        </p:nvSpPr>
        <p:spPr>
          <a:xfrm>
            <a:off x="457200" y="1600200"/>
            <a:ext cx="8472518" cy="4900634"/>
          </a:xfrm>
        </p:spPr>
        <p:txBody>
          <a:bodyPr>
            <a:normAutofit/>
          </a:bodyPr>
          <a:lstStyle/>
          <a:p>
            <a:pPr eaLnBrk="1" hangingPunct="1"/>
            <a:r>
              <a:rPr lang="en-US" dirty="0" smtClean="0">
                <a:latin typeface="Times New Roman" pitchFamily="18" charset="0"/>
                <a:cs typeface="Times New Roman" pitchFamily="18" charset="0"/>
              </a:rPr>
              <a:t>Age and immune status important</a:t>
            </a:r>
          </a:p>
          <a:p>
            <a:pPr eaLnBrk="1" hangingPunct="1"/>
            <a:r>
              <a:rPr lang="en-US" dirty="0" smtClean="0">
                <a:latin typeface="Times New Roman" pitchFamily="18" charset="0"/>
                <a:cs typeface="Times New Roman" pitchFamily="18" charset="0"/>
              </a:rPr>
              <a:t>Varies with viral strain</a:t>
            </a:r>
          </a:p>
          <a:p>
            <a:pPr lvl="1" eaLnBrk="1" hangingPunct="1"/>
            <a:r>
              <a:rPr lang="en-US" dirty="0" smtClean="0">
                <a:latin typeface="Times New Roman" pitchFamily="18" charset="0"/>
                <a:cs typeface="Times New Roman" pitchFamily="18" charset="0"/>
              </a:rPr>
              <a:t>Acute</a:t>
            </a:r>
          </a:p>
          <a:p>
            <a:pPr lvl="2" eaLnBrk="1" hangingPunct="1"/>
            <a:r>
              <a:rPr lang="en-US" dirty="0" smtClean="0">
                <a:latin typeface="Times New Roman" pitchFamily="18" charset="0"/>
                <a:cs typeface="Times New Roman" pitchFamily="18" charset="0"/>
              </a:rPr>
              <a:t>High mortality (up to 100%)</a:t>
            </a:r>
          </a:p>
          <a:p>
            <a:pPr lvl="1" eaLnBrk="1" hangingPunct="1"/>
            <a:r>
              <a:rPr lang="en-US" dirty="0" err="1" smtClean="0">
                <a:latin typeface="Times New Roman" pitchFamily="18" charset="0"/>
                <a:cs typeface="Times New Roman" pitchFamily="18" charset="0"/>
              </a:rPr>
              <a:t>Subacute</a:t>
            </a:r>
            <a:endParaRPr lang="en-US" dirty="0" smtClean="0">
              <a:latin typeface="Times New Roman" pitchFamily="18" charset="0"/>
              <a:cs typeface="Times New Roman" pitchFamily="18" charset="0"/>
            </a:endParaRPr>
          </a:p>
          <a:p>
            <a:pPr lvl="2" eaLnBrk="1" hangingPunct="1"/>
            <a:r>
              <a:rPr lang="en-US" dirty="0" smtClean="0">
                <a:latin typeface="Times New Roman" pitchFamily="18" charset="0"/>
                <a:cs typeface="Times New Roman" pitchFamily="18" charset="0"/>
              </a:rPr>
              <a:t>Lower morbidity and mortality rates</a:t>
            </a:r>
          </a:p>
          <a:p>
            <a:pPr lvl="1" eaLnBrk="1" hangingPunct="1"/>
            <a:r>
              <a:rPr lang="en-US" dirty="0" smtClean="0">
                <a:latin typeface="Times New Roman" pitchFamily="18" charset="0"/>
                <a:cs typeface="Times New Roman" pitchFamily="18" charset="0"/>
              </a:rPr>
              <a:t>Chronic</a:t>
            </a:r>
          </a:p>
          <a:p>
            <a:pPr lvl="2" eaLnBrk="1" hangingPunct="1"/>
            <a:r>
              <a:rPr lang="en-US" dirty="0" smtClean="0">
                <a:latin typeface="Times New Roman" pitchFamily="18" charset="0"/>
                <a:cs typeface="Times New Roman" pitchFamily="18" charset="0"/>
              </a:rPr>
              <a:t>Few animals affected – always fatal</a:t>
            </a:r>
          </a:p>
          <a:p>
            <a:pPr lvl="1" eaLnBrk="1" hangingPunct="1"/>
            <a:r>
              <a:rPr lang="en-US" dirty="0" smtClean="0">
                <a:latin typeface="Times New Roman" pitchFamily="18" charset="0"/>
                <a:cs typeface="Times New Roman" pitchFamily="18" charset="0"/>
              </a:rPr>
              <a:t>Some cases are asymptomatic</a:t>
            </a:r>
          </a:p>
        </p:txBody>
      </p:sp>
      <p:sp>
        <p:nvSpPr>
          <p:cNvPr id="28676" name="Footer Placeholder 4"/>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spTree>
    <p:extLst>
      <p:ext uri="{BB962C8B-B14F-4D97-AF65-F5344CB8AC3E}">
        <p14:creationId xmlns:p14="http://schemas.microsoft.com/office/powerpoint/2010/main" xmlns="" val="518169173"/>
      </p:ext>
    </p:extLst>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8"/>
          <p:cNvSpPr>
            <a:spLocks noGrp="1" noChangeArrowheads="1"/>
          </p:cNvSpPr>
          <p:nvPr>
            <p:ph type="title"/>
          </p:nvPr>
        </p:nvSpPr>
        <p:spPr/>
        <p:txBody>
          <a:bodyPr>
            <a:normAutofit/>
          </a:bodyPr>
          <a:lstStyle/>
          <a:p>
            <a:pPr eaLnBrk="1" hangingPunct="1"/>
            <a:r>
              <a:rPr lang="en-US" sz="4000" b="1" dirty="0" smtClean="0">
                <a:solidFill>
                  <a:srgbClr val="FF0000"/>
                </a:solidFill>
              </a:rPr>
              <a:t>Animal Transmission</a:t>
            </a:r>
          </a:p>
        </p:txBody>
      </p:sp>
      <p:sp>
        <p:nvSpPr>
          <p:cNvPr id="30723" name="Rectangle 9"/>
          <p:cNvSpPr>
            <a:spLocks noGrp="1" noChangeArrowheads="1"/>
          </p:cNvSpPr>
          <p:nvPr>
            <p:ph idx="1"/>
          </p:nvPr>
        </p:nvSpPr>
        <p:spPr/>
        <p:txBody>
          <a:bodyPr>
            <a:normAutofit lnSpcReduction="10000"/>
          </a:bodyPr>
          <a:lstStyle/>
          <a:p>
            <a:pPr eaLnBrk="1" hangingPunct="1"/>
            <a:r>
              <a:rPr lang="en-US" dirty="0" smtClean="0">
                <a:latin typeface="Times New Roman" pitchFamily="18" charset="0"/>
                <a:cs typeface="Times New Roman" pitchFamily="18" charset="0"/>
              </a:rPr>
              <a:t>Highly contagious</a:t>
            </a:r>
          </a:p>
          <a:p>
            <a:pPr lvl="1" eaLnBrk="1" hangingPunct="1"/>
            <a:r>
              <a:rPr lang="en-US" dirty="0" smtClean="0">
                <a:latin typeface="Times New Roman" pitchFamily="18" charset="0"/>
                <a:cs typeface="Times New Roman" pitchFamily="18" charset="0"/>
              </a:rPr>
              <a:t>Blood, saliva, urine, feces, tissues of sick and dead animals</a:t>
            </a:r>
          </a:p>
          <a:p>
            <a:pPr eaLnBrk="1" hangingPunct="1"/>
            <a:r>
              <a:rPr lang="en-US" dirty="0" smtClean="0">
                <a:latin typeface="Times New Roman" pitchFamily="18" charset="0"/>
                <a:cs typeface="Times New Roman" pitchFamily="18" charset="0"/>
              </a:rPr>
              <a:t>Transmission</a:t>
            </a:r>
          </a:p>
          <a:p>
            <a:pPr lvl="1" eaLnBrk="1" hangingPunct="1"/>
            <a:r>
              <a:rPr lang="en-US" dirty="0" smtClean="0">
                <a:latin typeface="Times New Roman" pitchFamily="18" charset="0"/>
                <a:cs typeface="Times New Roman" pitchFamily="18" charset="0"/>
              </a:rPr>
              <a:t>Ingestion of contaminated garbage or meat products</a:t>
            </a:r>
          </a:p>
          <a:p>
            <a:pPr lvl="1" eaLnBrk="1" hangingPunct="1"/>
            <a:r>
              <a:rPr lang="en-US" dirty="0" smtClean="0">
                <a:latin typeface="Times New Roman" pitchFamily="18" charset="0"/>
                <a:cs typeface="Times New Roman" pitchFamily="18" charset="0"/>
              </a:rPr>
              <a:t>Direct or indirect contact (</a:t>
            </a:r>
            <a:r>
              <a:rPr lang="en-US" dirty="0" err="1" smtClean="0">
                <a:latin typeface="Times New Roman" pitchFamily="18" charset="0"/>
                <a:cs typeface="Times New Roman" pitchFamily="18" charset="0"/>
              </a:rPr>
              <a:t>fomites</a:t>
            </a:r>
            <a:r>
              <a:rPr lang="en-US" dirty="0" smtClean="0">
                <a:latin typeface="Times New Roman" pitchFamily="18" charset="0"/>
                <a:cs typeface="Times New Roman" pitchFamily="18" charset="0"/>
              </a:rPr>
              <a:t>)</a:t>
            </a:r>
          </a:p>
          <a:p>
            <a:pPr lvl="1" eaLnBrk="1" hangingPunct="1"/>
            <a:r>
              <a:rPr lang="en-US" dirty="0" smtClean="0">
                <a:latin typeface="Times New Roman" pitchFamily="18" charset="0"/>
                <a:cs typeface="Times New Roman" pitchFamily="18" charset="0"/>
              </a:rPr>
              <a:t>Less common: aerosol, semen, vectors</a:t>
            </a:r>
          </a:p>
          <a:p>
            <a:pPr eaLnBrk="1" hangingPunct="1"/>
            <a:r>
              <a:rPr lang="en-US" dirty="0" smtClean="0">
                <a:latin typeface="Times New Roman" pitchFamily="18" charset="0"/>
                <a:cs typeface="Times New Roman" pitchFamily="18" charset="0"/>
              </a:rPr>
              <a:t>Infected pigs are the only reservoir</a:t>
            </a:r>
          </a:p>
          <a:p>
            <a:pPr eaLnBrk="1" hangingPunct="1">
              <a:buNone/>
            </a:pPr>
            <a:endParaRPr lang="en-US" dirty="0" smtClean="0">
              <a:latin typeface="Times New Roman" pitchFamily="18" charset="0"/>
              <a:cs typeface="Times New Roman" pitchFamily="18" charset="0"/>
            </a:endParaRPr>
          </a:p>
        </p:txBody>
      </p:sp>
      <p:sp>
        <p:nvSpPr>
          <p:cNvPr id="30724" name="Footer Placeholder 4"/>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spTree>
    <p:extLst>
      <p:ext uri="{BB962C8B-B14F-4D97-AF65-F5344CB8AC3E}">
        <p14:creationId xmlns:p14="http://schemas.microsoft.com/office/powerpoint/2010/main" xmlns="" val="3205306966"/>
      </p:ext>
    </p:extLst>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285728"/>
            <a:ext cx="7772400" cy="1143000"/>
          </a:xfrm>
        </p:spPr>
        <p:txBody>
          <a:bodyPr/>
          <a:lstStyle/>
          <a:p>
            <a:r>
              <a:rPr lang="en-US" b="1" dirty="0" smtClean="0">
                <a:solidFill>
                  <a:srgbClr val="FF0000"/>
                </a:solidFill>
              </a:rPr>
              <a:t>Pathogenesis</a:t>
            </a:r>
            <a:endParaRPr lang="en-US" b="1" dirty="0">
              <a:solidFill>
                <a:srgbClr val="FF0000"/>
              </a:solidFill>
            </a:endParaRPr>
          </a:p>
        </p:txBody>
      </p:sp>
      <p:sp>
        <p:nvSpPr>
          <p:cNvPr id="3" name="Content Placeholder 2"/>
          <p:cNvSpPr>
            <a:spLocks noGrp="1"/>
          </p:cNvSpPr>
          <p:nvPr>
            <p:ph idx="1"/>
          </p:nvPr>
        </p:nvSpPr>
        <p:spPr>
          <a:xfrm>
            <a:off x="214282" y="1357298"/>
            <a:ext cx="8929718" cy="4857784"/>
          </a:xfrm>
        </p:spPr>
        <p:txBody>
          <a:bodyPr>
            <a:noAutofit/>
          </a:bodyPr>
          <a:lstStyle/>
          <a:p>
            <a:r>
              <a:rPr lang="en-US" sz="2800" dirty="0" smtClean="0">
                <a:latin typeface="Times New Roman" pitchFamily="18" charset="0"/>
                <a:cs typeface="Times New Roman" pitchFamily="18" charset="0"/>
              </a:rPr>
              <a:t>Ingestion followed by primary replication of virus in tonsils causing Primary </a:t>
            </a:r>
            <a:r>
              <a:rPr lang="en-US" sz="2800" dirty="0" err="1" smtClean="0">
                <a:latin typeface="Times New Roman" pitchFamily="18" charset="0"/>
                <a:cs typeface="Times New Roman" pitchFamily="18" charset="0"/>
              </a:rPr>
              <a:t>viraemia</a:t>
            </a:r>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Infection and replication of virus in endothelial cells, lymph nodes, bone marrow </a:t>
            </a:r>
            <a:r>
              <a:rPr lang="en-GB" sz="2800" dirty="0" smtClean="0">
                <a:latin typeface="Times New Roman" pitchFamily="18" charset="0"/>
                <a:cs typeface="Times New Roman" pitchFamily="18" charset="0"/>
              </a:rPr>
              <a:t>causing </a:t>
            </a:r>
            <a:r>
              <a:rPr lang="en-GB" sz="2800" dirty="0" err="1" smtClean="0">
                <a:latin typeface="Times New Roman" pitchFamily="18" charset="0"/>
                <a:cs typeface="Times New Roman" pitchFamily="18" charset="0"/>
              </a:rPr>
              <a:t>leukopenia</a:t>
            </a:r>
            <a:r>
              <a:rPr lang="en-GB" sz="2800" dirty="0" smtClean="0">
                <a:latin typeface="Times New Roman" pitchFamily="18" charset="0"/>
                <a:cs typeface="Times New Roman" pitchFamily="18" charset="0"/>
              </a:rPr>
              <a:t>, thrombocytopenia severe </a:t>
            </a:r>
            <a:r>
              <a:rPr lang="en-GB" sz="2800" dirty="0" err="1" smtClean="0">
                <a:latin typeface="Times New Roman" pitchFamily="18" charset="0"/>
                <a:cs typeface="Times New Roman" pitchFamily="18" charset="0"/>
              </a:rPr>
              <a:t>immunosuppression</a:t>
            </a:r>
            <a:endParaRPr lang="en-GB"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Damage to endothelial cells and thrombocytopenia can lead to </a:t>
            </a:r>
            <a:r>
              <a:rPr lang="en-GB" sz="2800" dirty="0" err="1" smtClean="0">
                <a:latin typeface="Times New Roman" pitchFamily="18" charset="0"/>
                <a:cs typeface="Times New Roman" pitchFamily="18" charset="0"/>
              </a:rPr>
              <a:t>hemorrhages</a:t>
            </a:r>
            <a:r>
              <a:rPr lang="en-GB" sz="2800" dirty="0" smtClean="0">
                <a:latin typeface="Times New Roman" pitchFamily="18" charset="0"/>
                <a:cs typeface="Times New Roman" pitchFamily="18" charset="0"/>
              </a:rPr>
              <a:t> in various tissues, resulting in </a:t>
            </a:r>
            <a:r>
              <a:rPr lang="en-GB" sz="2800" dirty="0" err="1" smtClean="0">
                <a:latin typeface="Times New Roman" pitchFamily="18" charset="0"/>
                <a:cs typeface="Times New Roman" pitchFamily="18" charset="0"/>
              </a:rPr>
              <a:t>petechiae</a:t>
            </a:r>
            <a:r>
              <a:rPr lang="en-GB" sz="2800" dirty="0" smtClean="0">
                <a:latin typeface="Times New Roman" pitchFamily="18" charset="0"/>
                <a:cs typeface="Times New Roman" pitchFamily="18" charset="0"/>
              </a:rPr>
              <a:t> and </a:t>
            </a:r>
            <a:r>
              <a:rPr lang="en-GB" sz="2800" dirty="0" err="1" smtClean="0">
                <a:latin typeface="Times New Roman" pitchFamily="18" charset="0"/>
                <a:cs typeface="Times New Roman" pitchFamily="18" charset="0"/>
              </a:rPr>
              <a:t>ecchymoses</a:t>
            </a:r>
            <a:endParaRPr lang="en-US"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In pregnant sows, the virus can cross the placenta, potentially causing abortions, mummified </a:t>
            </a:r>
            <a:r>
              <a:rPr lang="en-GB" sz="2800" dirty="0" err="1" smtClean="0">
                <a:latin typeface="Times New Roman" pitchFamily="18" charset="0"/>
                <a:cs typeface="Times New Roman" pitchFamily="18" charset="0"/>
              </a:rPr>
              <a:t>fetuses</a:t>
            </a:r>
            <a:r>
              <a:rPr lang="en-GB" sz="2800" dirty="0" smtClean="0">
                <a:latin typeface="Times New Roman" pitchFamily="18" charset="0"/>
                <a:cs typeface="Times New Roman" pitchFamily="18" charset="0"/>
              </a:rPr>
              <a:t>, stillbirths, or persistently infected piglets. </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2911325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2910" y="357166"/>
            <a:ext cx="7772400" cy="1143000"/>
          </a:xfrm>
        </p:spPr>
        <p:txBody>
          <a:bodyPr/>
          <a:lstStyle/>
          <a:p>
            <a:r>
              <a:rPr lang="en-US" dirty="0" smtClean="0">
                <a:solidFill>
                  <a:srgbClr val="FF0000"/>
                </a:solidFill>
              </a:rPr>
              <a:t>Clinical signs in acute cases</a:t>
            </a:r>
            <a:endParaRPr lang="en-US" dirty="0">
              <a:solidFill>
                <a:srgbClr val="FF0000"/>
              </a:solidFill>
            </a:endParaRPr>
          </a:p>
        </p:txBody>
      </p:sp>
      <p:sp>
        <p:nvSpPr>
          <p:cNvPr id="4" name="Content Placeholder 3"/>
          <p:cNvSpPr>
            <a:spLocks noGrp="1"/>
          </p:cNvSpPr>
          <p:nvPr>
            <p:ph idx="1"/>
          </p:nvPr>
        </p:nvSpPr>
        <p:spPr>
          <a:xfrm>
            <a:off x="685800" y="1981200"/>
            <a:ext cx="8101042" cy="4114800"/>
          </a:xfrm>
        </p:spPr>
        <p:txBody>
          <a:bodyPr/>
          <a:lstStyle/>
          <a:p>
            <a:r>
              <a:rPr lang="en-US" sz="2800" dirty="0" smtClean="0">
                <a:latin typeface="Times New Roman" pitchFamily="18" charset="0"/>
                <a:cs typeface="Times New Roman" pitchFamily="18" charset="0"/>
              </a:rPr>
              <a:t>IP=2-7 days</a:t>
            </a:r>
          </a:p>
          <a:p>
            <a:r>
              <a:rPr lang="en-US" sz="2800" dirty="0" smtClean="0">
                <a:latin typeface="Times New Roman" pitchFamily="18" charset="0"/>
                <a:cs typeface="Times New Roman" pitchFamily="18" charset="0"/>
              </a:rPr>
              <a:t>Fever, Vomiting, </a:t>
            </a:r>
            <a:r>
              <a:rPr lang="en-US" sz="2800" dirty="0" err="1" smtClean="0">
                <a:latin typeface="Times New Roman" pitchFamily="18" charset="0"/>
                <a:cs typeface="Times New Roman" pitchFamily="18" charset="0"/>
              </a:rPr>
              <a:t>Diarrhoea</a:t>
            </a:r>
            <a:r>
              <a:rPr lang="en-US" sz="2800" dirty="0" smtClean="0">
                <a:latin typeface="Times New Roman" pitchFamily="18" charset="0"/>
                <a:cs typeface="Times New Roman" pitchFamily="18" charset="0"/>
              </a:rPr>
              <a:t>, pneumonia</a:t>
            </a:r>
          </a:p>
          <a:p>
            <a:r>
              <a:rPr lang="en-GB" sz="2800" dirty="0" smtClean="0">
                <a:latin typeface="Times New Roman" pitchFamily="18" charset="0"/>
                <a:cs typeface="Times New Roman" pitchFamily="18" charset="0"/>
              </a:rPr>
              <a:t>Infected piglets frequently develop neurologic signs, including tremors and convulsions.</a:t>
            </a:r>
          </a:p>
          <a:p>
            <a:r>
              <a:rPr lang="en-US" sz="2800" dirty="0" smtClean="0">
                <a:latin typeface="Times New Roman" pitchFamily="18" charset="0"/>
                <a:cs typeface="Times New Roman" pitchFamily="18" charset="0"/>
              </a:rPr>
              <a:t>Hyperemia and </a:t>
            </a:r>
            <a:r>
              <a:rPr lang="en-US" sz="2800" dirty="0" err="1" smtClean="0">
                <a:latin typeface="Times New Roman" pitchFamily="18" charset="0"/>
                <a:cs typeface="Times New Roman" pitchFamily="18" charset="0"/>
              </a:rPr>
              <a:t>cynosis</a:t>
            </a:r>
            <a:r>
              <a:rPr lang="en-US" sz="2800" dirty="0" smtClean="0">
                <a:latin typeface="Times New Roman" pitchFamily="18" charset="0"/>
                <a:cs typeface="Times New Roman" pitchFamily="18" charset="0"/>
              </a:rPr>
              <a:t> of skin of abdomen and ear</a:t>
            </a:r>
          </a:p>
          <a:p>
            <a:r>
              <a:rPr lang="en-US" sz="2800" dirty="0" err="1" smtClean="0">
                <a:latin typeface="Times New Roman" pitchFamily="18" charset="0"/>
                <a:cs typeface="Times New Roman" pitchFamily="18" charset="0"/>
              </a:rPr>
              <a:t>Leukopenea</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Morbidity 100%</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10326525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rmAutofit fontScale="90000"/>
          </a:bodyPr>
          <a:lstStyle/>
          <a:p>
            <a:pPr eaLnBrk="1" hangingPunct="1"/>
            <a:r>
              <a:rPr lang="en-US" dirty="0" smtClean="0">
                <a:solidFill>
                  <a:srgbClr val="FF0000"/>
                </a:solidFill>
              </a:rPr>
              <a:t>Clinical Signs:</a:t>
            </a:r>
            <a:br>
              <a:rPr lang="en-US" dirty="0" smtClean="0">
                <a:solidFill>
                  <a:srgbClr val="FF0000"/>
                </a:solidFill>
              </a:rPr>
            </a:br>
            <a:r>
              <a:rPr lang="en-US" sz="3600" dirty="0" err="1" smtClean="0">
                <a:solidFill>
                  <a:srgbClr val="FF0000"/>
                </a:solidFill>
              </a:rPr>
              <a:t>Subacute</a:t>
            </a:r>
            <a:r>
              <a:rPr lang="en-US" sz="3600" dirty="0" smtClean="0">
                <a:solidFill>
                  <a:srgbClr val="FF0000"/>
                </a:solidFill>
              </a:rPr>
              <a:t>/Chronic Disease</a:t>
            </a:r>
            <a:endParaRPr lang="en-US" dirty="0" smtClean="0">
              <a:solidFill>
                <a:srgbClr val="FF0000"/>
              </a:solidFill>
            </a:endParaRPr>
          </a:p>
        </p:txBody>
      </p:sp>
      <p:sp>
        <p:nvSpPr>
          <p:cNvPr id="34819" name="Content Placeholder 2"/>
          <p:cNvSpPr>
            <a:spLocks noGrp="1"/>
          </p:cNvSpPr>
          <p:nvPr>
            <p:ph idx="1"/>
          </p:nvPr>
        </p:nvSpPr>
        <p:spPr>
          <a:xfrm>
            <a:off x="428596" y="1500174"/>
            <a:ext cx="8572560" cy="5357826"/>
          </a:xfrm>
        </p:spPr>
        <p:txBody>
          <a:bodyPr>
            <a:normAutofit fontScale="85000" lnSpcReduction="20000"/>
          </a:bodyPr>
          <a:lstStyle/>
          <a:p>
            <a:pPr eaLnBrk="1" hangingPunct="1">
              <a:lnSpc>
                <a:spcPct val="85000"/>
              </a:lnSpc>
            </a:pPr>
            <a:r>
              <a:rPr lang="en-US" dirty="0" err="1" smtClean="0">
                <a:latin typeface="Times New Roman" pitchFamily="18" charset="0"/>
                <a:cs typeface="Times New Roman" pitchFamily="18" charset="0"/>
              </a:rPr>
              <a:t>Subacute</a:t>
            </a:r>
            <a:endParaRPr lang="en-US" dirty="0" smtClean="0">
              <a:latin typeface="Times New Roman" pitchFamily="18" charset="0"/>
              <a:cs typeface="Times New Roman" pitchFamily="18" charset="0"/>
            </a:endParaRPr>
          </a:p>
          <a:p>
            <a:pPr lvl="1" eaLnBrk="1" hangingPunct="1">
              <a:lnSpc>
                <a:spcPct val="85000"/>
              </a:lnSpc>
            </a:pPr>
            <a:r>
              <a:rPr lang="en-US" sz="3100" dirty="0" smtClean="0">
                <a:latin typeface="Times New Roman" pitchFamily="18" charset="0"/>
                <a:cs typeface="Times New Roman" pitchFamily="18" charset="0"/>
              </a:rPr>
              <a:t>Similar to acute form, but symptoms less severe</a:t>
            </a:r>
          </a:p>
          <a:p>
            <a:pPr lvl="1" eaLnBrk="1" hangingPunct="1">
              <a:lnSpc>
                <a:spcPct val="85000"/>
              </a:lnSpc>
            </a:pPr>
            <a:r>
              <a:rPr lang="en-US" sz="3100" dirty="0" smtClean="0">
                <a:latin typeface="Times New Roman" pitchFamily="18" charset="0"/>
                <a:cs typeface="Times New Roman" pitchFamily="18" charset="0"/>
              </a:rPr>
              <a:t>Pigs may survive</a:t>
            </a:r>
          </a:p>
          <a:p>
            <a:pPr eaLnBrk="1" hangingPunct="1">
              <a:lnSpc>
                <a:spcPct val="85000"/>
              </a:lnSpc>
            </a:pPr>
            <a:endParaRPr lang="en-US" dirty="0" smtClean="0">
              <a:latin typeface="Times New Roman" pitchFamily="18" charset="0"/>
              <a:cs typeface="Times New Roman" pitchFamily="18" charset="0"/>
            </a:endParaRPr>
          </a:p>
          <a:p>
            <a:pPr eaLnBrk="1" hangingPunct="1">
              <a:lnSpc>
                <a:spcPct val="85000"/>
              </a:lnSpc>
            </a:pPr>
            <a:r>
              <a:rPr lang="en-US" dirty="0" smtClean="0">
                <a:latin typeface="Times New Roman" pitchFamily="18" charset="0"/>
                <a:cs typeface="Times New Roman" pitchFamily="18" charset="0"/>
              </a:rPr>
              <a:t>Chronic</a:t>
            </a:r>
          </a:p>
          <a:p>
            <a:pPr lvl="1" eaLnBrk="1" hangingPunct="1">
              <a:lnSpc>
                <a:spcPct val="120000"/>
              </a:lnSpc>
            </a:pPr>
            <a:r>
              <a:rPr lang="en-US" dirty="0" smtClean="0">
                <a:latin typeface="Times New Roman" pitchFamily="18" charset="0"/>
                <a:cs typeface="Times New Roman" pitchFamily="18" charset="0"/>
              </a:rPr>
              <a:t>Anorexia, depression, fever, diarrhea</a:t>
            </a:r>
          </a:p>
          <a:p>
            <a:pPr lvl="1" eaLnBrk="1" hangingPunct="1">
              <a:lnSpc>
                <a:spcPct val="120000"/>
              </a:lnSpc>
            </a:pPr>
            <a:r>
              <a:rPr lang="en-US" dirty="0" smtClean="0">
                <a:latin typeface="Times New Roman" pitchFamily="18" charset="0"/>
                <a:cs typeface="Times New Roman" pitchFamily="18" charset="0"/>
              </a:rPr>
              <a:t>Poor reproductive performance including abortions, stillbirths, and deformities</a:t>
            </a:r>
          </a:p>
          <a:p>
            <a:pPr lvl="1" eaLnBrk="1" hangingPunct="1">
              <a:lnSpc>
                <a:spcPct val="120000"/>
              </a:lnSpc>
            </a:pPr>
            <a:r>
              <a:rPr lang="en-US" dirty="0" smtClean="0">
                <a:latin typeface="Times New Roman" pitchFamily="18" charset="0"/>
                <a:cs typeface="Times New Roman" pitchFamily="18" charset="0"/>
              </a:rPr>
              <a:t>Persistently infected piglets</a:t>
            </a:r>
          </a:p>
          <a:p>
            <a:pPr lvl="1">
              <a:lnSpc>
                <a:spcPct val="120000"/>
              </a:lnSpc>
            </a:pPr>
            <a:r>
              <a:rPr lang="en-GB" dirty="0" smtClean="0">
                <a:latin typeface="Times New Roman" pitchFamily="18" charset="0"/>
                <a:cs typeface="Times New Roman" pitchFamily="18" charset="0"/>
              </a:rPr>
              <a:t>The most prominent lesion in swine dying from chronic hog cholera is a general exhaustion of the lymphoid system--complete atrophy of the thymus and germinal </a:t>
            </a:r>
            <a:r>
              <a:rPr lang="en-GB" dirty="0" err="1" smtClean="0">
                <a:latin typeface="Times New Roman" pitchFamily="18" charset="0"/>
                <a:cs typeface="Times New Roman" pitchFamily="18" charset="0"/>
              </a:rPr>
              <a:t>centers</a:t>
            </a:r>
            <a:r>
              <a:rPr lang="en-GB" dirty="0" smtClean="0">
                <a:latin typeface="Times New Roman" pitchFamily="18" charset="0"/>
                <a:cs typeface="Times New Roman" pitchFamily="18" charset="0"/>
              </a:rPr>
              <a:t> in the spleen and lymph nodes.</a:t>
            </a:r>
            <a:endParaRPr lang="en-US" dirty="0" smtClean="0">
              <a:latin typeface="Times New Roman" pitchFamily="18" charset="0"/>
              <a:cs typeface="Times New Roman" pitchFamily="18" charset="0"/>
            </a:endParaRPr>
          </a:p>
          <a:p>
            <a:pPr eaLnBrk="1" hangingPunct="1"/>
            <a:endParaRPr lang="en-US" dirty="0" smtClean="0">
              <a:latin typeface="Times New Roman" pitchFamily="18" charset="0"/>
              <a:cs typeface="Times New Roman" pitchFamily="18" charset="0"/>
            </a:endParaRPr>
          </a:p>
        </p:txBody>
      </p:sp>
      <p:sp>
        <p:nvSpPr>
          <p:cNvPr id="34820" name="Footer Placeholder 3"/>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spTree>
    <p:extLst>
      <p:ext uri="{BB962C8B-B14F-4D97-AF65-F5344CB8AC3E}">
        <p14:creationId xmlns:p14="http://schemas.microsoft.com/office/powerpoint/2010/main" xmlns="" val="34711775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descr="Classical swine fever virus – Asian Agribiz"/>
          <p:cNvPicPr>
            <a:picLocks noChangeAspect="1" noChangeArrowheads="1"/>
          </p:cNvPicPr>
          <p:nvPr/>
        </p:nvPicPr>
        <p:blipFill>
          <a:blip r:embed="rId2"/>
          <a:srcRect/>
          <a:stretch>
            <a:fillRect/>
          </a:stretch>
        </p:blipFill>
        <p:spPr bwMode="auto">
          <a:xfrm>
            <a:off x="0" y="1071546"/>
            <a:ext cx="8866969" cy="4572032"/>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6"/>
          <p:cNvSpPr>
            <a:spLocks noGrp="1" noChangeArrowheads="1"/>
          </p:cNvSpPr>
          <p:nvPr>
            <p:ph type="title"/>
          </p:nvPr>
        </p:nvSpPr>
        <p:spPr>
          <a:xfrm>
            <a:off x="428596" y="0"/>
            <a:ext cx="8229600" cy="1143000"/>
          </a:xfrm>
        </p:spPr>
        <p:txBody>
          <a:bodyPr>
            <a:normAutofit fontScale="90000"/>
          </a:bodyPr>
          <a:lstStyle/>
          <a:p>
            <a:pPr eaLnBrk="1" hangingPunct="1"/>
            <a:r>
              <a:rPr lang="en-US" b="1" dirty="0" smtClean="0">
                <a:solidFill>
                  <a:srgbClr val="FF0000"/>
                </a:solidFill>
              </a:rPr>
              <a:t>Post Mortem Lesions: </a:t>
            </a:r>
            <a:br>
              <a:rPr lang="en-US" b="1" dirty="0" smtClean="0">
                <a:solidFill>
                  <a:srgbClr val="FF0000"/>
                </a:solidFill>
              </a:rPr>
            </a:br>
            <a:r>
              <a:rPr lang="en-US" sz="3600" b="1" dirty="0" smtClean="0">
                <a:solidFill>
                  <a:srgbClr val="FF0000"/>
                </a:solidFill>
              </a:rPr>
              <a:t>Acute Disease</a:t>
            </a:r>
            <a:endParaRPr lang="en-US" b="1" dirty="0" smtClean="0">
              <a:solidFill>
                <a:srgbClr val="FF0000"/>
              </a:solidFill>
            </a:endParaRPr>
          </a:p>
        </p:txBody>
      </p:sp>
      <p:sp>
        <p:nvSpPr>
          <p:cNvPr id="35843" name="Rectangle 7"/>
          <p:cNvSpPr>
            <a:spLocks noGrp="1" noChangeArrowheads="1"/>
          </p:cNvSpPr>
          <p:nvPr>
            <p:ph idx="1"/>
          </p:nvPr>
        </p:nvSpPr>
        <p:spPr>
          <a:xfrm>
            <a:off x="285720" y="1285860"/>
            <a:ext cx="8215370" cy="5072098"/>
          </a:xfrm>
        </p:spPr>
        <p:txBody>
          <a:bodyPr>
            <a:normAutofit/>
          </a:bodyPr>
          <a:lstStyle/>
          <a:p>
            <a:r>
              <a:rPr lang="en-US" sz="2400" dirty="0" smtClean="0">
                <a:latin typeface="Arial" pitchFamily="34" charset="0"/>
                <a:cs typeface="Arial" pitchFamily="34" charset="0"/>
              </a:rPr>
              <a:t>Leucopoenia and thrombocytopenia </a:t>
            </a:r>
          </a:p>
          <a:p>
            <a:r>
              <a:rPr lang="en-US" sz="2400" dirty="0" smtClean="0">
                <a:latin typeface="Arial" pitchFamily="34" charset="0"/>
                <a:cs typeface="Arial" pitchFamily="34" charset="0"/>
              </a:rPr>
              <a:t> Enlarged hemorrhagic lymph nodes are common </a:t>
            </a:r>
          </a:p>
          <a:p>
            <a:r>
              <a:rPr lang="en-US" sz="2400" dirty="0" smtClean="0">
                <a:latin typeface="Arial" pitchFamily="34" charset="0"/>
                <a:cs typeface="Arial" pitchFamily="34" charset="0"/>
              </a:rPr>
              <a:t>Widespread </a:t>
            </a:r>
            <a:r>
              <a:rPr lang="en-US" sz="2400" dirty="0" err="1" smtClean="0">
                <a:latin typeface="Arial" pitchFamily="34" charset="0"/>
                <a:cs typeface="Arial" pitchFamily="34" charset="0"/>
              </a:rPr>
              <a:t>petechiae</a:t>
            </a:r>
            <a:r>
              <a:rPr lang="en-US" sz="2400" dirty="0" smtClean="0">
                <a:latin typeface="Arial" pitchFamily="34" charset="0"/>
                <a:cs typeface="Arial" pitchFamily="34" charset="0"/>
              </a:rPr>
              <a:t> and </a:t>
            </a:r>
            <a:r>
              <a:rPr lang="en-US" sz="2400" dirty="0" err="1" smtClean="0">
                <a:latin typeface="Arial" pitchFamily="34" charset="0"/>
                <a:cs typeface="Arial" pitchFamily="34" charset="0"/>
              </a:rPr>
              <a:t>ecchymoses</a:t>
            </a:r>
            <a:r>
              <a:rPr lang="en-US" sz="2400" dirty="0" smtClean="0">
                <a:latin typeface="Arial" pitchFamily="34" charset="0"/>
                <a:cs typeface="Arial" pitchFamily="34" charset="0"/>
              </a:rPr>
              <a:t>, especially in the skin, lymph nodes, epiglottis, bladder, kidney and rectum </a:t>
            </a:r>
          </a:p>
          <a:p>
            <a:r>
              <a:rPr lang="en-US" sz="2400" dirty="0" smtClean="0">
                <a:latin typeface="Arial" pitchFamily="34" charset="0"/>
                <a:cs typeface="Arial" pitchFamily="34" charset="0"/>
              </a:rPr>
              <a:t>Severe tonsillitis with necrotic foci sometimes occurs </a:t>
            </a:r>
          </a:p>
          <a:p>
            <a:r>
              <a:rPr lang="en-US" sz="2400" dirty="0" smtClean="0">
                <a:latin typeface="Arial" pitchFamily="34" charset="0"/>
                <a:cs typeface="Arial" pitchFamily="34" charset="0"/>
              </a:rPr>
              <a:t> Multifocal infarction of the margin of the spleen is characteristic: nearly </a:t>
            </a:r>
            <a:r>
              <a:rPr lang="en-US" sz="2400" dirty="0" err="1" smtClean="0">
                <a:latin typeface="Arial" pitchFamily="34" charset="0"/>
                <a:cs typeface="Arial" pitchFamily="34" charset="0"/>
              </a:rPr>
              <a:t>pathognomonic</a:t>
            </a:r>
            <a:r>
              <a:rPr lang="en-US" sz="2400" dirty="0" smtClean="0">
                <a:latin typeface="Arial" pitchFamily="34" charset="0"/>
                <a:cs typeface="Arial" pitchFamily="34" charset="0"/>
              </a:rPr>
              <a:t> but occurs infrequently with currently circulating strains </a:t>
            </a:r>
          </a:p>
          <a:p>
            <a:r>
              <a:rPr lang="en-US" sz="2400" dirty="0" smtClean="0">
                <a:latin typeface="Arial" pitchFamily="34" charset="0"/>
                <a:cs typeface="Arial" pitchFamily="34" charset="0"/>
              </a:rPr>
              <a:t> Lungs may be congested and hemorrhagic </a:t>
            </a:r>
          </a:p>
          <a:p>
            <a:r>
              <a:rPr lang="en-US" sz="2400" dirty="0" smtClean="0">
                <a:latin typeface="Arial" pitchFamily="34" charset="0"/>
                <a:cs typeface="Arial" pitchFamily="34" charset="0"/>
              </a:rPr>
              <a:t>Encephalomyelitis with </a:t>
            </a:r>
            <a:r>
              <a:rPr lang="en-US" sz="2400" dirty="0" err="1" smtClean="0">
                <a:latin typeface="Arial" pitchFamily="34" charset="0"/>
                <a:cs typeface="Arial" pitchFamily="34" charset="0"/>
              </a:rPr>
              <a:t>perivascular</a:t>
            </a:r>
            <a:r>
              <a:rPr lang="en-US" sz="2400" dirty="0" smtClean="0">
                <a:latin typeface="Arial" pitchFamily="34" charset="0"/>
                <a:cs typeface="Arial" pitchFamily="34" charset="0"/>
              </a:rPr>
              <a:t> cuffing is common</a:t>
            </a:r>
          </a:p>
        </p:txBody>
      </p:sp>
      <p:sp>
        <p:nvSpPr>
          <p:cNvPr id="35844" name="Footer Placeholder 4"/>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spTree>
    <p:extLst>
      <p:ext uri="{BB962C8B-B14F-4D97-AF65-F5344CB8AC3E}">
        <p14:creationId xmlns:p14="http://schemas.microsoft.com/office/powerpoint/2010/main" xmlns="" val="1217568632"/>
      </p:ext>
    </p:extLst>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descr="classical swine fever | CABI Compendium"/>
          <p:cNvPicPr>
            <a:picLocks noChangeAspect="1" noChangeArrowheads="1"/>
          </p:cNvPicPr>
          <p:nvPr/>
        </p:nvPicPr>
        <p:blipFill>
          <a:blip r:embed="rId2"/>
          <a:srcRect/>
          <a:stretch>
            <a:fillRect/>
          </a:stretch>
        </p:blipFill>
        <p:spPr bwMode="auto">
          <a:xfrm>
            <a:off x="95220" y="142852"/>
            <a:ext cx="4286278" cy="3214709"/>
          </a:xfrm>
          <a:prstGeom prst="rect">
            <a:avLst/>
          </a:prstGeom>
          <a:noFill/>
        </p:spPr>
      </p:pic>
      <p:pic>
        <p:nvPicPr>
          <p:cNvPr id="111620" name="Picture 4" descr="https://open.lib.umn.edu/app/uploads/sites/214/2018/11/CSF-spleen-infarcts-300x206.png"/>
          <p:cNvPicPr>
            <a:picLocks noChangeAspect="1" noChangeArrowheads="1"/>
          </p:cNvPicPr>
          <p:nvPr/>
        </p:nvPicPr>
        <p:blipFill>
          <a:blip r:embed="rId3"/>
          <a:srcRect/>
          <a:stretch>
            <a:fillRect/>
          </a:stretch>
        </p:blipFill>
        <p:spPr bwMode="auto">
          <a:xfrm>
            <a:off x="4143372" y="3357562"/>
            <a:ext cx="4767599" cy="3273752"/>
          </a:xfrm>
          <a:prstGeom prst="rect">
            <a:avLst/>
          </a:prstGeom>
          <a:noFill/>
        </p:spPr>
      </p:pic>
      <p:sp>
        <p:nvSpPr>
          <p:cNvPr id="4" name="TextBox 3"/>
          <p:cNvSpPr txBox="1"/>
          <p:nvPr/>
        </p:nvSpPr>
        <p:spPr>
          <a:xfrm>
            <a:off x="5357786" y="1142984"/>
            <a:ext cx="3786214" cy="523220"/>
          </a:xfrm>
          <a:prstGeom prst="rect">
            <a:avLst/>
          </a:prstGeom>
          <a:noFill/>
        </p:spPr>
        <p:txBody>
          <a:bodyPr wrap="square" rtlCol="0">
            <a:spAutoFit/>
          </a:bodyPr>
          <a:lstStyle/>
          <a:p>
            <a:r>
              <a:rPr lang="en-US" sz="2800" b="1" dirty="0" smtClean="0"/>
              <a:t>TURKEY EGG KIDNEY</a:t>
            </a:r>
            <a:endParaRPr lang="en-US" sz="2800" b="1" dirty="0"/>
          </a:p>
        </p:txBody>
      </p:sp>
      <p:sp>
        <p:nvSpPr>
          <p:cNvPr id="5" name="Left Arrow 4"/>
          <p:cNvSpPr/>
          <p:nvPr/>
        </p:nvSpPr>
        <p:spPr>
          <a:xfrm>
            <a:off x="4071934" y="1214422"/>
            <a:ext cx="1214446" cy="285752"/>
          </a:xfrm>
          <a:prstGeom prst="leftArrow">
            <a:avLst/>
          </a:prstGeom>
          <a:solidFill>
            <a:srgbClr val="FFFF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pPr eaLnBrk="1" hangingPunct="1"/>
            <a:r>
              <a:rPr lang="en-US" sz="3600" b="1" dirty="0" smtClean="0">
                <a:solidFill>
                  <a:srgbClr val="FF0000"/>
                </a:solidFill>
              </a:rPr>
              <a:t>Post Mortem Lesions: </a:t>
            </a:r>
            <a:br>
              <a:rPr lang="en-US" sz="3600" b="1" dirty="0" smtClean="0">
                <a:solidFill>
                  <a:srgbClr val="FF0000"/>
                </a:solidFill>
              </a:rPr>
            </a:br>
            <a:r>
              <a:rPr lang="en-US" sz="3200" b="1" dirty="0" smtClean="0">
                <a:solidFill>
                  <a:srgbClr val="FF0000"/>
                </a:solidFill>
              </a:rPr>
              <a:t>Chronic Disease</a:t>
            </a:r>
            <a:endParaRPr lang="en-US" sz="3600" b="1" dirty="0" smtClean="0">
              <a:solidFill>
                <a:srgbClr val="FF0000"/>
              </a:solidFill>
            </a:endParaRPr>
          </a:p>
        </p:txBody>
      </p:sp>
      <p:sp>
        <p:nvSpPr>
          <p:cNvPr id="36867" name="Rectangle 3"/>
          <p:cNvSpPr>
            <a:spLocks noGrp="1" noChangeArrowheads="1"/>
          </p:cNvSpPr>
          <p:nvPr>
            <p:ph idx="1"/>
          </p:nvPr>
        </p:nvSpPr>
        <p:spPr/>
        <p:txBody>
          <a:bodyPr>
            <a:normAutofit/>
          </a:bodyPr>
          <a:lstStyle/>
          <a:p>
            <a:r>
              <a:rPr lang="en-US" sz="2800" b="1" dirty="0" smtClean="0">
                <a:latin typeface="Times New Roman" pitchFamily="18" charset="0"/>
                <a:cs typeface="Times New Roman" pitchFamily="18" charset="0"/>
              </a:rPr>
              <a:t>‘Button’ ulcers in the </a:t>
            </a:r>
            <a:r>
              <a:rPr lang="en-US" sz="2800" b="1" dirty="0" err="1" smtClean="0">
                <a:latin typeface="Times New Roman" pitchFamily="18" charset="0"/>
                <a:cs typeface="Times New Roman" pitchFamily="18" charset="0"/>
              </a:rPr>
              <a:t>cecum</a:t>
            </a:r>
            <a:r>
              <a:rPr lang="en-US" sz="2800" b="1" dirty="0" smtClean="0">
                <a:latin typeface="Times New Roman" pitchFamily="18" charset="0"/>
                <a:cs typeface="Times New Roman" pitchFamily="18" charset="0"/>
              </a:rPr>
              <a:t> and large intestine mucosa </a:t>
            </a:r>
          </a:p>
          <a:p>
            <a:r>
              <a:rPr lang="en-GB" sz="2800" dirty="0" smtClean="0">
                <a:latin typeface="Times New Roman" pitchFamily="18" charset="0"/>
                <a:cs typeface="Times New Roman" pitchFamily="18" charset="0"/>
              </a:rPr>
              <a:t>The </a:t>
            </a:r>
            <a:r>
              <a:rPr lang="en-GB" sz="2800" b="1" dirty="0" smtClean="0">
                <a:latin typeface="Times New Roman" pitchFamily="18" charset="0"/>
                <a:cs typeface="Times New Roman" pitchFamily="18" charset="0"/>
              </a:rPr>
              <a:t>"turkey-egg" kidney </a:t>
            </a:r>
            <a:r>
              <a:rPr lang="en-GB" sz="2800" dirty="0" smtClean="0">
                <a:latin typeface="Times New Roman" pitchFamily="18" charset="0"/>
                <a:cs typeface="Times New Roman" pitchFamily="18" charset="0"/>
              </a:rPr>
              <a:t>is a classic lesion </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Generalised</a:t>
            </a:r>
            <a:r>
              <a:rPr lang="en-US" sz="2800" dirty="0" smtClean="0">
                <a:latin typeface="Times New Roman" pitchFamily="18" charset="0"/>
                <a:cs typeface="Times New Roman" pitchFamily="18" charset="0"/>
              </a:rPr>
              <a:t> depletion of lymphoid tissue </a:t>
            </a:r>
          </a:p>
          <a:p>
            <a:r>
              <a:rPr lang="en-US" sz="2800" dirty="0" smtClean="0">
                <a:latin typeface="Times New Roman" pitchFamily="18" charset="0"/>
                <a:cs typeface="Times New Roman" pitchFamily="18" charset="0"/>
              </a:rPr>
              <a:t> Transverse striations of </a:t>
            </a:r>
            <a:r>
              <a:rPr lang="en-US" sz="2800" dirty="0" err="1" smtClean="0">
                <a:latin typeface="Times New Roman" pitchFamily="18" charset="0"/>
                <a:cs typeface="Times New Roman" pitchFamily="18" charset="0"/>
              </a:rPr>
              <a:t>unmodelled</a:t>
            </a:r>
            <a:r>
              <a:rPr lang="en-US" sz="2800" dirty="0" smtClean="0">
                <a:latin typeface="Times New Roman" pitchFamily="18" charset="0"/>
                <a:cs typeface="Times New Roman" pitchFamily="18" charset="0"/>
              </a:rPr>
              <a:t> growth cartilage at </a:t>
            </a:r>
            <a:r>
              <a:rPr lang="en-US" sz="2800" dirty="0" err="1" smtClean="0">
                <a:latin typeface="Times New Roman" pitchFamily="18" charset="0"/>
                <a:cs typeface="Times New Roman" pitchFamily="18" charset="0"/>
              </a:rPr>
              <a:t>costochondral</a:t>
            </a:r>
            <a:r>
              <a:rPr lang="en-US" sz="2800" dirty="0" smtClean="0">
                <a:latin typeface="Times New Roman" pitchFamily="18" charset="0"/>
                <a:cs typeface="Times New Roman" pitchFamily="18" charset="0"/>
              </a:rPr>
              <a:t> junctions in growing pigs </a:t>
            </a:r>
          </a:p>
          <a:p>
            <a:r>
              <a:rPr lang="en-US" sz="2800" dirty="0" smtClean="0">
                <a:latin typeface="Times New Roman" pitchFamily="18" charset="0"/>
                <a:cs typeface="Times New Roman" pitchFamily="18" charset="0"/>
              </a:rPr>
              <a:t> Hemorrhagic and inflammatory lesions are often absent</a:t>
            </a:r>
          </a:p>
        </p:txBody>
      </p:sp>
      <p:sp>
        <p:nvSpPr>
          <p:cNvPr id="36868" name="Footer Placeholder 4"/>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spTree>
    <p:extLst>
      <p:ext uri="{BB962C8B-B14F-4D97-AF65-F5344CB8AC3E}">
        <p14:creationId xmlns:p14="http://schemas.microsoft.com/office/powerpoint/2010/main" xmlns="" val="3795700412"/>
      </p:ext>
    </p:extLst>
  </p:cSld>
  <p:clrMapOvr>
    <a:masterClrMapping/>
  </p:clrMapOvr>
  <p:transition spd="slow"/>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utton ulcers in large intestine | Download Scientific Diagram"/>
          <p:cNvPicPr>
            <a:picLocks noChangeAspect="1" noChangeArrowheads="1"/>
          </p:cNvPicPr>
          <p:nvPr/>
        </p:nvPicPr>
        <p:blipFill>
          <a:blip r:embed="rId2"/>
          <a:srcRect/>
          <a:stretch>
            <a:fillRect/>
          </a:stretch>
        </p:blipFill>
        <p:spPr bwMode="auto">
          <a:xfrm>
            <a:off x="1285852" y="261571"/>
            <a:ext cx="5929354" cy="4441294"/>
          </a:xfrm>
          <a:prstGeom prst="rect">
            <a:avLst/>
          </a:prstGeom>
          <a:noFill/>
        </p:spPr>
      </p:pic>
      <p:sp>
        <p:nvSpPr>
          <p:cNvPr id="5" name="TextBox 4"/>
          <p:cNvSpPr txBox="1"/>
          <p:nvPr/>
        </p:nvSpPr>
        <p:spPr>
          <a:xfrm>
            <a:off x="1214414" y="4857760"/>
            <a:ext cx="5572164" cy="523220"/>
          </a:xfrm>
          <a:prstGeom prst="rect">
            <a:avLst/>
          </a:prstGeom>
          <a:noFill/>
        </p:spPr>
        <p:txBody>
          <a:bodyPr wrap="square" rtlCol="0">
            <a:spAutoFit/>
          </a:bodyPr>
          <a:lstStyle/>
          <a:p>
            <a:r>
              <a:rPr lang="en-US" sz="2800" b="1" dirty="0" smtClean="0"/>
              <a:t>Button ulcers – chronic cases</a:t>
            </a:r>
            <a:endParaRPr lang="en-US" sz="2800"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2"/>
          <p:cNvSpPr>
            <a:spLocks noGrp="1" noChangeArrowheads="1"/>
          </p:cNvSpPr>
          <p:nvPr>
            <p:ph type="title"/>
          </p:nvPr>
        </p:nvSpPr>
        <p:spPr/>
        <p:txBody>
          <a:bodyPr/>
          <a:lstStyle/>
          <a:p>
            <a:pPr eaLnBrk="1" hangingPunct="1"/>
            <a:r>
              <a:rPr lang="en-US" dirty="0" smtClean="0">
                <a:solidFill>
                  <a:srgbClr val="FF0000"/>
                </a:solidFill>
              </a:rPr>
              <a:t>Diagnosis</a:t>
            </a:r>
          </a:p>
        </p:txBody>
      </p:sp>
      <p:sp>
        <p:nvSpPr>
          <p:cNvPr id="38915" name="Rectangle 13"/>
          <p:cNvSpPr>
            <a:spLocks noGrp="1" noChangeArrowheads="1"/>
          </p:cNvSpPr>
          <p:nvPr>
            <p:ph idx="1"/>
          </p:nvPr>
        </p:nvSpPr>
        <p:spPr/>
        <p:txBody>
          <a:bodyPr/>
          <a:lstStyle/>
          <a:p>
            <a:pPr eaLnBrk="1" hangingPunct="1">
              <a:lnSpc>
                <a:spcPct val="85000"/>
              </a:lnSpc>
            </a:pPr>
            <a:r>
              <a:rPr lang="en-US" dirty="0" smtClean="0">
                <a:latin typeface="Times New Roman" pitchFamily="18" charset="0"/>
                <a:cs typeface="Times New Roman" pitchFamily="18" charset="0"/>
              </a:rPr>
              <a:t>Suspect CSF in pigs with</a:t>
            </a:r>
          </a:p>
          <a:p>
            <a:pPr lvl="1" eaLnBrk="1" hangingPunct="1">
              <a:lnSpc>
                <a:spcPct val="85000"/>
              </a:lnSpc>
            </a:pPr>
            <a:r>
              <a:rPr lang="en-US" dirty="0" smtClean="0">
                <a:latin typeface="Times New Roman" pitchFamily="18" charset="0"/>
                <a:cs typeface="Times New Roman" pitchFamily="18" charset="0"/>
              </a:rPr>
              <a:t>Septicemia and high fever</a:t>
            </a:r>
          </a:p>
          <a:p>
            <a:pPr lvl="1" eaLnBrk="1" hangingPunct="1">
              <a:lnSpc>
                <a:spcPct val="85000"/>
              </a:lnSpc>
            </a:pPr>
            <a:r>
              <a:rPr lang="en-US" dirty="0" smtClean="0">
                <a:latin typeface="Times New Roman" pitchFamily="18" charset="0"/>
                <a:cs typeface="Times New Roman" pitchFamily="18" charset="0"/>
              </a:rPr>
              <a:t>History of garbage/scrap feeding</a:t>
            </a:r>
          </a:p>
          <a:p>
            <a:pPr eaLnBrk="1" hangingPunct="1"/>
            <a:r>
              <a:rPr lang="en-US" dirty="0" smtClean="0">
                <a:latin typeface="Times New Roman" pitchFamily="18" charset="0"/>
                <a:cs typeface="Times New Roman" pitchFamily="18" charset="0"/>
              </a:rPr>
              <a:t>Diagnosis impossible without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laboratory confirmation</a:t>
            </a:r>
          </a:p>
          <a:p>
            <a:pPr eaLnBrk="1" hangingPunct="1"/>
            <a:r>
              <a:rPr lang="en-US" dirty="0" smtClean="0">
                <a:latin typeface="Times New Roman" pitchFamily="18" charset="0"/>
                <a:cs typeface="Times New Roman" pitchFamily="18" charset="0"/>
              </a:rPr>
              <a:t>Tonsil samples - preferred</a:t>
            </a:r>
          </a:p>
          <a:p>
            <a:pPr eaLnBrk="1" hangingPunct="1">
              <a:lnSpc>
                <a:spcPct val="85000"/>
              </a:lnSpc>
            </a:pPr>
            <a:endParaRPr lang="en-US" dirty="0" smtClean="0">
              <a:latin typeface="Times New Roman" pitchFamily="18" charset="0"/>
              <a:cs typeface="Times New Roman" pitchFamily="18" charset="0"/>
            </a:endParaRPr>
          </a:p>
        </p:txBody>
      </p:sp>
      <p:sp>
        <p:nvSpPr>
          <p:cNvPr id="38916" name="Footer Placeholder 4"/>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spTree>
    <p:extLst>
      <p:ext uri="{BB962C8B-B14F-4D97-AF65-F5344CB8AC3E}">
        <p14:creationId xmlns:p14="http://schemas.microsoft.com/office/powerpoint/2010/main" xmlns="" val="1983650320"/>
      </p:ext>
    </p:extLst>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b="1" dirty="0" smtClean="0">
                <a:solidFill>
                  <a:srgbClr val="FF0000"/>
                </a:solidFill>
                <a:latin typeface="Times New Roman" pitchFamily="18" charset="0"/>
                <a:cs typeface="Times New Roman" pitchFamily="18" charset="0"/>
              </a:rPr>
              <a:t>Diagnostic Tests</a:t>
            </a:r>
          </a:p>
        </p:txBody>
      </p:sp>
      <p:sp>
        <p:nvSpPr>
          <p:cNvPr id="40963" name="Rectangle 3"/>
          <p:cNvSpPr>
            <a:spLocks noGrp="1" noChangeArrowheads="1"/>
          </p:cNvSpPr>
          <p:nvPr>
            <p:ph idx="1"/>
          </p:nvPr>
        </p:nvSpPr>
        <p:spPr/>
        <p:txBody>
          <a:bodyPr/>
          <a:lstStyle/>
          <a:p>
            <a:pPr eaLnBrk="1" hangingPunct="1"/>
            <a:r>
              <a:rPr lang="en-US" dirty="0" smtClean="0">
                <a:latin typeface="Times New Roman" pitchFamily="18" charset="0"/>
                <a:cs typeface="Times New Roman" pitchFamily="18" charset="0"/>
              </a:rPr>
              <a:t>Detect virus, antigens, nucleic acids</a:t>
            </a:r>
          </a:p>
          <a:p>
            <a:pPr lvl="1" eaLnBrk="1" hangingPunct="1"/>
            <a:r>
              <a:rPr lang="en-US" dirty="0" smtClean="0">
                <a:latin typeface="Times New Roman" pitchFamily="18" charset="0"/>
                <a:cs typeface="Times New Roman" pitchFamily="18" charset="0"/>
              </a:rPr>
              <a:t>Tissue samples (tonsils, spleen, kidneys, distal ileum)</a:t>
            </a:r>
          </a:p>
          <a:p>
            <a:pPr lvl="1" eaLnBrk="1" hangingPunct="1"/>
            <a:r>
              <a:rPr lang="en-US" dirty="0" smtClean="0">
                <a:latin typeface="Times New Roman" pitchFamily="18" charset="0"/>
                <a:cs typeface="Times New Roman" pitchFamily="18" charset="0"/>
              </a:rPr>
              <a:t>Whole blood</a:t>
            </a:r>
          </a:p>
          <a:p>
            <a:pPr lvl="1" eaLnBrk="1" hangingPunct="1"/>
            <a:r>
              <a:rPr lang="en-US" dirty="0" smtClean="0">
                <a:latin typeface="Times New Roman" pitchFamily="18" charset="0"/>
                <a:cs typeface="Times New Roman" pitchFamily="18" charset="0"/>
              </a:rPr>
              <a:t>ELISA or direct </a:t>
            </a:r>
            <a:r>
              <a:rPr lang="en-US" dirty="0" err="1" smtClean="0">
                <a:latin typeface="Times New Roman" pitchFamily="18" charset="0"/>
                <a:cs typeface="Times New Roman" pitchFamily="18" charset="0"/>
              </a:rPr>
              <a:t>immunofluorescence</a:t>
            </a:r>
            <a:r>
              <a:rPr lang="en-US" dirty="0" smtClean="0">
                <a:latin typeface="Times New Roman" pitchFamily="18" charset="0"/>
                <a:cs typeface="Times New Roman" pitchFamily="18" charset="0"/>
              </a:rPr>
              <a:t> </a:t>
            </a:r>
          </a:p>
          <a:p>
            <a:pPr eaLnBrk="1" hangingPunct="1"/>
            <a:r>
              <a:rPr lang="en-US" dirty="0" smtClean="0">
                <a:latin typeface="Times New Roman" pitchFamily="18" charset="0"/>
                <a:cs typeface="Times New Roman" pitchFamily="18" charset="0"/>
              </a:rPr>
              <a:t>Serology</a:t>
            </a:r>
          </a:p>
          <a:p>
            <a:pPr lvl="1" eaLnBrk="1" hangingPunct="1"/>
            <a:r>
              <a:rPr lang="en-US" dirty="0" smtClean="0">
                <a:latin typeface="Times New Roman" pitchFamily="18" charset="0"/>
                <a:cs typeface="Times New Roman" pitchFamily="18" charset="0"/>
              </a:rPr>
              <a:t>ELISA or virus neutralization</a:t>
            </a:r>
          </a:p>
          <a:p>
            <a:pPr lvl="1" eaLnBrk="1" hangingPunct="1"/>
            <a:r>
              <a:rPr lang="en-US" dirty="0" smtClean="0">
                <a:latin typeface="Times New Roman" pitchFamily="18" charset="0"/>
                <a:cs typeface="Times New Roman" pitchFamily="18" charset="0"/>
              </a:rPr>
              <a:t>Comparative neutralization test</a:t>
            </a:r>
          </a:p>
        </p:txBody>
      </p:sp>
      <p:sp>
        <p:nvSpPr>
          <p:cNvPr id="40964" name="Footer Placeholder 4"/>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spTree>
    <p:extLst>
      <p:ext uri="{BB962C8B-B14F-4D97-AF65-F5344CB8AC3E}">
        <p14:creationId xmlns:p14="http://schemas.microsoft.com/office/powerpoint/2010/main" xmlns="" val="3790318133"/>
      </p:ext>
    </p:extLst>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title"/>
          </p:nvPr>
        </p:nvSpPr>
        <p:spPr/>
        <p:txBody>
          <a:bodyPr/>
          <a:lstStyle/>
          <a:p>
            <a:pPr eaLnBrk="1" hangingPunct="1"/>
            <a:r>
              <a:rPr lang="en-US" dirty="0" smtClean="0">
                <a:solidFill>
                  <a:srgbClr val="FF0000"/>
                </a:solidFill>
              </a:rPr>
              <a:t>Treatment </a:t>
            </a:r>
          </a:p>
        </p:txBody>
      </p:sp>
      <p:sp>
        <p:nvSpPr>
          <p:cNvPr id="41988" name="Footer Placeholder 4"/>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sp>
        <p:nvSpPr>
          <p:cNvPr id="5" name="Content Placeholder 4"/>
          <p:cNvSpPr>
            <a:spLocks noGrp="1"/>
          </p:cNvSpPr>
          <p:nvPr>
            <p:ph idx="1"/>
          </p:nvPr>
        </p:nvSpPr>
        <p:spPr/>
        <p:txBody>
          <a:bodyPr/>
          <a:lstStyle/>
          <a:p>
            <a:r>
              <a:rPr lang="en-GB" dirty="0" smtClean="0"/>
              <a:t>No treatment is possible. </a:t>
            </a:r>
          </a:p>
          <a:p>
            <a:r>
              <a:rPr lang="en-GB" dirty="0" smtClean="0"/>
              <a:t>Affected pigs must be slaughtered and the carcasses buried or incinerated.</a:t>
            </a:r>
            <a:endParaRPr lang="en-US" dirty="0"/>
          </a:p>
        </p:txBody>
      </p:sp>
    </p:spTree>
    <p:extLst>
      <p:ext uri="{BB962C8B-B14F-4D97-AF65-F5344CB8AC3E}">
        <p14:creationId xmlns:p14="http://schemas.microsoft.com/office/powerpoint/2010/main" xmlns="" val="319714457"/>
      </p:ext>
    </p:extLst>
  </p:cSld>
  <p:clrMapOvr>
    <a:masterClrMapping/>
  </p:clrMapOvr>
  <p:transition spd="slow"/>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8"/>
          <p:cNvSpPr>
            <a:spLocks noGrp="1" noChangeArrowheads="1"/>
          </p:cNvSpPr>
          <p:nvPr>
            <p:ph type="title"/>
          </p:nvPr>
        </p:nvSpPr>
        <p:spPr/>
        <p:txBody>
          <a:bodyPr/>
          <a:lstStyle/>
          <a:p>
            <a:pPr eaLnBrk="1" hangingPunct="1"/>
            <a:r>
              <a:rPr lang="en-US" smtClean="0"/>
              <a:t>Disease Control</a:t>
            </a:r>
          </a:p>
        </p:txBody>
      </p:sp>
      <p:sp>
        <p:nvSpPr>
          <p:cNvPr id="48131" name="Content Placeholder 5"/>
          <p:cNvSpPr>
            <a:spLocks noGrp="1"/>
          </p:cNvSpPr>
          <p:nvPr>
            <p:ph idx="1"/>
          </p:nvPr>
        </p:nvSpPr>
        <p:spPr/>
        <p:txBody>
          <a:bodyPr>
            <a:normAutofit lnSpcReduction="10000"/>
          </a:bodyPr>
          <a:lstStyle/>
          <a:p>
            <a:pPr eaLnBrk="1" hangingPunct="1"/>
            <a:r>
              <a:rPr lang="en-US" smtClean="0"/>
              <a:t>Disinfectants</a:t>
            </a:r>
          </a:p>
          <a:p>
            <a:pPr lvl="1" eaLnBrk="1" hangingPunct="1"/>
            <a:r>
              <a:rPr lang="en-US" smtClean="0"/>
              <a:t>Sodium hypochlorite</a:t>
            </a:r>
          </a:p>
          <a:p>
            <a:pPr lvl="1" eaLnBrk="1" hangingPunct="1"/>
            <a:r>
              <a:rPr lang="en-US" smtClean="0"/>
              <a:t>Phenolic compounds</a:t>
            </a:r>
          </a:p>
          <a:p>
            <a:pPr eaLnBrk="1" hangingPunct="1"/>
            <a:r>
              <a:rPr lang="en-US" smtClean="0"/>
              <a:t>Virus sensitive to</a:t>
            </a:r>
          </a:p>
          <a:p>
            <a:pPr lvl="1" eaLnBrk="1" hangingPunct="1"/>
            <a:r>
              <a:rPr lang="en-US" smtClean="0"/>
              <a:t>Drying</a:t>
            </a:r>
          </a:p>
          <a:p>
            <a:pPr lvl="1" eaLnBrk="1" hangingPunct="1"/>
            <a:r>
              <a:rPr lang="en-US" smtClean="0"/>
              <a:t>Ultraviolet light</a:t>
            </a:r>
          </a:p>
          <a:p>
            <a:pPr lvl="1" eaLnBrk="1" hangingPunct="1"/>
            <a:r>
              <a:rPr lang="en-US" smtClean="0"/>
              <a:t>pH &lt;3 or &gt;11</a:t>
            </a:r>
          </a:p>
          <a:p>
            <a:pPr eaLnBrk="1" hangingPunct="1"/>
            <a:r>
              <a:rPr lang="en-US" smtClean="0"/>
              <a:t>Killed at high temperatures </a:t>
            </a:r>
          </a:p>
          <a:p>
            <a:pPr lvl="1" eaLnBrk="1" hangingPunct="1"/>
            <a:r>
              <a:rPr lang="en-US" smtClean="0"/>
              <a:t>150</a:t>
            </a:r>
            <a:r>
              <a:rPr lang="en-US" baseline="30000" smtClean="0"/>
              <a:t>o</a:t>
            </a:r>
            <a:r>
              <a:rPr lang="en-US" smtClean="0"/>
              <a:t>F for 30 minutes; 160</a:t>
            </a:r>
            <a:r>
              <a:rPr lang="en-US" baseline="30000" smtClean="0"/>
              <a:t>o</a:t>
            </a:r>
            <a:r>
              <a:rPr lang="en-US" smtClean="0"/>
              <a:t>F 1 minute</a:t>
            </a:r>
          </a:p>
        </p:txBody>
      </p:sp>
      <p:sp>
        <p:nvSpPr>
          <p:cNvPr id="48132" name="Footer Placeholder 4"/>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pic>
        <p:nvPicPr>
          <p:cNvPr id="48133" name="Picture 16" descr="disinfectant with pump DBW"/>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264275" y="1700213"/>
            <a:ext cx="2079625" cy="2771775"/>
          </a:xfrm>
          <a:prstGeom prst="rect">
            <a:avLst/>
          </a:prstGeom>
          <a:noFill/>
          <a:ln w="28575">
            <a:solidFill>
              <a:srgbClr val="E5B429"/>
            </a:solidFill>
            <a:miter lim="800000"/>
            <a:headEnd/>
            <a:tailEnd/>
          </a:ln>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253034998"/>
      </p:ext>
    </p:extLst>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dirty="0" smtClean="0">
                <a:solidFill>
                  <a:srgbClr val="FF0000"/>
                </a:solidFill>
              </a:rPr>
              <a:t>Prevention</a:t>
            </a:r>
          </a:p>
        </p:txBody>
      </p:sp>
      <p:sp>
        <p:nvSpPr>
          <p:cNvPr id="49155" name="Rectangle 3"/>
          <p:cNvSpPr>
            <a:spLocks noGrp="1" noChangeArrowheads="1"/>
          </p:cNvSpPr>
          <p:nvPr>
            <p:ph idx="1"/>
          </p:nvPr>
        </p:nvSpPr>
        <p:spPr/>
        <p:txBody>
          <a:bodyPr/>
          <a:lstStyle/>
          <a:p>
            <a:pPr eaLnBrk="1" hangingPunct="1"/>
            <a:r>
              <a:rPr lang="en-US" dirty="0" smtClean="0">
                <a:latin typeface="Times New Roman" pitchFamily="18" charset="0"/>
                <a:cs typeface="Times New Roman" pitchFamily="18" charset="0"/>
              </a:rPr>
              <a:t>Do not feed uncooked garbage or meat products to swine</a:t>
            </a:r>
          </a:p>
          <a:p>
            <a:pPr eaLnBrk="1" hangingPunct="1"/>
            <a:r>
              <a:rPr lang="en-US" dirty="0" smtClean="0">
                <a:latin typeface="Times New Roman" pitchFamily="18" charset="0"/>
                <a:cs typeface="Times New Roman" pitchFamily="18" charset="0"/>
              </a:rPr>
              <a:t>Minimize visitors on the farm</a:t>
            </a:r>
          </a:p>
          <a:p>
            <a:pPr lvl="1" eaLnBrk="1" hangingPunct="1"/>
            <a:r>
              <a:rPr lang="en-US" dirty="0" smtClean="0">
                <a:latin typeface="Times New Roman" pitchFamily="18" charset="0"/>
                <a:cs typeface="Times New Roman" pitchFamily="18" charset="0"/>
              </a:rPr>
              <a:t>Especially those who have traveled internationally in the last 5 days</a:t>
            </a:r>
          </a:p>
          <a:p>
            <a:pPr eaLnBrk="1" hangingPunct="1"/>
            <a:r>
              <a:rPr lang="en-US" dirty="0" smtClean="0">
                <a:latin typeface="Times New Roman" pitchFamily="18" charset="0"/>
                <a:cs typeface="Times New Roman" pitchFamily="18" charset="0"/>
              </a:rPr>
              <a:t>Implement </a:t>
            </a:r>
            <a:r>
              <a:rPr lang="en-US" dirty="0" err="1" smtClean="0">
                <a:latin typeface="Times New Roman" pitchFamily="18" charset="0"/>
                <a:cs typeface="Times New Roman" pitchFamily="18" charset="0"/>
              </a:rPr>
              <a:t>biosecurity</a:t>
            </a:r>
            <a:r>
              <a:rPr lang="en-US" dirty="0" smtClean="0">
                <a:latin typeface="Times New Roman" pitchFamily="18" charset="0"/>
                <a:cs typeface="Times New Roman" pitchFamily="18" charset="0"/>
              </a:rPr>
              <a:t> measures</a:t>
            </a:r>
          </a:p>
          <a:p>
            <a:pPr lvl="1" eaLnBrk="1" hangingPunct="1"/>
            <a:r>
              <a:rPr lang="en-US" dirty="0" smtClean="0">
                <a:latin typeface="Times New Roman" pitchFamily="18" charset="0"/>
                <a:cs typeface="Times New Roman" pitchFamily="18" charset="0"/>
              </a:rPr>
              <a:t>Clean/disinfect boots</a:t>
            </a:r>
          </a:p>
          <a:p>
            <a:pPr lvl="1" eaLnBrk="1" hangingPunct="1"/>
            <a:r>
              <a:rPr lang="en-US" dirty="0" smtClean="0">
                <a:latin typeface="Times New Roman" pitchFamily="18" charset="0"/>
                <a:cs typeface="Times New Roman" pitchFamily="18" charset="0"/>
              </a:rPr>
              <a:t>Clean coveralls</a:t>
            </a:r>
          </a:p>
        </p:txBody>
      </p:sp>
      <p:sp>
        <p:nvSpPr>
          <p:cNvPr id="49156" name="Footer Placeholder 4"/>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spTree>
    <p:extLst>
      <p:ext uri="{BB962C8B-B14F-4D97-AF65-F5344CB8AC3E}">
        <p14:creationId xmlns:p14="http://schemas.microsoft.com/office/powerpoint/2010/main" xmlns="" val="1561848366"/>
      </p:ext>
    </p:extLst>
  </p:cSld>
  <p:clrMapOvr>
    <a:masterClrMapping/>
  </p:clrMapOvr>
  <p:transition spd="slow"/>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a:spLocks noGrp="1" noChangeArrowheads="1"/>
          </p:cNvSpPr>
          <p:nvPr>
            <p:ph type="title"/>
          </p:nvPr>
        </p:nvSpPr>
        <p:spPr/>
        <p:txBody>
          <a:bodyPr/>
          <a:lstStyle/>
          <a:p>
            <a:pPr eaLnBrk="1" hangingPunct="1"/>
            <a:r>
              <a:rPr lang="en-US" b="1" dirty="0" smtClean="0">
                <a:solidFill>
                  <a:srgbClr val="FF0000"/>
                </a:solidFill>
              </a:rPr>
              <a:t>Prevention</a:t>
            </a:r>
          </a:p>
        </p:txBody>
      </p:sp>
      <p:sp>
        <p:nvSpPr>
          <p:cNvPr id="50179" name="Rectangle 6"/>
          <p:cNvSpPr>
            <a:spLocks noGrp="1" noChangeArrowheads="1"/>
          </p:cNvSpPr>
          <p:nvPr>
            <p:ph idx="1"/>
          </p:nvPr>
        </p:nvSpPr>
        <p:spPr/>
        <p:txBody>
          <a:bodyPr/>
          <a:lstStyle/>
          <a:p>
            <a:pPr eaLnBrk="1" hangingPunct="1"/>
            <a:r>
              <a:rPr lang="en-US" dirty="0" smtClean="0">
                <a:latin typeface="Times New Roman" pitchFamily="18" charset="0"/>
                <a:cs typeface="Times New Roman" pitchFamily="18" charset="0"/>
              </a:rPr>
              <a:t>Monitor animals for illness or signs of disease</a:t>
            </a:r>
          </a:p>
          <a:p>
            <a:pPr lvl="1" eaLnBrk="1" hangingPunct="1"/>
            <a:r>
              <a:rPr lang="en-US" dirty="0" smtClean="0">
                <a:latin typeface="Times New Roman" pitchFamily="18" charset="0"/>
                <a:cs typeface="Times New Roman" pitchFamily="18" charset="0"/>
              </a:rPr>
              <a:t>Inspect animals daily</a:t>
            </a:r>
          </a:p>
          <a:p>
            <a:pPr lvl="1" eaLnBrk="1" hangingPunct="1"/>
            <a:r>
              <a:rPr lang="en-US" dirty="0" smtClean="0">
                <a:latin typeface="Times New Roman" pitchFamily="18" charset="0"/>
                <a:cs typeface="Times New Roman" pitchFamily="18" charset="0"/>
              </a:rPr>
              <a:t>Report sick animals</a:t>
            </a:r>
          </a:p>
          <a:p>
            <a:pPr eaLnBrk="1" hangingPunct="1"/>
            <a:r>
              <a:rPr lang="en-US" dirty="0" smtClean="0">
                <a:latin typeface="Times New Roman" pitchFamily="18" charset="0"/>
                <a:cs typeface="Times New Roman" pitchFamily="18" charset="0"/>
              </a:rPr>
              <a:t>Clean and disinfect</a:t>
            </a:r>
          </a:p>
          <a:p>
            <a:pPr lvl="1" eaLnBrk="1" hangingPunct="1"/>
            <a:r>
              <a:rPr lang="en-US" dirty="0" smtClean="0">
                <a:latin typeface="Times New Roman" pitchFamily="18" charset="0"/>
                <a:cs typeface="Times New Roman" pitchFamily="18" charset="0"/>
              </a:rPr>
              <a:t>Vehicles</a:t>
            </a:r>
          </a:p>
          <a:p>
            <a:pPr lvl="1" eaLnBrk="1" hangingPunct="1"/>
            <a:r>
              <a:rPr lang="en-US" dirty="0" smtClean="0">
                <a:latin typeface="Times New Roman" pitchFamily="18" charset="0"/>
                <a:cs typeface="Times New Roman" pitchFamily="18" charset="0"/>
              </a:rPr>
              <a:t>Equipment</a:t>
            </a:r>
          </a:p>
          <a:p>
            <a:pPr lvl="1" eaLnBrk="1" hangingPunct="1"/>
            <a:r>
              <a:rPr lang="en-US" dirty="0" smtClean="0">
                <a:latin typeface="Times New Roman" pitchFamily="18" charset="0"/>
                <a:cs typeface="Times New Roman" pitchFamily="18" charset="0"/>
              </a:rPr>
              <a:t>Boots and clothing</a:t>
            </a:r>
          </a:p>
        </p:txBody>
      </p:sp>
      <p:sp>
        <p:nvSpPr>
          <p:cNvPr id="50180" name="Footer Placeholder 4"/>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pic>
        <p:nvPicPr>
          <p:cNvPr id="50181" name="Picture 4" descr="Trailer C&amp;D NWIA DBW (9)"/>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292725" y="3132138"/>
            <a:ext cx="3419475" cy="2565400"/>
          </a:xfrm>
          <a:prstGeom prst="rect">
            <a:avLst/>
          </a:prstGeom>
          <a:noFill/>
          <a:ln w="28575">
            <a:solidFill>
              <a:srgbClr val="E5B429"/>
            </a:solidFill>
            <a:miter lim="800000"/>
            <a:headEnd/>
            <a:tailEnd/>
          </a:ln>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990423918"/>
      </p:ext>
    </p:extLst>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smtClean="0"/>
              <a:t>Prevention</a:t>
            </a:r>
          </a:p>
        </p:txBody>
      </p:sp>
      <p:sp>
        <p:nvSpPr>
          <p:cNvPr id="51203" name="Rectangle 3"/>
          <p:cNvSpPr>
            <a:spLocks noGrp="1" noChangeArrowheads="1"/>
          </p:cNvSpPr>
          <p:nvPr>
            <p:ph idx="1"/>
          </p:nvPr>
        </p:nvSpPr>
        <p:spPr/>
        <p:txBody>
          <a:bodyPr/>
          <a:lstStyle/>
          <a:p>
            <a:pPr eaLnBrk="1" hangingPunct="1"/>
            <a:r>
              <a:rPr lang="en-US" smtClean="0"/>
              <a:t>Isolate ill animals immediately</a:t>
            </a:r>
          </a:p>
          <a:p>
            <a:pPr eaLnBrk="1" hangingPunct="1"/>
            <a:r>
              <a:rPr lang="en-US" smtClean="0"/>
              <a:t>Quarantine newly introduced animals</a:t>
            </a:r>
          </a:p>
          <a:p>
            <a:pPr lvl="1" eaLnBrk="1" hangingPunct="1"/>
            <a:r>
              <a:rPr lang="en-US" smtClean="0"/>
              <a:t>Minimum of 30 days</a:t>
            </a:r>
          </a:p>
          <a:p>
            <a:pPr lvl="1" eaLnBrk="1" hangingPunct="1"/>
            <a:r>
              <a:rPr lang="en-US" smtClean="0"/>
              <a:t>New purchases, returning animals</a:t>
            </a:r>
          </a:p>
          <a:p>
            <a:pPr eaLnBrk="1" hangingPunct="1"/>
            <a:r>
              <a:rPr lang="en-US" smtClean="0"/>
              <a:t>Keep health records on every animal</a:t>
            </a:r>
          </a:p>
          <a:p>
            <a:pPr eaLnBrk="1" hangingPunct="1"/>
            <a:endParaRPr lang="en-US" smtClean="0"/>
          </a:p>
        </p:txBody>
      </p:sp>
      <p:sp>
        <p:nvSpPr>
          <p:cNvPr id="51204" name="Footer Placeholder 4"/>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spTree>
    <p:extLst>
      <p:ext uri="{BB962C8B-B14F-4D97-AF65-F5344CB8AC3E}">
        <p14:creationId xmlns:p14="http://schemas.microsoft.com/office/powerpoint/2010/main" xmlns="" val="2488713158"/>
      </p:ext>
    </p:extLst>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2"/>
          <p:cNvSpPr>
            <a:spLocks noGrp="1" noChangeArrowheads="1"/>
          </p:cNvSpPr>
          <p:nvPr>
            <p:ph type="title"/>
          </p:nvPr>
        </p:nvSpPr>
        <p:spPr/>
        <p:txBody>
          <a:bodyPr/>
          <a:lstStyle/>
          <a:p>
            <a:pPr eaLnBrk="1" hangingPunct="1"/>
            <a:r>
              <a:rPr lang="en-US" smtClean="0"/>
              <a:t>Vaccination</a:t>
            </a:r>
          </a:p>
        </p:txBody>
      </p:sp>
      <p:sp>
        <p:nvSpPr>
          <p:cNvPr id="52227" name="Rectangle 13"/>
          <p:cNvSpPr>
            <a:spLocks noGrp="1" noChangeArrowheads="1"/>
          </p:cNvSpPr>
          <p:nvPr>
            <p:ph idx="1"/>
          </p:nvPr>
        </p:nvSpPr>
        <p:spPr/>
        <p:txBody>
          <a:bodyPr/>
          <a:lstStyle/>
          <a:p>
            <a:pPr eaLnBrk="1" hangingPunct="1"/>
            <a:r>
              <a:rPr lang="en-US" dirty="0" smtClean="0"/>
              <a:t>Available in endemic countries</a:t>
            </a:r>
          </a:p>
          <a:p>
            <a:pPr lvl="1" eaLnBrk="1" hangingPunct="1"/>
            <a:r>
              <a:rPr lang="en-US" dirty="0" smtClean="0"/>
              <a:t>Protects from disease</a:t>
            </a:r>
          </a:p>
          <a:p>
            <a:pPr lvl="1" eaLnBrk="1" hangingPunct="1"/>
            <a:r>
              <a:rPr lang="en-US" dirty="0" smtClean="0"/>
              <a:t>Does not eliminate infection</a:t>
            </a:r>
          </a:p>
          <a:p>
            <a:pPr eaLnBrk="1" hangingPunct="1"/>
            <a:r>
              <a:rPr lang="en-US" dirty="0" smtClean="0"/>
              <a:t>Helpful in outbreak control</a:t>
            </a:r>
          </a:p>
        </p:txBody>
      </p:sp>
      <p:sp>
        <p:nvSpPr>
          <p:cNvPr id="52228" name="Footer Placeholder 4"/>
          <p:cNvSpPr>
            <a:spLocks noGrp="1"/>
          </p:cNvSpPr>
          <p:nvPr>
            <p:ph type="ftr" sz="quarter" idx="1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lnSpc>
                <a:spcPct val="80000"/>
              </a:lnSpc>
              <a:spcBef>
                <a:spcPct val="20000"/>
              </a:spcBef>
              <a:buClr>
                <a:srgbClr val="E9C04B"/>
              </a:buClr>
              <a:buSzPct val="80000"/>
              <a:buChar char="•"/>
              <a:defRPr>
                <a:solidFill>
                  <a:srgbClr val="DDEBFF"/>
                </a:solidFill>
                <a:latin typeface="Verdana" pitchFamily="34" charset="0"/>
              </a:defRPr>
            </a:lvl1pPr>
            <a:lvl2pPr marL="742950" indent="-285750" eaLnBrk="0" hangingPunct="0">
              <a:lnSpc>
                <a:spcPct val="80000"/>
              </a:lnSpc>
              <a:spcBef>
                <a:spcPct val="20000"/>
              </a:spcBef>
              <a:buClr>
                <a:srgbClr val="E9C04B"/>
              </a:buClr>
              <a:buSzPct val="80000"/>
              <a:buChar char="•"/>
              <a:defRPr>
                <a:solidFill>
                  <a:srgbClr val="DDEBFF"/>
                </a:solidFill>
                <a:latin typeface="Verdana" pitchFamily="34" charset="0"/>
              </a:defRPr>
            </a:lvl2pPr>
            <a:lvl3pPr marL="1143000" indent="-228600" eaLnBrk="0" hangingPunct="0">
              <a:lnSpc>
                <a:spcPct val="80000"/>
              </a:lnSpc>
              <a:spcBef>
                <a:spcPct val="20000"/>
              </a:spcBef>
              <a:buClr>
                <a:srgbClr val="E9C04B"/>
              </a:buClr>
              <a:buSzPct val="80000"/>
              <a:buChar char="•"/>
              <a:defRPr>
                <a:solidFill>
                  <a:srgbClr val="DDEBFF"/>
                </a:solidFill>
                <a:latin typeface="Verdana" pitchFamily="34" charset="0"/>
              </a:defRPr>
            </a:lvl3pPr>
            <a:lvl4pPr marL="1600200" indent="-228600" eaLnBrk="0" hangingPunct="0">
              <a:lnSpc>
                <a:spcPct val="80000"/>
              </a:lnSpc>
              <a:spcBef>
                <a:spcPct val="20000"/>
              </a:spcBef>
              <a:buClr>
                <a:srgbClr val="E9C04B"/>
              </a:buClr>
              <a:buSzPct val="80000"/>
              <a:buChar char="•"/>
              <a:defRPr>
                <a:solidFill>
                  <a:srgbClr val="DDEBFF"/>
                </a:solidFill>
                <a:latin typeface="Verdana" pitchFamily="34" charset="0"/>
              </a:defRPr>
            </a:lvl4pPr>
            <a:lvl5pPr marL="2057400" indent="-228600" eaLnBrk="0" hangingPunct="0">
              <a:lnSpc>
                <a:spcPct val="80000"/>
              </a:lnSpc>
              <a:spcBef>
                <a:spcPct val="20000"/>
              </a:spcBef>
              <a:buClr>
                <a:srgbClr val="E9C04B"/>
              </a:buClr>
              <a:buSzPct val="80000"/>
              <a:buChar char="•"/>
              <a:defRPr>
                <a:solidFill>
                  <a:srgbClr val="DDEBFF"/>
                </a:solidFill>
                <a:latin typeface="Verdana" pitchFamily="34" charset="0"/>
              </a:defRPr>
            </a:lvl5pPr>
            <a:lvl6pPr marL="25146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6pPr>
            <a:lvl7pPr marL="29718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7pPr>
            <a:lvl8pPr marL="34290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8pPr>
            <a:lvl9pPr marL="3886200" indent="-228600" eaLnBrk="0" fontAlgn="base" hangingPunct="0">
              <a:lnSpc>
                <a:spcPct val="80000"/>
              </a:lnSpc>
              <a:spcBef>
                <a:spcPct val="20000"/>
              </a:spcBef>
              <a:spcAft>
                <a:spcPct val="0"/>
              </a:spcAft>
              <a:buClr>
                <a:srgbClr val="E9C04B"/>
              </a:buClr>
              <a:buSzPct val="80000"/>
              <a:buChar char="•"/>
              <a:defRPr>
                <a:solidFill>
                  <a:srgbClr val="DDEBFF"/>
                </a:solidFill>
                <a:latin typeface="Verdana" pitchFamily="34" charset="0"/>
              </a:defRPr>
            </a:lvl9pPr>
          </a:lstStyle>
          <a:p>
            <a:pPr eaLnBrk="1" hangingPunct="1">
              <a:buFontTx/>
              <a:buNone/>
              <a:defRPr/>
            </a:pPr>
            <a:r>
              <a:rPr lang="en-US" smtClean="0">
                <a:solidFill>
                  <a:srgbClr val="FFFFFF"/>
                </a:solidFill>
              </a:rPr>
              <a:t>Center for Food Security and Public Health, Iowa State University, 2011</a:t>
            </a:r>
          </a:p>
        </p:txBody>
      </p:sp>
      <p:pic>
        <p:nvPicPr>
          <p:cNvPr id="52229" name="Picture 6" descr="piggie peeking"/>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659563" y="2384425"/>
            <a:ext cx="1981200" cy="1509713"/>
          </a:xfrm>
          <a:prstGeom prst="rect">
            <a:avLst/>
          </a:prstGeom>
          <a:noFill/>
          <a:ln w="28575">
            <a:solidFill>
              <a:srgbClr val="E5B429"/>
            </a:solidFill>
            <a:miter lim="800000"/>
            <a:headEnd/>
            <a:tailEnd/>
          </a:ln>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533951096"/>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Helvetica"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Helvetica"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CFSPH PPT Template 2012">
  <a:themeElements>
    <a:clrScheme name="Custom 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C000"/>
      </a:hlink>
      <a:folHlink>
        <a:srgbClr val="FFFF00"/>
      </a:folHlink>
    </a:clrScheme>
    <a:fontScheme name="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rgbClr val="E4B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8575" cap="flat" cmpd="sng" algn="ctr">
          <a:solidFill>
            <a:srgbClr val="E4B9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1489</TotalTime>
  <Words>2611</Words>
  <Application>Microsoft Office PowerPoint</Application>
  <PresentationFormat>On-screen Show (4:3)</PresentationFormat>
  <Paragraphs>271</Paragraphs>
  <Slides>45</Slides>
  <Notes>13</Notes>
  <HiddenSlides>0</HiddenSlides>
  <MMClips>0</MMClips>
  <ScaleCrop>false</ScaleCrop>
  <HeadingPairs>
    <vt:vector size="4" baseType="variant">
      <vt:variant>
        <vt:lpstr>Theme</vt:lpstr>
      </vt:variant>
      <vt:variant>
        <vt:i4>4</vt:i4>
      </vt:variant>
      <vt:variant>
        <vt:lpstr>Slide Titles</vt:lpstr>
      </vt:variant>
      <vt:variant>
        <vt:i4>45</vt:i4>
      </vt:variant>
    </vt:vector>
  </HeadingPairs>
  <TitlesOfParts>
    <vt:vector size="49" baseType="lpstr">
      <vt:lpstr>Office Theme</vt:lpstr>
      <vt:lpstr>2_Blank Presentation</vt:lpstr>
      <vt:lpstr>3_Blank Presentation</vt:lpstr>
      <vt:lpstr>1_CFSPH PPT Template 2012</vt:lpstr>
      <vt:lpstr>FLAVIVIRIDAE</vt:lpstr>
      <vt:lpstr>Slide 2</vt:lpstr>
      <vt:lpstr>Morphology </vt:lpstr>
      <vt:lpstr>Slide 4</vt:lpstr>
      <vt:lpstr>Slide 5</vt:lpstr>
      <vt:lpstr>GENOME</vt:lpstr>
      <vt:lpstr>Slide 7</vt:lpstr>
      <vt:lpstr>Slide 8</vt:lpstr>
      <vt:lpstr>Replication </vt:lpstr>
      <vt:lpstr>Slide 10</vt:lpstr>
      <vt:lpstr>Slide 11</vt:lpstr>
      <vt:lpstr>Stability </vt:lpstr>
      <vt:lpstr>Bovine viral diarrhoea (BVD) and Mucosal disease complex</vt:lpstr>
      <vt:lpstr>Clinical Signs</vt:lpstr>
      <vt:lpstr>Slide 15</vt:lpstr>
      <vt:lpstr>Infection of pregnant cows </vt:lpstr>
      <vt:lpstr>Slide 17</vt:lpstr>
      <vt:lpstr>Slide 18</vt:lpstr>
      <vt:lpstr>Slide 19</vt:lpstr>
      <vt:lpstr>Slide 20</vt:lpstr>
      <vt:lpstr>Slide 21</vt:lpstr>
      <vt:lpstr>Slide 22</vt:lpstr>
      <vt:lpstr>Pathogenesis</vt:lpstr>
      <vt:lpstr>Diagnostic procedures</vt:lpstr>
      <vt:lpstr>Vaccines</vt:lpstr>
      <vt:lpstr>HOG CHOLERA or CLASSICAL SWINE FEVER (CSF)</vt:lpstr>
      <vt:lpstr>Introduction </vt:lpstr>
      <vt:lpstr>Morbidity and Mortality</vt:lpstr>
      <vt:lpstr>Animal Transmission</vt:lpstr>
      <vt:lpstr>Pathogenesis</vt:lpstr>
      <vt:lpstr>Clinical signs in acute cases</vt:lpstr>
      <vt:lpstr>Clinical Signs: Subacute/Chronic Disease</vt:lpstr>
      <vt:lpstr>Slide 33</vt:lpstr>
      <vt:lpstr>Post Mortem Lesions:  Acute Disease</vt:lpstr>
      <vt:lpstr>Slide 35</vt:lpstr>
      <vt:lpstr>Post Mortem Lesions:  Chronic Disease</vt:lpstr>
      <vt:lpstr>Slide 37</vt:lpstr>
      <vt:lpstr>Diagnosis</vt:lpstr>
      <vt:lpstr>Diagnostic Tests</vt:lpstr>
      <vt:lpstr>Treatment </vt:lpstr>
      <vt:lpstr>Disease Control</vt:lpstr>
      <vt:lpstr>Prevention</vt:lpstr>
      <vt:lpstr>Prevention</vt:lpstr>
      <vt:lpstr>Prevention</vt:lpstr>
      <vt:lpstr>Vaccination</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FLAVIVIRIDAE</dc:title>
  <dc:creator>Sunil Maherchandani</dc:creator>
  <cp:lastModifiedBy>RATHORE</cp:lastModifiedBy>
  <cp:revision>109</cp:revision>
  <dcterms:created xsi:type="dcterms:W3CDTF">2006-08-16T00:00:00Z</dcterms:created>
  <dcterms:modified xsi:type="dcterms:W3CDTF">2025-08-04T07:08:51Z</dcterms:modified>
</cp:coreProperties>
</file>