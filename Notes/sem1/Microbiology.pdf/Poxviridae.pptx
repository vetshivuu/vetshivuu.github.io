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Lst>
  <p:notesMasterIdLst>
    <p:notesMasterId r:id="rId43"/>
  </p:notesMasterIdLst>
  <p:sldIdLst>
    <p:sldId id="256" r:id="rId2"/>
    <p:sldId id="345" r:id="rId3"/>
    <p:sldId id="257" r:id="rId4"/>
    <p:sldId id="269" r:id="rId5"/>
    <p:sldId id="318" r:id="rId6"/>
    <p:sldId id="319" r:id="rId7"/>
    <p:sldId id="346" r:id="rId8"/>
    <p:sldId id="317" r:id="rId9"/>
    <p:sldId id="332" r:id="rId10"/>
    <p:sldId id="333" r:id="rId11"/>
    <p:sldId id="322" r:id="rId12"/>
    <p:sldId id="323" r:id="rId13"/>
    <p:sldId id="324" r:id="rId14"/>
    <p:sldId id="334" r:id="rId15"/>
    <p:sldId id="315" r:id="rId16"/>
    <p:sldId id="335" r:id="rId17"/>
    <p:sldId id="336" r:id="rId18"/>
    <p:sldId id="339" r:id="rId19"/>
    <p:sldId id="325" r:id="rId20"/>
    <p:sldId id="327" r:id="rId21"/>
    <p:sldId id="338" r:id="rId22"/>
    <p:sldId id="331" r:id="rId23"/>
    <p:sldId id="341" r:id="rId24"/>
    <p:sldId id="342" r:id="rId25"/>
    <p:sldId id="328" r:id="rId26"/>
    <p:sldId id="340" r:id="rId27"/>
    <p:sldId id="337" r:id="rId28"/>
    <p:sldId id="272" r:id="rId29"/>
    <p:sldId id="329" r:id="rId30"/>
    <p:sldId id="273" r:id="rId31"/>
    <p:sldId id="290" r:id="rId32"/>
    <p:sldId id="291" r:id="rId33"/>
    <p:sldId id="292" r:id="rId34"/>
    <p:sldId id="293" r:id="rId35"/>
    <p:sldId id="294" r:id="rId36"/>
    <p:sldId id="296" r:id="rId37"/>
    <p:sldId id="343" r:id="rId38"/>
    <p:sldId id="344" r:id="rId39"/>
    <p:sldId id="297" r:id="rId40"/>
    <p:sldId id="298" r:id="rId41"/>
    <p:sldId id="300" r:id="rId4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30" autoAdjust="0"/>
    <p:restoredTop sz="94641" autoAdjust="0"/>
  </p:normalViewPr>
  <p:slideViewPr>
    <p:cSldViewPr>
      <p:cViewPr>
        <p:scale>
          <a:sx n="70" d="100"/>
          <a:sy n="70" d="100"/>
        </p:scale>
        <p:origin x="-1156" y="68"/>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98829C7-B884-4685-A5DB-7DA80662A5D2}" type="datetimeFigureOut">
              <a:rPr lang="en-US" smtClean="0"/>
              <a:pPr/>
              <a:t>4/15/2025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4E4414B-9E66-41F8-B999-CF0D50DC968A}" type="slidenum">
              <a:rPr lang="en-US" smtClean="0"/>
              <a:pPr/>
              <a:t>‹#›</a:t>
            </a:fld>
            <a:endParaRPr lang="en-US"/>
          </a:p>
        </p:txBody>
      </p:sp>
    </p:spTree>
    <p:extLst>
      <p:ext uri="{BB962C8B-B14F-4D97-AF65-F5344CB8AC3E}">
        <p14:creationId xmlns="" xmlns:p14="http://schemas.microsoft.com/office/powerpoint/2010/main" val="6021949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4E4414B-9E66-41F8-B999-CF0D50DC968A}"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4E4414B-9E66-41F8-B999-CF0D50DC968A}" type="slidenum">
              <a:rPr lang="en-US" smtClean="0"/>
              <a:pPr/>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p>
            <a:fld id="{7AAD1DE7-69F2-4121-ACEB-A0420412607D}" type="slidenum">
              <a:rPr lang="en-US"/>
              <a:pPr/>
              <a:t>4</a:t>
            </a:fld>
            <a:endParaRPr lang="en-US"/>
          </a:p>
        </p:txBody>
      </p:sp>
      <p:sp>
        <p:nvSpPr>
          <p:cNvPr id="44035" name="Rectangle 2"/>
          <p:cNvSpPr>
            <a:spLocks noGrp="1" noRot="1" noChangeAspect="1" noChangeArrowheads="1"/>
          </p:cNvSpPr>
          <p:nvPr>
            <p:ph type="sldImg"/>
          </p:nvPr>
        </p:nvSpPr>
        <p:spPr>
          <a:solidFill>
            <a:srgbClr val="FFFFFF"/>
          </a:solidFill>
          <a:ln/>
        </p:spPr>
      </p:sp>
      <p:sp>
        <p:nvSpPr>
          <p:cNvPr id="44036"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smtClean="0">
              <a:latin typeface="Arial" charset="0"/>
              <a:ea typeface="ＭＳ Ｐゴシック" pitchFamily="-108"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4E4414B-9E66-41F8-B999-CF0D50DC968A}" type="slidenum">
              <a:rPr lang="en-US" smtClean="0"/>
              <a:pPr/>
              <a:t>8</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4E4414B-9E66-41F8-B999-CF0D50DC968A}" type="slidenum">
              <a:rPr lang="en-US" smtClean="0"/>
              <a:pPr/>
              <a:t>28</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4E4414B-9E66-41F8-B999-CF0D50DC968A}" type="slidenum">
              <a:rPr lang="en-US" smtClean="0"/>
              <a:pPr/>
              <a:t>30</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AACE719-A069-4271-8C4F-9794E0DE5291}" type="slidenum">
              <a:rPr lang="en-US"/>
              <a:pPr/>
              <a:t>31</a:t>
            </a:fld>
            <a:endParaRPr lang="en-US"/>
          </a:p>
        </p:txBody>
      </p:sp>
      <p:sp>
        <p:nvSpPr>
          <p:cNvPr id="348162" name="Rectangle 2"/>
          <p:cNvSpPr>
            <a:spLocks noGrp="1" noRot="1" noChangeAspect="1" noChangeArrowheads="1" noTextEdit="1"/>
          </p:cNvSpPr>
          <p:nvPr>
            <p:ph type="sldImg"/>
          </p:nvPr>
        </p:nvSpPr>
        <p:spPr>
          <a:ln/>
        </p:spPr>
      </p:sp>
      <p:sp>
        <p:nvSpPr>
          <p:cNvPr id="348163" name="Rectangle 3"/>
          <p:cNvSpPr>
            <a:spLocks noGrp="1" noChangeArrowheads="1"/>
          </p:cNvSpPr>
          <p:nvPr>
            <p:ph type="body" idx="1"/>
          </p:nvPr>
        </p:nvSpPr>
        <p:spPr/>
        <p:txBody>
          <a:bodyPr/>
          <a:lstStyle/>
          <a:p>
            <a:r>
              <a:rPr lang="en-US" dirty="0"/>
              <a:t>The most likely manner for sheep pox or goat pox to enter a new area is by introduction of infected animals. Restrictions on the movement of animals and animal products (meat, hair, wool, and hides) are essential to prevent introduction of the disease. Wool, hair, and hides must be subjected to suitable decontamination procedures before entry into non-endemic areas. </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29EF512-ABF9-4CA4-B0D4-6909CCEED319}" type="slidenum">
              <a:rPr lang="en-US"/>
              <a:pPr/>
              <a:t>32</a:t>
            </a:fld>
            <a:endParaRPr lang="en-US"/>
          </a:p>
        </p:txBody>
      </p:sp>
      <p:sp>
        <p:nvSpPr>
          <p:cNvPr id="356354" name="Rectangle 2"/>
          <p:cNvSpPr>
            <a:spLocks noGrp="1" noRot="1" noChangeAspect="1" noChangeArrowheads="1" noTextEdit="1"/>
          </p:cNvSpPr>
          <p:nvPr>
            <p:ph type="sldImg"/>
          </p:nvPr>
        </p:nvSpPr>
        <p:spPr>
          <a:ln/>
        </p:spPr>
      </p:sp>
      <p:sp>
        <p:nvSpPr>
          <p:cNvPr id="356355" name="Rectangle 3"/>
          <p:cNvSpPr>
            <a:spLocks noGrp="1" noChangeArrowheads="1"/>
          </p:cNvSpPr>
          <p:nvPr>
            <p:ph type="body" idx="1"/>
          </p:nvPr>
        </p:nvSpPr>
        <p:spPr/>
        <p:txBody>
          <a:bodyPr/>
          <a:lstStyle/>
          <a:p>
            <a:r>
              <a:rPr lang="en-US" sz="1000" dirty="0"/>
              <a:t>The most effective means of controlling losses in an endemic area is vaccination. However, even with vaccination, consideration still should be given to eliminating infected and exposed herds by slaughter, proper disposal of animals and contaminated material, and by cleaning and disinfecting contaminated premises, equipment, and facilities. If the disease has spread extensively in an endemic area, massive vaccination followed by cessation of vaccination and control of animal movements from the area represent a strong strategy to control and eradicate sheep and goat pox.  </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D30A593-30C9-4E84-ACF1-FE83BD47AD9A}" type="slidenum">
              <a:rPr lang="en-US"/>
              <a:pPr/>
              <a:t>33</a:t>
            </a:fld>
            <a:endParaRPr lang="en-US"/>
          </a:p>
        </p:txBody>
      </p:sp>
      <p:sp>
        <p:nvSpPr>
          <p:cNvPr id="350210" name="Rectangle 2"/>
          <p:cNvSpPr>
            <a:spLocks noGrp="1" noRot="1" noChangeAspect="1" noChangeArrowheads="1" noTextEdit="1"/>
          </p:cNvSpPr>
          <p:nvPr>
            <p:ph type="sldImg"/>
          </p:nvPr>
        </p:nvSpPr>
        <p:spPr>
          <a:ln/>
        </p:spPr>
      </p:sp>
      <p:sp>
        <p:nvSpPr>
          <p:cNvPr id="350211" name="Rectangle 3"/>
          <p:cNvSpPr>
            <a:spLocks noGrp="1" noChangeArrowheads="1"/>
          </p:cNvSpPr>
          <p:nvPr>
            <p:ph type="body" idx="1"/>
          </p:nvPr>
        </p:nvSpPr>
        <p:spPr/>
        <p:txBody>
          <a:bodyPr/>
          <a:lstStyle/>
          <a:p>
            <a:r>
              <a:rPr lang="en-US" dirty="0"/>
              <a:t>If a small scale outbreak of sheep or goat pox occurs in an area usually free of it, place a quarantine around the infected area, slaughter infected and exposed animals and clean and disinfect the premises. Consider ring vaccination. A carrier state has not been shown for SGPV. However, the virus may persist for many months on contaminated premises. Quarantine of areas and premises containing infected or exposed animals is required to prevent disease spread. Isolate infected herds and sick animals for at least 45 days after recovery.</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6089BD3-403F-417F-9F28-BDE1C7C1601E}" type="slidenum">
              <a:rPr lang="en-US"/>
              <a:pPr/>
              <a:t>34</a:t>
            </a:fld>
            <a:endParaRPr lang="en-US"/>
          </a:p>
        </p:txBody>
      </p:sp>
      <p:sp>
        <p:nvSpPr>
          <p:cNvPr id="218114" name="Rectangle 2"/>
          <p:cNvSpPr>
            <a:spLocks noGrp="1" noRot="1" noChangeAspect="1" noChangeArrowheads="1" noTextEdit="1"/>
          </p:cNvSpPr>
          <p:nvPr>
            <p:ph type="sldImg"/>
          </p:nvPr>
        </p:nvSpPr>
        <p:spPr>
          <a:ln/>
        </p:spPr>
      </p:sp>
      <p:sp>
        <p:nvSpPr>
          <p:cNvPr id="218115" name="Rectangle 3"/>
          <p:cNvSpPr>
            <a:spLocks noGrp="1" noChangeArrowheads="1"/>
          </p:cNvSpPr>
          <p:nvPr>
            <p:ph type="body" idx="1"/>
          </p:nvPr>
        </p:nvSpPr>
        <p:spPr>
          <a:xfrm>
            <a:off x="914711" y="4344025"/>
            <a:ext cx="5028579" cy="4114488"/>
          </a:xfrm>
        </p:spPr>
        <p:txBody>
          <a:bodyPr/>
          <a:lstStyle/>
          <a:p>
            <a:r>
              <a:rPr lang="en-US" dirty="0"/>
              <a:t>Sodium hypochlorite is an effective disinfectant. Inactivated by phenol (2%) in 15 minutes. Sensitive to detergents, such as those containing sodium </a:t>
            </a:r>
            <a:r>
              <a:rPr lang="en-US" dirty="0" err="1"/>
              <a:t>dodecyl</a:t>
            </a:r>
            <a:r>
              <a:rPr lang="en-US" dirty="0"/>
              <a:t> sulfate. The above photo depicts a strong disinfectant. The virus can survive for many years in dried scabs at ambient temperatures. Virus remains viable in wool for 2 months and on premises for as long as 6 months. </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1B50E33-5933-4866-BD31-5968A57849F1}" type="slidenum">
              <a:rPr lang="en-US"/>
              <a:pPr/>
              <a:t>35</a:t>
            </a:fld>
            <a:endParaRPr lang="en-US"/>
          </a:p>
        </p:txBody>
      </p:sp>
      <p:sp>
        <p:nvSpPr>
          <p:cNvPr id="316418" name="Rectangle 2"/>
          <p:cNvSpPr>
            <a:spLocks noGrp="1" noRot="1" noChangeAspect="1" noChangeArrowheads="1" noTextEdit="1"/>
          </p:cNvSpPr>
          <p:nvPr>
            <p:ph type="sldImg"/>
          </p:nvPr>
        </p:nvSpPr>
        <p:spPr>
          <a:ln/>
        </p:spPr>
      </p:sp>
      <p:sp>
        <p:nvSpPr>
          <p:cNvPr id="316419" name="Rectangle 3"/>
          <p:cNvSpPr>
            <a:spLocks noGrp="1" noChangeArrowheads="1"/>
          </p:cNvSpPr>
          <p:nvPr>
            <p:ph type="body" idx="1"/>
          </p:nvPr>
        </p:nvSpPr>
        <p:spPr>
          <a:xfrm>
            <a:off x="914711" y="4344025"/>
            <a:ext cx="5028579" cy="4114488"/>
          </a:xfrm>
        </p:spPr>
        <p:txBody>
          <a:bodyPr/>
          <a:lstStyle/>
          <a:p>
            <a:r>
              <a:rPr lang="en-US" dirty="0"/>
              <a:t>In endemic areas, vaccination is an effective means of controlling losses from SGP. Killed vaccines have not proved to be practical under field conditions because they do not provide solid lasting immunity. There are numerous attenuated virus vaccines. Immunity lasts up to 2 years. </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4E4414B-9E66-41F8-B999-CF0D50DC968A}" type="slidenum">
              <a:rPr lang="en-US" smtClean="0"/>
              <a:pPr/>
              <a:t>36</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4E4414B-9E66-41F8-B999-CF0D50DC968A}" type="slidenum">
              <a:rPr lang="en-US" smtClean="0"/>
              <a:pPr/>
              <a:t>39</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4E4414B-9E66-41F8-B999-CF0D50DC968A}" type="slidenum">
              <a:rPr lang="en-US" smtClean="0"/>
              <a:pPr/>
              <a:t>40</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4E4414B-9E66-41F8-B999-CF0D50DC968A}" type="slidenum">
              <a:rPr lang="en-US" smtClean="0"/>
              <a:pPr/>
              <a:t>41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8C711A4-7351-49DE-B5B8-73D0FC912B4A}" type="datetimeFigureOut">
              <a:rPr lang="en-US" smtClean="0"/>
              <a:pPr/>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C1FCC4-2B93-44FE-9F65-6211D7582A76}"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8C711A4-7351-49DE-B5B8-73D0FC912B4A}" type="datetimeFigureOut">
              <a:rPr lang="en-US" smtClean="0"/>
              <a:pPr/>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C1FCC4-2B93-44FE-9F65-6211D7582A76}"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8C711A4-7351-49DE-B5B8-73D0FC912B4A}" type="datetimeFigureOut">
              <a:rPr lang="en-US" smtClean="0"/>
              <a:pPr/>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C1FCC4-2B93-44FE-9F65-6211D7582A76}"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8C711A4-7351-49DE-B5B8-73D0FC912B4A}" type="datetimeFigureOut">
              <a:rPr lang="en-US" smtClean="0"/>
              <a:pPr/>
              <a:t>4/15/2025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C1FCC4-2B93-44FE-9F65-6211D7582A76}"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8C711A4-7351-49DE-B5B8-73D0FC912B4A}" type="datetimeFigureOut">
              <a:rPr lang="en-US" smtClean="0"/>
              <a:pPr/>
              <a:t>4/15/2025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3C1FCC4-2B93-44FE-9F65-6211D7582A76}"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8C711A4-7351-49DE-B5B8-73D0FC912B4A}" type="datetimeFigureOut">
              <a:rPr lang="en-US" smtClean="0"/>
              <a:pPr/>
              <a:t>4/15/2025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C1FCC4-2B93-44FE-9F65-6211D7582A76}"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C711A4-7351-49DE-B5B8-73D0FC912B4A}" type="datetimeFigureOut">
              <a:rPr lang="en-US" smtClean="0"/>
              <a:pPr/>
              <a:t>4/15/2025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3C1FCC4-2B93-44FE-9F65-6211D7582A76}"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C711A4-7351-49DE-B5B8-73D0FC912B4A}" type="datetimeFigureOut">
              <a:rPr lang="en-US" smtClean="0"/>
              <a:pPr/>
              <a:t>4/15/2025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C1FCC4-2B93-44FE-9F65-6211D7582A76}"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C711A4-7351-49DE-B5B8-73D0FC912B4A}" type="datetimeFigureOut">
              <a:rPr lang="en-US" smtClean="0"/>
              <a:pPr/>
              <a:t>4/15/2025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C1FCC4-2B93-44FE-9F65-6211D7582A76}"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8C711A4-7351-49DE-B5B8-73D0FC912B4A}" type="datetimeFigureOut">
              <a:rPr lang="en-US" smtClean="0"/>
              <a:pPr/>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C1FCC4-2B93-44FE-9F65-6211D7582A76}"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8C711A4-7351-49DE-B5B8-73D0FC912B4A}" type="datetimeFigureOut">
              <a:rPr lang="en-US" smtClean="0"/>
              <a:pPr/>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C1FCC4-2B93-44FE-9F65-6211D7582A76}"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600200"/>
            <a:ext cx="4038600" cy="4600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600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457200" y="6245225"/>
            <a:ext cx="2133600" cy="476250"/>
          </a:xfrm>
        </p:spPr>
        <p:txBody>
          <a:bodyPr/>
          <a:lstStyle>
            <a:lvl1pPr>
              <a:defRPr/>
            </a:lvl1pPr>
          </a:lstStyle>
          <a:p>
            <a:endParaRPr lang="en-US"/>
          </a:p>
        </p:txBody>
      </p:sp>
      <p:sp>
        <p:nvSpPr>
          <p:cNvPr id="6" name="Footer Placeholder 5"/>
          <p:cNvSpPr>
            <a:spLocks noGrp="1"/>
          </p:cNvSpPr>
          <p:nvPr>
            <p:ph type="ftr" sz="quarter" idx="11"/>
          </p:nvPr>
        </p:nvSpPr>
        <p:spPr>
          <a:xfrm>
            <a:off x="6335713" y="6324600"/>
            <a:ext cx="2808287" cy="476250"/>
          </a:xfrm>
        </p:spPr>
        <p:txBody>
          <a:bodyPr/>
          <a:lstStyle>
            <a:lvl1pPr>
              <a:defRPr/>
            </a:lvl1pPr>
          </a:lstStyle>
          <a:p>
            <a:r>
              <a:rPr lang="en-US"/>
              <a:t>Center for Food Security and Public Health   Iowa State University - 2004</a:t>
            </a:r>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C711A4-7351-49DE-B5B8-73D0FC912B4A}" type="datetimeFigureOut">
              <a:rPr lang="en-US" smtClean="0"/>
              <a:pPr/>
              <a:t>4/15/2025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C1FCC4-2B93-44FE-9F65-6211D7582A76}"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7.xml"/><Relationship Id="rId5" Type="http://schemas.openxmlformats.org/officeDocument/2006/relationships/image" Target="../media/image12.jpeg"/><Relationship Id="rId4" Type="http://schemas.openxmlformats.org/officeDocument/2006/relationships/image" Target="../media/image11.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7.xml"/><Relationship Id="rId4" Type="http://schemas.openxmlformats.org/officeDocument/2006/relationships/image" Target="../media/image18.jpe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normAutofit/>
          </a:bodyPr>
          <a:lstStyle/>
          <a:p>
            <a:r>
              <a:rPr lang="en-US" sz="4800" b="1" dirty="0" err="1" smtClean="0">
                <a:solidFill>
                  <a:srgbClr val="FF0000"/>
                </a:solidFill>
                <a:latin typeface="Algerian" pitchFamily="82" charset="0"/>
              </a:rPr>
              <a:t>Poxviridae</a:t>
            </a:r>
            <a:endParaRPr lang="en-US" sz="4800" b="1" dirty="0">
              <a:solidFill>
                <a:srgbClr val="FF0000"/>
              </a:solidFill>
              <a:latin typeface="Algerian" pitchFamily="82" charset="0"/>
            </a:endParaRPr>
          </a:p>
        </p:txBody>
      </p:sp>
      <p:sp>
        <p:nvSpPr>
          <p:cNvPr id="5" name="Subtitle 4"/>
          <p:cNvSpPr>
            <a:spLocks noGrp="1"/>
          </p:cNvSpPr>
          <p:nvPr>
            <p:ph type="subTitle" idx="1"/>
          </p:nvPr>
        </p:nvSpPr>
        <p:spPr>
          <a:xfrm>
            <a:off x="609600" y="3886200"/>
            <a:ext cx="8077200" cy="1752600"/>
          </a:xfrm>
        </p:spPr>
        <p:txBody>
          <a:bodyPr/>
          <a:lstStyle/>
          <a:p>
            <a:r>
              <a:rPr lang="en-US" b="1" dirty="0" smtClean="0">
                <a:solidFill>
                  <a:srgbClr val="7030A0"/>
                </a:solidFill>
              </a:rPr>
              <a:t>Group I viruses</a:t>
            </a:r>
          </a:p>
          <a:p>
            <a:r>
              <a:rPr lang="en-US" b="1" dirty="0" smtClean="0">
                <a:solidFill>
                  <a:srgbClr val="7030A0"/>
                </a:solidFill>
              </a:rPr>
              <a:t>Large enveloped </a:t>
            </a:r>
            <a:r>
              <a:rPr lang="en-US" b="1" dirty="0" err="1" smtClean="0">
                <a:solidFill>
                  <a:srgbClr val="7030A0"/>
                </a:solidFill>
              </a:rPr>
              <a:t>ds</a:t>
            </a:r>
            <a:r>
              <a:rPr lang="en-US" b="1" dirty="0" smtClean="0">
                <a:solidFill>
                  <a:srgbClr val="7030A0"/>
                </a:solidFill>
              </a:rPr>
              <a:t> DNA viruses with Complex symmetry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928670"/>
            <a:ext cx="8329642" cy="5426255"/>
          </a:xfrm>
        </p:spPr>
        <p:txBody>
          <a:bodyPr>
            <a:normAutofit/>
          </a:bodyPr>
          <a:lstStyle/>
          <a:p>
            <a:r>
              <a:rPr lang="en-IN" b="1" dirty="0" smtClean="0">
                <a:solidFill>
                  <a:srgbClr val="FF0000"/>
                </a:solidFill>
              </a:rPr>
              <a:t>Baltimore classification-7 groups</a:t>
            </a:r>
            <a:endParaRPr lang="en-IN" dirty="0">
              <a:solidFill>
                <a:srgbClr val="FF0000"/>
              </a:solidFill>
            </a:endParaRPr>
          </a:p>
          <a:p>
            <a:pPr marL="514350" indent="-514350">
              <a:buFont typeface="+mj-lt"/>
              <a:buAutoNum type="arabicPeriod"/>
            </a:pPr>
            <a:r>
              <a:rPr lang="en-IN" b="1" dirty="0" smtClean="0"/>
              <a:t> </a:t>
            </a:r>
            <a:r>
              <a:rPr lang="en-IN" b="1" dirty="0" err="1" smtClean="0"/>
              <a:t>dsDNA</a:t>
            </a:r>
            <a:r>
              <a:rPr lang="en-IN" b="1" dirty="0" smtClean="0"/>
              <a:t> </a:t>
            </a:r>
            <a:r>
              <a:rPr lang="en-IN" b="1" dirty="0"/>
              <a:t>viruses</a:t>
            </a:r>
          </a:p>
          <a:p>
            <a:pPr marL="514350" indent="-514350">
              <a:buFont typeface="+mj-lt"/>
              <a:buAutoNum type="arabicPeriod"/>
            </a:pPr>
            <a:r>
              <a:rPr lang="en-IN" b="1" dirty="0" smtClean="0"/>
              <a:t> </a:t>
            </a:r>
            <a:r>
              <a:rPr lang="en-IN" b="1" dirty="0" err="1" smtClean="0"/>
              <a:t>ssDNA</a:t>
            </a:r>
            <a:r>
              <a:rPr lang="en-IN" b="1" dirty="0" smtClean="0"/>
              <a:t> viruses</a:t>
            </a:r>
          </a:p>
          <a:p>
            <a:pPr marL="514350" indent="-514350">
              <a:buFont typeface="+mj-lt"/>
              <a:buAutoNum type="arabicPeriod"/>
            </a:pPr>
            <a:r>
              <a:rPr lang="en-IN" b="1" dirty="0" err="1" smtClean="0"/>
              <a:t>dsRNA</a:t>
            </a:r>
            <a:r>
              <a:rPr lang="en-IN" b="1" dirty="0" smtClean="0"/>
              <a:t> viruses</a:t>
            </a:r>
          </a:p>
          <a:p>
            <a:pPr marL="514350" indent="-514350">
              <a:buFont typeface="+mj-lt"/>
              <a:buAutoNum type="arabicPeriod"/>
            </a:pPr>
            <a:r>
              <a:rPr lang="en-IN" b="1" dirty="0" smtClean="0"/>
              <a:t> </a:t>
            </a:r>
            <a:r>
              <a:rPr lang="en-IN" b="1" dirty="0"/>
              <a:t>(+)-sense </a:t>
            </a:r>
            <a:r>
              <a:rPr lang="en-IN" b="1" dirty="0" err="1"/>
              <a:t>ssRNA</a:t>
            </a:r>
            <a:r>
              <a:rPr lang="en-IN" b="1" dirty="0"/>
              <a:t> viruses</a:t>
            </a:r>
          </a:p>
          <a:p>
            <a:pPr marL="514350" indent="-514350">
              <a:buFont typeface="+mj-lt"/>
              <a:buAutoNum type="arabicPeriod"/>
            </a:pPr>
            <a:r>
              <a:rPr lang="en-IN" b="1" dirty="0" smtClean="0"/>
              <a:t>(-)-</a:t>
            </a:r>
            <a:r>
              <a:rPr lang="en-IN" b="1" dirty="0"/>
              <a:t>sense </a:t>
            </a:r>
            <a:r>
              <a:rPr lang="en-IN" b="1" dirty="0" err="1"/>
              <a:t>ssRNA</a:t>
            </a:r>
            <a:r>
              <a:rPr lang="en-IN" b="1" dirty="0"/>
              <a:t> viruses</a:t>
            </a:r>
          </a:p>
          <a:p>
            <a:pPr marL="514350" indent="-514350">
              <a:buFont typeface="+mj-lt"/>
              <a:buAutoNum type="arabicPeriod"/>
            </a:pPr>
            <a:r>
              <a:rPr lang="en-IN" b="1" dirty="0" smtClean="0"/>
              <a:t>RNA </a:t>
            </a:r>
            <a:r>
              <a:rPr lang="en-IN" b="1" dirty="0"/>
              <a:t>reverse transcribing viruses </a:t>
            </a:r>
          </a:p>
          <a:p>
            <a:pPr marL="514350" indent="-514350">
              <a:buFont typeface="+mj-lt"/>
              <a:buAutoNum type="arabicPeriod"/>
            </a:pPr>
            <a:r>
              <a:rPr lang="en-IN" b="1" dirty="0" smtClean="0"/>
              <a:t>DNA </a:t>
            </a:r>
            <a:r>
              <a:rPr lang="en-IN" b="1" dirty="0"/>
              <a:t>reverse transcribing viruses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0"/>
            <a:ext cx="8229600" cy="1143000"/>
          </a:xfrm>
        </p:spPr>
        <p:txBody>
          <a:bodyPr>
            <a:normAutofit/>
          </a:bodyPr>
          <a:lstStyle/>
          <a:p>
            <a:r>
              <a:rPr lang="en-US" sz="4000" b="1" dirty="0" smtClean="0">
                <a:solidFill>
                  <a:srgbClr val="FF0000"/>
                </a:solidFill>
              </a:rPr>
              <a:t>Classification</a:t>
            </a:r>
            <a:endParaRPr lang="en-US" sz="4000" b="1" dirty="0">
              <a:solidFill>
                <a:srgbClr val="FF0000"/>
              </a:solidFill>
            </a:endParaRPr>
          </a:p>
        </p:txBody>
      </p:sp>
      <p:sp>
        <p:nvSpPr>
          <p:cNvPr id="5" name="Content Placeholder 4"/>
          <p:cNvSpPr>
            <a:spLocks noGrp="1"/>
          </p:cNvSpPr>
          <p:nvPr>
            <p:ph idx="1"/>
          </p:nvPr>
        </p:nvSpPr>
        <p:spPr>
          <a:xfrm>
            <a:off x="381000" y="1143000"/>
            <a:ext cx="8229600" cy="4525963"/>
          </a:xfrm>
        </p:spPr>
        <p:txBody>
          <a:bodyPr>
            <a:noAutofit/>
          </a:bodyPr>
          <a:lstStyle/>
          <a:p>
            <a:r>
              <a:rPr lang="en-US" sz="2400" dirty="0" smtClean="0">
                <a:latin typeface="Times New Roman" pitchFamily="18" charset="0"/>
                <a:cs typeface="Times New Roman" pitchFamily="18" charset="0"/>
              </a:rPr>
              <a:t>Subfamily </a:t>
            </a:r>
            <a:r>
              <a:rPr lang="en-US" sz="2400" b="1" i="1" dirty="0" err="1" smtClean="0">
                <a:solidFill>
                  <a:srgbClr val="FF0000"/>
                </a:solidFill>
                <a:latin typeface="Times New Roman" pitchFamily="18" charset="0"/>
                <a:cs typeface="Times New Roman" pitchFamily="18" charset="0"/>
              </a:rPr>
              <a:t>Chordopoxvirinae</a:t>
            </a:r>
            <a:r>
              <a:rPr lang="en-US" sz="2400" dirty="0" smtClean="0">
                <a:latin typeface="Times New Roman" pitchFamily="18" charset="0"/>
                <a:cs typeface="Times New Roman" pitchFamily="18" charset="0"/>
              </a:rPr>
              <a:t> (8 genera)</a:t>
            </a:r>
          </a:p>
          <a:p>
            <a:pPr lvl="1"/>
            <a:r>
              <a:rPr lang="en-US" sz="2000" dirty="0" smtClean="0">
                <a:latin typeface="Times New Roman" pitchFamily="18" charset="0"/>
                <a:cs typeface="Times New Roman" pitchFamily="18" charset="0"/>
              </a:rPr>
              <a:t>Genus </a:t>
            </a:r>
            <a:r>
              <a:rPr lang="en-US" sz="2000" i="1" dirty="0" err="1" smtClean="0">
                <a:latin typeface="Times New Roman" pitchFamily="18" charset="0"/>
                <a:cs typeface="Times New Roman" pitchFamily="18" charset="0"/>
              </a:rPr>
              <a:t>Orthopoxvirus</a:t>
            </a:r>
            <a:r>
              <a:rPr lang="en-US" sz="2000" dirty="0" smtClean="0">
                <a:latin typeface="Times New Roman" pitchFamily="18" charset="0"/>
                <a:cs typeface="Times New Roman" pitchFamily="18" charset="0"/>
              </a:rPr>
              <a:t>; type species: </a:t>
            </a:r>
            <a:r>
              <a:rPr lang="en-US" sz="2000" i="1" dirty="0" err="1" smtClean="0">
                <a:latin typeface="Times New Roman" pitchFamily="18" charset="0"/>
                <a:cs typeface="Times New Roman" pitchFamily="18" charset="0"/>
              </a:rPr>
              <a:t>Vaccinia</a:t>
            </a:r>
            <a:r>
              <a:rPr lang="en-US" sz="2000" i="1" dirty="0" smtClean="0">
                <a:latin typeface="Times New Roman" pitchFamily="18" charset="0"/>
                <a:cs typeface="Times New Roman" pitchFamily="18" charset="0"/>
              </a:rPr>
              <a:t> virus</a:t>
            </a:r>
            <a:r>
              <a:rPr lang="en-US" sz="2000" dirty="0" smtClean="0">
                <a:latin typeface="Times New Roman" pitchFamily="18" charset="0"/>
                <a:cs typeface="Times New Roman" pitchFamily="18" charset="0"/>
              </a:rPr>
              <a:t>; diseases: cowpox, </a:t>
            </a:r>
            <a:r>
              <a:rPr lang="en-US" sz="2000" dirty="0" err="1" smtClean="0">
                <a:latin typeface="Times New Roman" pitchFamily="18" charset="0"/>
                <a:cs typeface="Times New Roman" pitchFamily="18" charset="0"/>
              </a:rPr>
              <a:t>vaccinia</a:t>
            </a:r>
            <a:r>
              <a:rPr lang="en-US" sz="2000" dirty="0" smtClean="0">
                <a:latin typeface="Times New Roman" pitchFamily="18" charset="0"/>
                <a:cs typeface="Times New Roman" pitchFamily="18" charset="0"/>
              </a:rPr>
              <a:t>, 	smallpox</a:t>
            </a:r>
          </a:p>
          <a:p>
            <a:pPr lvl="1"/>
            <a:r>
              <a:rPr lang="en-US" sz="2000" dirty="0" smtClean="0">
                <a:latin typeface="Times New Roman" pitchFamily="18" charset="0"/>
                <a:cs typeface="Times New Roman" pitchFamily="18" charset="0"/>
              </a:rPr>
              <a:t>Genus </a:t>
            </a:r>
            <a:r>
              <a:rPr lang="en-US" sz="2000" i="1" dirty="0" err="1" smtClean="0">
                <a:latin typeface="Times New Roman" pitchFamily="18" charset="0"/>
                <a:cs typeface="Times New Roman" pitchFamily="18" charset="0"/>
              </a:rPr>
              <a:t>Parapoxvirus</a:t>
            </a:r>
            <a:r>
              <a:rPr lang="en-US" sz="2000" dirty="0" smtClean="0">
                <a:latin typeface="Times New Roman" pitchFamily="18" charset="0"/>
                <a:cs typeface="Times New Roman" pitchFamily="18" charset="0"/>
              </a:rPr>
              <a:t>; type species: </a:t>
            </a:r>
            <a:r>
              <a:rPr lang="en-US" sz="2000" i="1" dirty="0" err="1" smtClean="0">
                <a:latin typeface="Times New Roman" pitchFamily="18" charset="0"/>
                <a:cs typeface="Times New Roman" pitchFamily="18" charset="0"/>
              </a:rPr>
              <a:t>Orf</a:t>
            </a:r>
            <a:r>
              <a:rPr lang="en-US" sz="2000" i="1" dirty="0" smtClean="0">
                <a:latin typeface="Times New Roman" pitchFamily="18" charset="0"/>
                <a:cs typeface="Times New Roman" pitchFamily="18" charset="0"/>
              </a:rPr>
              <a:t> virus</a:t>
            </a:r>
            <a:endParaRPr lang="en-US" sz="2000" dirty="0" smtClean="0">
              <a:latin typeface="Times New Roman" pitchFamily="18" charset="0"/>
              <a:cs typeface="Times New Roman" pitchFamily="18" charset="0"/>
            </a:endParaRPr>
          </a:p>
          <a:p>
            <a:pPr lvl="1"/>
            <a:r>
              <a:rPr lang="en-US" sz="2000" dirty="0" smtClean="0">
                <a:latin typeface="Times New Roman" pitchFamily="18" charset="0"/>
                <a:cs typeface="Times New Roman" pitchFamily="18" charset="0"/>
              </a:rPr>
              <a:t>Genus </a:t>
            </a:r>
            <a:r>
              <a:rPr lang="en-US" sz="2000" i="1" dirty="0" err="1" smtClean="0">
                <a:latin typeface="Times New Roman" pitchFamily="18" charset="0"/>
                <a:cs typeface="Times New Roman" pitchFamily="18" charset="0"/>
              </a:rPr>
              <a:t>Avipoxvirus</a:t>
            </a:r>
            <a:r>
              <a:rPr lang="en-US" sz="2000" dirty="0" smtClean="0">
                <a:latin typeface="Times New Roman" pitchFamily="18" charset="0"/>
                <a:cs typeface="Times New Roman" pitchFamily="18" charset="0"/>
              </a:rPr>
              <a:t>; type species: </a:t>
            </a:r>
            <a:r>
              <a:rPr lang="en-US" sz="2000" i="1" dirty="0" err="1" smtClean="0">
                <a:latin typeface="Times New Roman" pitchFamily="18" charset="0"/>
                <a:cs typeface="Times New Roman" pitchFamily="18" charset="0"/>
              </a:rPr>
              <a:t>Fowlpox</a:t>
            </a:r>
            <a:r>
              <a:rPr lang="en-US" sz="2000" i="1" dirty="0" smtClean="0">
                <a:latin typeface="Times New Roman" pitchFamily="18" charset="0"/>
                <a:cs typeface="Times New Roman" pitchFamily="18" charset="0"/>
              </a:rPr>
              <a:t> virus</a:t>
            </a:r>
            <a:endParaRPr lang="en-US" sz="2000" dirty="0" smtClean="0">
              <a:latin typeface="Times New Roman" pitchFamily="18" charset="0"/>
              <a:cs typeface="Times New Roman" pitchFamily="18" charset="0"/>
            </a:endParaRPr>
          </a:p>
          <a:p>
            <a:pPr lvl="1"/>
            <a:r>
              <a:rPr lang="en-US" sz="2000" dirty="0" smtClean="0">
                <a:latin typeface="Times New Roman" pitchFamily="18" charset="0"/>
                <a:cs typeface="Times New Roman" pitchFamily="18" charset="0"/>
              </a:rPr>
              <a:t>Genus </a:t>
            </a:r>
            <a:r>
              <a:rPr lang="en-US" sz="2000" i="1" dirty="0" err="1" smtClean="0">
                <a:latin typeface="Times New Roman" pitchFamily="18" charset="0"/>
                <a:cs typeface="Times New Roman" pitchFamily="18" charset="0"/>
              </a:rPr>
              <a:t>Capripoxvirus</a:t>
            </a:r>
            <a:r>
              <a:rPr lang="en-US" sz="2000" dirty="0" smtClean="0">
                <a:latin typeface="Times New Roman" pitchFamily="18" charset="0"/>
                <a:cs typeface="Times New Roman" pitchFamily="18" charset="0"/>
              </a:rPr>
              <a:t>; type species: </a:t>
            </a:r>
            <a:r>
              <a:rPr lang="en-US" sz="2000" i="1" dirty="0" err="1" smtClean="0">
                <a:latin typeface="Times New Roman" pitchFamily="18" charset="0"/>
                <a:cs typeface="Times New Roman" pitchFamily="18" charset="0"/>
              </a:rPr>
              <a:t>Sheeppox</a:t>
            </a:r>
            <a:r>
              <a:rPr lang="en-US" sz="2000" i="1" dirty="0" smtClean="0">
                <a:latin typeface="Times New Roman" pitchFamily="18" charset="0"/>
                <a:cs typeface="Times New Roman" pitchFamily="18" charset="0"/>
              </a:rPr>
              <a:t> virus</a:t>
            </a:r>
            <a:endParaRPr lang="en-US" sz="2000" dirty="0" smtClean="0">
              <a:latin typeface="Times New Roman" pitchFamily="18" charset="0"/>
              <a:cs typeface="Times New Roman" pitchFamily="18" charset="0"/>
            </a:endParaRPr>
          </a:p>
          <a:p>
            <a:pPr lvl="1"/>
            <a:r>
              <a:rPr lang="en-US" sz="2000" dirty="0" smtClean="0">
                <a:latin typeface="Times New Roman" pitchFamily="18" charset="0"/>
                <a:cs typeface="Times New Roman" pitchFamily="18" charset="0"/>
              </a:rPr>
              <a:t>Genus </a:t>
            </a:r>
            <a:r>
              <a:rPr lang="en-US" sz="2000" i="1" dirty="0" err="1" smtClean="0">
                <a:latin typeface="Times New Roman" pitchFamily="18" charset="0"/>
                <a:cs typeface="Times New Roman" pitchFamily="18" charset="0"/>
              </a:rPr>
              <a:t>Leporipoxvirus</a:t>
            </a:r>
            <a:r>
              <a:rPr lang="en-US" sz="2000" dirty="0" smtClean="0">
                <a:latin typeface="Times New Roman" pitchFamily="18" charset="0"/>
                <a:cs typeface="Times New Roman" pitchFamily="18" charset="0"/>
              </a:rPr>
              <a:t>; type species: </a:t>
            </a:r>
            <a:r>
              <a:rPr lang="en-US" sz="2000" i="1" dirty="0" err="1" smtClean="0">
                <a:latin typeface="Times New Roman" pitchFamily="18" charset="0"/>
                <a:cs typeface="Times New Roman" pitchFamily="18" charset="0"/>
              </a:rPr>
              <a:t>Myxoma</a:t>
            </a:r>
            <a:r>
              <a:rPr lang="en-US" sz="2000" i="1" dirty="0" smtClean="0">
                <a:latin typeface="Times New Roman" pitchFamily="18" charset="0"/>
                <a:cs typeface="Times New Roman" pitchFamily="18" charset="0"/>
              </a:rPr>
              <a:t> virus</a:t>
            </a:r>
            <a:endParaRPr lang="en-US" sz="2000" dirty="0" smtClean="0">
              <a:latin typeface="Times New Roman" pitchFamily="18" charset="0"/>
              <a:cs typeface="Times New Roman" pitchFamily="18" charset="0"/>
            </a:endParaRPr>
          </a:p>
          <a:p>
            <a:pPr lvl="1"/>
            <a:r>
              <a:rPr lang="en-US" sz="2000" dirty="0" smtClean="0">
                <a:latin typeface="Times New Roman" pitchFamily="18" charset="0"/>
                <a:cs typeface="Times New Roman" pitchFamily="18" charset="0"/>
              </a:rPr>
              <a:t>Genus </a:t>
            </a:r>
            <a:r>
              <a:rPr lang="en-US" sz="2000" i="1" dirty="0" err="1" smtClean="0">
                <a:latin typeface="Times New Roman" pitchFamily="18" charset="0"/>
                <a:cs typeface="Times New Roman" pitchFamily="18" charset="0"/>
              </a:rPr>
              <a:t>Suipoxvirus</a:t>
            </a:r>
            <a:r>
              <a:rPr lang="en-US" sz="2000" dirty="0" smtClean="0">
                <a:latin typeface="Times New Roman" pitchFamily="18" charset="0"/>
                <a:cs typeface="Times New Roman" pitchFamily="18" charset="0"/>
              </a:rPr>
              <a:t>; type species: </a:t>
            </a:r>
            <a:r>
              <a:rPr lang="en-US" sz="2000" i="1" dirty="0" smtClean="0">
                <a:latin typeface="Times New Roman" pitchFamily="18" charset="0"/>
                <a:cs typeface="Times New Roman" pitchFamily="18" charset="0"/>
              </a:rPr>
              <a:t>Swinepox virus</a:t>
            </a:r>
            <a:endParaRPr lang="en-US" sz="2000" dirty="0" smtClean="0">
              <a:latin typeface="Times New Roman" pitchFamily="18" charset="0"/>
              <a:cs typeface="Times New Roman" pitchFamily="18" charset="0"/>
            </a:endParaRPr>
          </a:p>
          <a:p>
            <a:pPr lvl="1"/>
            <a:r>
              <a:rPr lang="en-US" sz="2000" dirty="0" smtClean="0">
                <a:latin typeface="Times New Roman" pitchFamily="18" charset="0"/>
                <a:cs typeface="Times New Roman" pitchFamily="18" charset="0"/>
              </a:rPr>
              <a:t>Genus </a:t>
            </a:r>
            <a:r>
              <a:rPr lang="en-US" sz="2000" i="1" dirty="0" err="1" smtClean="0">
                <a:latin typeface="Times New Roman" pitchFamily="18" charset="0"/>
                <a:cs typeface="Times New Roman" pitchFamily="18" charset="0"/>
              </a:rPr>
              <a:t>Molluscipoxvirus</a:t>
            </a:r>
            <a:r>
              <a:rPr lang="en-US" sz="2000" dirty="0" smtClean="0">
                <a:latin typeface="Times New Roman" pitchFamily="18" charset="0"/>
                <a:cs typeface="Times New Roman" pitchFamily="18" charset="0"/>
              </a:rPr>
              <a:t>; type species: </a:t>
            </a:r>
            <a:r>
              <a:rPr lang="en-US" sz="2000" i="1" dirty="0" err="1" smtClean="0">
                <a:latin typeface="Times New Roman" pitchFamily="18" charset="0"/>
                <a:cs typeface="Times New Roman" pitchFamily="18" charset="0"/>
              </a:rPr>
              <a:t>Molluscum</a:t>
            </a:r>
            <a:r>
              <a:rPr lang="en-US" sz="2000" i="1" dirty="0" smtClean="0">
                <a:latin typeface="Times New Roman" pitchFamily="18" charset="0"/>
                <a:cs typeface="Times New Roman" pitchFamily="18" charset="0"/>
              </a:rPr>
              <a:t> </a:t>
            </a:r>
            <a:r>
              <a:rPr lang="en-US" sz="2000" i="1" dirty="0" err="1" smtClean="0">
                <a:latin typeface="Times New Roman" pitchFamily="18" charset="0"/>
                <a:cs typeface="Times New Roman" pitchFamily="18" charset="0"/>
              </a:rPr>
              <a:t>contagiosum</a:t>
            </a:r>
            <a:r>
              <a:rPr lang="en-US" sz="2000" i="1" dirty="0" smtClean="0">
                <a:latin typeface="Times New Roman" pitchFamily="18" charset="0"/>
                <a:cs typeface="Times New Roman" pitchFamily="18" charset="0"/>
              </a:rPr>
              <a:t> virus</a:t>
            </a:r>
            <a:endParaRPr lang="en-US" sz="2000" dirty="0" smtClean="0">
              <a:latin typeface="Times New Roman" pitchFamily="18" charset="0"/>
              <a:cs typeface="Times New Roman" pitchFamily="18" charset="0"/>
            </a:endParaRPr>
          </a:p>
          <a:p>
            <a:pPr lvl="1"/>
            <a:r>
              <a:rPr lang="en-US" sz="2000" dirty="0" smtClean="0">
                <a:latin typeface="Times New Roman" pitchFamily="18" charset="0"/>
                <a:cs typeface="Times New Roman" pitchFamily="18" charset="0"/>
              </a:rPr>
              <a:t>Genus </a:t>
            </a:r>
            <a:r>
              <a:rPr lang="en-US" sz="2000" i="1" dirty="0" err="1" smtClean="0">
                <a:latin typeface="Times New Roman" pitchFamily="18" charset="0"/>
                <a:cs typeface="Times New Roman" pitchFamily="18" charset="0"/>
              </a:rPr>
              <a:t>Yatapoxvirus</a:t>
            </a:r>
            <a:r>
              <a:rPr lang="en-US" sz="2000" dirty="0" smtClean="0">
                <a:latin typeface="Times New Roman" pitchFamily="18" charset="0"/>
                <a:cs typeface="Times New Roman" pitchFamily="18" charset="0"/>
              </a:rPr>
              <a:t>; type species: </a:t>
            </a:r>
            <a:r>
              <a:rPr lang="en-US" sz="2000" i="1" dirty="0" err="1" smtClean="0">
                <a:latin typeface="Times New Roman" pitchFamily="18" charset="0"/>
                <a:cs typeface="Times New Roman" pitchFamily="18" charset="0"/>
              </a:rPr>
              <a:t>Yaba</a:t>
            </a:r>
            <a:r>
              <a:rPr lang="en-US" sz="2000" i="1" dirty="0" smtClean="0">
                <a:latin typeface="Times New Roman" pitchFamily="18" charset="0"/>
                <a:cs typeface="Times New Roman" pitchFamily="18" charset="0"/>
              </a:rPr>
              <a:t> monkey tumor virus</a:t>
            </a:r>
            <a:endParaRPr lang="en-US" sz="20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Subfamily </a:t>
            </a:r>
            <a:r>
              <a:rPr lang="en-US" sz="2400" b="1" i="1" dirty="0" err="1" smtClean="0">
                <a:solidFill>
                  <a:srgbClr val="FF0000"/>
                </a:solidFill>
                <a:latin typeface="Times New Roman" pitchFamily="18" charset="0"/>
                <a:cs typeface="Times New Roman" pitchFamily="18" charset="0"/>
              </a:rPr>
              <a:t>Entomopoxvirinae</a:t>
            </a:r>
            <a:r>
              <a:rPr lang="en-US" sz="2400" dirty="0" smtClean="0">
                <a:solidFill>
                  <a:srgbClr val="FF0000"/>
                </a:solidFill>
                <a:latin typeface="Times New Roman" pitchFamily="18" charset="0"/>
                <a:cs typeface="Times New Roman" pitchFamily="18" charset="0"/>
              </a:rPr>
              <a:t> –insect poxviruses</a:t>
            </a:r>
          </a:p>
          <a:p>
            <a:pPr lvl="1"/>
            <a:r>
              <a:rPr lang="en-US" sz="2000" dirty="0" smtClean="0">
                <a:latin typeface="Times New Roman" pitchFamily="18" charset="0"/>
                <a:cs typeface="Times New Roman" pitchFamily="18" charset="0"/>
              </a:rPr>
              <a:t>Genus </a:t>
            </a:r>
            <a:r>
              <a:rPr lang="en-US" sz="2000" i="1" dirty="0" err="1" smtClean="0">
                <a:latin typeface="Times New Roman" pitchFamily="18" charset="0"/>
                <a:cs typeface="Times New Roman" pitchFamily="18" charset="0"/>
              </a:rPr>
              <a:t>Entomopoxvirus</a:t>
            </a:r>
            <a:r>
              <a:rPr lang="en-US" sz="2000" i="1" dirty="0" smtClean="0">
                <a:latin typeface="Times New Roman" pitchFamily="18" charset="0"/>
                <a:cs typeface="Times New Roman" pitchFamily="18" charset="0"/>
              </a:rPr>
              <a:t> A</a:t>
            </a:r>
            <a:r>
              <a:rPr lang="en-US" sz="2000" dirty="0" smtClean="0">
                <a:latin typeface="Times New Roman" pitchFamily="18" charset="0"/>
                <a:cs typeface="Times New Roman" pitchFamily="18" charset="0"/>
              </a:rPr>
              <a:t>; B and C</a:t>
            </a:r>
            <a:r>
              <a:rPr lang="en-US" sz="2000" i="1" dirty="0" smtClean="0">
                <a:latin typeface="Times New Roman" pitchFamily="18" charset="0"/>
                <a:cs typeface="Times New Roman" pitchFamily="18" charset="0"/>
              </a:rPr>
              <a:t> 					</a:t>
            </a:r>
            <a:endParaRPr lang="en-US" sz="2000" dirty="0" smtClean="0">
              <a:latin typeface="Times New Roman" pitchFamily="18" charset="0"/>
              <a:cs typeface="Times New Roman" pitchFamily="18" charset="0"/>
            </a:endParaRPr>
          </a:p>
          <a:p>
            <a:pPr lvl="1">
              <a:buNone/>
            </a:pPr>
            <a:endParaRPr lang="en-US" sz="2000" dirty="0" smtClean="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ChangeArrowheads="1"/>
          </p:cNvSpPr>
          <p:nvPr/>
        </p:nvSpPr>
        <p:spPr bwMode="auto">
          <a:xfrm>
            <a:off x="0" y="558800"/>
            <a:ext cx="9144000" cy="50800"/>
          </a:xfrm>
          <a:prstGeom prst="rect">
            <a:avLst/>
          </a:prstGeom>
          <a:gradFill rotWithShape="0">
            <a:gsLst>
              <a:gs pos="0">
                <a:srgbClr val="FFFF00"/>
              </a:gs>
              <a:gs pos="100000">
                <a:srgbClr val="FFFF85"/>
              </a:gs>
            </a:gsLst>
            <a:lin ang="0" scaled="1"/>
          </a:gradFill>
          <a:ln w="12700">
            <a:solidFill>
              <a:schemeClr val="tx1"/>
            </a:solidFill>
            <a:miter lim="800000"/>
            <a:headEnd/>
            <a:tailEnd/>
          </a:ln>
        </p:spPr>
        <p:txBody>
          <a:bodyPr wrap="none" anchor="ctr"/>
          <a:lstStyle/>
          <a:p>
            <a:endParaRPr lang="en-US"/>
          </a:p>
        </p:txBody>
      </p:sp>
      <p:sp>
        <p:nvSpPr>
          <p:cNvPr id="43011" name="Text Box 3"/>
          <p:cNvSpPr txBox="1">
            <a:spLocks noChangeArrowheads="1"/>
          </p:cNvSpPr>
          <p:nvPr/>
        </p:nvSpPr>
        <p:spPr bwMode="auto">
          <a:xfrm>
            <a:off x="2787027" y="-101600"/>
            <a:ext cx="4216219" cy="707886"/>
          </a:xfrm>
          <a:prstGeom prst="rect">
            <a:avLst/>
          </a:prstGeom>
          <a:noFill/>
          <a:ln w="9525">
            <a:noFill/>
            <a:miter lim="800000"/>
            <a:headEnd/>
            <a:tailEnd/>
          </a:ln>
        </p:spPr>
        <p:txBody>
          <a:bodyPr wrap="none">
            <a:spAutoFit/>
          </a:bodyPr>
          <a:lstStyle/>
          <a:p>
            <a:r>
              <a:rPr lang="en-US" sz="4000" b="1" dirty="0">
                <a:solidFill>
                  <a:srgbClr val="FF0000"/>
                </a:solidFill>
                <a:latin typeface="Times New Roman" pitchFamily="-108" charset="0"/>
              </a:rPr>
              <a:t>Family </a:t>
            </a:r>
            <a:r>
              <a:rPr lang="en-US" sz="4000" b="1" dirty="0" err="1">
                <a:solidFill>
                  <a:srgbClr val="FF0000"/>
                </a:solidFill>
                <a:latin typeface="Times New Roman" pitchFamily="-108" charset="0"/>
              </a:rPr>
              <a:t>Poxviridae</a:t>
            </a:r>
            <a:endParaRPr lang="en-US" sz="4000" b="1" dirty="0">
              <a:solidFill>
                <a:srgbClr val="FF0000"/>
              </a:solidFill>
              <a:latin typeface="Times New Roman" pitchFamily="-108" charset="0"/>
            </a:endParaRPr>
          </a:p>
        </p:txBody>
      </p:sp>
      <p:pic>
        <p:nvPicPr>
          <p:cNvPr id="43012" name="Picture 4"/>
          <p:cNvPicPr>
            <a:picLocks noChangeAspect="1" noChangeArrowheads="1"/>
          </p:cNvPicPr>
          <p:nvPr/>
        </p:nvPicPr>
        <p:blipFill>
          <a:blip r:embed="rId3" cstate="print"/>
          <a:srcRect/>
          <a:stretch>
            <a:fillRect/>
          </a:stretch>
        </p:blipFill>
        <p:spPr bwMode="auto">
          <a:xfrm>
            <a:off x="967455" y="666750"/>
            <a:ext cx="7209091" cy="5810250"/>
          </a:xfrm>
          <a:prstGeom prst="rect">
            <a:avLst/>
          </a:prstGeom>
          <a:noFill/>
          <a:ln w="9525">
            <a:noFill/>
            <a:miter lim="800000"/>
            <a:headEnd/>
            <a:tailEnd/>
          </a:ln>
        </p:spPr>
      </p:pic>
      <p:grpSp>
        <p:nvGrpSpPr>
          <p:cNvPr id="2" name="Group 5"/>
          <p:cNvGrpSpPr>
            <a:grpSpLocks/>
          </p:cNvGrpSpPr>
          <p:nvPr/>
        </p:nvGrpSpPr>
        <p:grpSpPr bwMode="auto">
          <a:xfrm>
            <a:off x="2184573" y="896939"/>
            <a:ext cx="1005447" cy="3794125"/>
            <a:chOff x="1610" y="629"/>
            <a:chExt cx="741" cy="2390"/>
          </a:xfrm>
        </p:grpSpPr>
        <p:sp>
          <p:nvSpPr>
            <p:cNvPr id="43015" name="Rectangle 6"/>
            <p:cNvSpPr>
              <a:spLocks noChangeArrowheads="1"/>
            </p:cNvSpPr>
            <p:nvPr/>
          </p:nvSpPr>
          <p:spPr bwMode="auto">
            <a:xfrm>
              <a:off x="1610" y="629"/>
              <a:ext cx="640" cy="139"/>
            </a:xfrm>
            <a:prstGeom prst="rect">
              <a:avLst/>
            </a:prstGeom>
            <a:noFill/>
            <a:ln w="28575">
              <a:solidFill>
                <a:srgbClr val="FF0000"/>
              </a:solidFill>
              <a:miter lim="800000"/>
              <a:headEnd/>
              <a:tailEnd/>
            </a:ln>
          </p:spPr>
          <p:txBody>
            <a:bodyPr wrap="none" anchor="ctr"/>
            <a:lstStyle/>
            <a:p>
              <a:endParaRPr lang="en-US"/>
            </a:p>
          </p:txBody>
        </p:sp>
        <p:sp>
          <p:nvSpPr>
            <p:cNvPr id="43016" name="Rectangle 7"/>
            <p:cNvSpPr>
              <a:spLocks noChangeArrowheads="1"/>
            </p:cNvSpPr>
            <p:nvPr/>
          </p:nvSpPr>
          <p:spPr bwMode="auto">
            <a:xfrm>
              <a:off x="1610" y="1024"/>
              <a:ext cx="640" cy="139"/>
            </a:xfrm>
            <a:prstGeom prst="rect">
              <a:avLst/>
            </a:prstGeom>
            <a:noFill/>
            <a:ln w="28575">
              <a:solidFill>
                <a:srgbClr val="FF0000"/>
              </a:solidFill>
              <a:miter lim="800000"/>
              <a:headEnd/>
              <a:tailEnd/>
            </a:ln>
          </p:spPr>
          <p:txBody>
            <a:bodyPr wrap="none" anchor="ctr"/>
            <a:lstStyle/>
            <a:p>
              <a:endParaRPr lang="en-US"/>
            </a:p>
          </p:txBody>
        </p:sp>
        <p:sp>
          <p:nvSpPr>
            <p:cNvPr id="43017" name="Rectangle 8"/>
            <p:cNvSpPr>
              <a:spLocks noChangeArrowheads="1"/>
            </p:cNvSpPr>
            <p:nvPr/>
          </p:nvSpPr>
          <p:spPr bwMode="auto">
            <a:xfrm>
              <a:off x="1610" y="2880"/>
              <a:ext cx="640" cy="139"/>
            </a:xfrm>
            <a:prstGeom prst="rect">
              <a:avLst/>
            </a:prstGeom>
            <a:noFill/>
            <a:ln w="28575">
              <a:solidFill>
                <a:srgbClr val="FF0000"/>
              </a:solidFill>
              <a:miter lim="800000"/>
              <a:headEnd/>
              <a:tailEnd/>
            </a:ln>
          </p:spPr>
          <p:txBody>
            <a:bodyPr wrap="none" anchor="ctr"/>
            <a:lstStyle/>
            <a:p>
              <a:endParaRPr lang="en-US"/>
            </a:p>
          </p:txBody>
        </p:sp>
        <p:sp>
          <p:nvSpPr>
            <p:cNvPr id="43018" name="Rectangle 9"/>
            <p:cNvSpPr>
              <a:spLocks noChangeArrowheads="1"/>
            </p:cNvSpPr>
            <p:nvPr/>
          </p:nvSpPr>
          <p:spPr bwMode="auto">
            <a:xfrm>
              <a:off x="1610" y="2575"/>
              <a:ext cx="741" cy="139"/>
            </a:xfrm>
            <a:prstGeom prst="rect">
              <a:avLst/>
            </a:prstGeom>
            <a:noFill/>
            <a:ln w="28575">
              <a:solidFill>
                <a:srgbClr val="FF0000"/>
              </a:solidFill>
              <a:miter lim="800000"/>
              <a:headEnd/>
              <a:tailEnd/>
            </a:ln>
          </p:spPr>
          <p:txBody>
            <a:bodyPr wrap="none" anchor="ctr"/>
            <a:lstStyle/>
            <a:p>
              <a:endParaRPr lang="en-US"/>
            </a:p>
          </p:txBody>
        </p:sp>
      </p:grpSp>
      <p:sp>
        <p:nvSpPr>
          <p:cNvPr id="43014" name="Text Box 10"/>
          <p:cNvSpPr txBox="1">
            <a:spLocks noChangeArrowheads="1"/>
          </p:cNvSpPr>
          <p:nvPr/>
        </p:nvSpPr>
        <p:spPr bwMode="auto">
          <a:xfrm>
            <a:off x="829053" y="6477000"/>
            <a:ext cx="7507605" cy="215444"/>
          </a:xfrm>
          <a:prstGeom prst="rect">
            <a:avLst/>
          </a:prstGeom>
          <a:noFill/>
          <a:ln w="9525">
            <a:noFill/>
            <a:miter lim="800000"/>
            <a:headEnd/>
            <a:tailEnd/>
          </a:ln>
        </p:spPr>
        <p:txBody>
          <a:bodyPr lIns="0" tIns="0" rIns="0" bIns="0" anchorCtr="1">
            <a:spAutoFit/>
          </a:bodyPr>
          <a:lstStyle/>
          <a:p>
            <a:pPr algn="ctr"/>
            <a:r>
              <a:rPr lang="en-US" sz="1400" dirty="0" smtClean="0">
                <a:solidFill>
                  <a:srgbClr val="F8F40C"/>
                </a:solidFill>
                <a:latin typeface="Times" pitchFamily="-108" charset="0"/>
              </a:rPr>
              <a:t>.</a:t>
            </a:r>
            <a:endParaRPr lang="en-GB" sz="1400" dirty="0">
              <a:solidFill>
                <a:srgbClr val="F8F40C"/>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52400"/>
            <a:ext cx="8229600" cy="1143000"/>
          </a:xfrm>
        </p:spPr>
        <p:txBody>
          <a:bodyPr>
            <a:normAutofit/>
          </a:bodyPr>
          <a:lstStyle/>
          <a:p>
            <a:r>
              <a:rPr lang="en-IN" sz="3600" b="1" dirty="0" smtClean="0">
                <a:solidFill>
                  <a:srgbClr val="FF0000"/>
                </a:solidFill>
              </a:rPr>
              <a:t>Virus Morphology</a:t>
            </a:r>
            <a:endParaRPr lang="en-IN" sz="3600" b="1" dirty="0">
              <a:solidFill>
                <a:srgbClr val="FF0000"/>
              </a:solidFill>
            </a:endParaRPr>
          </a:p>
        </p:txBody>
      </p:sp>
      <p:sp>
        <p:nvSpPr>
          <p:cNvPr id="5" name="Content Placeholder 4"/>
          <p:cNvSpPr>
            <a:spLocks noGrp="1"/>
          </p:cNvSpPr>
          <p:nvPr>
            <p:ph sz="half" idx="1"/>
          </p:nvPr>
        </p:nvSpPr>
        <p:spPr>
          <a:xfrm>
            <a:off x="152400" y="990600"/>
            <a:ext cx="4495800" cy="4678363"/>
          </a:xfrm>
        </p:spPr>
        <p:txBody>
          <a:bodyPr>
            <a:noAutofit/>
          </a:bodyPr>
          <a:lstStyle/>
          <a:p>
            <a:r>
              <a:rPr lang="en-IN" sz="2400" dirty="0" smtClean="0">
                <a:latin typeface="Times New Roman" pitchFamily="18" charset="0"/>
                <a:cs typeface="Times New Roman" pitchFamily="18" charset="0"/>
              </a:rPr>
              <a:t>Pox viruses do not have helical or </a:t>
            </a:r>
            <a:r>
              <a:rPr lang="en-IN" sz="2400" dirty="0" err="1" smtClean="0">
                <a:latin typeface="Times New Roman" pitchFamily="18" charset="0"/>
                <a:cs typeface="Times New Roman" pitchFamily="18" charset="0"/>
              </a:rPr>
              <a:t>icosahedral</a:t>
            </a:r>
            <a:r>
              <a:rPr lang="en-IN" sz="2400" dirty="0" smtClean="0">
                <a:latin typeface="Times New Roman" pitchFamily="18" charset="0"/>
                <a:cs typeface="Times New Roman" pitchFamily="18" charset="0"/>
              </a:rPr>
              <a:t> symmetry. It is called as “</a:t>
            </a:r>
            <a:r>
              <a:rPr lang="en-IN" sz="2400" dirty="0" smtClean="0">
                <a:solidFill>
                  <a:srgbClr val="FF0000"/>
                </a:solidFill>
                <a:latin typeface="Times New Roman" pitchFamily="18" charset="0"/>
                <a:cs typeface="Times New Roman" pitchFamily="18" charset="0"/>
              </a:rPr>
              <a:t>Complex Symmetry</a:t>
            </a:r>
            <a:r>
              <a:rPr lang="en-IN" sz="2400" dirty="0" smtClean="0">
                <a:latin typeface="Times New Roman" pitchFamily="18" charset="0"/>
                <a:cs typeface="Times New Roman" pitchFamily="18" charset="0"/>
              </a:rPr>
              <a:t>”.</a:t>
            </a:r>
          </a:p>
          <a:p>
            <a:r>
              <a:rPr lang="en-IN" sz="2400" dirty="0" smtClean="0">
                <a:latin typeface="Times New Roman" pitchFamily="18" charset="0"/>
                <a:cs typeface="Times New Roman" pitchFamily="18" charset="0"/>
              </a:rPr>
              <a:t>The outer envelope of the virus consists of two layers: </a:t>
            </a:r>
          </a:p>
          <a:p>
            <a:r>
              <a:rPr lang="en-IN" sz="2400" dirty="0" smtClean="0">
                <a:latin typeface="Times New Roman" pitchFamily="18" charset="0"/>
                <a:cs typeface="Times New Roman" pitchFamily="18" charset="0"/>
              </a:rPr>
              <a:t>The thick outer layer contains surface tubules or short filaments of helically wound protein subunits (with a hollow channel running through the centre of each tubule) </a:t>
            </a:r>
          </a:p>
          <a:p>
            <a:r>
              <a:rPr lang="en-IN" sz="2400" dirty="0" smtClean="0">
                <a:latin typeface="Times New Roman" pitchFamily="18" charset="0"/>
                <a:cs typeface="Times New Roman" pitchFamily="18" charset="0"/>
              </a:rPr>
              <a:t>The thinner inner layer (which is possibly a lipid </a:t>
            </a:r>
            <a:r>
              <a:rPr lang="en-IN" sz="2400" dirty="0" err="1" smtClean="0">
                <a:latin typeface="Times New Roman" pitchFamily="18" charset="0"/>
                <a:cs typeface="Times New Roman" pitchFamily="18" charset="0"/>
              </a:rPr>
              <a:t>bilayer</a:t>
            </a:r>
            <a:r>
              <a:rPr lang="en-IN" sz="2400" dirty="0" smtClean="0">
                <a:latin typeface="Times New Roman" pitchFamily="18" charset="0"/>
                <a:cs typeface="Times New Roman" pitchFamily="18" charset="0"/>
              </a:rPr>
              <a:t> )</a:t>
            </a:r>
          </a:p>
          <a:p>
            <a:endParaRPr lang="en-IN" sz="2400" dirty="0" smtClean="0">
              <a:latin typeface="Times New Roman" pitchFamily="18" charset="0"/>
              <a:cs typeface="Times New Roman" pitchFamily="18" charset="0"/>
            </a:endParaRPr>
          </a:p>
          <a:p>
            <a:pPr>
              <a:buNone/>
            </a:pPr>
            <a:endParaRPr lang="en-IN" sz="2000" dirty="0">
              <a:latin typeface="Times New Roman" pitchFamily="18" charset="0"/>
              <a:cs typeface="Times New Roman" pitchFamily="18" charset="0"/>
            </a:endParaRPr>
          </a:p>
        </p:txBody>
      </p:sp>
      <p:pic>
        <p:nvPicPr>
          <p:cNvPr id="7" name="Content Placeholder 8" descr="http://cronodon.com/images/Poxvirus_section_labelled.jpg"/>
          <p:cNvPicPr>
            <a:picLocks noGrp="1"/>
          </p:cNvPicPr>
          <p:nvPr>
            <p:ph sz="half" idx="2"/>
          </p:nvPr>
        </p:nvPicPr>
        <p:blipFill>
          <a:blip r:embed="rId2" cstate="print"/>
          <a:srcRect/>
          <a:stretch>
            <a:fillRect/>
          </a:stretch>
        </p:blipFill>
        <p:spPr bwMode="auto">
          <a:xfrm>
            <a:off x="4648200" y="1371600"/>
            <a:ext cx="4191000" cy="4724400"/>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457200" y="685800"/>
            <a:ext cx="8305800" cy="4525963"/>
          </a:xfrm>
        </p:spPr>
        <p:txBody>
          <a:bodyPr>
            <a:noAutofit/>
          </a:bodyPr>
          <a:lstStyle/>
          <a:p>
            <a:pPr algn="just"/>
            <a:r>
              <a:rPr lang="en-IN" sz="2400" dirty="0" err="1" smtClean="0">
                <a:latin typeface="Times New Roman" pitchFamily="18" charset="0"/>
                <a:cs typeface="Times New Roman" pitchFamily="18" charset="0"/>
              </a:rPr>
              <a:t>Virions</a:t>
            </a:r>
            <a:r>
              <a:rPr lang="en-IN" sz="2400" dirty="0" smtClean="0">
                <a:latin typeface="Times New Roman" pitchFamily="18" charset="0"/>
                <a:cs typeface="Times New Roman" pitchFamily="18" charset="0"/>
              </a:rPr>
              <a:t> in most genera are </a:t>
            </a:r>
            <a:r>
              <a:rPr lang="en-IN" sz="2400" b="1" dirty="0" smtClean="0">
                <a:latin typeface="Times New Roman" pitchFamily="18" charset="0"/>
                <a:cs typeface="Times New Roman" pitchFamily="18" charset="0"/>
              </a:rPr>
              <a:t>brick-shaped</a:t>
            </a:r>
            <a:r>
              <a:rPr lang="en-IN" sz="2400" dirty="0" smtClean="0">
                <a:latin typeface="Times New Roman" pitchFamily="18" charset="0"/>
                <a:cs typeface="Times New Roman" pitchFamily="18" charset="0"/>
              </a:rPr>
              <a:t>, 250 x 200 x 200 nm, with an irregular arrangement of surface tubules.</a:t>
            </a:r>
          </a:p>
          <a:p>
            <a:pPr algn="just"/>
            <a:r>
              <a:rPr lang="en-IN" sz="2400" dirty="0" err="1" smtClean="0">
                <a:latin typeface="Times New Roman" pitchFamily="18" charset="0"/>
                <a:cs typeface="Times New Roman" pitchFamily="18" charset="0"/>
              </a:rPr>
              <a:t>Virions</a:t>
            </a:r>
            <a:r>
              <a:rPr lang="en-IN" sz="2400" dirty="0" smtClean="0">
                <a:latin typeface="Times New Roman" pitchFamily="18" charset="0"/>
                <a:cs typeface="Times New Roman" pitchFamily="18" charset="0"/>
              </a:rPr>
              <a:t> of members of the genus </a:t>
            </a:r>
            <a:r>
              <a:rPr lang="en-IN" sz="2400" b="1" i="1" dirty="0" err="1" smtClean="0">
                <a:latin typeface="Times New Roman" pitchFamily="18" charset="0"/>
                <a:cs typeface="Times New Roman" pitchFamily="18" charset="0"/>
              </a:rPr>
              <a:t>Parapoxvirus</a:t>
            </a:r>
            <a:r>
              <a:rPr lang="en-IN" sz="2400" b="1" i="1" dirty="0" smtClean="0">
                <a:latin typeface="Times New Roman" pitchFamily="18" charset="0"/>
                <a:cs typeface="Times New Roman" pitchFamily="18" charset="0"/>
              </a:rPr>
              <a:t> </a:t>
            </a:r>
            <a:r>
              <a:rPr lang="en-IN" sz="2400" b="1" dirty="0" smtClean="0">
                <a:latin typeface="Times New Roman" pitchFamily="18" charset="0"/>
                <a:cs typeface="Times New Roman" pitchFamily="18" charset="0"/>
              </a:rPr>
              <a:t>are ovoid</a:t>
            </a:r>
            <a:r>
              <a:rPr lang="en-IN" sz="2400" dirty="0" smtClean="0">
                <a:latin typeface="Times New Roman" pitchFamily="18" charset="0"/>
                <a:cs typeface="Times New Roman" pitchFamily="18" charset="0"/>
              </a:rPr>
              <a:t>,260 x 160 nm, with regular spiral arrangement of surface tubules wound around the virus giving a shape of </a:t>
            </a:r>
            <a:r>
              <a:rPr lang="en-IN" sz="2400" b="1" dirty="0" smtClean="0">
                <a:latin typeface="Times New Roman" pitchFamily="18" charset="0"/>
                <a:cs typeface="Times New Roman" pitchFamily="18" charset="0"/>
              </a:rPr>
              <a:t>“Ball of Yarn” or cocoon shaped.</a:t>
            </a:r>
          </a:p>
          <a:p>
            <a:pPr algn="just"/>
            <a:r>
              <a:rPr lang="en-IN" sz="2400" dirty="0" smtClean="0">
                <a:latin typeface="Times New Roman" pitchFamily="18" charset="0"/>
                <a:cs typeface="Times New Roman" pitchFamily="18" charset="0"/>
              </a:rPr>
              <a:t>In some poxviruses the tubules are replaced by globular protein structures. </a:t>
            </a:r>
          </a:p>
          <a:p>
            <a:pPr algn="just"/>
            <a:r>
              <a:rPr lang="en-US" sz="2400" dirty="0" smtClean="0">
                <a:latin typeface="Times New Roman" pitchFamily="18" charset="0"/>
                <a:cs typeface="Times New Roman" pitchFamily="18" charset="0"/>
              </a:rPr>
              <a:t>Inside the envelope is the </a:t>
            </a:r>
            <a:r>
              <a:rPr lang="en-US" sz="2400" b="1" dirty="0" smtClean="0">
                <a:latin typeface="Times New Roman" pitchFamily="18" charset="0"/>
                <a:cs typeface="Times New Roman" pitchFamily="18" charset="0"/>
              </a:rPr>
              <a:t>Dumbbell shaped</a:t>
            </a:r>
            <a:r>
              <a:rPr lang="en-US" sz="2400" dirty="0" smtClean="0">
                <a:latin typeface="Times New Roman" pitchFamily="18" charset="0"/>
                <a:cs typeface="Times New Roman" pitchFamily="18" charset="0"/>
              </a:rPr>
              <a:t> </a:t>
            </a:r>
            <a:r>
              <a:rPr lang="en-US" sz="2400" b="1" dirty="0" smtClean="0">
                <a:latin typeface="Times New Roman" pitchFamily="18" charset="0"/>
                <a:cs typeface="Times New Roman" pitchFamily="18" charset="0"/>
              </a:rPr>
              <a:t>core</a:t>
            </a:r>
            <a:r>
              <a:rPr lang="en-US" sz="2400" dirty="0" smtClean="0">
                <a:latin typeface="Times New Roman" pitchFamily="18" charset="0"/>
                <a:cs typeface="Times New Roman" pitchFamily="18" charset="0"/>
              </a:rPr>
              <a:t> and </a:t>
            </a:r>
            <a:r>
              <a:rPr lang="en-US" sz="2400" b="1" dirty="0" smtClean="0">
                <a:latin typeface="Times New Roman" pitchFamily="18" charset="0"/>
                <a:cs typeface="Times New Roman" pitchFamily="18" charset="0"/>
              </a:rPr>
              <a:t>two lateral bodies. </a:t>
            </a:r>
          </a:p>
          <a:p>
            <a:pPr algn="just"/>
            <a:r>
              <a:rPr lang="en-US" sz="2400" dirty="0" smtClean="0">
                <a:latin typeface="Times New Roman" pitchFamily="18" charset="0"/>
                <a:cs typeface="Times New Roman" pitchFamily="18" charset="0"/>
              </a:rPr>
              <a:t>The core consists of the core wall - an outer thick palisade </a:t>
            </a:r>
            <a:br>
              <a:rPr lang="en-US" sz="2400" dirty="0" smtClean="0">
                <a:latin typeface="Times New Roman" pitchFamily="18" charset="0"/>
                <a:cs typeface="Times New Roman" pitchFamily="18" charset="0"/>
              </a:rPr>
            </a:br>
            <a:r>
              <a:rPr lang="en-US" sz="2400" dirty="0" smtClean="0">
                <a:latin typeface="Times New Roman" pitchFamily="18" charset="0"/>
                <a:cs typeface="Times New Roman" pitchFamily="18" charset="0"/>
              </a:rPr>
              <a:t>layer, 17 nm thick (so called because it is striated, giving the appearance of many tiny columns) and the thinner, </a:t>
            </a:r>
            <a:br>
              <a:rPr lang="en-US" sz="2400" dirty="0" smtClean="0">
                <a:latin typeface="Times New Roman" pitchFamily="18" charset="0"/>
                <a:cs typeface="Times New Roman" pitchFamily="18" charset="0"/>
              </a:rPr>
            </a:br>
            <a:r>
              <a:rPr lang="en-US" sz="2400" dirty="0" smtClean="0">
                <a:latin typeface="Times New Roman" pitchFamily="18" charset="0"/>
                <a:cs typeface="Times New Roman" pitchFamily="18" charset="0"/>
              </a:rPr>
              <a:t>smooth inner layer or core membrane, 8 nm thick.</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oxvirus: History, Classification, Morphology, Pathogenesis, Laboratory Di"/>
          <p:cNvPicPr>
            <a:picLocks noChangeAspect="1" noChangeArrowheads="1"/>
          </p:cNvPicPr>
          <p:nvPr/>
        </p:nvPicPr>
        <p:blipFill>
          <a:blip r:embed="rId2"/>
          <a:srcRect/>
          <a:stretch>
            <a:fillRect/>
          </a:stretch>
        </p:blipFill>
        <p:spPr bwMode="auto">
          <a:xfrm>
            <a:off x="33867" y="838200"/>
            <a:ext cx="8805331" cy="4953000"/>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smtClean="0">
                <a:solidFill>
                  <a:srgbClr val="FF0000"/>
                </a:solidFill>
              </a:rPr>
              <a:t>Viral Genome</a:t>
            </a:r>
            <a:endParaRPr lang="en-US" sz="4000" b="1" dirty="0">
              <a:solidFill>
                <a:srgbClr val="FF0000"/>
              </a:solidFill>
            </a:endParaRPr>
          </a:p>
        </p:txBody>
      </p:sp>
      <p:sp>
        <p:nvSpPr>
          <p:cNvPr id="4" name="Content Placeholder 3"/>
          <p:cNvSpPr>
            <a:spLocks noGrp="1"/>
          </p:cNvSpPr>
          <p:nvPr>
            <p:ph idx="1"/>
          </p:nvPr>
        </p:nvSpPr>
        <p:spPr>
          <a:xfrm>
            <a:off x="304800" y="1524000"/>
            <a:ext cx="8229600" cy="4525963"/>
          </a:xfrm>
        </p:spPr>
        <p:txBody>
          <a:bodyPr>
            <a:normAutofit/>
          </a:bodyPr>
          <a:lstStyle/>
          <a:p>
            <a:pPr algn="just"/>
            <a:r>
              <a:rPr lang="en-IN" sz="2400" dirty="0" smtClean="0">
                <a:latin typeface="Times New Roman" pitchFamily="18" charset="0"/>
                <a:cs typeface="Times New Roman" pitchFamily="18" charset="0"/>
              </a:rPr>
              <a:t>The nucleoprotein consists of the tightly-packed </a:t>
            </a:r>
            <a:r>
              <a:rPr lang="en-IN" sz="2400" b="1" dirty="0" smtClean="0">
                <a:latin typeface="Times New Roman" pitchFamily="18" charset="0"/>
                <a:cs typeface="Times New Roman" pitchFamily="18" charset="0"/>
              </a:rPr>
              <a:t>linear double-stranded DNA </a:t>
            </a:r>
            <a:r>
              <a:rPr lang="en-IN" sz="2400" dirty="0" smtClean="0">
                <a:latin typeface="Times New Roman" pitchFamily="18" charset="0"/>
                <a:cs typeface="Times New Roman" pitchFamily="18" charset="0"/>
              </a:rPr>
              <a:t>genome coated by at least 4 different types of proteins, maintaining the DNA in a </a:t>
            </a:r>
            <a:r>
              <a:rPr lang="en-IN" sz="2400" dirty="0" err="1" smtClean="0">
                <a:latin typeface="Times New Roman" pitchFamily="18" charset="0"/>
                <a:cs typeface="Times New Roman" pitchFamily="18" charset="0"/>
              </a:rPr>
              <a:t>superhelical</a:t>
            </a:r>
            <a:r>
              <a:rPr lang="en-IN" sz="2400" dirty="0" smtClean="0">
                <a:latin typeface="Times New Roman" pitchFamily="18" charset="0"/>
                <a:cs typeface="Times New Roman" pitchFamily="18" charset="0"/>
              </a:rPr>
              <a:t> state. </a:t>
            </a:r>
          </a:p>
          <a:p>
            <a:pPr algn="just"/>
            <a:r>
              <a:rPr lang="en-IN" sz="2400" dirty="0" smtClean="0">
                <a:latin typeface="Times New Roman" pitchFamily="18" charset="0"/>
                <a:cs typeface="Times New Roman" pitchFamily="18" charset="0"/>
              </a:rPr>
              <a:t>A DNA-dependent RNA polymerase is also present in the nucleoprotein or core. </a:t>
            </a:r>
          </a:p>
          <a:p>
            <a:pPr algn="just"/>
            <a:r>
              <a:rPr lang="en-IN" sz="2400" dirty="0" smtClean="0">
                <a:latin typeface="Times New Roman" pitchFamily="18" charset="0"/>
                <a:cs typeface="Times New Roman" pitchFamily="18" charset="0"/>
              </a:rPr>
              <a:t>Genomes </a:t>
            </a:r>
            <a:r>
              <a:rPr lang="en-IN" sz="2400" dirty="0" smtClean="0">
                <a:latin typeface="Times New Roman" pitchFamily="18" charset="0"/>
                <a:cs typeface="Times New Roman" pitchFamily="18" charset="0"/>
              </a:rPr>
              <a:t>have the capacity to encode about 200 proteins, as many as</a:t>
            </a:r>
            <a:r>
              <a:rPr lang="en-IN" sz="2400" b="1" dirty="0" smtClean="0">
                <a:latin typeface="Times New Roman" pitchFamily="18" charset="0"/>
                <a:cs typeface="Times New Roman" pitchFamily="18" charset="0"/>
              </a:rPr>
              <a:t> </a:t>
            </a:r>
            <a:r>
              <a:rPr lang="en-IN" sz="2400" dirty="0" smtClean="0">
                <a:latin typeface="Times New Roman" pitchFamily="18" charset="0"/>
                <a:cs typeface="Times New Roman" pitchFamily="18" charset="0"/>
              </a:rPr>
              <a:t>100 of which are contained in </a:t>
            </a:r>
            <a:r>
              <a:rPr lang="en-IN" sz="2400" dirty="0" err="1" smtClean="0">
                <a:latin typeface="Times New Roman" pitchFamily="18" charset="0"/>
                <a:cs typeface="Times New Roman" pitchFamily="18" charset="0"/>
              </a:rPr>
              <a:t>virions</a:t>
            </a:r>
            <a:r>
              <a:rPr lang="en-IN" sz="2400" dirty="0" smtClean="0">
                <a:latin typeface="Times New Roman" pitchFamily="18" charset="0"/>
                <a:cs typeface="Times New Roman" pitchFamily="18" charset="0"/>
              </a:rPr>
              <a:t>.</a:t>
            </a:r>
          </a:p>
          <a:p>
            <a:pPr algn="just"/>
            <a:endParaRPr lang="en-IN" sz="1600" dirty="0">
              <a:latin typeface="Times New Roman" pitchFamily="18" charset="0"/>
              <a:cs typeface="Times New Roman"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7"/>
          <p:cNvPicPr>
            <a:picLocks noChangeAspect="1" noChangeArrowheads="1"/>
          </p:cNvPicPr>
          <p:nvPr/>
        </p:nvPicPr>
        <p:blipFill>
          <a:blip r:embed="rId2" cstate="print"/>
          <a:srcRect/>
          <a:stretch>
            <a:fillRect/>
          </a:stretch>
        </p:blipFill>
        <p:spPr bwMode="auto">
          <a:xfrm>
            <a:off x="1066800" y="1295400"/>
            <a:ext cx="7081600" cy="4374902"/>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just"/>
            <a:r>
              <a:rPr lang="en-IN" sz="2400" dirty="0" smtClean="0">
                <a:latin typeface="Times New Roman" pitchFamily="18" charset="0"/>
                <a:cs typeface="Times New Roman" pitchFamily="18" charset="0"/>
              </a:rPr>
              <a:t>It contains </a:t>
            </a:r>
            <a:r>
              <a:rPr lang="en-IN" sz="2400" b="1" dirty="0" smtClean="0">
                <a:latin typeface="Times New Roman" pitchFamily="18" charset="0"/>
                <a:cs typeface="Times New Roman" pitchFamily="18" charset="0"/>
              </a:rPr>
              <a:t>no </a:t>
            </a:r>
            <a:r>
              <a:rPr lang="en-IN" sz="2400" b="1" dirty="0" err="1" smtClean="0">
                <a:latin typeface="Times New Roman" pitchFamily="18" charset="0"/>
                <a:cs typeface="Times New Roman" pitchFamily="18" charset="0"/>
              </a:rPr>
              <a:t>introns</a:t>
            </a:r>
            <a:r>
              <a:rPr lang="en-IN" sz="2400" b="1" dirty="0" smtClean="0">
                <a:latin typeface="Times New Roman" pitchFamily="18" charset="0"/>
                <a:cs typeface="Times New Roman" pitchFamily="18" charset="0"/>
              </a:rPr>
              <a:t> </a:t>
            </a:r>
            <a:r>
              <a:rPr lang="en-IN" sz="2400" dirty="0" smtClean="0">
                <a:latin typeface="Times New Roman" pitchFamily="18" charset="0"/>
                <a:cs typeface="Times New Roman" pitchFamily="18" charset="0"/>
              </a:rPr>
              <a:t>and contains more than 150 open reading  frames that do not overlap.</a:t>
            </a:r>
          </a:p>
          <a:p>
            <a:pPr algn="just"/>
            <a:r>
              <a:rPr lang="en-IN" sz="2400" dirty="0" smtClean="0">
                <a:latin typeface="Times New Roman" pitchFamily="18" charset="0"/>
                <a:cs typeface="Times New Roman" pitchFamily="18" charset="0"/>
              </a:rPr>
              <a:t>The genome ends are </a:t>
            </a:r>
            <a:r>
              <a:rPr lang="en-IN" sz="2400" b="1" dirty="0" err="1" smtClean="0">
                <a:latin typeface="Times New Roman" pitchFamily="18" charset="0"/>
                <a:cs typeface="Times New Roman" pitchFamily="18" charset="0"/>
              </a:rPr>
              <a:t>palindromic</a:t>
            </a:r>
            <a:r>
              <a:rPr lang="en-IN" sz="2400" b="1" dirty="0" smtClean="0">
                <a:latin typeface="Times New Roman" pitchFamily="18" charset="0"/>
                <a:cs typeface="Times New Roman" pitchFamily="18" charset="0"/>
              </a:rPr>
              <a:t> tandem repeats </a:t>
            </a:r>
            <a:r>
              <a:rPr lang="en-GB" sz="2400" b="1" dirty="0" smtClean="0">
                <a:latin typeface="Times New Roman" pitchFamily="18" charset="0"/>
                <a:cs typeface="Times New Roman" pitchFamily="18" charset="0"/>
              </a:rPr>
              <a:t>and is covalently closed at each end; the ends are hairpin-like telomeres.</a:t>
            </a:r>
            <a:r>
              <a:rPr lang="en-IN" sz="2400" dirty="0" smtClean="0">
                <a:latin typeface="Times New Roman" pitchFamily="18" charset="0"/>
                <a:cs typeface="Times New Roman" pitchFamily="18" charset="0"/>
              </a:rPr>
              <a:t> </a:t>
            </a:r>
          </a:p>
          <a:p>
            <a:pPr algn="just"/>
            <a:r>
              <a:rPr lang="en-IN" sz="2400" dirty="0" smtClean="0">
                <a:latin typeface="Times New Roman" pitchFamily="18" charset="0"/>
                <a:cs typeface="Times New Roman" pitchFamily="18" charset="0"/>
              </a:rPr>
              <a:t>Unlike other DNA viruses, poxviruses encode all of the enzymes required for transcription and replication, many of which are</a:t>
            </a:r>
            <a:r>
              <a:rPr lang="en-IN" sz="2400" b="1" dirty="0" smtClean="0">
                <a:latin typeface="Times New Roman" pitchFamily="18" charset="0"/>
                <a:cs typeface="Times New Roman" pitchFamily="18" charset="0"/>
              </a:rPr>
              <a:t> </a:t>
            </a:r>
            <a:r>
              <a:rPr lang="en-IN" sz="2400" dirty="0" smtClean="0">
                <a:latin typeface="Times New Roman" pitchFamily="18" charset="0"/>
                <a:cs typeface="Times New Roman" pitchFamily="18" charset="0"/>
              </a:rPr>
              <a:t>carried in the </a:t>
            </a:r>
            <a:r>
              <a:rPr lang="en-IN" sz="2400" dirty="0" err="1" smtClean="0">
                <a:latin typeface="Times New Roman" pitchFamily="18" charset="0"/>
                <a:cs typeface="Times New Roman" pitchFamily="18" charset="0"/>
              </a:rPr>
              <a:t>virion</a:t>
            </a:r>
            <a:r>
              <a:rPr lang="en-IN" sz="2400" dirty="0" smtClean="0">
                <a:latin typeface="Times New Roman" pitchFamily="18" charset="0"/>
                <a:cs typeface="Times New Roman" pitchFamily="18" charset="0"/>
              </a:rPr>
              <a:t> </a:t>
            </a:r>
          </a:p>
          <a:p>
            <a:pPr algn="just"/>
            <a:r>
              <a:rPr lang="en-IN" sz="2400" b="1" dirty="0" err="1" smtClean="0">
                <a:latin typeface="Times New Roman" pitchFamily="18" charset="0"/>
                <a:cs typeface="Times New Roman" pitchFamily="18" charset="0"/>
              </a:rPr>
              <a:t>Cytoplasmic</a:t>
            </a:r>
            <a:r>
              <a:rPr lang="en-IN" sz="2400" b="1" dirty="0" smtClean="0">
                <a:latin typeface="Times New Roman" pitchFamily="18" charset="0"/>
                <a:cs typeface="Times New Roman" pitchFamily="18" charset="0"/>
              </a:rPr>
              <a:t> replication </a:t>
            </a:r>
          </a:p>
          <a:p>
            <a:pPr algn="just"/>
            <a:r>
              <a:rPr lang="en-IN" sz="2400" dirty="0" smtClean="0">
                <a:latin typeface="Times New Roman" pitchFamily="18" charset="0"/>
                <a:cs typeface="Times New Roman" pitchFamily="18" charset="0"/>
              </a:rPr>
              <a:t>Enveloped </a:t>
            </a:r>
            <a:r>
              <a:rPr lang="en-IN" sz="2400" dirty="0" err="1" smtClean="0">
                <a:latin typeface="Times New Roman" pitchFamily="18" charset="0"/>
                <a:cs typeface="Times New Roman" pitchFamily="18" charset="0"/>
              </a:rPr>
              <a:t>virions</a:t>
            </a:r>
            <a:r>
              <a:rPr lang="en-IN" sz="2400" dirty="0" smtClean="0">
                <a:latin typeface="Times New Roman" pitchFamily="18" charset="0"/>
                <a:cs typeface="Times New Roman" pitchFamily="18" charset="0"/>
              </a:rPr>
              <a:t> released by </a:t>
            </a:r>
            <a:r>
              <a:rPr lang="en-IN" sz="2400" dirty="0" err="1" smtClean="0">
                <a:latin typeface="Times New Roman" pitchFamily="18" charset="0"/>
                <a:cs typeface="Times New Roman" pitchFamily="18" charset="0"/>
              </a:rPr>
              <a:t>exocytosis</a:t>
            </a:r>
            <a:r>
              <a:rPr lang="en-IN" sz="2400" dirty="0" smtClean="0">
                <a:latin typeface="Times New Roman" pitchFamily="18" charset="0"/>
                <a:cs typeface="Times New Roman" pitchFamily="18" charset="0"/>
              </a:rPr>
              <a:t>; </a:t>
            </a:r>
          </a:p>
          <a:p>
            <a:pPr algn="just"/>
            <a:r>
              <a:rPr lang="en-IN" sz="2400" dirty="0" smtClean="0">
                <a:latin typeface="Times New Roman" pitchFamily="18" charset="0"/>
                <a:cs typeface="Times New Roman" pitchFamily="18" charset="0"/>
              </a:rPr>
              <a:t>Non-enveloped </a:t>
            </a:r>
            <a:r>
              <a:rPr lang="en-IN" sz="2400" dirty="0" err="1" smtClean="0">
                <a:latin typeface="Times New Roman" pitchFamily="18" charset="0"/>
                <a:cs typeface="Times New Roman" pitchFamily="18" charset="0"/>
              </a:rPr>
              <a:t>virions</a:t>
            </a:r>
            <a:r>
              <a:rPr lang="en-IN" sz="2400" dirty="0" smtClean="0">
                <a:latin typeface="Times New Roman" pitchFamily="18" charset="0"/>
                <a:cs typeface="Times New Roman" pitchFamily="18" charset="0"/>
              </a:rPr>
              <a:t> released by cell </a:t>
            </a:r>
            <a:r>
              <a:rPr lang="en-IN" sz="2400" dirty="0" err="1" smtClean="0">
                <a:latin typeface="Times New Roman" pitchFamily="18" charset="0"/>
                <a:cs typeface="Times New Roman" pitchFamily="18" charset="0"/>
              </a:rPr>
              <a:t>lysis</a:t>
            </a:r>
            <a:r>
              <a:rPr lang="en-IN" sz="2400" dirty="0" smtClean="0">
                <a:latin typeface="Times New Roman" pitchFamily="18" charset="0"/>
                <a:cs typeface="Times New Roman" pitchFamily="18" charset="0"/>
              </a:rPr>
              <a:t>.</a:t>
            </a:r>
          </a:p>
          <a:p>
            <a:pPr algn="just"/>
            <a:endParaRPr lang="en-US" sz="2400" dirty="0">
              <a:latin typeface="Times New Roman" pitchFamily="18" charset="0"/>
              <a:cs typeface="Times New Roman"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solidFill>
                  <a:srgbClr val="FF0000"/>
                </a:solidFill>
              </a:rPr>
              <a:t>Replication</a:t>
            </a:r>
            <a:endParaRPr lang="en-IN" b="1" dirty="0">
              <a:solidFill>
                <a:srgbClr val="FF0000"/>
              </a:solidFill>
            </a:endParaRPr>
          </a:p>
        </p:txBody>
      </p:sp>
      <p:sp>
        <p:nvSpPr>
          <p:cNvPr id="4" name="Content Placeholder 3"/>
          <p:cNvSpPr>
            <a:spLocks noGrp="1"/>
          </p:cNvSpPr>
          <p:nvPr>
            <p:ph idx="1"/>
          </p:nvPr>
        </p:nvSpPr>
        <p:spPr>
          <a:xfrm>
            <a:off x="381000" y="1219200"/>
            <a:ext cx="8534400" cy="5181600"/>
          </a:xfrm>
        </p:spPr>
        <p:txBody>
          <a:bodyPr>
            <a:normAutofit/>
          </a:bodyPr>
          <a:lstStyle/>
          <a:p>
            <a:pPr algn="just"/>
            <a:r>
              <a:rPr lang="en-GB" sz="2400" dirty="0" smtClean="0">
                <a:latin typeface="Times New Roman" pitchFamily="18" charset="0"/>
                <a:cs typeface="Times New Roman" pitchFamily="18" charset="0"/>
              </a:rPr>
              <a:t>After fusion of the </a:t>
            </a:r>
            <a:r>
              <a:rPr lang="en-GB" sz="2400" dirty="0" err="1" smtClean="0">
                <a:latin typeface="Times New Roman" pitchFamily="18" charset="0"/>
                <a:cs typeface="Times New Roman" pitchFamily="18" charset="0"/>
              </a:rPr>
              <a:t>virion</a:t>
            </a:r>
            <a:r>
              <a:rPr lang="en-GB" sz="2400" dirty="0" smtClean="0">
                <a:latin typeface="Times New Roman" pitchFamily="18" charset="0"/>
                <a:cs typeface="Times New Roman" pitchFamily="18" charset="0"/>
              </a:rPr>
              <a:t> with the plasma membrane or after </a:t>
            </a:r>
            <a:r>
              <a:rPr lang="en-GB" sz="2400" dirty="0" err="1" smtClean="0">
                <a:latin typeface="Times New Roman" pitchFamily="18" charset="0"/>
                <a:cs typeface="Times New Roman" pitchFamily="18" charset="0"/>
              </a:rPr>
              <a:t>endocytosis</a:t>
            </a:r>
            <a:r>
              <a:rPr lang="en-GB" sz="2400" dirty="0" smtClean="0">
                <a:latin typeface="Times New Roman" pitchFamily="18" charset="0"/>
                <a:cs typeface="Times New Roman" pitchFamily="18" charset="0"/>
              </a:rPr>
              <a:t>, the viral core is released into the cytoplasm.</a:t>
            </a:r>
          </a:p>
          <a:p>
            <a:pPr algn="just"/>
            <a:r>
              <a:rPr lang="en-GB" sz="2400" dirty="0" smtClean="0">
                <a:latin typeface="Times New Roman" pitchFamily="18" charset="0"/>
                <a:cs typeface="Times New Roman" pitchFamily="18" charset="0"/>
              </a:rPr>
              <a:t>Transcription is characterized by a cascade in which the transcription of each temporal class of genes ("early, intermediate," and "late" genes) requires the presence of specific transcription factors that are made by the preceding </a:t>
            </a:r>
            <a:r>
              <a:rPr lang="en-GB" sz="2400" b="1" dirty="0" smtClean="0">
                <a:latin typeface="Times New Roman" pitchFamily="18" charset="0"/>
                <a:cs typeface="Times New Roman" pitchFamily="18" charset="0"/>
              </a:rPr>
              <a:t>temporal class of genes</a:t>
            </a:r>
            <a:r>
              <a:rPr lang="en-GB" sz="2400" dirty="0" smtClean="0">
                <a:latin typeface="Times New Roman" pitchFamily="18" charset="0"/>
                <a:cs typeface="Times New Roman" pitchFamily="18" charset="0"/>
              </a:rPr>
              <a:t>.</a:t>
            </a:r>
          </a:p>
          <a:p>
            <a:pPr algn="just"/>
            <a:r>
              <a:rPr lang="en-GB" sz="2400" dirty="0" smtClean="0">
                <a:latin typeface="Times New Roman" pitchFamily="18" charset="0"/>
                <a:cs typeface="Times New Roman" pitchFamily="18" charset="0"/>
              </a:rPr>
              <a:t> Intermediate gene transcription factors are encoded by early genes, whereas late transcription factors are encoded by intermediate genes. </a:t>
            </a:r>
          </a:p>
          <a:p>
            <a:pPr algn="just"/>
            <a:r>
              <a:rPr lang="en-GB" sz="2400" dirty="0" smtClean="0">
                <a:latin typeface="Times New Roman" pitchFamily="18" charset="0"/>
                <a:cs typeface="Times New Roman" pitchFamily="18" charset="0"/>
              </a:rPr>
              <a:t>Transcription is initiated by the viral transcriptase and other factors carried in the core of the </a:t>
            </a:r>
            <a:r>
              <a:rPr lang="en-GB" sz="2400" dirty="0" err="1" smtClean="0">
                <a:latin typeface="Times New Roman" pitchFamily="18" charset="0"/>
                <a:cs typeface="Times New Roman" pitchFamily="18" charset="0"/>
              </a:rPr>
              <a:t>virion</a:t>
            </a:r>
            <a:r>
              <a:rPr lang="en-GB" sz="2400" dirty="0" smtClean="0">
                <a:latin typeface="Times New Roman" pitchFamily="18" charset="0"/>
                <a:cs typeface="Times New Roman" pitchFamily="18" charset="0"/>
              </a:rPr>
              <a:t> that enable the production of mRNAs within minutes after infection. </a:t>
            </a:r>
            <a:endParaRPr lang="en-US" sz="2400" dirty="0">
              <a:latin typeface="Times New Roman" pitchFamily="18" charset="0"/>
              <a:cs typeface="Times New Roman"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4294967295"/>
          </p:nvPr>
        </p:nvSpPr>
        <p:spPr>
          <a:xfrm>
            <a:off x="228600" y="533400"/>
            <a:ext cx="8534400" cy="5791200"/>
          </a:xfrm>
        </p:spPr>
        <p:txBody>
          <a:bodyPr>
            <a:normAutofit lnSpcReduction="10000"/>
          </a:bodyPr>
          <a:lstStyle/>
          <a:p>
            <a:r>
              <a:rPr lang="en-GB" sz="2400" dirty="0" smtClean="0">
                <a:latin typeface="Times New Roman" pitchFamily="18" charset="0"/>
                <a:cs typeface="Times New Roman" pitchFamily="18" charset="0"/>
              </a:rPr>
              <a:t>Proteins produced by these mRNAs complete the </a:t>
            </a:r>
            <a:r>
              <a:rPr lang="en-GB" sz="2400" dirty="0" err="1" smtClean="0">
                <a:latin typeface="Times New Roman" pitchFamily="18" charset="0"/>
                <a:cs typeface="Times New Roman" pitchFamily="18" charset="0"/>
              </a:rPr>
              <a:t>uncoating</a:t>
            </a:r>
            <a:r>
              <a:rPr lang="en-GB" sz="2400" dirty="0" smtClean="0">
                <a:latin typeface="Times New Roman" pitchFamily="18" charset="0"/>
                <a:cs typeface="Times New Roman" pitchFamily="18" charset="0"/>
              </a:rPr>
              <a:t> of the core and transcription of about 100 early genes; all this occurs before viral DNA synthesis begins.</a:t>
            </a:r>
          </a:p>
          <a:p>
            <a:r>
              <a:rPr lang="en-GB" sz="2400" dirty="0" smtClean="0">
                <a:latin typeface="Times New Roman" pitchFamily="18" charset="0"/>
                <a:cs typeface="Times New Roman" pitchFamily="18" charset="0"/>
              </a:rPr>
              <a:t> </a:t>
            </a:r>
            <a:r>
              <a:rPr lang="en-GB" sz="2400" dirty="0" smtClean="0">
                <a:solidFill>
                  <a:srgbClr val="FF0000"/>
                </a:solidFill>
                <a:latin typeface="Times New Roman" pitchFamily="18" charset="0"/>
                <a:cs typeface="Times New Roman" pitchFamily="18" charset="0"/>
              </a:rPr>
              <a:t>Early proteins include DNA polymerase, </a:t>
            </a:r>
            <a:r>
              <a:rPr lang="en-GB" sz="2400" dirty="0" err="1" smtClean="0">
                <a:solidFill>
                  <a:srgbClr val="FF0000"/>
                </a:solidFill>
                <a:latin typeface="Times New Roman" pitchFamily="18" charset="0"/>
                <a:cs typeface="Times New Roman" pitchFamily="18" charset="0"/>
              </a:rPr>
              <a:t>thymidine</a:t>
            </a:r>
            <a:r>
              <a:rPr lang="en-GB" sz="2400" dirty="0" smtClean="0">
                <a:solidFill>
                  <a:srgbClr val="FF0000"/>
                </a:solidFill>
                <a:latin typeface="Times New Roman" pitchFamily="18" charset="0"/>
                <a:cs typeface="Times New Roman" pitchFamily="18" charset="0"/>
              </a:rPr>
              <a:t> </a:t>
            </a:r>
            <a:r>
              <a:rPr lang="en-GB" sz="2400" dirty="0" err="1" smtClean="0">
                <a:solidFill>
                  <a:srgbClr val="FF0000"/>
                </a:solidFill>
                <a:latin typeface="Times New Roman" pitchFamily="18" charset="0"/>
                <a:cs typeface="Times New Roman" pitchFamily="18" charset="0"/>
              </a:rPr>
              <a:t>kinase</a:t>
            </a:r>
            <a:r>
              <a:rPr lang="en-GB" sz="2400" dirty="0" smtClean="0">
                <a:solidFill>
                  <a:srgbClr val="FF0000"/>
                </a:solidFill>
                <a:latin typeface="Times New Roman" pitchFamily="18" charset="0"/>
                <a:cs typeface="Times New Roman" pitchFamily="18" charset="0"/>
              </a:rPr>
              <a:t>, and several other enzymes required for replication of the genome</a:t>
            </a:r>
            <a:r>
              <a:rPr lang="en-GB" sz="2400" dirty="0" smtClean="0">
                <a:latin typeface="Times New Roman" pitchFamily="18" charset="0"/>
                <a:cs typeface="Times New Roman" pitchFamily="18" charset="0"/>
              </a:rPr>
              <a:t>.</a:t>
            </a:r>
          </a:p>
          <a:p>
            <a:r>
              <a:rPr lang="en-GB" sz="2400" dirty="0" smtClean="0">
                <a:latin typeface="Times New Roman" pitchFamily="18" charset="0"/>
                <a:cs typeface="Times New Roman" pitchFamily="18" charset="0"/>
              </a:rPr>
              <a:t> Poxvirus DNA replication involves the synthesis of long </a:t>
            </a:r>
            <a:r>
              <a:rPr lang="en-GB" sz="2400" dirty="0" err="1" smtClean="0">
                <a:latin typeface="Times New Roman" pitchFamily="18" charset="0"/>
                <a:cs typeface="Times New Roman" pitchFamily="18" charset="0"/>
              </a:rPr>
              <a:t>concatemeric</a:t>
            </a:r>
            <a:r>
              <a:rPr lang="en-GB" sz="2400" dirty="0" smtClean="0">
                <a:latin typeface="Times New Roman" pitchFamily="18" charset="0"/>
                <a:cs typeface="Times New Roman" pitchFamily="18" charset="0"/>
              </a:rPr>
              <a:t> intermediates, which are subsequently cut into unit-length genomes. </a:t>
            </a:r>
          </a:p>
          <a:p>
            <a:r>
              <a:rPr lang="en-GB" sz="2400" dirty="0" smtClean="0">
                <a:latin typeface="Times New Roman" pitchFamily="18" charset="0"/>
                <a:cs typeface="Times New Roman" pitchFamily="18" charset="0"/>
              </a:rPr>
              <a:t>With the onset of DNA replication there is a dramatic shift in gene expression. </a:t>
            </a:r>
          </a:p>
          <a:p>
            <a:r>
              <a:rPr lang="en-GB" sz="2400" dirty="0" smtClean="0">
                <a:latin typeface="Times New Roman" pitchFamily="18" charset="0"/>
                <a:cs typeface="Times New Roman" pitchFamily="18" charset="0"/>
              </a:rPr>
              <a:t>Transcription of "intermediate" and "late" genes is controlled by binding of specific viral proteins to promoter sequences in the viral genome. </a:t>
            </a:r>
          </a:p>
          <a:p>
            <a:r>
              <a:rPr lang="en-GB" sz="2400" dirty="0" smtClean="0">
                <a:latin typeface="Times New Roman" pitchFamily="18" charset="0"/>
                <a:cs typeface="Times New Roman" pitchFamily="18" charset="0"/>
              </a:rPr>
              <a:t>Some early gene transcription factors are made late in infection, packaged in </a:t>
            </a:r>
            <a:r>
              <a:rPr lang="en-GB" sz="2400" dirty="0" err="1" smtClean="0">
                <a:latin typeface="Times New Roman" pitchFamily="18" charset="0"/>
                <a:cs typeface="Times New Roman" pitchFamily="18" charset="0"/>
              </a:rPr>
              <a:t>virions</a:t>
            </a:r>
            <a:r>
              <a:rPr lang="en-GB" sz="2400" dirty="0" smtClean="0">
                <a:latin typeface="Times New Roman" pitchFamily="18" charset="0"/>
                <a:cs typeface="Times New Roman" pitchFamily="18" charset="0"/>
              </a:rPr>
              <a:t>, and used in the subsequent round of infection. </a:t>
            </a:r>
            <a:endParaRPr lang="en-US" sz="2400" dirty="0">
              <a:latin typeface="Times New Roman" pitchFamily="18" charset="0"/>
              <a:cs typeface="Times New Roman"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304800" y="685800"/>
            <a:ext cx="8534400" cy="4525963"/>
          </a:xfrm>
        </p:spPr>
        <p:txBody>
          <a:bodyPr>
            <a:noAutofit/>
          </a:bodyPr>
          <a:lstStyle/>
          <a:p>
            <a:r>
              <a:rPr lang="en-US" sz="2400" dirty="0" smtClean="0">
                <a:latin typeface="Times New Roman" pitchFamily="18" charset="0"/>
                <a:cs typeface="Times New Roman" pitchFamily="18" charset="0"/>
              </a:rPr>
              <a:t>The pox viral genes are expressed in Three  phases. </a:t>
            </a:r>
          </a:p>
          <a:p>
            <a:r>
              <a:rPr lang="en-US" sz="2400" dirty="0" smtClean="0">
                <a:solidFill>
                  <a:srgbClr val="FF0000"/>
                </a:solidFill>
                <a:latin typeface="Times New Roman" pitchFamily="18" charset="0"/>
                <a:cs typeface="Times New Roman" pitchFamily="18" charset="0"/>
              </a:rPr>
              <a:t>Early Phase: </a:t>
            </a:r>
            <a:r>
              <a:rPr lang="en-US" sz="2400" dirty="0" smtClean="0">
                <a:latin typeface="Times New Roman" pitchFamily="18" charset="0"/>
                <a:cs typeface="Times New Roman" pitchFamily="18" charset="0"/>
              </a:rPr>
              <a:t>Genes that  encode the </a:t>
            </a:r>
            <a:r>
              <a:rPr lang="en-US" sz="2400" b="1" dirty="0" smtClean="0">
                <a:latin typeface="Times New Roman" pitchFamily="18" charset="0"/>
                <a:cs typeface="Times New Roman" pitchFamily="18" charset="0"/>
              </a:rPr>
              <a:t>non-structural protein</a:t>
            </a:r>
            <a:r>
              <a:rPr lang="en-US" sz="2400" dirty="0" smtClean="0">
                <a:latin typeface="Times New Roman" pitchFamily="18" charset="0"/>
                <a:cs typeface="Times New Roman" pitchFamily="18" charset="0"/>
              </a:rPr>
              <a:t>, including proteins necessary for replication of the viral genome, and are expressed before the genome is replicated. </a:t>
            </a:r>
          </a:p>
          <a:p>
            <a:r>
              <a:rPr lang="en-US" sz="2400" dirty="0" smtClean="0">
                <a:solidFill>
                  <a:srgbClr val="FF0000"/>
                </a:solidFill>
                <a:latin typeface="Times New Roman" pitchFamily="18" charset="0"/>
                <a:cs typeface="Times New Roman" pitchFamily="18" charset="0"/>
              </a:rPr>
              <a:t>Intermediate  Phase: </a:t>
            </a:r>
            <a:r>
              <a:rPr lang="en-IN" sz="2400" dirty="0" smtClean="0">
                <a:latin typeface="Times New Roman" pitchFamily="18" charset="0"/>
                <a:cs typeface="Times New Roman" pitchFamily="18" charset="0"/>
              </a:rPr>
              <a:t>The intermediate genes are switched-on, </a:t>
            </a:r>
            <a:r>
              <a:rPr lang="en-IN" sz="2400" b="1" dirty="0" smtClean="0">
                <a:latin typeface="Times New Roman" pitchFamily="18" charset="0"/>
                <a:cs typeface="Times New Roman" pitchFamily="18" charset="0"/>
              </a:rPr>
              <a:t>triggering replication </a:t>
            </a:r>
            <a:r>
              <a:rPr lang="en-IN" sz="2400" dirty="0" smtClean="0">
                <a:latin typeface="Times New Roman" pitchFamily="18" charset="0"/>
                <a:cs typeface="Times New Roman" pitchFamily="18" charset="0"/>
              </a:rPr>
              <a:t>of the viral DNA genome. Viral synthesis occurs inside virally-induced double-membrane bound vesicles (derived from the host endoplasmic reticulum) called </a:t>
            </a:r>
            <a:r>
              <a:rPr lang="en-IN" sz="2400" b="1" dirty="0" err="1" smtClean="0">
                <a:latin typeface="Times New Roman" pitchFamily="18" charset="0"/>
                <a:cs typeface="Times New Roman" pitchFamily="18" charset="0"/>
              </a:rPr>
              <a:t>virosomes</a:t>
            </a:r>
            <a:r>
              <a:rPr lang="en-IN" sz="2400" dirty="0" smtClean="0">
                <a:latin typeface="Times New Roman" pitchFamily="18" charset="0"/>
                <a:cs typeface="Times New Roman" pitchFamily="18" charset="0"/>
              </a:rPr>
              <a:t>. DNA replication occurs inside these </a:t>
            </a:r>
            <a:r>
              <a:rPr lang="en-IN" sz="2400" dirty="0" err="1" smtClean="0">
                <a:latin typeface="Times New Roman" pitchFamily="18" charset="0"/>
                <a:cs typeface="Times New Roman" pitchFamily="18" charset="0"/>
              </a:rPr>
              <a:t>virosomes</a:t>
            </a:r>
            <a:r>
              <a:rPr lang="en-IN" sz="2400" dirty="0" smtClean="0">
                <a:latin typeface="Times New Roman" pitchFamily="18" charset="0"/>
                <a:cs typeface="Times New Roman" pitchFamily="18" charset="0"/>
              </a:rPr>
              <a:t>, which later disassemble prior to </a:t>
            </a:r>
            <a:r>
              <a:rPr lang="en-IN" sz="2400" dirty="0" err="1" smtClean="0">
                <a:latin typeface="Times New Roman" pitchFamily="18" charset="0"/>
                <a:cs typeface="Times New Roman" pitchFamily="18" charset="0"/>
              </a:rPr>
              <a:t>virion</a:t>
            </a:r>
            <a:r>
              <a:rPr lang="en-IN" sz="2400" dirty="0" smtClean="0">
                <a:latin typeface="Times New Roman" pitchFamily="18" charset="0"/>
                <a:cs typeface="Times New Roman" pitchFamily="18" charset="0"/>
              </a:rPr>
              <a:t> assembly in the late phase.</a:t>
            </a:r>
            <a:endParaRPr lang="en-US" sz="2400" dirty="0" smtClean="0">
              <a:solidFill>
                <a:srgbClr val="FF0000"/>
              </a:solidFill>
              <a:latin typeface="Times New Roman" pitchFamily="18" charset="0"/>
              <a:cs typeface="Times New Roman" pitchFamily="18" charset="0"/>
            </a:endParaRPr>
          </a:p>
          <a:p>
            <a:r>
              <a:rPr lang="en-US" sz="2400" dirty="0" smtClean="0">
                <a:solidFill>
                  <a:srgbClr val="FF0000"/>
                </a:solidFill>
                <a:latin typeface="Times New Roman" pitchFamily="18" charset="0"/>
                <a:cs typeface="Times New Roman" pitchFamily="18" charset="0"/>
              </a:rPr>
              <a:t>Late Phase: </a:t>
            </a:r>
            <a:r>
              <a:rPr lang="en-US" sz="2400" dirty="0" smtClean="0">
                <a:latin typeface="Times New Roman" pitchFamily="18" charset="0"/>
                <a:cs typeface="Times New Roman" pitchFamily="18" charset="0"/>
              </a:rPr>
              <a:t>Late phase genes are expressed after the genome has been replicated and encode the </a:t>
            </a:r>
            <a:r>
              <a:rPr lang="en-US" sz="2400" b="1" dirty="0" smtClean="0">
                <a:latin typeface="Times New Roman" pitchFamily="18" charset="0"/>
                <a:cs typeface="Times New Roman" pitchFamily="18" charset="0"/>
              </a:rPr>
              <a:t>structural proteins </a:t>
            </a:r>
            <a:r>
              <a:rPr lang="en-US" sz="2400" dirty="0" smtClean="0">
                <a:latin typeface="Times New Roman" pitchFamily="18" charset="0"/>
                <a:cs typeface="Times New Roman" pitchFamily="18" charset="0"/>
              </a:rPr>
              <a:t>to make the virus particle. </a:t>
            </a:r>
          </a:p>
          <a:p>
            <a:endParaRPr lang="en-IN" sz="2400" dirty="0">
              <a:latin typeface="Times New Roman" pitchFamily="18" charset="0"/>
              <a:cs typeface="Times New Roman"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GB" sz="2400" dirty="0" err="1" smtClean="0">
                <a:latin typeface="Times New Roman" pitchFamily="18" charset="0"/>
                <a:cs typeface="Times New Roman" pitchFamily="18" charset="0"/>
              </a:rPr>
              <a:t>Virion</a:t>
            </a:r>
            <a:r>
              <a:rPr lang="en-GB" sz="2400" dirty="0" smtClean="0">
                <a:latin typeface="Times New Roman" pitchFamily="18" charset="0"/>
                <a:cs typeface="Times New Roman" pitchFamily="18" charset="0"/>
              </a:rPr>
              <a:t> formation involves coalescence of DNA within crescent shaped immature core structures, which then mature by the addition of outer coat layers. </a:t>
            </a:r>
          </a:p>
          <a:p>
            <a:r>
              <a:rPr lang="en-GB" sz="2400" dirty="0" smtClean="0">
                <a:latin typeface="Times New Roman" pitchFamily="18" charset="0"/>
                <a:cs typeface="Times New Roman" pitchFamily="18" charset="0"/>
              </a:rPr>
              <a:t>Replication and assembly occur in discrete sites within the cytoplasm (called </a:t>
            </a:r>
            <a:r>
              <a:rPr lang="en-GB" sz="2400" b="1" dirty="0" err="1" smtClean="0">
                <a:latin typeface="Times New Roman" pitchFamily="18" charset="0"/>
                <a:cs typeface="Times New Roman" pitchFamily="18" charset="0"/>
              </a:rPr>
              <a:t>viroplasm</a:t>
            </a:r>
            <a:r>
              <a:rPr lang="en-GB" sz="2400" b="1" dirty="0" smtClean="0">
                <a:latin typeface="Times New Roman" pitchFamily="18" charset="0"/>
                <a:cs typeface="Times New Roman" pitchFamily="18" charset="0"/>
              </a:rPr>
              <a:t> or viral factories</a:t>
            </a:r>
            <a:r>
              <a:rPr lang="en-GB" sz="2400" dirty="0" smtClean="0">
                <a:latin typeface="Times New Roman" pitchFamily="18" charset="0"/>
                <a:cs typeface="Times New Roman" pitchFamily="18" charset="0"/>
              </a:rPr>
              <a:t>), and </a:t>
            </a:r>
            <a:r>
              <a:rPr lang="en-GB" sz="2400" dirty="0" err="1" smtClean="0">
                <a:latin typeface="Times New Roman" pitchFamily="18" charset="0"/>
                <a:cs typeface="Times New Roman" pitchFamily="18" charset="0"/>
              </a:rPr>
              <a:t>virions</a:t>
            </a:r>
            <a:r>
              <a:rPr lang="en-GB" sz="2400" dirty="0" smtClean="0">
                <a:latin typeface="Times New Roman" pitchFamily="18" charset="0"/>
                <a:cs typeface="Times New Roman" pitchFamily="18" charset="0"/>
              </a:rPr>
              <a:t> are released by budding (enveloped </a:t>
            </a:r>
            <a:r>
              <a:rPr lang="en-GB" sz="2400" dirty="0" err="1" smtClean="0">
                <a:latin typeface="Times New Roman" pitchFamily="18" charset="0"/>
                <a:cs typeface="Times New Roman" pitchFamily="18" charset="0"/>
              </a:rPr>
              <a:t>virions</a:t>
            </a:r>
            <a:r>
              <a:rPr lang="en-GB" sz="2400" dirty="0" smtClean="0">
                <a:latin typeface="Times New Roman" pitchFamily="18" charset="0"/>
                <a:cs typeface="Times New Roman" pitchFamily="18" charset="0"/>
              </a:rPr>
              <a:t>) or by </a:t>
            </a:r>
            <a:r>
              <a:rPr lang="en-GB" sz="2400" dirty="0" err="1" smtClean="0">
                <a:latin typeface="Times New Roman" pitchFamily="18" charset="0"/>
                <a:cs typeface="Times New Roman" pitchFamily="18" charset="0"/>
              </a:rPr>
              <a:t>exocytosis</a:t>
            </a:r>
            <a:r>
              <a:rPr lang="en-GB" sz="2400" dirty="0" smtClean="0">
                <a:latin typeface="Times New Roman" pitchFamily="18" charset="0"/>
                <a:cs typeface="Times New Roman" pitchFamily="18" charset="0"/>
              </a:rPr>
              <a:t>, or cell </a:t>
            </a:r>
            <a:r>
              <a:rPr lang="en-GB" sz="2400" dirty="0" err="1" smtClean="0">
                <a:latin typeface="Times New Roman" pitchFamily="18" charset="0"/>
                <a:cs typeface="Times New Roman" pitchFamily="18" charset="0"/>
              </a:rPr>
              <a:t>lysis</a:t>
            </a:r>
            <a:r>
              <a:rPr lang="en-GB" sz="2400" dirty="0" smtClean="0">
                <a:latin typeface="Times New Roman" pitchFamily="18" charset="0"/>
                <a:cs typeface="Times New Roman" pitchFamily="18" charset="0"/>
              </a:rPr>
              <a:t> (</a:t>
            </a:r>
            <a:r>
              <a:rPr lang="en-GB" sz="2400" dirty="0" err="1" smtClean="0">
                <a:latin typeface="Times New Roman" pitchFamily="18" charset="0"/>
                <a:cs typeface="Times New Roman" pitchFamily="18" charset="0"/>
              </a:rPr>
              <a:t>nonenveloped</a:t>
            </a:r>
            <a:r>
              <a:rPr lang="en-GB" sz="2400" dirty="0" smtClean="0">
                <a:latin typeface="Times New Roman" pitchFamily="18" charset="0"/>
                <a:cs typeface="Times New Roman" pitchFamily="18" charset="0"/>
              </a:rPr>
              <a:t> </a:t>
            </a:r>
            <a:r>
              <a:rPr lang="en-GB" sz="2400" dirty="0" err="1" smtClean="0">
                <a:latin typeface="Times New Roman" pitchFamily="18" charset="0"/>
                <a:cs typeface="Times New Roman" pitchFamily="18" charset="0"/>
              </a:rPr>
              <a:t>virions</a:t>
            </a:r>
            <a:r>
              <a:rPr lang="en-GB" sz="2400" dirty="0" smtClean="0">
                <a:latin typeface="Times New Roman" pitchFamily="18" charset="0"/>
                <a:cs typeface="Times New Roman" pitchFamily="18" charset="0"/>
              </a:rPr>
              <a:t>). </a:t>
            </a:r>
          </a:p>
          <a:p>
            <a:r>
              <a:rPr lang="en-GB" sz="2400" dirty="0" smtClean="0">
                <a:latin typeface="Times New Roman" pitchFamily="18" charset="0"/>
                <a:cs typeface="Times New Roman" pitchFamily="18" charset="0"/>
              </a:rPr>
              <a:t>Both enveloped and non-enveloped </a:t>
            </a:r>
            <a:r>
              <a:rPr lang="en-GB" sz="2400" dirty="0" err="1" smtClean="0">
                <a:latin typeface="Times New Roman" pitchFamily="18" charset="0"/>
                <a:cs typeface="Times New Roman" pitchFamily="18" charset="0"/>
              </a:rPr>
              <a:t>virions</a:t>
            </a:r>
            <a:r>
              <a:rPr lang="en-GB" sz="2400" dirty="0" smtClean="0">
                <a:latin typeface="Times New Roman" pitchFamily="18" charset="0"/>
                <a:cs typeface="Times New Roman" pitchFamily="18" charset="0"/>
              </a:rPr>
              <a:t> are infectious, but enveloped </a:t>
            </a:r>
            <a:r>
              <a:rPr lang="en-GB" sz="2400" dirty="0" err="1" smtClean="0">
                <a:latin typeface="Times New Roman" pitchFamily="18" charset="0"/>
                <a:cs typeface="Times New Roman" pitchFamily="18" charset="0"/>
              </a:rPr>
              <a:t>virions</a:t>
            </a:r>
            <a:r>
              <a:rPr lang="en-GB" sz="2400" dirty="0" smtClean="0">
                <a:latin typeface="Times New Roman" pitchFamily="18" charset="0"/>
                <a:cs typeface="Times New Roman" pitchFamily="18" charset="0"/>
              </a:rPr>
              <a:t> are taken up by cells more readily and appear to be more important in the spread of </a:t>
            </a:r>
            <a:r>
              <a:rPr lang="en-GB" sz="2400" dirty="0" err="1" smtClean="0">
                <a:latin typeface="Times New Roman" pitchFamily="18" charset="0"/>
                <a:cs typeface="Times New Roman" pitchFamily="18" charset="0"/>
              </a:rPr>
              <a:t>virions</a:t>
            </a:r>
            <a:r>
              <a:rPr lang="en-GB" sz="2400" dirty="0" smtClean="0">
                <a:latin typeface="Times New Roman" pitchFamily="18" charset="0"/>
                <a:cs typeface="Times New Roman" pitchFamily="18" charset="0"/>
              </a:rPr>
              <a:t> through the body of the animal </a:t>
            </a:r>
            <a:endParaRPr lang="en-US" sz="2400" dirty="0">
              <a:latin typeface="Times New Roman" pitchFamily="18" charset="0"/>
              <a:cs typeface="Times New Roman"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10" name="Rectangle 6"/>
          <p:cNvSpPr>
            <a:spLocks noGrp="1" noRot="1" noChangeArrowheads="1"/>
          </p:cNvSpPr>
          <p:nvPr>
            <p:ph type="title"/>
          </p:nvPr>
        </p:nvSpPr>
        <p:spPr/>
        <p:txBody>
          <a:bodyPr/>
          <a:lstStyle/>
          <a:p>
            <a:pPr eaLnBrk="1" hangingPunct="1">
              <a:defRPr/>
            </a:pPr>
            <a:endParaRPr lang="en-US" smtClean="0"/>
          </a:p>
        </p:txBody>
      </p:sp>
      <p:sp>
        <p:nvSpPr>
          <p:cNvPr id="4" name="Content Placeholder 3"/>
          <p:cNvSpPr>
            <a:spLocks noGrp="1"/>
          </p:cNvSpPr>
          <p:nvPr>
            <p:ph idx="1"/>
          </p:nvPr>
        </p:nvSpPr>
        <p:spPr/>
        <p:txBody>
          <a:bodyPr>
            <a:noAutofit/>
          </a:bodyPr>
          <a:lstStyle/>
          <a:p>
            <a:r>
              <a:rPr lang="en-GB" sz="2400" b="1" dirty="0" smtClean="0">
                <a:latin typeface="Times New Roman" pitchFamily="18" charset="0"/>
                <a:cs typeface="Times New Roman" pitchFamily="18" charset="0"/>
              </a:rPr>
              <a:t>Two major forms of infectious </a:t>
            </a:r>
            <a:r>
              <a:rPr lang="en-GB" sz="2400" b="1" dirty="0" err="1" smtClean="0">
                <a:latin typeface="Times New Roman" pitchFamily="18" charset="0"/>
                <a:cs typeface="Times New Roman" pitchFamily="18" charset="0"/>
              </a:rPr>
              <a:t>virions</a:t>
            </a:r>
            <a:r>
              <a:rPr lang="en-GB" sz="2400" b="1" dirty="0" smtClean="0">
                <a:latin typeface="Times New Roman" pitchFamily="18" charset="0"/>
                <a:cs typeface="Times New Roman" pitchFamily="18" charset="0"/>
              </a:rPr>
              <a:t>:</a:t>
            </a:r>
            <a:r>
              <a:rPr lang="en-GB" sz="2400" dirty="0" smtClean="0">
                <a:latin typeface="Times New Roman" pitchFamily="18" charset="0"/>
                <a:cs typeface="Times New Roman" pitchFamily="18" charset="0"/>
              </a:rPr>
              <a:t> </a:t>
            </a:r>
          </a:p>
          <a:p>
            <a:r>
              <a:rPr lang="en-GB" sz="2400" dirty="0" smtClean="0">
                <a:latin typeface="Times New Roman" pitchFamily="18" charset="0"/>
                <a:cs typeface="Times New Roman" pitchFamily="18" charset="0"/>
              </a:rPr>
              <a:t>The </a:t>
            </a:r>
            <a:r>
              <a:rPr lang="en-GB" sz="2400" b="1" dirty="0" smtClean="0">
                <a:latin typeface="Times New Roman" pitchFamily="18" charset="0"/>
                <a:cs typeface="Times New Roman" pitchFamily="18" charset="0"/>
              </a:rPr>
              <a:t>mature </a:t>
            </a:r>
            <a:r>
              <a:rPr lang="en-GB" sz="2400" b="1" dirty="0" err="1" smtClean="0">
                <a:latin typeface="Times New Roman" pitchFamily="18" charset="0"/>
                <a:cs typeface="Times New Roman" pitchFamily="18" charset="0"/>
              </a:rPr>
              <a:t>virion</a:t>
            </a:r>
            <a:r>
              <a:rPr lang="en-GB" sz="2400" b="1" dirty="0" smtClean="0">
                <a:latin typeface="Times New Roman" pitchFamily="18" charset="0"/>
                <a:cs typeface="Times New Roman" pitchFamily="18" charset="0"/>
              </a:rPr>
              <a:t> (MV) </a:t>
            </a:r>
            <a:r>
              <a:rPr lang="en-GB" sz="2400" dirty="0" smtClean="0">
                <a:latin typeface="Times New Roman" pitchFamily="18" charset="0"/>
                <a:cs typeface="Times New Roman" pitchFamily="18" charset="0"/>
              </a:rPr>
              <a:t>contains more than 80 proteins and consists of a nucleoprotein core surrounded by a lipid membrane with about 20 proteins. Approximately 20 proteins within the core are devoted by synthesis and modification of mRNA. </a:t>
            </a:r>
          </a:p>
          <a:p>
            <a:r>
              <a:rPr lang="en-GB" sz="2400" dirty="0" smtClean="0">
                <a:latin typeface="Times New Roman" pitchFamily="18" charset="0"/>
                <a:cs typeface="Times New Roman" pitchFamily="18" charset="0"/>
              </a:rPr>
              <a:t>The </a:t>
            </a:r>
            <a:r>
              <a:rPr lang="en-GB" sz="2400" b="1" dirty="0" smtClean="0">
                <a:latin typeface="Times New Roman" pitchFamily="18" charset="0"/>
                <a:cs typeface="Times New Roman" pitchFamily="18" charset="0"/>
              </a:rPr>
              <a:t>enveloped </a:t>
            </a:r>
            <a:r>
              <a:rPr lang="en-GB" sz="2400" b="1" dirty="0" err="1" smtClean="0">
                <a:latin typeface="Times New Roman" pitchFamily="18" charset="0"/>
                <a:cs typeface="Times New Roman" pitchFamily="18" charset="0"/>
              </a:rPr>
              <a:t>virion</a:t>
            </a:r>
            <a:r>
              <a:rPr lang="en-GB" sz="2400" b="1" dirty="0" smtClean="0">
                <a:latin typeface="Times New Roman" pitchFamily="18" charset="0"/>
                <a:cs typeface="Times New Roman" pitchFamily="18" charset="0"/>
              </a:rPr>
              <a:t> (EV) </a:t>
            </a:r>
            <a:r>
              <a:rPr lang="en-GB" sz="2400" dirty="0" smtClean="0">
                <a:latin typeface="Times New Roman" pitchFamily="18" charset="0"/>
                <a:cs typeface="Times New Roman" pitchFamily="18" charset="0"/>
              </a:rPr>
              <a:t>consists essentially of a MV with an additional membrane containing about 6 proteins distinct from those in the MV membrane.</a:t>
            </a:r>
          </a:p>
          <a:p>
            <a:endParaRPr lang="en-US" sz="2400" dirty="0">
              <a:latin typeface="Times New Roman" pitchFamily="18" charset="0"/>
              <a:cs typeface="Times New Roman" pitchFamily="18" charset="0"/>
            </a:endParaRPr>
          </a:p>
        </p:txBody>
      </p:sp>
    </p:spTree>
    <p:extLst>
      <p:ext uri="{BB962C8B-B14F-4D97-AF65-F5344CB8AC3E}">
        <p14:creationId xmlns="" xmlns:p14="http://schemas.microsoft.com/office/powerpoint/2010/main" val="258823823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www.fortunejournals.com/fulltext-images/methodical-review-on-poxvirus-replication-genes-responsible-for-the-development-03.png"/>
          <p:cNvPicPr>
            <a:picLocks noChangeAspect="1" noChangeArrowheads="1"/>
          </p:cNvPicPr>
          <p:nvPr/>
        </p:nvPicPr>
        <p:blipFill>
          <a:blip r:embed="rId2"/>
          <a:srcRect/>
          <a:stretch>
            <a:fillRect/>
          </a:stretch>
        </p:blipFill>
        <p:spPr bwMode="auto">
          <a:xfrm>
            <a:off x="457200" y="533400"/>
            <a:ext cx="8458200" cy="5943600"/>
          </a:xfrm>
          <a:prstGeom prst="rect">
            <a:avLst/>
          </a:prstGeom>
          <a:noFill/>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smtClean="0">
                <a:solidFill>
                  <a:srgbClr val="FF0000"/>
                </a:solidFill>
              </a:rPr>
              <a:t>Transmission </a:t>
            </a:r>
            <a:endParaRPr lang="en-US" sz="4000" b="1" dirty="0">
              <a:solidFill>
                <a:srgbClr val="FF0000"/>
              </a:solidFill>
            </a:endParaRPr>
          </a:p>
        </p:txBody>
      </p:sp>
      <p:sp>
        <p:nvSpPr>
          <p:cNvPr id="3" name="Content Placeholder 2"/>
          <p:cNvSpPr>
            <a:spLocks noGrp="1"/>
          </p:cNvSpPr>
          <p:nvPr>
            <p:ph idx="1"/>
          </p:nvPr>
        </p:nvSpPr>
        <p:spPr>
          <a:xfrm>
            <a:off x="152400" y="1219200"/>
            <a:ext cx="8763000" cy="4525963"/>
          </a:xfrm>
        </p:spPr>
        <p:txBody>
          <a:bodyPr>
            <a:noAutofit/>
          </a:bodyPr>
          <a:lstStyle/>
          <a:p>
            <a:r>
              <a:rPr lang="en-GB" sz="2400" dirty="0" smtClean="0">
                <a:latin typeface="Times New Roman" pitchFamily="18" charset="0"/>
                <a:cs typeface="Times New Roman" pitchFamily="18" charset="0"/>
              </a:rPr>
              <a:t>By aerosol and droplets (</a:t>
            </a:r>
            <a:r>
              <a:rPr lang="en-GB" sz="2400" dirty="0" err="1" smtClean="0">
                <a:latin typeface="Times New Roman" pitchFamily="18" charset="0"/>
                <a:cs typeface="Times New Roman" pitchFamily="18" charset="0"/>
              </a:rPr>
              <a:t>variola</a:t>
            </a:r>
            <a:r>
              <a:rPr lang="en-GB" sz="2400" dirty="0" smtClean="0">
                <a:latin typeface="Times New Roman" pitchFamily="18" charset="0"/>
                <a:cs typeface="Times New Roman" pitchFamily="18" charset="0"/>
              </a:rPr>
              <a:t> virus), </a:t>
            </a:r>
          </a:p>
          <a:p>
            <a:r>
              <a:rPr lang="en-GB" sz="2400" dirty="0" smtClean="0">
                <a:latin typeface="Times New Roman" pitchFamily="18" charset="0"/>
                <a:cs typeface="Times New Roman" pitchFamily="18" charset="0"/>
              </a:rPr>
              <a:t>By introduction of virus into small skin abrasions after direct or indirect contact with an infected animal (</a:t>
            </a:r>
            <a:r>
              <a:rPr lang="en-GB" sz="2400" dirty="0" err="1" smtClean="0">
                <a:latin typeface="Times New Roman" pitchFamily="18" charset="0"/>
                <a:cs typeface="Times New Roman" pitchFamily="18" charset="0"/>
              </a:rPr>
              <a:t>orf</a:t>
            </a:r>
            <a:r>
              <a:rPr lang="en-GB" sz="2400" dirty="0" smtClean="0">
                <a:latin typeface="Times New Roman" pitchFamily="18" charset="0"/>
                <a:cs typeface="Times New Roman" pitchFamily="18" charset="0"/>
              </a:rPr>
              <a:t> virus, </a:t>
            </a:r>
            <a:r>
              <a:rPr lang="en-GB" sz="2400" dirty="0" err="1" smtClean="0">
                <a:latin typeface="Times New Roman" pitchFamily="18" charset="0"/>
                <a:cs typeface="Times New Roman" pitchFamily="18" charset="0"/>
              </a:rPr>
              <a:t>milker’s</a:t>
            </a:r>
            <a:r>
              <a:rPr lang="en-GB" sz="2400" dirty="0" smtClean="0">
                <a:latin typeface="Times New Roman" pitchFamily="18" charset="0"/>
                <a:cs typeface="Times New Roman" pitchFamily="18" charset="0"/>
              </a:rPr>
              <a:t> nodule virus), and </a:t>
            </a:r>
          </a:p>
          <a:p>
            <a:r>
              <a:rPr lang="en-GB" sz="2400" dirty="0" smtClean="0">
                <a:latin typeface="Times New Roman" pitchFamily="18" charset="0"/>
                <a:cs typeface="Times New Roman" pitchFamily="18" charset="0"/>
              </a:rPr>
              <a:t>In the case of some animal poxviruses mechanically by biting arthropods. . </a:t>
            </a:r>
          </a:p>
          <a:p>
            <a:r>
              <a:rPr lang="en-GB" sz="2400" dirty="0" smtClean="0">
                <a:latin typeface="Times New Roman" pitchFamily="18" charset="0"/>
                <a:cs typeface="Times New Roman" pitchFamily="18" charset="0"/>
              </a:rPr>
              <a:t>The viruses generally have </a:t>
            </a:r>
            <a:r>
              <a:rPr lang="en-GB" sz="2400" b="1" dirty="0" smtClean="0">
                <a:latin typeface="Times New Roman" pitchFamily="18" charset="0"/>
                <a:cs typeface="Times New Roman" pitchFamily="18" charset="0"/>
              </a:rPr>
              <a:t>narrow host ranges</a:t>
            </a:r>
            <a:r>
              <a:rPr lang="en-GB" sz="2400" dirty="0" smtClean="0">
                <a:latin typeface="Times New Roman" pitchFamily="18" charset="0"/>
                <a:cs typeface="Times New Roman" pitchFamily="18" charset="0"/>
              </a:rPr>
              <a:t>. </a:t>
            </a:r>
          </a:p>
          <a:p>
            <a:r>
              <a:rPr lang="en-GB" sz="2400" dirty="0" smtClean="0">
                <a:latin typeface="Times New Roman" pitchFamily="18" charset="0"/>
                <a:cs typeface="Times New Roman" pitchFamily="18" charset="0"/>
              </a:rPr>
              <a:t>Poxviruses are resistant in the environment under ambient temperatures and may survive for many years in dried scabs or other virus-laden material. </a:t>
            </a:r>
          </a:p>
          <a:p>
            <a:endParaRPr lang="en-US" sz="2400" dirty="0">
              <a:latin typeface="Times New Roman" pitchFamily="18" charset="0"/>
              <a:cs typeface="Times New Roman"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smtClean="0">
                <a:solidFill>
                  <a:srgbClr val="FF0000"/>
                </a:solidFill>
              </a:rPr>
              <a:t>Skin lesions</a:t>
            </a:r>
            <a:endParaRPr lang="en-US" sz="4000" b="1" dirty="0">
              <a:solidFill>
                <a:srgbClr val="FF0000"/>
              </a:solidFill>
            </a:endParaRPr>
          </a:p>
        </p:txBody>
      </p:sp>
      <p:sp>
        <p:nvSpPr>
          <p:cNvPr id="3" name="Content Placeholder 2"/>
          <p:cNvSpPr>
            <a:spLocks noGrp="1"/>
          </p:cNvSpPr>
          <p:nvPr>
            <p:ph idx="1"/>
          </p:nvPr>
        </p:nvSpPr>
        <p:spPr/>
        <p:txBody>
          <a:bodyPr>
            <a:normAutofit/>
          </a:bodyPr>
          <a:lstStyle/>
          <a:p>
            <a:r>
              <a:rPr lang="en-US" sz="2400" dirty="0" smtClean="0">
                <a:latin typeface="Times New Roman" pitchFamily="18" charset="0"/>
                <a:cs typeface="Times New Roman" pitchFamily="18" charset="0"/>
              </a:rPr>
              <a:t>Skin lesions are the principal feature.</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Several viral encoded proteins are released from infected cells including a homologue of epidermal growth factor (</a:t>
            </a:r>
            <a:r>
              <a:rPr lang="en-US" sz="2400" dirty="0" err="1" smtClean="0">
                <a:latin typeface="Times New Roman" pitchFamily="18" charset="0"/>
                <a:cs typeface="Times New Roman" pitchFamily="18" charset="0"/>
              </a:rPr>
              <a:t>virokines</a:t>
            </a:r>
            <a:r>
              <a:rPr lang="en-US" sz="2400" dirty="0" smtClean="0">
                <a:latin typeface="Times New Roman" pitchFamily="18" charset="0"/>
                <a:cs typeface="Times New Roman" pitchFamily="18" charset="0"/>
              </a:rPr>
              <a:t>) which stimulates cell proliferation.</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Typically pox lesions begins as </a:t>
            </a:r>
            <a:r>
              <a:rPr lang="en-US" sz="2400" b="1" dirty="0" err="1" smtClean="0">
                <a:latin typeface="Times New Roman" pitchFamily="18" charset="0"/>
                <a:cs typeface="Times New Roman" pitchFamily="18" charset="0"/>
              </a:rPr>
              <a:t>macules</a:t>
            </a:r>
            <a:r>
              <a:rPr lang="en-US" sz="2400" dirty="0" smtClean="0">
                <a:latin typeface="Times New Roman" pitchFamily="18" charset="0"/>
                <a:cs typeface="Times New Roman" pitchFamily="18" charset="0"/>
              </a:rPr>
              <a:t> and progress through </a:t>
            </a:r>
            <a:r>
              <a:rPr lang="en-US" sz="2400" b="1" dirty="0" smtClean="0">
                <a:latin typeface="Times New Roman" pitchFamily="18" charset="0"/>
                <a:cs typeface="Times New Roman" pitchFamily="18" charset="0"/>
              </a:rPr>
              <a:t>papules, vesicles </a:t>
            </a:r>
            <a:r>
              <a:rPr lang="en-US" sz="2400" dirty="0" smtClean="0">
                <a:latin typeface="Times New Roman" pitchFamily="18" charset="0"/>
                <a:cs typeface="Times New Roman" pitchFamily="18" charset="0"/>
              </a:rPr>
              <a:t>and </a:t>
            </a:r>
            <a:r>
              <a:rPr lang="en-US" sz="2400" b="1" dirty="0" smtClean="0">
                <a:latin typeface="Times New Roman" pitchFamily="18" charset="0"/>
                <a:cs typeface="Times New Roman" pitchFamily="18" charset="0"/>
              </a:rPr>
              <a:t>pustules</a:t>
            </a:r>
            <a:r>
              <a:rPr lang="en-US" sz="2400" dirty="0" smtClean="0">
                <a:latin typeface="Times New Roman" pitchFamily="18" charset="0"/>
                <a:cs typeface="Times New Roman" pitchFamily="18" charset="0"/>
              </a:rPr>
              <a:t> to </a:t>
            </a:r>
            <a:r>
              <a:rPr lang="en-US" sz="2400" b="1" dirty="0" smtClean="0">
                <a:latin typeface="Times New Roman" pitchFamily="18" charset="0"/>
                <a:cs typeface="Times New Roman" pitchFamily="18" charset="0"/>
              </a:rPr>
              <a:t>scabs</a:t>
            </a:r>
            <a:r>
              <a:rPr lang="en-US" sz="2400" dirty="0" smtClean="0">
                <a:latin typeface="Times New Roman" pitchFamily="18" charset="0"/>
                <a:cs typeface="Times New Roman" pitchFamily="18" charset="0"/>
              </a:rPr>
              <a:t> which detach leaving a scar</a:t>
            </a:r>
            <a:endParaRPr lang="en-US" sz="2400" dirty="0">
              <a:latin typeface="Times New Roman" pitchFamily="18" charset="0"/>
              <a:cs typeface="Times New Roman"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000" b="1" dirty="0" smtClean="0">
                <a:solidFill>
                  <a:srgbClr val="FF0000"/>
                </a:solidFill>
              </a:rPr>
              <a:t>Cow/Buffalo Pox</a:t>
            </a:r>
            <a:endParaRPr lang="en-IN" sz="4000" b="1" dirty="0">
              <a:solidFill>
                <a:srgbClr val="FF0000"/>
              </a:solidFill>
            </a:endParaRPr>
          </a:p>
        </p:txBody>
      </p:sp>
      <p:sp>
        <p:nvSpPr>
          <p:cNvPr id="3" name="Content Placeholder 2"/>
          <p:cNvSpPr>
            <a:spLocks noGrp="1"/>
          </p:cNvSpPr>
          <p:nvPr>
            <p:ph sz="half" idx="1"/>
          </p:nvPr>
        </p:nvSpPr>
        <p:spPr>
          <a:xfrm>
            <a:off x="152400" y="1219200"/>
            <a:ext cx="6400800" cy="5257800"/>
          </a:xfrm>
        </p:spPr>
        <p:txBody>
          <a:bodyPr>
            <a:normAutofit fontScale="77500" lnSpcReduction="20000"/>
          </a:bodyPr>
          <a:lstStyle/>
          <a:p>
            <a:r>
              <a:rPr lang="en-IN" b="1" dirty="0" err="1" smtClean="0">
                <a:latin typeface="Times New Roman" pitchFamily="18" charset="0"/>
                <a:cs typeface="Times New Roman" pitchFamily="18" charset="0"/>
              </a:rPr>
              <a:t>Orthopox</a:t>
            </a:r>
            <a:r>
              <a:rPr lang="en-IN" b="1" dirty="0" smtClean="0">
                <a:latin typeface="Times New Roman" pitchFamily="18" charset="0"/>
                <a:cs typeface="Times New Roman" pitchFamily="18" charset="0"/>
              </a:rPr>
              <a:t> virus</a:t>
            </a:r>
          </a:p>
          <a:p>
            <a:r>
              <a:rPr lang="en-IN" dirty="0" smtClean="0">
                <a:latin typeface="Times New Roman" pitchFamily="18" charset="0"/>
                <a:cs typeface="Times New Roman" pitchFamily="18" charset="0"/>
              </a:rPr>
              <a:t>It is a mild eruptive disease of dairy cows and buffaloes localized on the </a:t>
            </a:r>
            <a:r>
              <a:rPr lang="en-IN" b="1" dirty="0" smtClean="0">
                <a:latin typeface="Times New Roman" pitchFamily="18" charset="0"/>
                <a:cs typeface="Times New Roman" pitchFamily="18" charset="0"/>
              </a:rPr>
              <a:t>udder and teats</a:t>
            </a:r>
            <a:r>
              <a:rPr lang="en-IN" dirty="0" smtClean="0">
                <a:latin typeface="Times New Roman" pitchFamily="18" charset="0"/>
                <a:cs typeface="Times New Roman" pitchFamily="18" charset="0"/>
              </a:rPr>
              <a:t>.</a:t>
            </a:r>
          </a:p>
          <a:p>
            <a:r>
              <a:rPr lang="en-IN" dirty="0" smtClean="0">
                <a:latin typeface="Times New Roman" pitchFamily="18" charset="0"/>
                <a:cs typeface="Times New Roman" pitchFamily="18" charset="0"/>
              </a:rPr>
              <a:t>The disease spreads by contact during milking. </a:t>
            </a:r>
          </a:p>
          <a:p>
            <a:r>
              <a:rPr lang="en-IN" dirty="0" smtClean="0">
                <a:latin typeface="Times New Roman" pitchFamily="18" charset="0"/>
                <a:cs typeface="Times New Roman" pitchFamily="18" charset="0"/>
              </a:rPr>
              <a:t>After an incubation period of 3–7 days, during which cows may be mildly febrile, papules appear on the teats and udder. </a:t>
            </a:r>
          </a:p>
          <a:p>
            <a:r>
              <a:rPr lang="en-IN" dirty="0" smtClean="0">
                <a:latin typeface="Times New Roman" pitchFamily="18" charset="0"/>
                <a:cs typeface="Times New Roman" pitchFamily="18" charset="0"/>
              </a:rPr>
              <a:t>Vesicles may not be evident or may rupture readily, leaving raw, ulcerated areas that form scabs. </a:t>
            </a:r>
          </a:p>
          <a:p>
            <a:r>
              <a:rPr lang="en-IN" dirty="0" smtClean="0">
                <a:latin typeface="Times New Roman" pitchFamily="18" charset="0"/>
                <a:cs typeface="Times New Roman" pitchFamily="18" charset="0"/>
              </a:rPr>
              <a:t>Lesions heal within 1 month. </a:t>
            </a:r>
          </a:p>
          <a:p>
            <a:r>
              <a:rPr lang="en-IN" dirty="0" smtClean="0">
                <a:latin typeface="Times New Roman" pitchFamily="18" charset="0"/>
                <a:cs typeface="Times New Roman" pitchFamily="18" charset="0"/>
              </a:rPr>
              <a:t>Most cows in a milking herd may become affected. </a:t>
            </a:r>
          </a:p>
          <a:p>
            <a:r>
              <a:rPr lang="en-IN" dirty="0" err="1" smtClean="0">
                <a:latin typeface="Times New Roman" pitchFamily="18" charset="0"/>
                <a:cs typeface="Times New Roman" pitchFamily="18" charset="0"/>
              </a:rPr>
              <a:t>Milkers</a:t>
            </a:r>
            <a:r>
              <a:rPr lang="en-IN" dirty="0" smtClean="0">
                <a:latin typeface="Times New Roman" pitchFamily="18" charset="0"/>
                <a:cs typeface="Times New Roman" pitchFamily="18" charset="0"/>
              </a:rPr>
              <a:t> may develop fever and have lesions on the hands, arms, or face.</a:t>
            </a:r>
          </a:p>
          <a:p>
            <a:r>
              <a:rPr lang="en-IN" dirty="0" smtClean="0">
                <a:latin typeface="Times New Roman" pitchFamily="18" charset="0"/>
                <a:cs typeface="Times New Roman" pitchFamily="18" charset="0"/>
              </a:rPr>
              <a:t> Occasionally, cowpox in people can cause generalized disease, and fatalities have been recorded</a:t>
            </a:r>
            <a:endParaRPr lang="en-IN" dirty="0">
              <a:latin typeface="Times New Roman" pitchFamily="18" charset="0"/>
              <a:cs typeface="Times New Roman" pitchFamily="18" charset="0"/>
            </a:endParaRPr>
          </a:p>
        </p:txBody>
      </p:sp>
      <p:pic>
        <p:nvPicPr>
          <p:cNvPr id="5" name="Content Placeholder 4" descr="Cowpox ulcer on teat"/>
          <p:cNvPicPr>
            <a:picLocks noGrp="1"/>
          </p:cNvPicPr>
          <p:nvPr>
            <p:ph sz="half" idx="2"/>
          </p:nvPr>
        </p:nvPicPr>
        <p:blipFill>
          <a:blip r:embed="rId2" cstate="print"/>
          <a:srcRect/>
          <a:stretch>
            <a:fillRect/>
          </a:stretch>
        </p:blipFill>
        <p:spPr bwMode="auto">
          <a:xfrm>
            <a:off x="6477000" y="1600200"/>
            <a:ext cx="1828800" cy="3124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000" b="1" dirty="0" err="1" smtClean="0">
                <a:solidFill>
                  <a:srgbClr val="FF0000"/>
                </a:solidFill>
              </a:rPr>
              <a:t>Pseudocowpox</a:t>
            </a:r>
            <a:endParaRPr lang="en-IN" sz="4000" b="1" dirty="0">
              <a:solidFill>
                <a:srgbClr val="FF0000"/>
              </a:solidFill>
            </a:endParaRPr>
          </a:p>
        </p:txBody>
      </p:sp>
      <p:sp>
        <p:nvSpPr>
          <p:cNvPr id="3" name="Content Placeholder 2"/>
          <p:cNvSpPr>
            <a:spLocks noGrp="1"/>
          </p:cNvSpPr>
          <p:nvPr>
            <p:ph idx="1"/>
          </p:nvPr>
        </p:nvSpPr>
        <p:spPr>
          <a:xfrm>
            <a:off x="0" y="1219200"/>
            <a:ext cx="8991600" cy="4525963"/>
          </a:xfrm>
        </p:spPr>
        <p:txBody>
          <a:bodyPr>
            <a:noAutofit/>
          </a:bodyPr>
          <a:lstStyle/>
          <a:p>
            <a:r>
              <a:rPr lang="en-IN" sz="2400" b="1" dirty="0" err="1" smtClean="0">
                <a:latin typeface="Times New Roman" pitchFamily="18" charset="0"/>
                <a:cs typeface="Times New Roman" pitchFamily="18" charset="0"/>
              </a:rPr>
              <a:t>Parapox</a:t>
            </a:r>
            <a:r>
              <a:rPr lang="en-IN" sz="2400" b="1" dirty="0" smtClean="0">
                <a:latin typeface="Times New Roman" pitchFamily="18" charset="0"/>
                <a:cs typeface="Times New Roman" pitchFamily="18" charset="0"/>
              </a:rPr>
              <a:t> virus</a:t>
            </a:r>
            <a:r>
              <a:rPr lang="en-IN" sz="2400" dirty="0" smtClean="0">
                <a:latin typeface="Times New Roman" pitchFamily="18" charset="0"/>
                <a:cs typeface="Times New Roman" pitchFamily="18" charset="0"/>
              </a:rPr>
              <a:t>.</a:t>
            </a:r>
          </a:p>
          <a:p>
            <a:r>
              <a:rPr lang="en-IN" sz="2400" dirty="0" smtClean="0">
                <a:latin typeface="Times New Roman" pitchFamily="18" charset="0"/>
                <a:cs typeface="Times New Roman" pitchFamily="18" charset="0"/>
              </a:rPr>
              <a:t>They don't produce pock on the CAM.</a:t>
            </a:r>
          </a:p>
          <a:p>
            <a:r>
              <a:rPr lang="en-IN" sz="2400" dirty="0" smtClean="0">
                <a:latin typeface="Times New Roman" pitchFamily="18" charset="0"/>
                <a:cs typeface="Times New Roman" pitchFamily="18" charset="0"/>
              </a:rPr>
              <a:t>It is a mild infection of the </a:t>
            </a:r>
            <a:r>
              <a:rPr lang="en-IN" sz="2400" b="1" dirty="0" smtClean="0">
                <a:latin typeface="Times New Roman" pitchFamily="18" charset="0"/>
                <a:cs typeface="Times New Roman" pitchFamily="18" charset="0"/>
              </a:rPr>
              <a:t>udder and teats </a:t>
            </a:r>
            <a:r>
              <a:rPr lang="en-IN" sz="2400" dirty="0" smtClean="0">
                <a:latin typeface="Times New Roman" pitchFamily="18" charset="0"/>
                <a:cs typeface="Times New Roman" pitchFamily="18" charset="0"/>
              </a:rPr>
              <a:t>of cows.</a:t>
            </a:r>
          </a:p>
          <a:p>
            <a:r>
              <a:rPr lang="en-IN" sz="2400" dirty="0" smtClean="0">
                <a:latin typeface="Times New Roman" pitchFamily="18" charset="0"/>
                <a:cs typeface="Times New Roman" pitchFamily="18" charset="0"/>
              </a:rPr>
              <a:t>Lesions begin as small, red papules on the teats or udder. </a:t>
            </a:r>
          </a:p>
          <a:p>
            <a:r>
              <a:rPr lang="en-IN" sz="2400" dirty="0" smtClean="0">
                <a:latin typeface="Times New Roman" pitchFamily="18" charset="0"/>
                <a:cs typeface="Times New Roman" pitchFamily="18" charset="0"/>
              </a:rPr>
              <a:t>These may be followed rapidly by scabbing, or small vesicles or pustules may develop before scabs form. </a:t>
            </a:r>
          </a:p>
          <a:p>
            <a:r>
              <a:rPr lang="en-IN" sz="2400" dirty="0" smtClean="0">
                <a:latin typeface="Times New Roman" pitchFamily="18" charset="0"/>
                <a:cs typeface="Times New Roman" pitchFamily="18" charset="0"/>
              </a:rPr>
              <a:t>Granulation occurs beneath the scabs, resulting in a raised lesion that heals from the </a:t>
            </a:r>
            <a:r>
              <a:rPr lang="en-IN" sz="2400" dirty="0" err="1" smtClean="0">
                <a:latin typeface="Times New Roman" pitchFamily="18" charset="0"/>
                <a:cs typeface="Times New Roman" pitchFamily="18" charset="0"/>
              </a:rPr>
              <a:t>center</a:t>
            </a:r>
            <a:r>
              <a:rPr lang="en-IN" sz="2400" dirty="0" smtClean="0">
                <a:latin typeface="Times New Roman" pitchFamily="18" charset="0"/>
                <a:cs typeface="Times New Roman" pitchFamily="18" charset="0"/>
              </a:rPr>
              <a:t> and leaves a characteristic </a:t>
            </a:r>
            <a:r>
              <a:rPr lang="en-IN" sz="2400" dirty="0" smtClean="0">
                <a:solidFill>
                  <a:srgbClr val="FF0000"/>
                </a:solidFill>
                <a:latin typeface="Times New Roman" pitchFamily="18" charset="0"/>
                <a:cs typeface="Times New Roman" pitchFamily="18" charset="0"/>
              </a:rPr>
              <a:t>horseshoe or circular ring of small scabs</a:t>
            </a:r>
            <a:r>
              <a:rPr lang="en-IN" sz="2400" dirty="0" smtClean="0">
                <a:latin typeface="Times New Roman" pitchFamily="18" charset="0"/>
                <a:cs typeface="Times New Roman" pitchFamily="18" charset="0"/>
              </a:rPr>
              <a:t>.</a:t>
            </a:r>
            <a:r>
              <a:rPr lang="en-GB" sz="2400" dirty="0" smtClean="0">
                <a:latin typeface="Times New Roman" pitchFamily="18" charset="0"/>
                <a:cs typeface="Times New Roman" pitchFamily="18" charset="0"/>
              </a:rPr>
              <a:t> Similar lesions can occur on the muzzles and within the mouths of nursing calves</a:t>
            </a:r>
            <a:r>
              <a:rPr lang="en-IN" sz="2400" dirty="0" smtClean="0">
                <a:latin typeface="Times New Roman" pitchFamily="18" charset="0"/>
                <a:cs typeface="Times New Roman" pitchFamily="18" charset="0"/>
              </a:rPr>
              <a:t> </a:t>
            </a:r>
          </a:p>
          <a:p>
            <a:r>
              <a:rPr lang="en-IN" sz="2400" dirty="0" smtClean="0">
                <a:latin typeface="Times New Roman" pitchFamily="18" charset="0"/>
                <a:cs typeface="Times New Roman" pitchFamily="18" charset="0"/>
              </a:rPr>
              <a:t>The infection spreads slowly throughout milking herds, and a variable percentage of cows shows lesions at any time. </a:t>
            </a:r>
          </a:p>
          <a:p>
            <a:pPr>
              <a:buNone/>
            </a:pPr>
            <a:endParaRPr lang="en-IN" sz="2400" dirty="0">
              <a:latin typeface="Times New Roman" pitchFamily="18" charset="0"/>
              <a:cs typeface="Times New Roman"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730" name="Picture 2" descr="Pseudocowpox - National Mastitis Council"/>
          <p:cNvPicPr>
            <a:picLocks noChangeAspect="1" noChangeArrowheads="1"/>
          </p:cNvPicPr>
          <p:nvPr/>
        </p:nvPicPr>
        <p:blipFill>
          <a:blip r:embed="rId2"/>
          <a:srcRect/>
          <a:stretch>
            <a:fillRect/>
          </a:stretch>
        </p:blipFill>
        <p:spPr bwMode="auto">
          <a:xfrm>
            <a:off x="304801" y="685800"/>
            <a:ext cx="2513316" cy="4343400"/>
          </a:xfrm>
          <a:prstGeom prst="rect">
            <a:avLst/>
          </a:prstGeom>
          <a:noFill/>
        </p:spPr>
      </p:pic>
      <p:sp>
        <p:nvSpPr>
          <p:cNvPr id="5" name="Rectangle 4"/>
          <p:cNvSpPr/>
          <p:nvPr/>
        </p:nvSpPr>
        <p:spPr>
          <a:xfrm>
            <a:off x="3962400" y="533400"/>
            <a:ext cx="4648200" cy="1200329"/>
          </a:xfrm>
          <a:prstGeom prst="rect">
            <a:avLst/>
          </a:prstGeom>
        </p:spPr>
        <p:txBody>
          <a:bodyPr wrap="square">
            <a:spAutoFit/>
          </a:bodyPr>
          <a:lstStyle/>
          <a:p>
            <a:r>
              <a:rPr lang="en-GB" sz="2400" dirty="0" smtClean="0">
                <a:latin typeface="Times New Roman" pitchFamily="18" charset="0"/>
                <a:cs typeface="Times New Roman" pitchFamily="18" charset="0"/>
              </a:rPr>
              <a:t>This virus can also infect humans and the condition is commonly referred to as </a:t>
            </a:r>
            <a:r>
              <a:rPr lang="en-GB" sz="2400" b="1" dirty="0" err="1" smtClean="0">
                <a:latin typeface="Times New Roman" pitchFamily="18" charset="0"/>
                <a:cs typeface="Times New Roman" pitchFamily="18" charset="0"/>
              </a:rPr>
              <a:t>milker's</a:t>
            </a:r>
            <a:r>
              <a:rPr lang="en-GB" sz="2400" b="1" dirty="0" smtClean="0">
                <a:latin typeface="Times New Roman" pitchFamily="18" charset="0"/>
                <a:cs typeface="Times New Roman" pitchFamily="18" charset="0"/>
              </a:rPr>
              <a:t> nodule</a:t>
            </a:r>
            <a:endParaRPr lang="en-US" sz="2400" b="1" dirty="0">
              <a:latin typeface="Times New Roman" pitchFamily="18" charset="0"/>
              <a:cs typeface="Times New Roman" pitchFamily="18" charset="0"/>
            </a:endParaRPr>
          </a:p>
        </p:txBody>
      </p:sp>
      <p:sp>
        <p:nvSpPr>
          <p:cNvPr id="73732" name="AutoShape 4" descr="Pseudocowp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73734" name="AutoShape 6" descr="Pseudocowp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73736" name="AutoShape 8" descr="Milker's Nodules: Background, Pathophysiology, Etiology"/>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73738" name="AutoShape 10" descr="Milker's Nodules: Background, Pathophysiology, Etiology"/>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73740" name="AutoShape 12" descr="Milker's Nodules: Background, Pathophysiology, Etiology"/>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73742" name="Picture 14" descr="Human Vaccinia virus and Pseudocowpox virus co-infection: Clinical  description and phylogenetic characterization - ScienceDirect"/>
          <p:cNvPicPr>
            <a:picLocks noChangeAspect="1" noChangeArrowheads="1"/>
          </p:cNvPicPr>
          <p:nvPr/>
        </p:nvPicPr>
        <p:blipFill>
          <a:blip r:embed="rId3"/>
          <a:srcRect/>
          <a:stretch>
            <a:fillRect/>
          </a:stretch>
        </p:blipFill>
        <p:spPr bwMode="auto">
          <a:xfrm>
            <a:off x="3048000" y="2438400"/>
            <a:ext cx="5606669" cy="2495550"/>
          </a:xfrm>
          <a:prstGeom prst="rect">
            <a:avLst/>
          </a:prstGeom>
          <a:noFill/>
        </p:spPr>
      </p:pic>
      <p:sp>
        <p:nvSpPr>
          <p:cNvPr id="10" name="Rectangle 9"/>
          <p:cNvSpPr/>
          <p:nvPr/>
        </p:nvSpPr>
        <p:spPr>
          <a:xfrm>
            <a:off x="990600" y="5562600"/>
            <a:ext cx="5533181" cy="461665"/>
          </a:xfrm>
          <a:prstGeom prst="rect">
            <a:avLst/>
          </a:prstGeom>
        </p:spPr>
        <p:txBody>
          <a:bodyPr wrap="none">
            <a:spAutoFit/>
          </a:bodyPr>
          <a:lstStyle/>
          <a:p>
            <a:r>
              <a:rPr lang="en-IN" sz="2400" b="1" dirty="0" smtClean="0">
                <a:latin typeface="Times New Roman" pitchFamily="18" charset="0"/>
                <a:cs typeface="Times New Roman" pitchFamily="18" charset="0"/>
              </a:rPr>
              <a:t>Horseshoe or circular ring of small scabs</a:t>
            </a:r>
            <a:endParaRPr lang="en-US" sz="2400" b="1" dirty="0"/>
          </a:p>
        </p:txBody>
      </p:sp>
      <p:cxnSp>
        <p:nvCxnSpPr>
          <p:cNvPr id="12" name="Straight Arrow Connector 11"/>
          <p:cNvCxnSpPr/>
          <p:nvPr/>
        </p:nvCxnSpPr>
        <p:spPr>
          <a:xfrm rot="16200000" flipV="1">
            <a:off x="419100" y="3390900"/>
            <a:ext cx="3505200" cy="8382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3200" b="1" dirty="0" err="1" smtClean="0">
                <a:solidFill>
                  <a:srgbClr val="FF0000"/>
                </a:solidFill>
              </a:rPr>
              <a:t>Orf</a:t>
            </a:r>
            <a:r>
              <a:rPr lang="en-IN" sz="3200" b="1" dirty="0" smtClean="0">
                <a:solidFill>
                  <a:srgbClr val="FF0000"/>
                </a:solidFill>
              </a:rPr>
              <a:t> (Contagious </a:t>
            </a:r>
            <a:r>
              <a:rPr lang="en-IN" sz="3200" b="1" dirty="0" err="1" smtClean="0">
                <a:solidFill>
                  <a:srgbClr val="FF0000"/>
                </a:solidFill>
              </a:rPr>
              <a:t>Pustular</a:t>
            </a:r>
            <a:r>
              <a:rPr lang="en-IN" sz="3200" b="1" dirty="0" smtClean="0">
                <a:solidFill>
                  <a:srgbClr val="FF0000"/>
                </a:solidFill>
              </a:rPr>
              <a:t> dermatitis, Contagious </a:t>
            </a:r>
            <a:r>
              <a:rPr lang="en-IN" sz="3200" b="1" dirty="0" err="1" smtClean="0">
                <a:solidFill>
                  <a:srgbClr val="FF0000"/>
                </a:solidFill>
              </a:rPr>
              <a:t>Ecthyma</a:t>
            </a:r>
            <a:r>
              <a:rPr lang="en-IN" sz="3200" b="1" dirty="0" smtClean="0">
                <a:solidFill>
                  <a:srgbClr val="FF0000"/>
                </a:solidFill>
              </a:rPr>
              <a:t>, Scabby Mouth)</a:t>
            </a:r>
            <a:endParaRPr lang="en-IN" sz="3200" b="1" dirty="0">
              <a:solidFill>
                <a:srgbClr val="FF0000"/>
              </a:solidFill>
            </a:endParaRPr>
          </a:p>
        </p:txBody>
      </p:sp>
      <p:sp>
        <p:nvSpPr>
          <p:cNvPr id="3" name="Content Placeholder 2"/>
          <p:cNvSpPr>
            <a:spLocks noGrp="1"/>
          </p:cNvSpPr>
          <p:nvPr>
            <p:ph idx="1"/>
          </p:nvPr>
        </p:nvSpPr>
        <p:spPr>
          <a:xfrm>
            <a:off x="304800" y="1371600"/>
            <a:ext cx="8610600" cy="4525963"/>
          </a:xfrm>
        </p:spPr>
        <p:txBody>
          <a:bodyPr>
            <a:noAutofit/>
          </a:bodyPr>
          <a:lstStyle/>
          <a:p>
            <a:pPr algn="just"/>
            <a:r>
              <a:rPr lang="en-IN" sz="2400" dirty="0" smtClean="0">
                <a:latin typeface="Times New Roman" pitchFamily="18" charset="0"/>
                <a:cs typeface="Times New Roman" pitchFamily="18" charset="0"/>
              </a:rPr>
              <a:t>The disease is primarily of sheep and goat caused by </a:t>
            </a:r>
            <a:r>
              <a:rPr lang="en-IN" sz="2400" b="1" dirty="0" err="1" smtClean="0">
                <a:latin typeface="Times New Roman" pitchFamily="18" charset="0"/>
                <a:cs typeface="Times New Roman" pitchFamily="18" charset="0"/>
              </a:rPr>
              <a:t>Parapox</a:t>
            </a:r>
            <a:r>
              <a:rPr lang="en-IN" sz="2400" b="1" dirty="0" smtClean="0">
                <a:latin typeface="Times New Roman" pitchFamily="18" charset="0"/>
                <a:cs typeface="Times New Roman" pitchFamily="18" charset="0"/>
              </a:rPr>
              <a:t> virus</a:t>
            </a:r>
            <a:r>
              <a:rPr lang="en-IN" sz="2400" dirty="0" smtClean="0">
                <a:latin typeface="Times New Roman" pitchFamily="18" charset="0"/>
                <a:cs typeface="Times New Roman" pitchFamily="18" charset="0"/>
              </a:rPr>
              <a:t>.</a:t>
            </a:r>
          </a:p>
          <a:p>
            <a:pPr algn="just"/>
            <a:r>
              <a:rPr lang="en-IN" sz="2400" dirty="0" smtClean="0">
                <a:latin typeface="Times New Roman" pitchFamily="18" charset="0"/>
                <a:cs typeface="Times New Roman" pitchFamily="18" charset="0"/>
              </a:rPr>
              <a:t>There is development of </a:t>
            </a:r>
            <a:r>
              <a:rPr lang="en-IN" sz="2400" dirty="0" err="1" smtClean="0">
                <a:latin typeface="Times New Roman" pitchFamily="18" charset="0"/>
                <a:cs typeface="Times New Roman" pitchFamily="18" charset="0"/>
              </a:rPr>
              <a:t>pustular</a:t>
            </a:r>
            <a:r>
              <a:rPr lang="en-IN" sz="2400" dirty="0" smtClean="0">
                <a:latin typeface="Times New Roman" pitchFamily="18" charset="0"/>
                <a:cs typeface="Times New Roman" pitchFamily="18" charset="0"/>
              </a:rPr>
              <a:t> and scabby lesions on muzzle and lips.</a:t>
            </a:r>
          </a:p>
          <a:p>
            <a:pPr algn="just"/>
            <a:r>
              <a:rPr lang="en-IN" sz="2400" dirty="0" smtClean="0">
                <a:latin typeface="Times New Roman" pitchFamily="18" charset="0"/>
                <a:cs typeface="Times New Roman" pitchFamily="18" charset="0"/>
              </a:rPr>
              <a:t>The incidence in the flock may reach </a:t>
            </a:r>
            <a:r>
              <a:rPr lang="en-IN" sz="2400" dirty="0" err="1" smtClean="0">
                <a:latin typeface="Times New Roman" pitchFamily="18" charset="0"/>
                <a:cs typeface="Times New Roman" pitchFamily="18" charset="0"/>
              </a:rPr>
              <a:t>upto</a:t>
            </a:r>
            <a:r>
              <a:rPr lang="en-IN" sz="2400" dirty="0" smtClean="0">
                <a:latin typeface="Times New Roman" pitchFamily="18" charset="0"/>
                <a:cs typeface="Times New Roman" pitchFamily="18" charset="0"/>
              </a:rPr>
              <a:t> 90%.</a:t>
            </a:r>
          </a:p>
          <a:p>
            <a:pPr algn="just"/>
            <a:r>
              <a:rPr lang="en-IN" sz="2400" dirty="0" smtClean="0">
                <a:latin typeface="Times New Roman" pitchFamily="18" charset="0"/>
                <a:cs typeface="Times New Roman" pitchFamily="18" charset="0"/>
              </a:rPr>
              <a:t>The disease is common in lambs 2-3years of age.</a:t>
            </a:r>
          </a:p>
          <a:p>
            <a:pPr algn="just"/>
            <a:r>
              <a:rPr lang="en-IN" sz="2400" dirty="0" smtClean="0">
                <a:latin typeface="Times New Roman" pitchFamily="18" charset="0"/>
                <a:cs typeface="Times New Roman" pitchFamily="18" charset="0"/>
              </a:rPr>
              <a:t>The lesions develop as papules, pustules and then thick scabs and spread from oral </a:t>
            </a:r>
            <a:r>
              <a:rPr lang="en-IN" sz="2400" dirty="0" err="1" smtClean="0">
                <a:latin typeface="Times New Roman" pitchFamily="18" charset="0"/>
                <a:cs typeface="Times New Roman" pitchFamily="18" charset="0"/>
              </a:rPr>
              <a:t>commisures</a:t>
            </a:r>
            <a:r>
              <a:rPr lang="en-IN" sz="2400" dirty="0" smtClean="0">
                <a:latin typeface="Times New Roman" pitchFamily="18" charset="0"/>
                <a:cs typeface="Times New Roman" pitchFamily="18" charset="0"/>
              </a:rPr>
              <a:t> to muzzle and nostrils.</a:t>
            </a:r>
          </a:p>
          <a:p>
            <a:pPr algn="just"/>
            <a:r>
              <a:rPr lang="en-GB" sz="2400" dirty="0" smtClean="0">
                <a:latin typeface="Times New Roman" pitchFamily="18" charset="0"/>
                <a:cs typeface="Times New Roman" pitchFamily="18" charset="0"/>
              </a:rPr>
              <a:t>The scabs are often friable and mild trauma causes the lesions to bleed</a:t>
            </a:r>
            <a:endParaRPr lang="en-IN" sz="24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4294967295"/>
          </p:nvPr>
        </p:nvSpPr>
        <p:spPr>
          <a:xfrm>
            <a:off x="152400" y="762000"/>
            <a:ext cx="8763000" cy="5029200"/>
          </a:xfrm>
        </p:spPr>
        <p:txBody>
          <a:bodyPr>
            <a:normAutofit lnSpcReduction="10000"/>
          </a:bodyPr>
          <a:lstStyle/>
          <a:p>
            <a:pPr algn="just"/>
            <a:r>
              <a:rPr lang="en-IN" sz="2400" dirty="0" smtClean="0">
                <a:latin typeface="Times New Roman" pitchFamily="18" charset="0"/>
                <a:cs typeface="Times New Roman" pitchFamily="18" charset="0"/>
              </a:rPr>
              <a:t>Systemic invasion may lead to lesions on coronet, ears, anus and vulva. May extend to alimentary tract and trachea.</a:t>
            </a:r>
          </a:p>
          <a:p>
            <a:pPr algn="just"/>
            <a:endParaRPr lang="en-GB" sz="2400" dirty="0" smtClean="0">
              <a:latin typeface="Times New Roman" pitchFamily="18" charset="0"/>
              <a:cs typeface="Times New Roman" pitchFamily="18" charset="0"/>
            </a:endParaRPr>
          </a:p>
          <a:p>
            <a:pPr algn="just"/>
            <a:r>
              <a:rPr lang="en-GB" sz="2400" dirty="0" smtClean="0">
                <a:latin typeface="Times New Roman" pitchFamily="18" charset="0"/>
                <a:cs typeface="Times New Roman" pitchFamily="18" charset="0"/>
              </a:rPr>
              <a:t>Spread of infection can be by direct contact or through exposure to contaminated feeding troughs and similar </a:t>
            </a:r>
            <a:r>
              <a:rPr lang="en-GB" sz="2400" dirty="0" err="1" smtClean="0">
                <a:latin typeface="Times New Roman" pitchFamily="18" charset="0"/>
                <a:cs typeface="Times New Roman" pitchFamily="18" charset="0"/>
              </a:rPr>
              <a:t>fomites</a:t>
            </a:r>
            <a:r>
              <a:rPr lang="en-GB" sz="2400" dirty="0" smtClean="0">
                <a:latin typeface="Times New Roman" pitchFamily="18" charset="0"/>
                <a:cs typeface="Times New Roman" pitchFamily="18" charset="0"/>
              </a:rPr>
              <a:t>, including wheat stubble and thorny plants. </a:t>
            </a:r>
            <a:endParaRPr lang="en-IN" sz="2400" dirty="0" smtClean="0">
              <a:latin typeface="Times New Roman" pitchFamily="18" charset="0"/>
              <a:cs typeface="Times New Roman" pitchFamily="18" charset="0"/>
            </a:endParaRPr>
          </a:p>
          <a:p>
            <a:pPr algn="just"/>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Ewes can be vaccinated several weeks before lambing.</a:t>
            </a:r>
          </a:p>
          <a:p>
            <a:pPr algn="just"/>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Vaccine is live virus derived from scabs collected from sheep.</a:t>
            </a:r>
          </a:p>
          <a:p>
            <a:pPr algn="just"/>
            <a:endParaRPr lang="en-IN" sz="2400" b="1" dirty="0" smtClean="0">
              <a:latin typeface="Times New Roman" pitchFamily="18" charset="0"/>
              <a:cs typeface="Times New Roman" pitchFamily="18" charset="0"/>
            </a:endParaRPr>
          </a:p>
          <a:p>
            <a:pPr algn="just"/>
            <a:r>
              <a:rPr lang="en-IN" sz="2400" b="1" dirty="0" err="1" smtClean="0">
                <a:latin typeface="Times New Roman" pitchFamily="18" charset="0"/>
                <a:cs typeface="Times New Roman" pitchFamily="18" charset="0"/>
              </a:rPr>
              <a:t>Orf</a:t>
            </a:r>
            <a:r>
              <a:rPr lang="en-IN" sz="2400" b="1" dirty="0" smtClean="0">
                <a:latin typeface="Times New Roman" pitchFamily="18" charset="0"/>
                <a:cs typeface="Times New Roman" pitchFamily="18" charset="0"/>
              </a:rPr>
              <a:t> virus is </a:t>
            </a:r>
            <a:r>
              <a:rPr lang="en-IN" sz="2400" b="1" dirty="0" err="1" smtClean="0">
                <a:latin typeface="Times New Roman" pitchFamily="18" charset="0"/>
                <a:cs typeface="Times New Roman" pitchFamily="18" charset="0"/>
              </a:rPr>
              <a:t>zoonotic</a:t>
            </a:r>
            <a:endParaRPr lang="en-IN" sz="2400" b="1" dirty="0" smtClean="0">
              <a:latin typeface="Times New Roman" pitchFamily="18" charset="0"/>
              <a:cs typeface="Times New Roman" pitchFamily="18" charset="0"/>
            </a:endParaRPr>
          </a:p>
          <a:p>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Orf - a Serious disease affecting livestock and man"/>
          <p:cNvPicPr>
            <a:picLocks noChangeAspect="1" noChangeArrowheads="1"/>
          </p:cNvPicPr>
          <p:nvPr/>
        </p:nvPicPr>
        <p:blipFill>
          <a:blip r:embed="rId2"/>
          <a:srcRect/>
          <a:stretch>
            <a:fillRect/>
          </a:stretch>
        </p:blipFill>
        <p:spPr bwMode="auto">
          <a:xfrm>
            <a:off x="381000" y="3276600"/>
            <a:ext cx="4113306" cy="3277791"/>
          </a:xfrm>
          <a:prstGeom prst="rect">
            <a:avLst/>
          </a:prstGeom>
          <a:noFill/>
        </p:spPr>
      </p:pic>
      <p:pic>
        <p:nvPicPr>
          <p:cNvPr id="1028" name="Picture 4" descr="Outbreak of contagious ecthyma caused by Orf virus (Parapoxvirus ovis) in a  vaccinated sheep flock in Uruguay | SpringerLink"/>
          <p:cNvPicPr>
            <a:picLocks noChangeAspect="1" noChangeArrowheads="1"/>
          </p:cNvPicPr>
          <p:nvPr/>
        </p:nvPicPr>
        <p:blipFill>
          <a:blip r:embed="rId3"/>
          <a:srcRect/>
          <a:stretch>
            <a:fillRect/>
          </a:stretch>
        </p:blipFill>
        <p:spPr bwMode="auto">
          <a:xfrm>
            <a:off x="4724400" y="533400"/>
            <a:ext cx="4148105" cy="2743200"/>
          </a:xfrm>
          <a:prstGeom prst="rect">
            <a:avLst/>
          </a:prstGeom>
          <a:noFill/>
        </p:spPr>
      </p:pic>
      <p:sp>
        <p:nvSpPr>
          <p:cNvPr id="1030" name="AutoShape 6" descr="Orf | DermNe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32" name="AutoShape 8" descr="Orf | DermNe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34" name="AutoShape 10" descr="Orf | DermNe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36" name="AutoShape 12" descr="Orf | DermNe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38" name="Picture 14" descr="Orf skin disease - Stock Image - C052/9781 - Science Photo Library"/>
          <p:cNvPicPr>
            <a:picLocks noChangeAspect="1" noChangeArrowheads="1"/>
          </p:cNvPicPr>
          <p:nvPr/>
        </p:nvPicPr>
        <p:blipFill>
          <a:blip r:embed="rId4"/>
          <a:srcRect/>
          <a:stretch>
            <a:fillRect/>
          </a:stretch>
        </p:blipFill>
        <p:spPr bwMode="auto">
          <a:xfrm>
            <a:off x="5181600" y="3657600"/>
            <a:ext cx="3171329" cy="2438400"/>
          </a:xfrm>
          <a:prstGeom prst="rect">
            <a:avLst/>
          </a:prstGeom>
          <a:noFill/>
        </p:spPr>
      </p:pic>
      <p:pic>
        <p:nvPicPr>
          <p:cNvPr id="1040" name="Picture 16" descr="Pseudocowpox, Parapoxvirus, in Cattle (Milker's nodes, Paravaccinia) |"/>
          <p:cNvPicPr>
            <a:picLocks noChangeAspect="1" noChangeArrowheads="1"/>
          </p:cNvPicPr>
          <p:nvPr/>
        </p:nvPicPr>
        <p:blipFill>
          <a:blip r:embed="rId5"/>
          <a:srcRect/>
          <a:stretch>
            <a:fillRect/>
          </a:stretch>
        </p:blipFill>
        <p:spPr bwMode="auto">
          <a:xfrm>
            <a:off x="323584" y="304800"/>
            <a:ext cx="3863660" cy="2743200"/>
          </a:xfrm>
          <a:prstGeom prst="rect">
            <a:avLst/>
          </a:prstGeom>
          <a:noFill/>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a:bodyPr>
          <a:lstStyle/>
          <a:p>
            <a:r>
              <a:rPr lang="en-IN" sz="4000" b="1" dirty="0" smtClean="0">
                <a:solidFill>
                  <a:srgbClr val="FF0000"/>
                </a:solidFill>
              </a:rPr>
              <a:t>Lumpy skin disease (LSD)</a:t>
            </a:r>
            <a:endParaRPr lang="en-IN" sz="4000" b="1" dirty="0">
              <a:solidFill>
                <a:srgbClr val="FF0000"/>
              </a:solidFill>
            </a:endParaRPr>
          </a:p>
        </p:txBody>
      </p:sp>
      <p:sp>
        <p:nvSpPr>
          <p:cNvPr id="3" name="Content Placeholder 2"/>
          <p:cNvSpPr>
            <a:spLocks noGrp="1"/>
          </p:cNvSpPr>
          <p:nvPr>
            <p:ph idx="1"/>
          </p:nvPr>
        </p:nvSpPr>
        <p:spPr>
          <a:xfrm>
            <a:off x="0" y="1066800"/>
            <a:ext cx="8991600" cy="5410200"/>
          </a:xfrm>
        </p:spPr>
        <p:txBody>
          <a:bodyPr>
            <a:normAutofit fontScale="62500" lnSpcReduction="20000"/>
          </a:bodyPr>
          <a:lstStyle/>
          <a:p>
            <a:pPr algn="just">
              <a:lnSpc>
                <a:spcPct val="120000"/>
              </a:lnSpc>
            </a:pPr>
            <a:r>
              <a:rPr lang="en-IN" dirty="0" smtClean="0">
                <a:latin typeface="Times New Roman" pitchFamily="18" charset="0"/>
                <a:cs typeface="Times New Roman" pitchFamily="18" charset="0"/>
              </a:rPr>
              <a:t>Infectious, eruptive, occasionally fatal disease of cattle characterized by nodules on the skin and other parts of the body. </a:t>
            </a:r>
          </a:p>
          <a:p>
            <a:pPr algn="just">
              <a:lnSpc>
                <a:spcPct val="120000"/>
              </a:lnSpc>
            </a:pPr>
            <a:r>
              <a:rPr lang="en-IN" b="1" dirty="0" smtClean="0">
                <a:solidFill>
                  <a:srgbClr val="FF0000"/>
                </a:solidFill>
                <a:latin typeface="Times New Roman" pitchFamily="18" charset="0"/>
                <a:cs typeface="Times New Roman" pitchFamily="18" charset="0"/>
              </a:rPr>
              <a:t>The Lumpy skin disease virus is related to </a:t>
            </a:r>
            <a:r>
              <a:rPr lang="en-IN" b="1" dirty="0" err="1" smtClean="0">
                <a:solidFill>
                  <a:srgbClr val="FF0000"/>
                </a:solidFill>
                <a:latin typeface="Times New Roman" pitchFamily="18" charset="0"/>
                <a:cs typeface="Times New Roman" pitchFamily="18" charset="0"/>
              </a:rPr>
              <a:t>capripox</a:t>
            </a:r>
            <a:r>
              <a:rPr lang="en-IN" b="1" dirty="0" smtClean="0">
                <a:solidFill>
                  <a:srgbClr val="FF0000"/>
                </a:solidFill>
                <a:latin typeface="Times New Roman" pitchFamily="18" charset="0"/>
                <a:cs typeface="Times New Roman" pitchFamily="18" charset="0"/>
              </a:rPr>
              <a:t> virus. Also called as </a:t>
            </a:r>
            <a:r>
              <a:rPr lang="en-IN" b="1" dirty="0" err="1" smtClean="0">
                <a:solidFill>
                  <a:srgbClr val="FF0000"/>
                </a:solidFill>
                <a:latin typeface="Times New Roman" pitchFamily="18" charset="0"/>
                <a:cs typeface="Times New Roman" pitchFamily="18" charset="0"/>
              </a:rPr>
              <a:t>Neethling</a:t>
            </a:r>
            <a:r>
              <a:rPr lang="en-IN" b="1" dirty="0" smtClean="0">
                <a:solidFill>
                  <a:srgbClr val="FF0000"/>
                </a:solidFill>
                <a:latin typeface="Times New Roman" pitchFamily="18" charset="0"/>
                <a:cs typeface="Times New Roman" pitchFamily="18" charset="0"/>
              </a:rPr>
              <a:t> virus</a:t>
            </a:r>
          </a:p>
          <a:p>
            <a:pPr algn="just">
              <a:lnSpc>
                <a:spcPct val="120000"/>
              </a:lnSpc>
            </a:pPr>
            <a:r>
              <a:rPr lang="en-IN" b="1" dirty="0" smtClean="0">
                <a:latin typeface="Times New Roman" pitchFamily="18" charset="0"/>
                <a:cs typeface="Times New Roman" pitchFamily="18" charset="0"/>
              </a:rPr>
              <a:t>Vector borne -</a:t>
            </a:r>
            <a:r>
              <a:rPr lang="en-GB" b="1" dirty="0" smtClean="0">
                <a:latin typeface="Times New Roman" pitchFamily="18" charset="0"/>
                <a:cs typeface="Times New Roman" pitchFamily="18" charset="0"/>
              </a:rPr>
              <a:t>transmitted mechanically between cattle by biting insects</a:t>
            </a:r>
            <a:r>
              <a:rPr lang="en-GB" b="1" dirty="0" smtClean="0">
                <a:solidFill>
                  <a:srgbClr val="FF0000"/>
                </a:solidFill>
                <a:latin typeface="Times New Roman" pitchFamily="18" charset="0"/>
                <a:cs typeface="Times New Roman" pitchFamily="18" charset="0"/>
              </a:rPr>
              <a:t>.</a:t>
            </a:r>
          </a:p>
          <a:p>
            <a:pPr algn="just">
              <a:lnSpc>
                <a:spcPct val="120000"/>
              </a:lnSpc>
            </a:pPr>
            <a:r>
              <a:rPr lang="en-GB" dirty="0" smtClean="0">
                <a:latin typeface="Times New Roman" pitchFamily="18" charset="0"/>
                <a:cs typeface="Times New Roman" pitchFamily="18" charset="0"/>
              </a:rPr>
              <a:t>The virus can be transmitted through blood, nasal discharge, </a:t>
            </a:r>
            <a:r>
              <a:rPr lang="en-GB" dirty="0" err="1" smtClean="0">
                <a:latin typeface="Times New Roman" pitchFamily="18" charset="0"/>
                <a:cs typeface="Times New Roman" pitchFamily="18" charset="0"/>
              </a:rPr>
              <a:t>lacrimal</a:t>
            </a:r>
            <a:r>
              <a:rPr lang="en-GB" dirty="0" smtClean="0">
                <a:latin typeface="Times New Roman" pitchFamily="18" charset="0"/>
                <a:cs typeface="Times New Roman" pitchFamily="18" charset="0"/>
              </a:rPr>
              <a:t> secretions, semen and saliva. The disease can also be transmitted through infected milk to suckling calves.</a:t>
            </a:r>
            <a:endParaRPr lang="en-IN" dirty="0" smtClean="0">
              <a:latin typeface="Times New Roman" pitchFamily="18" charset="0"/>
              <a:cs typeface="Times New Roman" pitchFamily="18" charset="0"/>
            </a:endParaRPr>
          </a:p>
          <a:p>
            <a:pPr algn="just">
              <a:lnSpc>
                <a:spcPct val="120000"/>
              </a:lnSpc>
            </a:pPr>
            <a:r>
              <a:rPr lang="en-GB" dirty="0" smtClean="0">
                <a:latin typeface="Times New Roman" pitchFamily="18" charset="0"/>
                <a:cs typeface="Times New Roman" pitchFamily="18" charset="0"/>
              </a:rPr>
              <a:t>It is characterized by fever, reduced milk production and skin nodules. Mastitis, swelling of peripheral lymph nodes, loss of appetite, increased nasal discharge and watery eyes are also common. </a:t>
            </a:r>
          </a:p>
          <a:p>
            <a:pPr algn="just">
              <a:lnSpc>
                <a:spcPct val="120000"/>
              </a:lnSpc>
            </a:pPr>
            <a:r>
              <a:rPr lang="en-GB" dirty="0" smtClean="0">
                <a:latin typeface="Times New Roman" pitchFamily="18" charset="0"/>
                <a:cs typeface="Times New Roman" pitchFamily="18" charset="0"/>
              </a:rPr>
              <a:t>Temporary or permanent infertility occur among infected cows and bulls. </a:t>
            </a:r>
            <a:r>
              <a:rPr lang="en-IN" dirty="0" smtClean="0">
                <a:latin typeface="Times New Roman" pitchFamily="18" charset="0"/>
                <a:cs typeface="Times New Roman" pitchFamily="18" charset="0"/>
              </a:rPr>
              <a:t>Recovery is slow and affected cattle often remain debilitated for several months.</a:t>
            </a:r>
          </a:p>
          <a:p>
            <a:pPr algn="just">
              <a:lnSpc>
                <a:spcPct val="120000"/>
              </a:lnSpc>
            </a:pPr>
            <a:r>
              <a:rPr lang="en-IN" dirty="0" smtClean="0">
                <a:latin typeface="Times New Roman" pitchFamily="18" charset="0"/>
                <a:cs typeface="Times New Roman" pitchFamily="18" charset="0"/>
              </a:rPr>
              <a:t>Morbidity is high but mortality is low.</a:t>
            </a:r>
          </a:p>
          <a:p>
            <a:pPr algn="just">
              <a:lnSpc>
                <a:spcPct val="120000"/>
              </a:lnSpc>
              <a:buNone/>
            </a:pPr>
            <a:endParaRPr lang="en-IN" dirty="0" smtClean="0">
              <a:latin typeface="Times New Roman" pitchFamily="18" charset="0"/>
              <a:cs typeface="Times New Roman" pitchFamily="18" charset="0"/>
            </a:endParaRPr>
          </a:p>
          <a:p>
            <a:pPr algn="just">
              <a:lnSpc>
                <a:spcPct val="120000"/>
              </a:lnSpc>
            </a:pPr>
            <a:endParaRPr lang="en-IN"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lstStyle/>
          <a:p>
            <a:r>
              <a:rPr lang="en-US" b="1" dirty="0" smtClean="0">
                <a:solidFill>
                  <a:srgbClr val="FF0000"/>
                </a:solidFill>
              </a:rPr>
              <a:t>LSD</a:t>
            </a:r>
            <a:endParaRPr lang="en-US" b="1" dirty="0">
              <a:solidFill>
                <a:srgbClr val="FF0000"/>
              </a:solidFill>
            </a:endParaRPr>
          </a:p>
        </p:txBody>
      </p:sp>
      <p:sp>
        <p:nvSpPr>
          <p:cNvPr id="3" name="Content Placeholder 2"/>
          <p:cNvSpPr>
            <a:spLocks noGrp="1"/>
          </p:cNvSpPr>
          <p:nvPr>
            <p:ph idx="1"/>
          </p:nvPr>
        </p:nvSpPr>
        <p:spPr>
          <a:xfrm>
            <a:off x="304800" y="1066800"/>
            <a:ext cx="8686800" cy="4525963"/>
          </a:xfrm>
        </p:spPr>
        <p:txBody>
          <a:bodyPr>
            <a:noAutofit/>
          </a:bodyPr>
          <a:lstStyle/>
          <a:p>
            <a:pPr algn="just"/>
            <a:r>
              <a:rPr lang="en-US" sz="2400" dirty="0" smtClean="0">
                <a:latin typeface="Times New Roman" pitchFamily="18" charset="0"/>
                <a:cs typeface="Times New Roman" pitchFamily="18" charset="0"/>
              </a:rPr>
              <a:t>LSDV attacks the circulatory system of an animal and causes </a:t>
            </a:r>
            <a:r>
              <a:rPr lang="en-US" sz="2400" dirty="0" err="1" smtClean="0">
                <a:latin typeface="Times New Roman" pitchFamily="18" charset="0"/>
                <a:cs typeface="Times New Roman" pitchFamily="18" charset="0"/>
              </a:rPr>
              <a:t>vasculitis</a:t>
            </a:r>
            <a:r>
              <a:rPr lang="en-US" sz="2400" dirty="0" smtClean="0">
                <a:latin typeface="Times New Roman" pitchFamily="18" charset="0"/>
                <a:cs typeface="Times New Roman" pitchFamily="18" charset="0"/>
              </a:rPr>
              <a:t> or inflammation of blood vessels and lesions in organs like liver, lungs, spleen, lymph nodes</a:t>
            </a:r>
          </a:p>
          <a:p>
            <a:pPr algn="just"/>
            <a:r>
              <a:rPr lang="en-US" sz="2400" dirty="0" smtClean="0">
                <a:latin typeface="Times New Roman" pitchFamily="18" charset="0"/>
                <a:cs typeface="Times New Roman" pitchFamily="18" charset="0"/>
              </a:rPr>
              <a:t>The epidermis, the outer surface of the skin, gets separated from the dermis or inner layer, leading to the formation of </a:t>
            </a:r>
            <a:r>
              <a:rPr lang="en-US" sz="2400" b="1" dirty="0" smtClean="0">
                <a:latin typeface="Times New Roman" pitchFamily="18" charset="0"/>
                <a:cs typeface="Times New Roman" pitchFamily="18" charset="0"/>
              </a:rPr>
              <a:t>lumps or nodules </a:t>
            </a:r>
            <a:r>
              <a:rPr lang="en-US" sz="2400" dirty="0" smtClean="0">
                <a:latin typeface="Times New Roman" pitchFamily="18" charset="0"/>
                <a:cs typeface="Times New Roman" pitchFamily="18" charset="0"/>
              </a:rPr>
              <a:t>on an animal’s body.</a:t>
            </a:r>
          </a:p>
          <a:p>
            <a:pPr algn="just"/>
            <a:r>
              <a:rPr lang="en-US" sz="2400" b="1" dirty="0" smtClean="0">
                <a:latin typeface="Times New Roman" pitchFamily="18" charset="0"/>
                <a:cs typeface="Times New Roman" pitchFamily="18" charset="0"/>
              </a:rPr>
              <a:t>PM lesions- </a:t>
            </a:r>
            <a:r>
              <a:rPr lang="en-US" sz="2400" dirty="0" err="1" smtClean="0">
                <a:latin typeface="Times New Roman" pitchFamily="18" charset="0"/>
                <a:cs typeface="Times New Roman" pitchFamily="18" charset="0"/>
              </a:rPr>
              <a:t>necrotising</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vasculitis</a:t>
            </a:r>
            <a:r>
              <a:rPr lang="en-US" sz="2400" dirty="0" smtClean="0">
                <a:latin typeface="Times New Roman" pitchFamily="18" charset="0"/>
                <a:cs typeface="Times New Roman" pitchFamily="18" charset="0"/>
              </a:rPr>
              <a:t>, or the death of tissues, and fibrosis in various organs of the infected cattle, leading to their death.</a:t>
            </a:r>
          </a:p>
          <a:p>
            <a:pPr algn="just"/>
            <a:r>
              <a:rPr lang="en-US" sz="2400" b="1" dirty="0" smtClean="0">
                <a:solidFill>
                  <a:srgbClr val="FF0000"/>
                </a:solidFill>
                <a:latin typeface="Times New Roman" pitchFamily="18" charset="0"/>
                <a:cs typeface="Times New Roman" pitchFamily="18" charset="0"/>
              </a:rPr>
              <a:t>Vaccines</a:t>
            </a:r>
            <a:r>
              <a:rPr lang="en-US" sz="2400" dirty="0" smtClean="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Lumpi-ProVacInd</a:t>
            </a:r>
            <a:r>
              <a:rPr lang="en-US" sz="2400" b="1" dirty="0" smtClean="0">
                <a:latin typeface="Times New Roman" pitchFamily="18" charset="0"/>
                <a:cs typeface="Times New Roman" pitchFamily="18" charset="0"/>
              </a:rPr>
              <a:t> (ICAR)</a:t>
            </a:r>
          </a:p>
          <a:p>
            <a:pPr algn="just"/>
            <a:r>
              <a:rPr lang="en-US" sz="2400" b="1" dirty="0" smtClean="0">
                <a:latin typeface="Times New Roman" pitchFamily="18" charset="0"/>
                <a:cs typeface="Times New Roman" pitchFamily="18" charset="0"/>
              </a:rPr>
              <a:t>Due to cross-protection within the </a:t>
            </a:r>
            <a:r>
              <a:rPr lang="en-US" sz="2400" b="1" dirty="0" err="1" smtClean="0">
                <a:latin typeface="Times New Roman" pitchFamily="18" charset="0"/>
                <a:cs typeface="Times New Roman" pitchFamily="18" charset="0"/>
              </a:rPr>
              <a:t>Capripoxvirus</a:t>
            </a:r>
            <a:r>
              <a:rPr lang="en-US" sz="2400" b="1" dirty="0" smtClean="0">
                <a:latin typeface="Times New Roman" pitchFamily="18" charset="0"/>
                <a:cs typeface="Times New Roman" pitchFamily="18" charset="0"/>
              </a:rPr>
              <a:t> genus, sheep pox virus (SPPV) or goat pox virus vaccines have been widely used for cattle against lumpy skin disease virus (LSDV).</a:t>
            </a:r>
          </a:p>
          <a:p>
            <a:pPr algn="just"/>
            <a:endParaRPr lang="en-US" sz="2400" dirty="0">
              <a:latin typeface="Times New Roman" pitchFamily="18" charset="0"/>
              <a:cs typeface="Times New Roman"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682" name="Picture 2" descr="Lumpy Virus Has Spread In 165 Districts Of 12 State More Than 50 Thousand  Cattle Have Died | Lumpy Virus Infection: राजस्थान से लेकर हिमाचल तक गायों  पर लंपी वायरस का कहर,"/>
          <p:cNvPicPr>
            <a:picLocks noChangeAspect="1" noChangeArrowheads="1"/>
          </p:cNvPicPr>
          <p:nvPr/>
        </p:nvPicPr>
        <p:blipFill>
          <a:blip r:embed="rId2"/>
          <a:srcRect/>
          <a:stretch>
            <a:fillRect/>
          </a:stretch>
        </p:blipFill>
        <p:spPr bwMode="auto">
          <a:xfrm>
            <a:off x="228600" y="304800"/>
            <a:ext cx="4648200" cy="3486151"/>
          </a:xfrm>
          <a:prstGeom prst="rect">
            <a:avLst/>
          </a:prstGeom>
          <a:noFill/>
        </p:spPr>
      </p:pic>
      <p:pic>
        <p:nvPicPr>
          <p:cNvPr id="71684" name="Picture 4" descr="5 Things you need to know about Lumpy Skin disease…! - NewsBharati"/>
          <p:cNvPicPr>
            <a:picLocks noChangeAspect="1" noChangeArrowheads="1"/>
          </p:cNvPicPr>
          <p:nvPr/>
        </p:nvPicPr>
        <p:blipFill>
          <a:blip r:embed="rId3"/>
          <a:srcRect/>
          <a:stretch>
            <a:fillRect/>
          </a:stretch>
        </p:blipFill>
        <p:spPr bwMode="auto">
          <a:xfrm>
            <a:off x="3276600" y="3733800"/>
            <a:ext cx="5315101" cy="2790428"/>
          </a:xfrm>
          <a:prstGeom prst="rect">
            <a:avLst/>
          </a:prstGeom>
          <a:noFill/>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sz="4000" b="1" dirty="0" smtClean="0">
                <a:solidFill>
                  <a:srgbClr val="FF0000"/>
                </a:solidFill>
              </a:rPr>
              <a:t>Sheep &amp; goat Pox</a:t>
            </a:r>
            <a:endParaRPr lang="en-US" sz="4000" b="1" dirty="0">
              <a:solidFill>
                <a:srgbClr val="FF0000"/>
              </a:solidFill>
            </a:endParaRPr>
          </a:p>
        </p:txBody>
      </p:sp>
      <p:sp>
        <p:nvSpPr>
          <p:cNvPr id="6" name="Content Placeholder 5"/>
          <p:cNvSpPr>
            <a:spLocks noGrp="1"/>
          </p:cNvSpPr>
          <p:nvPr>
            <p:ph idx="1"/>
          </p:nvPr>
        </p:nvSpPr>
        <p:spPr>
          <a:xfrm>
            <a:off x="228600" y="1447800"/>
            <a:ext cx="8763000" cy="4876800"/>
          </a:xfrm>
        </p:spPr>
        <p:txBody>
          <a:bodyPr>
            <a:normAutofit fontScale="92500"/>
          </a:bodyPr>
          <a:lstStyle/>
          <a:p>
            <a:r>
              <a:rPr lang="en-IN" sz="2600" dirty="0" smtClean="0">
                <a:latin typeface="Times New Roman" pitchFamily="18" charset="0"/>
                <a:cs typeface="Times New Roman" pitchFamily="18" charset="0"/>
              </a:rPr>
              <a:t> Often fatal, diseases characterized by widespread skin eruptions.</a:t>
            </a:r>
          </a:p>
          <a:p>
            <a:r>
              <a:rPr lang="en-IN" sz="2600" dirty="0" smtClean="0">
                <a:latin typeface="Times New Roman" pitchFamily="18" charset="0"/>
                <a:cs typeface="Times New Roman" pitchFamily="18" charset="0"/>
              </a:rPr>
              <a:t>The incubation period of </a:t>
            </a:r>
            <a:r>
              <a:rPr lang="en-IN" sz="2600" dirty="0" err="1" smtClean="0">
                <a:latin typeface="Times New Roman" pitchFamily="18" charset="0"/>
                <a:cs typeface="Times New Roman" pitchFamily="18" charset="0"/>
              </a:rPr>
              <a:t>sheeppox</a:t>
            </a:r>
            <a:r>
              <a:rPr lang="en-IN" sz="2600" dirty="0" smtClean="0">
                <a:latin typeface="Times New Roman" pitchFamily="18" charset="0"/>
                <a:cs typeface="Times New Roman" pitchFamily="18" charset="0"/>
              </a:rPr>
              <a:t> is 4–8 days and that of </a:t>
            </a:r>
            <a:r>
              <a:rPr lang="en-IN" sz="2600" dirty="0" err="1" smtClean="0">
                <a:latin typeface="Times New Roman" pitchFamily="18" charset="0"/>
                <a:cs typeface="Times New Roman" pitchFamily="18" charset="0"/>
              </a:rPr>
              <a:t>goatpox</a:t>
            </a:r>
            <a:r>
              <a:rPr lang="en-IN" sz="2600" dirty="0" smtClean="0">
                <a:latin typeface="Times New Roman" pitchFamily="18" charset="0"/>
                <a:cs typeface="Times New Roman" pitchFamily="18" charset="0"/>
              </a:rPr>
              <a:t> 5–14 days.</a:t>
            </a:r>
            <a:endParaRPr lang="en-US" sz="2600" dirty="0" smtClean="0">
              <a:latin typeface="Times New Roman" pitchFamily="18" charset="0"/>
              <a:cs typeface="Times New Roman" pitchFamily="18" charset="0"/>
            </a:endParaRPr>
          </a:p>
          <a:p>
            <a:r>
              <a:rPr lang="en-US" sz="2600" dirty="0" smtClean="0">
                <a:latin typeface="Times New Roman" pitchFamily="18" charset="0"/>
                <a:cs typeface="Times New Roman" pitchFamily="18" charset="0"/>
              </a:rPr>
              <a:t>Sheep and goats of all ages may be affected, but the disease is generally </a:t>
            </a:r>
            <a:r>
              <a:rPr lang="en-US" sz="2600" b="1" dirty="0" smtClean="0">
                <a:latin typeface="Times New Roman" pitchFamily="18" charset="0"/>
                <a:cs typeface="Times New Roman" pitchFamily="18" charset="0"/>
              </a:rPr>
              <a:t>more severe in young animals.</a:t>
            </a:r>
          </a:p>
          <a:p>
            <a:r>
              <a:rPr lang="en-US" sz="2600" dirty="0" smtClean="0">
                <a:latin typeface="Times New Roman" pitchFamily="18" charset="0"/>
                <a:cs typeface="Times New Roman" pitchFamily="18" charset="0"/>
              </a:rPr>
              <a:t>Clinical cases vary from mild to severe: </a:t>
            </a:r>
          </a:p>
          <a:p>
            <a:pPr lvl="1"/>
            <a:r>
              <a:rPr lang="en-US" sz="2400" dirty="0" smtClean="0">
                <a:latin typeface="Times New Roman" pitchFamily="18" charset="0"/>
                <a:cs typeface="Times New Roman" pitchFamily="18" charset="0"/>
              </a:rPr>
              <a:t>fever, depression, </a:t>
            </a:r>
            <a:r>
              <a:rPr lang="en-US" sz="2400" dirty="0" err="1" smtClean="0">
                <a:latin typeface="Times New Roman" pitchFamily="18" charset="0"/>
                <a:cs typeface="Times New Roman" pitchFamily="18" charset="0"/>
              </a:rPr>
              <a:t>polypnoea</a:t>
            </a:r>
            <a:r>
              <a:rPr lang="en-US" sz="2400" dirty="0" smtClean="0">
                <a:latin typeface="Times New Roman" pitchFamily="18" charset="0"/>
                <a:cs typeface="Times New Roman" pitchFamily="18" charset="0"/>
              </a:rPr>
              <a:t> </a:t>
            </a:r>
          </a:p>
          <a:p>
            <a:pPr lvl="1"/>
            <a:r>
              <a:rPr lang="en-US" sz="2400" dirty="0" smtClean="0">
                <a:latin typeface="Times New Roman" pitchFamily="18" charset="0"/>
                <a:cs typeface="Times New Roman" pitchFamily="18" charset="0"/>
              </a:rPr>
              <a:t>conjunctivitis, </a:t>
            </a:r>
            <a:r>
              <a:rPr lang="en-US" sz="2400" dirty="0" err="1" smtClean="0">
                <a:latin typeface="Times New Roman" pitchFamily="18" charset="0"/>
                <a:cs typeface="Times New Roman" pitchFamily="18" charset="0"/>
              </a:rPr>
              <a:t>lacrimation</a:t>
            </a:r>
            <a:r>
              <a:rPr lang="en-US" sz="2400" dirty="0" smtClean="0">
                <a:latin typeface="Times New Roman" pitchFamily="18" charset="0"/>
                <a:cs typeface="Times New Roman" pitchFamily="18" charset="0"/>
              </a:rPr>
              <a:t>, rhinitis, </a:t>
            </a:r>
            <a:r>
              <a:rPr lang="en-US" sz="2400" dirty="0" err="1" smtClean="0">
                <a:latin typeface="Times New Roman" pitchFamily="18" charset="0"/>
                <a:cs typeface="Times New Roman" pitchFamily="18" charset="0"/>
              </a:rPr>
              <a:t>oedema</a:t>
            </a:r>
            <a:r>
              <a:rPr lang="en-US" sz="2400" dirty="0" smtClean="0">
                <a:latin typeface="Times New Roman" pitchFamily="18" charset="0"/>
                <a:cs typeface="Times New Roman" pitchFamily="18" charset="0"/>
              </a:rPr>
              <a:t> of eyelids, photophobia </a:t>
            </a:r>
          </a:p>
          <a:p>
            <a:pPr lvl="1"/>
            <a:r>
              <a:rPr lang="en-US" sz="2400" dirty="0" err="1" smtClean="0">
                <a:latin typeface="Times New Roman" pitchFamily="18" charset="0"/>
                <a:cs typeface="Times New Roman" pitchFamily="18" charset="0"/>
              </a:rPr>
              <a:t>cutaneous</a:t>
            </a:r>
            <a:r>
              <a:rPr lang="en-US" sz="2400" dirty="0" smtClean="0">
                <a:latin typeface="Times New Roman" pitchFamily="18" charset="0"/>
                <a:cs typeface="Times New Roman" pitchFamily="18" charset="0"/>
              </a:rPr>
              <a:t> eruption beginning with </a:t>
            </a:r>
            <a:r>
              <a:rPr lang="en-US" sz="2400" dirty="0" err="1" smtClean="0">
                <a:latin typeface="Times New Roman" pitchFamily="18" charset="0"/>
                <a:cs typeface="Times New Roman" pitchFamily="18" charset="0"/>
              </a:rPr>
              <a:t>erythematous</a:t>
            </a:r>
            <a:r>
              <a:rPr lang="en-US" sz="2400" dirty="0" smtClean="0">
                <a:latin typeface="Times New Roman" pitchFamily="18" charset="0"/>
                <a:cs typeface="Times New Roman" pitchFamily="18" charset="0"/>
              </a:rPr>
              <a:t> areas especially noticeable in hair or wool-free parts of the body, such as the perineum, inguinal area, scrotum, udder, muzzle, eyelids and </a:t>
            </a:r>
            <a:r>
              <a:rPr lang="en-US" sz="2400" dirty="0" err="1" smtClean="0">
                <a:latin typeface="Times New Roman" pitchFamily="18" charset="0"/>
                <a:cs typeface="Times New Roman" pitchFamily="18" charset="0"/>
              </a:rPr>
              <a:t>axillae</a:t>
            </a:r>
            <a:r>
              <a:rPr lang="en-US" sz="2400" dirty="0" smtClean="0">
                <a:latin typeface="Times New Roman" pitchFamily="18" charset="0"/>
                <a:cs typeface="Times New Roman" pitchFamily="18" charset="0"/>
              </a:rPr>
              <a:t> </a:t>
            </a:r>
          </a:p>
          <a:p>
            <a:pPr lvl="1"/>
            <a:r>
              <a:rPr lang="en-US" sz="2400" dirty="0" smtClean="0">
                <a:latin typeface="Times New Roman" pitchFamily="18" charset="0"/>
                <a:cs typeface="Times New Roman" pitchFamily="18" charset="0"/>
              </a:rPr>
              <a:t>lesions evolve into papules</a:t>
            </a:r>
          </a:p>
          <a:p>
            <a:endParaRPr lang="en-US" dirty="0">
              <a:latin typeface="Times New Roman" pitchFamily="18" charset="0"/>
              <a:cs typeface="Times New Roman"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52400" y="381000"/>
            <a:ext cx="8915400" cy="6172200"/>
          </a:xfrm>
        </p:spPr>
        <p:txBody>
          <a:bodyPr>
            <a:noAutofit/>
          </a:bodyPr>
          <a:lstStyle/>
          <a:p>
            <a:pPr algn="just"/>
            <a:r>
              <a:rPr lang="en-US" sz="2800" b="1" i="1" dirty="0" err="1" smtClean="0">
                <a:latin typeface="Times New Roman" pitchFamily="18" charset="0"/>
                <a:cs typeface="Times New Roman" pitchFamily="18" charset="0"/>
              </a:rPr>
              <a:t>Papulo</a:t>
            </a:r>
            <a:r>
              <a:rPr lang="en-US" sz="2800" b="1" i="1" dirty="0" smtClean="0">
                <a:latin typeface="Times New Roman" pitchFamily="18" charset="0"/>
                <a:cs typeface="Times New Roman" pitchFamily="18" charset="0"/>
              </a:rPr>
              <a:t>-vesicular form</a:t>
            </a:r>
            <a:r>
              <a:rPr lang="en-US" sz="2800" b="1" dirty="0" smtClean="0">
                <a:latin typeface="Times New Roman" pitchFamily="18" charset="0"/>
                <a:cs typeface="Times New Roman" pitchFamily="18" charset="0"/>
              </a:rPr>
              <a:t> </a:t>
            </a:r>
          </a:p>
          <a:p>
            <a:pPr lvl="1" algn="just"/>
            <a:r>
              <a:rPr lang="en-US" sz="2400" dirty="0" smtClean="0">
                <a:latin typeface="Times New Roman" pitchFamily="18" charset="0"/>
                <a:cs typeface="Times New Roman" pitchFamily="18" charset="0"/>
              </a:rPr>
              <a:t>Papules become a white-grey </a:t>
            </a:r>
            <a:r>
              <a:rPr lang="en-US" sz="2400" dirty="0" err="1" smtClean="0">
                <a:latin typeface="Times New Roman" pitchFamily="18" charset="0"/>
                <a:cs typeface="Times New Roman" pitchFamily="18" charset="0"/>
              </a:rPr>
              <a:t>colour</a:t>
            </a:r>
            <a:r>
              <a:rPr lang="en-US" sz="2400" dirty="0" smtClean="0">
                <a:latin typeface="Times New Roman" pitchFamily="18" charset="0"/>
                <a:cs typeface="Times New Roman" pitchFamily="18" charset="0"/>
              </a:rPr>
              <a:t>, desiccate and form crusts that are easy to remove </a:t>
            </a:r>
          </a:p>
          <a:p>
            <a:pPr lvl="1" algn="just"/>
            <a:r>
              <a:rPr lang="en-US" sz="2400" dirty="0" smtClean="0">
                <a:latin typeface="Times New Roman" pitchFamily="18" charset="0"/>
                <a:cs typeface="Times New Roman" pitchFamily="18" charset="0"/>
              </a:rPr>
              <a:t>Rarely, papules may transform into vesicles. After rupture of vesicles, a thick crust covers the lesions</a:t>
            </a:r>
          </a:p>
          <a:p>
            <a:pPr algn="just"/>
            <a:r>
              <a:rPr lang="en-US" sz="2800" b="1" i="1" dirty="0" smtClean="0">
                <a:latin typeface="Times New Roman" pitchFamily="18" charset="0"/>
                <a:cs typeface="Times New Roman" pitchFamily="18" charset="0"/>
              </a:rPr>
              <a:t>Nodular form ('stone pox')</a:t>
            </a:r>
            <a:r>
              <a:rPr lang="en-US" sz="2800" b="1" dirty="0" smtClean="0">
                <a:latin typeface="Times New Roman" pitchFamily="18" charset="0"/>
                <a:cs typeface="Times New Roman" pitchFamily="18" charset="0"/>
              </a:rPr>
              <a:t> </a:t>
            </a:r>
          </a:p>
          <a:p>
            <a:pPr lvl="1" algn="just"/>
            <a:r>
              <a:rPr lang="en-US" sz="2400" dirty="0" smtClean="0">
                <a:latin typeface="Times New Roman" pitchFamily="18" charset="0"/>
                <a:cs typeface="Times New Roman" pitchFamily="18" charset="0"/>
              </a:rPr>
              <a:t>Papules give rise to nodules involving all the layers of the skin and the subcutaneous tissue </a:t>
            </a:r>
          </a:p>
          <a:p>
            <a:pPr lvl="1" algn="just"/>
            <a:r>
              <a:rPr lang="en-US" sz="2400" dirty="0" smtClean="0">
                <a:latin typeface="Times New Roman" pitchFamily="18" charset="0"/>
                <a:cs typeface="Times New Roman" pitchFamily="18" charset="0"/>
              </a:rPr>
              <a:t>Necrosis and sloughing of the nodules leaves a hairless scar</a:t>
            </a:r>
          </a:p>
          <a:p>
            <a:pPr algn="just"/>
            <a:r>
              <a:rPr lang="en-US" sz="2400" dirty="0" smtClean="0">
                <a:latin typeface="Times New Roman" pitchFamily="18" charset="0"/>
                <a:cs typeface="Times New Roman" pitchFamily="18" charset="0"/>
              </a:rPr>
              <a:t>In both forms, nodules develop in the lungs causing bronchopneumonia with cough, abundant nasal discharge, depression, anorexia and emaciation </a:t>
            </a:r>
          </a:p>
          <a:p>
            <a:pPr algn="just"/>
            <a:r>
              <a:rPr lang="en-US" sz="2400" dirty="0" smtClean="0">
                <a:latin typeface="Times New Roman" pitchFamily="18" charset="0"/>
                <a:cs typeface="Times New Roman" pitchFamily="18" charset="0"/>
              </a:rPr>
              <a:t>Animals may recover within 20-30 days </a:t>
            </a:r>
          </a:p>
          <a:p>
            <a:pPr algn="just"/>
            <a:r>
              <a:rPr lang="en-US" sz="2400" dirty="0" smtClean="0">
                <a:latin typeface="Times New Roman" pitchFamily="18" charset="0"/>
                <a:cs typeface="Times New Roman" pitchFamily="18" charset="0"/>
              </a:rPr>
              <a:t>Death is frequent when complications occur (abortion, which is rare, secondary infections, fly strike, </a:t>
            </a:r>
            <a:r>
              <a:rPr lang="en-US" sz="2400" dirty="0" err="1" smtClean="0">
                <a:latin typeface="Times New Roman" pitchFamily="18" charset="0"/>
                <a:cs typeface="Times New Roman" pitchFamily="18" charset="0"/>
              </a:rPr>
              <a:t>septicaemia</a:t>
            </a:r>
            <a:r>
              <a:rPr lang="en-US" sz="2400" dirty="0" smtClean="0">
                <a:latin typeface="Times New Roman" pitchFamily="18" charset="0"/>
                <a:cs typeface="Times New Roman" pitchFamily="18" charset="0"/>
              </a:rPr>
              <a:t>) </a:t>
            </a:r>
          </a:p>
          <a:p>
            <a:pPr algn="just"/>
            <a:endParaRPr lang="en-IN" sz="2800" dirty="0">
              <a:latin typeface="Times New Roman" pitchFamily="18" charset="0"/>
              <a:cs typeface="Times New Roman"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lang="en-US" sz="3600" b="1" dirty="0" smtClean="0">
                <a:solidFill>
                  <a:srgbClr val="FF0000"/>
                </a:solidFill>
              </a:rPr>
              <a:t>Lesions </a:t>
            </a:r>
            <a:endParaRPr lang="en-US" sz="3600" b="1" dirty="0">
              <a:solidFill>
                <a:srgbClr val="FF0000"/>
              </a:solidFill>
            </a:endParaRPr>
          </a:p>
        </p:txBody>
      </p:sp>
      <p:sp>
        <p:nvSpPr>
          <p:cNvPr id="3" name="Content Placeholder 2"/>
          <p:cNvSpPr>
            <a:spLocks noGrp="1"/>
          </p:cNvSpPr>
          <p:nvPr>
            <p:ph idx="1"/>
          </p:nvPr>
        </p:nvSpPr>
        <p:spPr>
          <a:xfrm>
            <a:off x="152400" y="838200"/>
            <a:ext cx="8839200" cy="4525963"/>
          </a:xfrm>
        </p:spPr>
        <p:txBody>
          <a:bodyPr>
            <a:noAutofit/>
          </a:bodyPr>
          <a:lstStyle/>
          <a:p>
            <a:pPr algn="just"/>
            <a:r>
              <a:rPr lang="en-US" sz="2400" b="1" dirty="0" smtClean="0">
                <a:latin typeface="Times New Roman" pitchFamily="18" charset="0"/>
                <a:cs typeface="Times New Roman" pitchFamily="18" charset="0"/>
              </a:rPr>
              <a:t>Skin lesions</a:t>
            </a:r>
            <a:r>
              <a:rPr lang="en-US" sz="2400" dirty="0" smtClean="0">
                <a:latin typeface="Times New Roman" pitchFamily="18" charset="0"/>
                <a:cs typeface="Times New Roman" pitchFamily="18" charset="0"/>
              </a:rPr>
              <a:t>: congestion, </a:t>
            </a:r>
            <a:r>
              <a:rPr lang="en-US" sz="2400" dirty="0" err="1" smtClean="0">
                <a:latin typeface="Times New Roman" pitchFamily="18" charset="0"/>
                <a:cs typeface="Times New Roman" pitchFamily="18" charset="0"/>
              </a:rPr>
              <a:t>haemorrhage</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oedema</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vasculitis</a:t>
            </a:r>
            <a:r>
              <a:rPr lang="en-US" sz="2400" dirty="0" smtClean="0">
                <a:latin typeface="Times New Roman" pitchFamily="18" charset="0"/>
                <a:cs typeface="Times New Roman" pitchFamily="18" charset="0"/>
              </a:rPr>
              <a:t> and necrosis. All the layers of epidermis, dermis and sometimes musculature are involved </a:t>
            </a:r>
          </a:p>
          <a:p>
            <a:pPr algn="just"/>
            <a:r>
              <a:rPr lang="en-US" sz="2400" b="1" dirty="0" smtClean="0">
                <a:latin typeface="Times New Roman" pitchFamily="18" charset="0"/>
                <a:cs typeface="Times New Roman" pitchFamily="18" charset="0"/>
              </a:rPr>
              <a:t>Lymph nodes draining infected areas</a:t>
            </a:r>
            <a:r>
              <a:rPr lang="en-US" sz="2400" dirty="0" smtClean="0">
                <a:latin typeface="Times New Roman" pitchFamily="18" charset="0"/>
                <a:cs typeface="Times New Roman" pitchFamily="18" charset="0"/>
              </a:rPr>
              <a:t>: enlargement (up to eight times normal size), lymphoid proliferation, </a:t>
            </a:r>
            <a:r>
              <a:rPr lang="en-US" sz="2400" dirty="0" err="1" smtClean="0">
                <a:latin typeface="Times New Roman" pitchFamily="18" charset="0"/>
                <a:cs typeface="Times New Roman" pitchFamily="18" charset="0"/>
              </a:rPr>
              <a:t>oedema</a:t>
            </a:r>
            <a:r>
              <a:rPr lang="en-US" sz="2400" dirty="0" smtClean="0">
                <a:latin typeface="Times New Roman" pitchFamily="18" charset="0"/>
                <a:cs typeface="Times New Roman" pitchFamily="18" charset="0"/>
              </a:rPr>
              <a:t>, congestion, </a:t>
            </a:r>
            <a:r>
              <a:rPr lang="en-US" sz="2400" dirty="0" err="1" smtClean="0">
                <a:latin typeface="Times New Roman" pitchFamily="18" charset="0"/>
                <a:cs typeface="Times New Roman" pitchFamily="18" charset="0"/>
              </a:rPr>
              <a:t>haemorrhage</a:t>
            </a:r>
            <a:r>
              <a:rPr lang="en-US" sz="2400" dirty="0" smtClean="0">
                <a:latin typeface="Times New Roman" pitchFamily="18" charset="0"/>
                <a:cs typeface="Times New Roman" pitchFamily="18" charset="0"/>
              </a:rPr>
              <a:t> </a:t>
            </a:r>
          </a:p>
          <a:p>
            <a:pPr algn="just"/>
            <a:r>
              <a:rPr lang="en-US" sz="2400" b="1" dirty="0" smtClean="0">
                <a:latin typeface="Times New Roman" pitchFamily="18" charset="0"/>
                <a:cs typeface="Times New Roman" pitchFamily="18" charset="0"/>
              </a:rPr>
              <a:t>Pox lesions</a:t>
            </a:r>
            <a:r>
              <a:rPr lang="en-US" sz="2400" dirty="0" smtClean="0">
                <a:latin typeface="Times New Roman" pitchFamily="18" charset="0"/>
                <a:cs typeface="Times New Roman" pitchFamily="18" charset="0"/>
              </a:rPr>
              <a:t>: on mucous membranes of the eyes, mouth, nose, pharynx, epiglottis, trachea, on the </a:t>
            </a:r>
            <a:r>
              <a:rPr lang="en-US" sz="2400" dirty="0" err="1" smtClean="0">
                <a:latin typeface="Times New Roman" pitchFamily="18" charset="0"/>
                <a:cs typeface="Times New Roman" pitchFamily="18" charset="0"/>
              </a:rPr>
              <a:t>rumenal</a:t>
            </a:r>
            <a:r>
              <a:rPr lang="en-US" sz="2400" dirty="0" smtClean="0">
                <a:latin typeface="Times New Roman" pitchFamily="18" charset="0"/>
                <a:cs typeface="Times New Roman" pitchFamily="18" charset="0"/>
              </a:rPr>
              <a:t> and </a:t>
            </a:r>
            <a:r>
              <a:rPr lang="en-US" sz="2400" dirty="0" err="1" smtClean="0">
                <a:latin typeface="Times New Roman" pitchFamily="18" charset="0"/>
                <a:cs typeface="Times New Roman" pitchFamily="18" charset="0"/>
              </a:rPr>
              <a:t>abomasal</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mucosae</a:t>
            </a:r>
            <a:r>
              <a:rPr lang="en-US" sz="2400" dirty="0" smtClean="0">
                <a:latin typeface="Times New Roman" pitchFamily="18" charset="0"/>
                <a:cs typeface="Times New Roman" pitchFamily="18" charset="0"/>
              </a:rPr>
              <a:t>, and on the muzzle, </a:t>
            </a:r>
            <a:r>
              <a:rPr lang="en-US" sz="2400" dirty="0" err="1" smtClean="0">
                <a:latin typeface="Times New Roman" pitchFamily="18" charset="0"/>
                <a:cs typeface="Times New Roman" pitchFamily="18" charset="0"/>
              </a:rPr>
              <a:t>nares</a:t>
            </a:r>
            <a:r>
              <a:rPr lang="en-US" sz="2400" dirty="0" smtClean="0">
                <a:latin typeface="Times New Roman" pitchFamily="18" charset="0"/>
                <a:cs typeface="Times New Roman" pitchFamily="18" charset="0"/>
              </a:rPr>
              <a:t>, in the vulva, prepuce, testicles, udder, and teats. Lesions may coalesce in severe cases </a:t>
            </a:r>
          </a:p>
          <a:p>
            <a:pPr algn="just"/>
            <a:r>
              <a:rPr lang="en-US" sz="2400" b="1" dirty="0" smtClean="0">
                <a:latin typeface="Times New Roman" pitchFamily="18" charset="0"/>
                <a:cs typeface="Times New Roman" pitchFamily="18" charset="0"/>
              </a:rPr>
              <a:t>Lung lesions</a:t>
            </a:r>
            <a:r>
              <a:rPr lang="en-US" sz="2400" dirty="0" smtClean="0">
                <a:latin typeface="Times New Roman" pitchFamily="18" charset="0"/>
                <a:cs typeface="Times New Roman" pitchFamily="18" charset="0"/>
              </a:rPr>
              <a:t>: severe and extensive pox lesions, focal and uniformly distributed throughout the lungs; congestion, </a:t>
            </a:r>
            <a:r>
              <a:rPr lang="en-US" sz="2400" dirty="0" err="1" smtClean="0">
                <a:latin typeface="Times New Roman" pitchFamily="18" charset="0"/>
                <a:cs typeface="Times New Roman" pitchFamily="18" charset="0"/>
              </a:rPr>
              <a:t>oedema</a:t>
            </a:r>
            <a:r>
              <a:rPr lang="en-US" sz="2400" dirty="0" smtClean="0">
                <a:latin typeface="Times New Roman" pitchFamily="18" charset="0"/>
                <a:cs typeface="Times New Roman" pitchFamily="18" charset="0"/>
              </a:rPr>
              <a:t>, focal areas of proliferation with necrosis, lobular </a:t>
            </a:r>
            <a:r>
              <a:rPr lang="en-US" sz="2400" dirty="0" err="1" smtClean="0">
                <a:latin typeface="Times New Roman" pitchFamily="18" charset="0"/>
                <a:cs typeface="Times New Roman" pitchFamily="18" charset="0"/>
              </a:rPr>
              <a:t>atelectasis</a:t>
            </a:r>
            <a:r>
              <a:rPr lang="en-US" sz="2400" dirty="0" smtClean="0">
                <a:latin typeface="Times New Roman" pitchFamily="18" charset="0"/>
                <a:cs typeface="Times New Roman" pitchFamily="18" charset="0"/>
              </a:rPr>
              <a:t>. Enlargement, congestion, </a:t>
            </a:r>
            <a:r>
              <a:rPr lang="en-US" sz="2400" dirty="0" err="1" smtClean="0">
                <a:latin typeface="Times New Roman" pitchFamily="18" charset="0"/>
                <a:cs typeface="Times New Roman" pitchFamily="18" charset="0"/>
              </a:rPr>
              <a:t>oedema</a:t>
            </a:r>
            <a:r>
              <a:rPr lang="en-US" sz="2400" dirty="0" smtClean="0">
                <a:latin typeface="Times New Roman" pitchFamily="18" charset="0"/>
                <a:cs typeface="Times New Roman" pitchFamily="18" charset="0"/>
              </a:rPr>
              <a:t> and </a:t>
            </a:r>
            <a:r>
              <a:rPr lang="en-US" sz="2400" dirty="0" err="1" smtClean="0">
                <a:latin typeface="Times New Roman" pitchFamily="18" charset="0"/>
                <a:cs typeface="Times New Roman" pitchFamily="18" charset="0"/>
              </a:rPr>
              <a:t>haemorrhages</a:t>
            </a:r>
            <a:r>
              <a:rPr lang="en-US" sz="2400" dirty="0" smtClean="0">
                <a:latin typeface="Times New Roman" pitchFamily="18" charset="0"/>
                <a:cs typeface="Times New Roman" pitchFamily="18" charset="0"/>
              </a:rPr>
              <a:t> of </a:t>
            </a:r>
            <a:r>
              <a:rPr lang="en-US" sz="2400" dirty="0" err="1" smtClean="0">
                <a:latin typeface="Times New Roman" pitchFamily="18" charset="0"/>
                <a:cs typeface="Times New Roman" pitchFamily="18" charset="0"/>
              </a:rPr>
              <a:t>mediastinal</a:t>
            </a:r>
            <a:r>
              <a:rPr lang="en-US" sz="2400" dirty="0" smtClean="0">
                <a:latin typeface="Times New Roman" pitchFamily="18" charset="0"/>
                <a:cs typeface="Times New Roman" pitchFamily="18" charset="0"/>
              </a:rPr>
              <a:t> lymph nodes </a:t>
            </a:r>
          </a:p>
          <a:p>
            <a:pPr algn="just"/>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41" name="Rectangle 5"/>
          <p:cNvSpPr>
            <a:spLocks noGrp="1" noChangeArrowheads="1"/>
          </p:cNvSpPr>
          <p:nvPr>
            <p:ph type="title"/>
          </p:nvPr>
        </p:nvSpPr>
        <p:spPr/>
        <p:txBody>
          <a:bodyPr/>
          <a:lstStyle/>
          <a:p>
            <a:r>
              <a:rPr lang="en-US" sz="4000" b="1" dirty="0">
                <a:solidFill>
                  <a:srgbClr val="FF0000"/>
                </a:solidFill>
              </a:rPr>
              <a:t>Prevention</a:t>
            </a:r>
            <a:r>
              <a:rPr lang="en-US" dirty="0"/>
              <a:t> </a:t>
            </a:r>
          </a:p>
        </p:txBody>
      </p:sp>
      <p:sp>
        <p:nvSpPr>
          <p:cNvPr id="347142" name="Rectangle 6"/>
          <p:cNvSpPr>
            <a:spLocks noGrp="1" noChangeArrowheads="1"/>
          </p:cNvSpPr>
          <p:nvPr>
            <p:ph idx="1"/>
          </p:nvPr>
        </p:nvSpPr>
        <p:spPr/>
        <p:txBody>
          <a:bodyPr>
            <a:normAutofit/>
          </a:bodyPr>
          <a:lstStyle/>
          <a:p>
            <a:r>
              <a:rPr lang="en-US" sz="2400" dirty="0">
                <a:latin typeface="Times New Roman" pitchFamily="18" charset="0"/>
                <a:cs typeface="Times New Roman" pitchFamily="18" charset="0"/>
              </a:rPr>
              <a:t>Non-endemic areas – keep </a:t>
            </a:r>
            <a:r>
              <a:rPr lang="en-US" sz="2400" dirty="0" smtClean="0">
                <a:latin typeface="Times New Roman" pitchFamily="18" charset="0"/>
                <a:cs typeface="Times New Roman" pitchFamily="18" charset="0"/>
              </a:rPr>
              <a:t>free with </a:t>
            </a:r>
            <a:r>
              <a:rPr lang="en-US" sz="2400" dirty="0">
                <a:latin typeface="Times New Roman" pitchFamily="18" charset="0"/>
                <a:cs typeface="Times New Roman" pitchFamily="18" charset="0"/>
              </a:rPr>
              <a:t>import restrictions and  </a:t>
            </a:r>
            <a:r>
              <a:rPr lang="en-US" sz="2400" dirty="0" smtClean="0">
                <a:latin typeface="Times New Roman" pitchFamily="18" charset="0"/>
                <a:cs typeface="Times New Roman" pitchFamily="18" charset="0"/>
              </a:rPr>
              <a:t>proper </a:t>
            </a:r>
            <a:r>
              <a:rPr lang="en-US" sz="2400" dirty="0">
                <a:latin typeface="Times New Roman" pitchFamily="18" charset="0"/>
                <a:cs typeface="Times New Roman" pitchFamily="18" charset="0"/>
              </a:rPr>
              <a:t>quarantine</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Prevent </a:t>
            </a:r>
            <a:r>
              <a:rPr lang="en-US" sz="2400" dirty="0">
                <a:latin typeface="Times New Roman" pitchFamily="18" charset="0"/>
                <a:cs typeface="Times New Roman" pitchFamily="18" charset="0"/>
              </a:rPr>
              <a:t>introduction of  </a:t>
            </a:r>
            <a:r>
              <a:rPr lang="en-US" sz="2400" dirty="0" smtClean="0">
                <a:latin typeface="Times New Roman" pitchFamily="18" charset="0"/>
                <a:cs typeface="Times New Roman" pitchFamily="18" charset="0"/>
              </a:rPr>
              <a:t>infected  </a:t>
            </a:r>
            <a:r>
              <a:rPr lang="en-US" sz="2400" dirty="0">
                <a:latin typeface="Times New Roman" pitchFamily="18" charset="0"/>
                <a:cs typeface="Times New Roman" pitchFamily="18" charset="0"/>
              </a:rPr>
              <a:t>animal products</a:t>
            </a:r>
          </a:p>
          <a:p>
            <a:pPr lvl="1"/>
            <a:r>
              <a:rPr lang="en-US" sz="2400" dirty="0">
                <a:latin typeface="Times New Roman" pitchFamily="18" charset="0"/>
                <a:cs typeface="Times New Roman" pitchFamily="18" charset="0"/>
              </a:rPr>
              <a:t>Meat, hair, wool, </a:t>
            </a:r>
            <a:r>
              <a:rPr lang="en-US" sz="2400" dirty="0" smtClean="0">
                <a:latin typeface="Times New Roman" pitchFamily="18" charset="0"/>
                <a:cs typeface="Times New Roman" pitchFamily="18" charset="0"/>
              </a:rPr>
              <a:t>hides must be subjected to suitable decontamination procedures before entry into non-endemic areas</a:t>
            </a:r>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pPr lvl="1"/>
            <a:endParaRPr lang="en-US" sz="2400" dirty="0">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2" name="Rectangle 4"/>
          <p:cNvSpPr>
            <a:spLocks noGrp="1" noChangeArrowheads="1"/>
          </p:cNvSpPr>
          <p:nvPr>
            <p:ph type="title"/>
          </p:nvPr>
        </p:nvSpPr>
        <p:spPr/>
        <p:txBody>
          <a:bodyPr>
            <a:normAutofit/>
          </a:bodyPr>
          <a:lstStyle/>
          <a:p>
            <a:r>
              <a:rPr lang="en-US" sz="3600" b="1" dirty="0">
                <a:solidFill>
                  <a:srgbClr val="FF0000"/>
                </a:solidFill>
              </a:rPr>
              <a:t>Control and Eradication</a:t>
            </a:r>
          </a:p>
        </p:txBody>
      </p:sp>
      <p:sp>
        <p:nvSpPr>
          <p:cNvPr id="355333" name="Rectangle 5"/>
          <p:cNvSpPr>
            <a:spLocks noGrp="1" noChangeArrowheads="1"/>
          </p:cNvSpPr>
          <p:nvPr>
            <p:ph idx="1"/>
          </p:nvPr>
        </p:nvSpPr>
        <p:spPr>
          <a:xfrm>
            <a:off x="457200" y="1219200"/>
            <a:ext cx="8229600" cy="4525963"/>
          </a:xfrm>
        </p:spPr>
        <p:txBody>
          <a:bodyPr>
            <a:normAutofit fontScale="85000" lnSpcReduction="20000"/>
          </a:bodyPr>
          <a:lstStyle/>
          <a:p>
            <a:pPr algn="just"/>
            <a:r>
              <a:rPr lang="en-US" sz="3100" dirty="0">
                <a:latin typeface="Times New Roman" pitchFamily="18" charset="0"/>
                <a:cs typeface="Times New Roman" pitchFamily="18" charset="0"/>
              </a:rPr>
              <a:t>Endemic areas</a:t>
            </a:r>
          </a:p>
          <a:p>
            <a:pPr lvl="1" algn="just"/>
            <a:r>
              <a:rPr lang="en-US" sz="2700" dirty="0">
                <a:latin typeface="Times New Roman" pitchFamily="18" charset="0"/>
                <a:cs typeface="Times New Roman" pitchFamily="18" charset="0"/>
              </a:rPr>
              <a:t>Vaccinate </a:t>
            </a:r>
            <a:endParaRPr lang="en-US" sz="2700" dirty="0" smtClean="0">
              <a:latin typeface="Times New Roman" pitchFamily="18" charset="0"/>
              <a:cs typeface="Times New Roman" pitchFamily="18" charset="0"/>
            </a:endParaRPr>
          </a:p>
          <a:p>
            <a:pPr lvl="1" algn="just"/>
            <a:r>
              <a:rPr lang="en-IN" sz="2400" dirty="0">
                <a:latin typeface="Times New Roman" pitchFamily="18" charset="0"/>
                <a:cs typeface="Times New Roman" pitchFamily="18" charset="0"/>
              </a:rPr>
              <a:t>The most widely employed vaccine is probably the </a:t>
            </a:r>
            <a:r>
              <a:rPr lang="en-IN" sz="2400" b="1" dirty="0">
                <a:latin typeface="Times New Roman" pitchFamily="18" charset="0"/>
                <a:cs typeface="Times New Roman" pitchFamily="18" charset="0"/>
              </a:rPr>
              <a:t>Romanian strain </a:t>
            </a:r>
            <a:r>
              <a:rPr lang="en-IN" sz="2400" dirty="0">
                <a:latin typeface="Times New Roman" pitchFamily="18" charset="0"/>
                <a:cs typeface="Times New Roman" pitchFamily="18" charset="0"/>
              </a:rPr>
              <a:t>that has been used effectively for many years </a:t>
            </a:r>
            <a:r>
              <a:rPr lang="en-IN" sz="2400" dirty="0" smtClean="0">
                <a:latin typeface="Times New Roman" pitchFamily="18" charset="0"/>
                <a:cs typeface="Times New Roman" pitchFamily="18" charset="0"/>
              </a:rPr>
              <a:t>. </a:t>
            </a:r>
          </a:p>
          <a:p>
            <a:pPr lvl="1" algn="just"/>
            <a:r>
              <a:rPr lang="en-IN" sz="2400" dirty="0" smtClean="0">
                <a:latin typeface="Times New Roman" pitchFamily="18" charset="0"/>
                <a:cs typeface="Times New Roman" pitchFamily="18" charset="0"/>
              </a:rPr>
              <a:t>The </a:t>
            </a:r>
            <a:r>
              <a:rPr lang="en-IN" sz="2400" b="1" dirty="0">
                <a:latin typeface="Times New Roman" pitchFamily="18" charset="0"/>
                <a:cs typeface="Times New Roman" pitchFamily="18" charset="0"/>
              </a:rPr>
              <a:t>Kenya O 180 </a:t>
            </a:r>
            <a:r>
              <a:rPr lang="en-IN" sz="2400" dirty="0">
                <a:latin typeface="Times New Roman" pitchFamily="18" charset="0"/>
                <a:cs typeface="Times New Roman" pitchFamily="18" charset="0"/>
              </a:rPr>
              <a:t>strain </a:t>
            </a:r>
            <a:r>
              <a:rPr lang="en-IN" sz="2400" dirty="0" smtClean="0">
                <a:latin typeface="Times New Roman" pitchFamily="18" charset="0"/>
                <a:cs typeface="Times New Roman" pitchFamily="18" charset="0"/>
              </a:rPr>
              <a:t> </a:t>
            </a:r>
            <a:r>
              <a:rPr lang="en-IN" sz="2400" dirty="0">
                <a:latin typeface="Times New Roman" pitchFamily="18" charset="0"/>
                <a:cs typeface="Times New Roman" pitchFamily="18" charset="0"/>
              </a:rPr>
              <a:t>is possibly the vaccine with the best safety and efficacy. </a:t>
            </a:r>
            <a:endParaRPr lang="en-US" sz="2700" dirty="0">
              <a:latin typeface="Times New Roman" pitchFamily="18" charset="0"/>
              <a:cs typeface="Times New Roman" pitchFamily="18" charset="0"/>
            </a:endParaRPr>
          </a:p>
          <a:p>
            <a:pPr algn="just"/>
            <a:r>
              <a:rPr lang="en-US" sz="3100" dirty="0">
                <a:latin typeface="Times New Roman" pitchFamily="18" charset="0"/>
                <a:cs typeface="Times New Roman" pitchFamily="18" charset="0"/>
              </a:rPr>
              <a:t>Outbreak in endemic area -small scale</a:t>
            </a:r>
          </a:p>
          <a:p>
            <a:pPr lvl="1" algn="just"/>
            <a:r>
              <a:rPr lang="en-US" dirty="0">
                <a:latin typeface="Times New Roman" pitchFamily="18" charset="0"/>
                <a:cs typeface="Times New Roman" pitchFamily="18" charset="0"/>
              </a:rPr>
              <a:t>Quarantine, slaughter infected and exposed, clean and disinfect</a:t>
            </a:r>
          </a:p>
          <a:p>
            <a:pPr lvl="1" algn="just"/>
            <a:r>
              <a:rPr lang="en-US" dirty="0">
                <a:latin typeface="Times New Roman" pitchFamily="18" charset="0"/>
                <a:cs typeface="Times New Roman" pitchFamily="18" charset="0"/>
              </a:rPr>
              <a:t>Ring vaccination</a:t>
            </a:r>
          </a:p>
          <a:p>
            <a:pPr algn="just"/>
            <a:r>
              <a:rPr lang="en-US" sz="3100" dirty="0">
                <a:latin typeface="Times New Roman" pitchFamily="18" charset="0"/>
                <a:cs typeface="Times New Roman" pitchFamily="18" charset="0"/>
              </a:rPr>
              <a:t>Outbreak in endemic area –large scale</a:t>
            </a:r>
          </a:p>
          <a:p>
            <a:pPr lvl="1" algn="just"/>
            <a:r>
              <a:rPr lang="en-US" dirty="0">
                <a:latin typeface="Times New Roman" pitchFamily="18" charset="0"/>
                <a:cs typeface="Times New Roman" pitchFamily="18" charset="0"/>
              </a:rPr>
              <a:t>Massive vaccination</a:t>
            </a:r>
          </a:p>
          <a:p>
            <a:pPr lvl="1" algn="just"/>
            <a:r>
              <a:rPr lang="en-US" dirty="0">
                <a:latin typeface="Times New Roman" pitchFamily="18" charset="0"/>
                <a:cs typeface="Times New Roman" pitchFamily="18" charset="0"/>
              </a:rPr>
              <a:t>Movement restrictions</a:t>
            </a:r>
          </a:p>
        </p:txBody>
      </p:sp>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91" name="Rectangle 7"/>
          <p:cNvSpPr>
            <a:spLocks noGrp="1" noChangeArrowheads="1"/>
          </p:cNvSpPr>
          <p:nvPr>
            <p:ph type="title"/>
          </p:nvPr>
        </p:nvSpPr>
        <p:spPr/>
        <p:txBody>
          <a:bodyPr>
            <a:normAutofit/>
          </a:bodyPr>
          <a:lstStyle/>
          <a:p>
            <a:r>
              <a:rPr lang="en-US" sz="4000" b="1" dirty="0">
                <a:solidFill>
                  <a:srgbClr val="FF0000"/>
                </a:solidFill>
              </a:rPr>
              <a:t>Control and Eradication</a:t>
            </a:r>
          </a:p>
        </p:txBody>
      </p:sp>
      <p:sp>
        <p:nvSpPr>
          <p:cNvPr id="349192" name="Rectangle 8"/>
          <p:cNvSpPr>
            <a:spLocks noGrp="1" noChangeArrowheads="1"/>
          </p:cNvSpPr>
          <p:nvPr>
            <p:ph idx="1"/>
          </p:nvPr>
        </p:nvSpPr>
        <p:spPr/>
        <p:txBody>
          <a:bodyPr>
            <a:normAutofit/>
          </a:bodyPr>
          <a:lstStyle/>
          <a:p>
            <a:r>
              <a:rPr lang="en-US" sz="2800" dirty="0">
                <a:latin typeface="Times New Roman" pitchFamily="18" charset="0"/>
                <a:cs typeface="Times New Roman" pitchFamily="18" charset="0"/>
              </a:rPr>
              <a:t>Outbreak in non-endemic </a:t>
            </a:r>
            <a:r>
              <a:rPr lang="en-US" sz="2800" dirty="0" smtClean="0">
                <a:latin typeface="Times New Roman" pitchFamily="18" charset="0"/>
                <a:cs typeface="Times New Roman" pitchFamily="18" charset="0"/>
              </a:rPr>
              <a:t>areas</a:t>
            </a:r>
            <a:endParaRPr lang="en-US" sz="2800" dirty="0">
              <a:latin typeface="Times New Roman" pitchFamily="18" charset="0"/>
              <a:cs typeface="Times New Roman" pitchFamily="18" charset="0"/>
            </a:endParaRPr>
          </a:p>
          <a:p>
            <a:pPr lvl="1"/>
            <a:r>
              <a:rPr lang="en-US" sz="2400" dirty="0">
                <a:latin typeface="Times New Roman" pitchFamily="18" charset="0"/>
                <a:cs typeface="Times New Roman" pitchFamily="18" charset="0"/>
              </a:rPr>
              <a:t>Quarantine, slaughter infected and exposed, clean and disinfect</a:t>
            </a:r>
          </a:p>
          <a:p>
            <a:pPr lvl="1"/>
            <a:r>
              <a:rPr lang="en-US" sz="2400" dirty="0">
                <a:latin typeface="Times New Roman" pitchFamily="18" charset="0"/>
                <a:cs typeface="Times New Roman" pitchFamily="18" charset="0"/>
              </a:rPr>
              <a:t>Ring vaccination</a:t>
            </a:r>
          </a:p>
          <a:p>
            <a:r>
              <a:rPr lang="en-US" sz="2800" b="1" dirty="0" smtClean="0">
                <a:latin typeface="Times New Roman" pitchFamily="18" charset="0"/>
                <a:cs typeface="Times New Roman" pitchFamily="18" charset="0"/>
              </a:rPr>
              <a:t>A carrier state has not been shown for SGPV</a:t>
            </a:r>
          </a:p>
          <a:p>
            <a:r>
              <a:rPr lang="en-US" sz="2800" dirty="0" smtClean="0">
                <a:latin typeface="Times New Roman" pitchFamily="18" charset="0"/>
                <a:cs typeface="Times New Roman" pitchFamily="18" charset="0"/>
              </a:rPr>
              <a:t>Isolate </a:t>
            </a:r>
            <a:r>
              <a:rPr lang="en-US" sz="2800" dirty="0">
                <a:latin typeface="Times New Roman" pitchFamily="18" charset="0"/>
                <a:cs typeface="Times New Roman" pitchFamily="18" charset="0"/>
              </a:rPr>
              <a:t>infected herds and sick animals for at least 45 days after recovery</a:t>
            </a:r>
          </a:p>
        </p:txBody>
      </p:sp>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8" name="Rectangle 10"/>
          <p:cNvSpPr>
            <a:spLocks noGrp="1" noChangeArrowheads="1"/>
          </p:cNvSpPr>
          <p:nvPr>
            <p:ph type="title"/>
          </p:nvPr>
        </p:nvSpPr>
        <p:spPr/>
        <p:txBody>
          <a:bodyPr>
            <a:normAutofit/>
          </a:bodyPr>
          <a:lstStyle/>
          <a:p>
            <a:r>
              <a:rPr lang="en-US" sz="4000" b="1" dirty="0">
                <a:solidFill>
                  <a:srgbClr val="FF0000"/>
                </a:solidFill>
              </a:rPr>
              <a:t>Disinfection</a:t>
            </a:r>
          </a:p>
        </p:txBody>
      </p:sp>
      <p:sp>
        <p:nvSpPr>
          <p:cNvPr id="217099" name="Rectangle 11"/>
          <p:cNvSpPr>
            <a:spLocks noGrp="1" noChangeArrowheads="1"/>
          </p:cNvSpPr>
          <p:nvPr>
            <p:ph type="body" sz="half" idx="1"/>
          </p:nvPr>
        </p:nvSpPr>
        <p:spPr>
          <a:xfrm>
            <a:off x="457200" y="1600200"/>
            <a:ext cx="8686800" cy="4600575"/>
          </a:xfrm>
        </p:spPr>
        <p:txBody>
          <a:bodyPr>
            <a:normAutofit/>
          </a:bodyPr>
          <a:lstStyle/>
          <a:p>
            <a:r>
              <a:rPr lang="en-US" sz="2800" dirty="0">
                <a:latin typeface="Times New Roman" pitchFamily="18" charset="0"/>
                <a:cs typeface="Times New Roman" pitchFamily="18" charset="0"/>
              </a:rPr>
              <a:t>Sodium hypochlorite</a:t>
            </a:r>
          </a:p>
          <a:p>
            <a:r>
              <a:rPr lang="en-US" sz="2800" dirty="0">
                <a:latin typeface="Times New Roman" pitchFamily="18" charset="0"/>
                <a:cs typeface="Times New Roman" pitchFamily="18" charset="0"/>
              </a:rPr>
              <a:t>Phenol </a:t>
            </a:r>
            <a:r>
              <a:rPr lang="en-US" sz="2800" dirty="0" smtClean="0">
                <a:latin typeface="Times New Roman" pitchFamily="18" charset="0"/>
                <a:cs typeface="Times New Roman" pitchFamily="18" charset="0"/>
              </a:rPr>
              <a:t>2% in 15 </a:t>
            </a:r>
            <a:r>
              <a:rPr lang="en-US" sz="2800" dirty="0">
                <a:latin typeface="Times New Roman" pitchFamily="18" charset="0"/>
                <a:cs typeface="Times New Roman" pitchFamily="18" charset="0"/>
              </a:rPr>
              <a:t>minutes</a:t>
            </a:r>
          </a:p>
          <a:p>
            <a:r>
              <a:rPr lang="en-US" sz="2800" dirty="0" smtClean="0">
                <a:latin typeface="Times New Roman" pitchFamily="18" charset="0"/>
                <a:cs typeface="Times New Roman" pitchFamily="18" charset="0"/>
              </a:rPr>
              <a:t>Detergents (SDS)</a:t>
            </a:r>
            <a:endParaRPr lang="en-US" sz="2800" dirty="0">
              <a:latin typeface="Times New Roman" pitchFamily="18" charset="0"/>
              <a:cs typeface="Times New Roman" pitchFamily="18" charset="0"/>
            </a:endParaRPr>
          </a:p>
          <a:p>
            <a:r>
              <a:rPr lang="en-US" sz="2800" dirty="0">
                <a:latin typeface="Times New Roman" pitchFamily="18" charset="0"/>
                <a:cs typeface="Times New Roman" pitchFamily="18" charset="0"/>
              </a:rPr>
              <a:t>Virus can survive</a:t>
            </a:r>
            <a:r>
              <a:rPr lang="en-US" sz="2400" dirty="0">
                <a:latin typeface="Times New Roman" pitchFamily="18" charset="0"/>
                <a:cs typeface="Times New Roman" pitchFamily="18" charset="0"/>
              </a:rPr>
              <a:t> </a:t>
            </a:r>
          </a:p>
          <a:p>
            <a:pPr lvl="1"/>
            <a:r>
              <a:rPr lang="en-US" sz="2400" dirty="0">
                <a:latin typeface="Times New Roman" pitchFamily="18" charset="0"/>
                <a:cs typeface="Times New Roman" pitchFamily="18" charset="0"/>
              </a:rPr>
              <a:t>For 2 months in wool</a:t>
            </a:r>
          </a:p>
          <a:p>
            <a:pPr lvl="1"/>
            <a:r>
              <a:rPr lang="en-US" sz="2400" dirty="0">
                <a:latin typeface="Times New Roman" pitchFamily="18" charset="0"/>
                <a:cs typeface="Times New Roman" pitchFamily="18" charset="0"/>
              </a:rPr>
              <a:t>For 6 months in the environment</a:t>
            </a:r>
          </a:p>
          <a:p>
            <a:pPr lvl="1"/>
            <a:r>
              <a:rPr lang="en-US" sz="2400" dirty="0">
                <a:latin typeface="Times New Roman" pitchFamily="18" charset="0"/>
                <a:cs typeface="Times New Roman" pitchFamily="18" charset="0"/>
              </a:rPr>
              <a:t>for many years in dried scabs</a:t>
            </a:r>
          </a:p>
        </p:txBody>
      </p:sp>
      <p:pic>
        <p:nvPicPr>
          <p:cNvPr id="217106" name="Picture 18" descr="disinfectant with pump DBW"/>
          <p:cNvPicPr>
            <a:picLocks noGrp="1" noChangeAspect="1" noChangeArrowheads="1"/>
          </p:cNvPicPr>
          <p:nvPr>
            <p:ph sz="half" idx="2"/>
          </p:nvPr>
        </p:nvPicPr>
        <p:blipFill>
          <a:blip r:embed="rId3" cstate="print">
            <a:grayscl/>
          </a:blip>
          <a:srcRect/>
          <a:stretch>
            <a:fillRect/>
          </a:stretch>
        </p:blipFill>
        <p:spPr>
          <a:xfrm>
            <a:off x="6553200" y="2133600"/>
            <a:ext cx="2209800" cy="2944812"/>
          </a:xfrm>
          <a:noFill/>
          <a:ln w="28575">
            <a:solidFill>
              <a:srgbClr val="F2D992"/>
            </a:solidFill>
          </a:ln>
        </p:spPr>
      </p:pic>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6" name="Rectangle 4"/>
          <p:cNvSpPr>
            <a:spLocks noGrp="1" noChangeArrowheads="1"/>
          </p:cNvSpPr>
          <p:nvPr>
            <p:ph type="title"/>
          </p:nvPr>
        </p:nvSpPr>
        <p:spPr/>
        <p:txBody>
          <a:bodyPr>
            <a:normAutofit/>
          </a:bodyPr>
          <a:lstStyle/>
          <a:p>
            <a:r>
              <a:rPr lang="en-US" sz="4000" b="1" dirty="0">
                <a:solidFill>
                  <a:srgbClr val="FF0000"/>
                </a:solidFill>
              </a:rPr>
              <a:t>Vaccination</a:t>
            </a:r>
          </a:p>
        </p:txBody>
      </p:sp>
      <p:sp>
        <p:nvSpPr>
          <p:cNvPr id="315397" name="Rectangle 5"/>
          <p:cNvSpPr>
            <a:spLocks noGrp="1" noChangeArrowheads="1"/>
          </p:cNvSpPr>
          <p:nvPr>
            <p:ph idx="1"/>
          </p:nvPr>
        </p:nvSpPr>
        <p:spPr/>
        <p:txBody>
          <a:bodyPr>
            <a:normAutofit/>
          </a:bodyPr>
          <a:lstStyle/>
          <a:p>
            <a:r>
              <a:rPr lang="en-US" sz="2400" dirty="0">
                <a:latin typeface="Times New Roman" pitchFamily="18" charset="0"/>
                <a:cs typeface="Times New Roman" pitchFamily="18" charset="0"/>
              </a:rPr>
              <a:t>Vaccination can provide effective control in endemic areas</a:t>
            </a:r>
          </a:p>
          <a:p>
            <a:r>
              <a:rPr lang="en-US" sz="2400" dirty="0">
                <a:latin typeface="Times New Roman" pitchFamily="18" charset="0"/>
                <a:cs typeface="Times New Roman" pitchFamily="18" charset="0"/>
              </a:rPr>
              <a:t>Killed vaccines do not provide long lasting immunity</a:t>
            </a:r>
          </a:p>
          <a:p>
            <a:r>
              <a:rPr lang="en-US" sz="2400" dirty="0">
                <a:latin typeface="Times New Roman" pitchFamily="18" charset="0"/>
                <a:cs typeface="Times New Roman" pitchFamily="18" charset="0"/>
              </a:rPr>
              <a:t>Attenuated virus vaccines give immunity up to 2 </a:t>
            </a:r>
            <a:r>
              <a:rPr lang="en-US" sz="2400" dirty="0" smtClean="0">
                <a:latin typeface="Times New Roman" pitchFamily="18" charset="0"/>
                <a:cs typeface="Times New Roman" pitchFamily="18" charset="0"/>
              </a:rPr>
              <a:t>years</a:t>
            </a:r>
          </a:p>
          <a:p>
            <a:r>
              <a:rPr lang="en-IN" sz="2400" dirty="0" smtClean="0">
                <a:latin typeface="Times New Roman" pitchFamily="18" charset="0"/>
                <a:cs typeface="Times New Roman" pitchFamily="18" charset="0"/>
              </a:rPr>
              <a:t>Sheep Pox vaccine can protect against lumpy skin disease and vice versa.</a:t>
            </a:r>
          </a:p>
          <a:p>
            <a:r>
              <a:rPr lang="en-IN" sz="2400" dirty="0" smtClean="0">
                <a:latin typeface="Times New Roman" pitchFamily="18" charset="0"/>
                <a:cs typeface="Times New Roman" pitchFamily="18" charset="0"/>
              </a:rPr>
              <a:t>Goat pox vaccine gives protection against sheep pox but not vice versa.</a:t>
            </a:r>
          </a:p>
          <a:p>
            <a:r>
              <a:rPr lang="en-US" sz="2400" dirty="0" err="1" smtClean="0">
                <a:latin typeface="Times New Roman" pitchFamily="18" charset="0"/>
                <a:cs typeface="Times New Roman" pitchFamily="18" charset="0"/>
              </a:rPr>
              <a:t>Eg</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Raksha</a:t>
            </a:r>
            <a:r>
              <a:rPr lang="en-US" sz="2400" dirty="0" smtClean="0">
                <a:latin typeface="Times New Roman" pitchFamily="18" charset="0"/>
                <a:cs typeface="Times New Roman" pitchFamily="18" charset="0"/>
              </a:rPr>
              <a:t>-SP vaccine</a:t>
            </a:r>
            <a:endParaRPr lang="en-US" sz="2400" dirty="0">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Fowl Pox</a:t>
            </a:r>
            <a:endParaRPr lang="en-US" b="1" dirty="0">
              <a:solidFill>
                <a:srgbClr val="FF0000"/>
              </a:solidFill>
            </a:endParaRPr>
          </a:p>
        </p:txBody>
      </p:sp>
      <p:sp>
        <p:nvSpPr>
          <p:cNvPr id="3" name="Content Placeholder 2"/>
          <p:cNvSpPr>
            <a:spLocks noGrp="1"/>
          </p:cNvSpPr>
          <p:nvPr>
            <p:ph idx="1"/>
          </p:nvPr>
        </p:nvSpPr>
        <p:spPr>
          <a:xfrm>
            <a:off x="228600" y="1066800"/>
            <a:ext cx="8915400" cy="4525963"/>
          </a:xfrm>
        </p:spPr>
        <p:txBody>
          <a:bodyPr>
            <a:noAutofit/>
          </a:bodyPr>
          <a:lstStyle/>
          <a:p>
            <a:r>
              <a:rPr lang="en-US" sz="2400" dirty="0" smtClean="0">
                <a:latin typeface="Times New Roman" pitchFamily="18" charset="0"/>
                <a:cs typeface="Times New Roman" pitchFamily="18" charset="0"/>
              </a:rPr>
              <a:t>A common disease of domestic and wild birds caused by </a:t>
            </a:r>
            <a:r>
              <a:rPr lang="en-US" sz="2400" b="1" dirty="0" err="1" smtClean="0">
                <a:latin typeface="Times New Roman" pitchFamily="18" charset="0"/>
                <a:cs typeface="Times New Roman" pitchFamily="18" charset="0"/>
              </a:rPr>
              <a:t>Avipox</a:t>
            </a:r>
            <a:r>
              <a:rPr lang="en-US" sz="2400" b="1" dirty="0" smtClean="0">
                <a:latin typeface="Times New Roman" pitchFamily="18" charset="0"/>
                <a:cs typeface="Times New Roman" pitchFamily="18" charset="0"/>
              </a:rPr>
              <a:t> virus </a:t>
            </a:r>
          </a:p>
          <a:p>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Avipoxvirus</a:t>
            </a:r>
            <a:r>
              <a:rPr lang="en-US" sz="2400" dirty="0" smtClean="0">
                <a:latin typeface="Times New Roman" pitchFamily="18" charset="0"/>
                <a:cs typeface="Times New Roman" pitchFamily="18" charset="0"/>
              </a:rPr>
              <a:t> is </a:t>
            </a:r>
            <a:r>
              <a:rPr lang="en-US" sz="2400" b="1" dirty="0" smtClean="0">
                <a:latin typeface="Times New Roman" pitchFamily="18" charset="0"/>
                <a:cs typeface="Times New Roman" pitchFamily="18" charset="0"/>
              </a:rPr>
              <a:t>highly host specific</a:t>
            </a:r>
            <a:r>
              <a:rPr lang="en-US" sz="2400" dirty="0" smtClean="0">
                <a:latin typeface="Times New Roman" pitchFamily="18" charset="0"/>
                <a:cs typeface="Times New Roman" pitchFamily="18" charset="0"/>
              </a:rPr>
              <a:t>; therefore, infection with one type of poxvirus does not protect against others. </a:t>
            </a:r>
          </a:p>
          <a:p>
            <a:r>
              <a:rPr lang="en-US" sz="2400" dirty="0" smtClean="0">
                <a:latin typeface="Times New Roman" pitchFamily="18" charset="0"/>
                <a:cs typeface="Times New Roman" pitchFamily="18" charset="0"/>
              </a:rPr>
              <a:t>Poxviruses are named according to the susceptible host species (i.e., </a:t>
            </a:r>
            <a:r>
              <a:rPr lang="en-US" sz="2400" dirty="0" err="1" smtClean="0">
                <a:latin typeface="Times New Roman" pitchFamily="18" charset="0"/>
                <a:cs typeface="Times New Roman" pitchFamily="18" charset="0"/>
              </a:rPr>
              <a:t>Fowlpox</a:t>
            </a:r>
            <a:r>
              <a:rPr lang="en-US" sz="2400" dirty="0" smtClean="0">
                <a:latin typeface="Times New Roman" pitchFamily="18" charset="0"/>
                <a:cs typeface="Times New Roman" pitchFamily="18" charset="0"/>
              </a:rPr>
              <a:t> virus, </a:t>
            </a:r>
            <a:r>
              <a:rPr lang="en-US" sz="2400" dirty="0" err="1" smtClean="0">
                <a:latin typeface="Times New Roman" pitchFamily="18" charset="0"/>
                <a:cs typeface="Times New Roman" pitchFamily="18" charset="0"/>
              </a:rPr>
              <a:t>Canarypox</a:t>
            </a:r>
            <a:r>
              <a:rPr lang="en-US" sz="2400" dirty="0" smtClean="0">
                <a:latin typeface="Times New Roman" pitchFamily="18" charset="0"/>
                <a:cs typeface="Times New Roman" pitchFamily="18" charset="0"/>
              </a:rPr>
              <a:t> virus, </a:t>
            </a:r>
            <a:r>
              <a:rPr lang="en-US" sz="2400" dirty="0" err="1" smtClean="0">
                <a:latin typeface="Times New Roman" pitchFamily="18" charset="0"/>
                <a:cs typeface="Times New Roman" pitchFamily="18" charset="0"/>
              </a:rPr>
              <a:t>Pigeonpox</a:t>
            </a:r>
            <a:r>
              <a:rPr lang="en-US" sz="2400" dirty="0" smtClean="0">
                <a:latin typeface="Times New Roman" pitchFamily="18" charset="0"/>
                <a:cs typeface="Times New Roman" pitchFamily="18" charset="0"/>
              </a:rPr>
              <a:t> virus, </a:t>
            </a:r>
            <a:r>
              <a:rPr lang="en-US" sz="2400" dirty="0" err="1" smtClean="0">
                <a:latin typeface="Times New Roman" pitchFamily="18" charset="0"/>
                <a:cs typeface="Times New Roman" pitchFamily="18" charset="0"/>
              </a:rPr>
              <a:t>Psittacinepox</a:t>
            </a:r>
            <a:r>
              <a:rPr lang="en-US" sz="2400" dirty="0" smtClean="0">
                <a:latin typeface="Times New Roman" pitchFamily="18" charset="0"/>
                <a:cs typeface="Times New Roman" pitchFamily="18" charset="0"/>
              </a:rPr>
              <a:t> virus, </a:t>
            </a:r>
            <a:r>
              <a:rPr lang="en-US" sz="2400" dirty="0" err="1" smtClean="0">
                <a:latin typeface="Times New Roman" pitchFamily="18" charset="0"/>
                <a:cs typeface="Times New Roman" pitchFamily="18" charset="0"/>
              </a:rPr>
              <a:t>Turkeypox</a:t>
            </a:r>
            <a:r>
              <a:rPr lang="en-US" sz="2400" dirty="0" smtClean="0">
                <a:latin typeface="Times New Roman" pitchFamily="18" charset="0"/>
                <a:cs typeface="Times New Roman" pitchFamily="18" charset="0"/>
              </a:rPr>
              <a:t> virus, etc.</a:t>
            </a:r>
          </a:p>
          <a:p>
            <a:r>
              <a:rPr lang="en-US" sz="2400" dirty="0" smtClean="0">
                <a:latin typeface="Times New Roman" pitchFamily="18" charset="0"/>
                <a:cs typeface="Times New Roman" pitchFamily="18" charset="0"/>
              </a:rPr>
              <a:t>Disease course generally 3 to 4 weeks.</a:t>
            </a:r>
          </a:p>
          <a:p>
            <a:r>
              <a:rPr lang="en-GB" sz="2400" dirty="0" err="1" smtClean="0">
                <a:latin typeface="Times New Roman" pitchFamily="18" charset="0"/>
                <a:cs typeface="Times New Roman" pitchFamily="18" charset="0"/>
              </a:rPr>
              <a:t>Avipoxvirus</a:t>
            </a:r>
            <a:r>
              <a:rPr lang="en-GB" sz="2400" dirty="0" smtClean="0">
                <a:latin typeface="Times New Roman" pitchFamily="18" charset="0"/>
                <a:cs typeface="Times New Roman" pitchFamily="18" charset="0"/>
              </a:rPr>
              <a:t> is transmitted by means of desquamation of skin lesions or by the biting of insects that sting the </a:t>
            </a:r>
            <a:r>
              <a:rPr lang="en-GB" sz="2400" dirty="0" err="1" smtClean="0">
                <a:latin typeface="Times New Roman" pitchFamily="18" charset="0"/>
                <a:cs typeface="Times New Roman" pitchFamily="18" charset="0"/>
              </a:rPr>
              <a:t>unfeathered</a:t>
            </a:r>
            <a:r>
              <a:rPr lang="en-GB" sz="2400" dirty="0" smtClean="0">
                <a:latin typeface="Times New Roman" pitchFamily="18" charset="0"/>
                <a:cs typeface="Times New Roman" pitchFamily="18" charset="0"/>
              </a:rPr>
              <a:t> skin areas, producing the characteristic </a:t>
            </a:r>
            <a:r>
              <a:rPr lang="en-GB" sz="2400" dirty="0" err="1" smtClean="0">
                <a:latin typeface="Times New Roman" pitchFamily="18" charset="0"/>
                <a:cs typeface="Times New Roman" pitchFamily="18" charset="0"/>
              </a:rPr>
              <a:t>papular</a:t>
            </a:r>
            <a:r>
              <a:rPr lang="en-GB" sz="2400" dirty="0" smtClean="0">
                <a:latin typeface="Times New Roman" pitchFamily="18" charset="0"/>
                <a:cs typeface="Times New Roman" pitchFamily="18" charset="0"/>
              </a:rPr>
              <a:t>, vesicular, and crusty lesions visible in the </a:t>
            </a:r>
            <a:r>
              <a:rPr lang="en-GB" sz="2400" dirty="0" err="1" smtClean="0">
                <a:latin typeface="Times New Roman" pitchFamily="18" charset="0"/>
                <a:cs typeface="Times New Roman" pitchFamily="18" charset="0"/>
              </a:rPr>
              <a:t>nares</a:t>
            </a:r>
            <a:r>
              <a:rPr lang="en-GB" sz="2400" dirty="0" smtClean="0">
                <a:latin typeface="Times New Roman" pitchFamily="18" charset="0"/>
                <a:cs typeface="Times New Roman" pitchFamily="18" charset="0"/>
              </a:rPr>
              <a:t>, eyelids, and legs. </a:t>
            </a:r>
          </a:p>
          <a:p>
            <a:r>
              <a:rPr lang="en-GB" sz="2400" dirty="0" smtClean="0">
                <a:latin typeface="Times New Roman" pitchFamily="18" charset="0"/>
                <a:cs typeface="Times New Roman" pitchFamily="18" charset="0"/>
              </a:rPr>
              <a:t>Birds can also ingest or inhale viral particles, producing diphtheritic lesions in the oral cavity, pharynx, larynx, and trachea</a:t>
            </a:r>
            <a:endParaRPr lang="en-US" sz="2400" dirty="0" smtClean="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FF0000"/>
                </a:solidFill>
                <a:latin typeface="Times New Roman" pitchFamily="18" charset="0"/>
                <a:cs typeface="Times New Roman" pitchFamily="18" charset="0"/>
              </a:rPr>
              <a:t>Clinical Signs</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endParaRPr lang="en-US" dirty="0"/>
          </a:p>
        </p:txBody>
      </p:sp>
      <p:sp>
        <p:nvSpPr>
          <p:cNvPr id="3" name="Content Placeholder 2"/>
          <p:cNvSpPr>
            <a:spLocks noGrp="1"/>
          </p:cNvSpPr>
          <p:nvPr>
            <p:ph idx="1"/>
          </p:nvPr>
        </p:nvSpPr>
        <p:spPr>
          <a:xfrm>
            <a:off x="228600" y="1219200"/>
            <a:ext cx="8458200" cy="5181600"/>
          </a:xfrm>
        </p:spPr>
        <p:txBody>
          <a:bodyPr>
            <a:normAutofit fontScale="92500"/>
          </a:bodyPr>
          <a:lstStyle/>
          <a:p>
            <a:r>
              <a:rPr lang="en-US" sz="2400" dirty="0" smtClean="0">
                <a:latin typeface="Times New Roman" pitchFamily="18" charset="0"/>
                <a:cs typeface="Times New Roman" pitchFamily="18" charset="0"/>
              </a:rPr>
              <a:t>Two forms of the disease:</a:t>
            </a:r>
          </a:p>
          <a:p>
            <a:r>
              <a:rPr lang="en-US" sz="2400" b="1" dirty="0" smtClean="0">
                <a:latin typeface="Times New Roman" pitchFamily="18" charset="0"/>
                <a:cs typeface="Times New Roman" pitchFamily="18" charset="0"/>
              </a:rPr>
              <a:t>Skin or </a:t>
            </a:r>
            <a:r>
              <a:rPr lang="en-US" sz="2400" b="1" dirty="0" err="1" smtClean="0">
                <a:latin typeface="Times New Roman" pitchFamily="18" charset="0"/>
                <a:cs typeface="Times New Roman" pitchFamily="18" charset="0"/>
              </a:rPr>
              <a:t>cutaneous</a:t>
            </a:r>
            <a:r>
              <a:rPr lang="en-US" sz="2400" b="1" dirty="0" smtClean="0">
                <a:latin typeface="Times New Roman" pitchFamily="18" charset="0"/>
                <a:cs typeface="Times New Roman" pitchFamily="18" charset="0"/>
              </a:rPr>
              <a:t> or Dry form</a:t>
            </a:r>
            <a:r>
              <a:rPr lang="en-US" sz="2400" dirty="0" smtClean="0">
                <a:latin typeface="Times New Roman" pitchFamily="18" charset="0"/>
                <a:cs typeface="Times New Roman" pitchFamily="18" charset="0"/>
              </a:rPr>
              <a:t> - </a:t>
            </a:r>
            <a:r>
              <a:rPr lang="en-GB" sz="2400" dirty="0" smtClean="0">
                <a:latin typeface="Times New Roman" pitchFamily="18" charset="0"/>
                <a:cs typeface="Times New Roman" pitchFamily="18" charset="0"/>
              </a:rPr>
              <a:t>development of proliferative lesions, ranging from small nodules to spherical wart-like masses on the skin of the comb, wattle and other </a:t>
            </a:r>
            <a:r>
              <a:rPr lang="en-GB" sz="2400" dirty="0" err="1" smtClean="0">
                <a:latin typeface="Times New Roman" pitchFamily="18" charset="0"/>
                <a:cs typeface="Times New Roman" pitchFamily="18" charset="0"/>
              </a:rPr>
              <a:t>unfeathered</a:t>
            </a:r>
            <a:r>
              <a:rPr lang="en-GB" sz="2400" dirty="0" smtClean="0">
                <a:latin typeface="Times New Roman" pitchFamily="18" charset="0"/>
                <a:cs typeface="Times New Roman" pitchFamily="18" charset="0"/>
              </a:rPr>
              <a:t> areas</a:t>
            </a:r>
            <a:endParaRPr lang="en-US" sz="2400" dirty="0" smtClean="0">
              <a:latin typeface="Times New Roman" pitchFamily="18" charset="0"/>
              <a:cs typeface="Times New Roman" pitchFamily="18" charset="0"/>
            </a:endParaRPr>
          </a:p>
          <a:p>
            <a:endParaRPr lang="en-US" sz="2400" b="1" dirty="0" smtClean="0">
              <a:latin typeface="Times New Roman" pitchFamily="18" charset="0"/>
              <a:cs typeface="Times New Roman" pitchFamily="18" charset="0"/>
            </a:endParaRPr>
          </a:p>
          <a:p>
            <a:r>
              <a:rPr lang="en-US" sz="2400" b="1" dirty="0" smtClean="0">
                <a:latin typeface="Times New Roman" pitchFamily="18" charset="0"/>
                <a:cs typeface="Times New Roman" pitchFamily="18" charset="0"/>
              </a:rPr>
              <a:t>Diphtheritic or 'Wet' form-</a:t>
            </a:r>
            <a:r>
              <a:rPr lang="en-US" sz="2400" dirty="0" smtClean="0">
                <a:latin typeface="Times New Roman" pitchFamily="18" charset="0"/>
                <a:cs typeface="Times New Roman" pitchFamily="18" charset="0"/>
              </a:rPr>
              <a:t> slightly elevated white opaque </a:t>
            </a:r>
            <a:r>
              <a:rPr lang="en-GB" sz="2400" dirty="0" smtClean="0">
                <a:latin typeface="Times New Roman" pitchFamily="18" charset="0"/>
                <a:cs typeface="Times New Roman" pitchFamily="18" charset="0"/>
              </a:rPr>
              <a:t>nodules develop on the mucous membranes. They rapidly increase in size to become a </a:t>
            </a:r>
            <a:r>
              <a:rPr lang="en-GB" sz="2400" b="1" dirty="0" smtClean="0">
                <a:latin typeface="Times New Roman" pitchFamily="18" charset="0"/>
                <a:cs typeface="Times New Roman" pitchFamily="18" charset="0"/>
              </a:rPr>
              <a:t>yellowish diphtheritic membrane</a:t>
            </a:r>
            <a:r>
              <a:rPr lang="en-GB" sz="2400" dirty="0" smtClean="0">
                <a:latin typeface="Times New Roman" pitchFamily="18" charset="0"/>
                <a:cs typeface="Times New Roman" pitchFamily="18" charset="0"/>
              </a:rPr>
              <a:t>. Lesions occur on the mucous membranes of the mouth, oesophagus, larynx or trachea. </a:t>
            </a:r>
          </a:p>
          <a:p>
            <a:r>
              <a:rPr lang="en-GB" sz="2400" dirty="0" smtClean="0">
                <a:latin typeface="Times New Roman" pitchFamily="18" charset="0"/>
                <a:cs typeface="Times New Roman" pitchFamily="18" charset="0"/>
              </a:rPr>
              <a:t>The mortality rate is higher in the diphtheritic form than in the </a:t>
            </a:r>
            <a:r>
              <a:rPr lang="en-GB" sz="2400" dirty="0" err="1" smtClean="0">
                <a:latin typeface="Times New Roman" pitchFamily="18" charset="0"/>
                <a:cs typeface="Times New Roman" pitchFamily="18" charset="0"/>
              </a:rPr>
              <a:t>cutaneous</a:t>
            </a:r>
            <a:r>
              <a:rPr lang="en-GB" sz="2400" dirty="0" smtClean="0">
                <a:latin typeface="Times New Roman" pitchFamily="18" charset="0"/>
                <a:cs typeface="Times New Roman" pitchFamily="18" charset="0"/>
              </a:rPr>
              <a:t> form, sometimes nearing 50% particularly in young birds</a:t>
            </a:r>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 Birds have difficulty breathing.</a:t>
            </a:r>
          </a:p>
          <a:p>
            <a:r>
              <a:rPr lang="en-US" sz="2400" dirty="0" smtClean="0">
                <a:latin typeface="Times New Roman" pitchFamily="18" charset="0"/>
                <a:cs typeface="Times New Roman" pitchFamily="18" charset="0"/>
              </a:rPr>
              <a:t>Weight loss, reduced egg production</a:t>
            </a:r>
          </a:p>
          <a:p>
            <a:endParaRPr lang="en-US"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70" name="Picture 14" descr="Fowl Pox: Causes And Control Measures"/>
          <p:cNvPicPr>
            <a:picLocks noChangeAspect="1" noChangeArrowheads="1"/>
          </p:cNvPicPr>
          <p:nvPr/>
        </p:nvPicPr>
        <p:blipFill>
          <a:blip r:embed="rId2"/>
          <a:srcRect/>
          <a:stretch>
            <a:fillRect/>
          </a:stretch>
        </p:blipFill>
        <p:spPr bwMode="auto">
          <a:xfrm>
            <a:off x="3352800" y="304800"/>
            <a:ext cx="5346326" cy="2803730"/>
          </a:xfrm>
          <a:prstGeom prst="rect">
            <a:avLst/>
          </a:prstGeom>
          <a:noFill/>
        </p:spPr>
      </p:pic>
      <p:sp>
        <p:nvSpPr>
          <p:cNvPr id="70658" name="AutoShape 2" descr="265"/>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70660" name="AutoShape 4" descr="265"/>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70662" name="AutoShape 6" descr="265"/>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70664" name="AutoShape 8" descr="FOWL POX - Diseases of Poultry - The Poultry Site | The Poultry Sit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70666" name="AutoShape 10" descr="Fowl pox in Chicken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70668" name="Picture 12" descr="Avian Pox in Chickens - Warning, Graphic Pictures (under construction) |  BackYard Chickens - Learn How to Raise Chickens"/>
          <p:cNvPicPr>
            <a:picLocks noChangeAspect="1" noChangeArrowheads="1"/>
          </p:cNvPicPr>
          <p:nvPr/>
        </p:nvPicPr>
        <p:blipFill>
          <a:blip r:embed="rId3"/>
          <a:srcRect/>
          <a:stretch>
            <a:fillRect/>
          </a:stretch>
        </p:blipFill>
        <p:spPr bwMode="auto">
          <a:xfrm>
            <a:off x="304800" y="152400"/>
            <a:ext cx="3491769" cy="3505200"/>
          </a:xfrm>
          <a:prstGeom prst="rect">
            <a:avLst/>
          </a:prstGeom>
          <a:noFill/>
        </p:spPr>
      </p:pic>
      <p:sp>
        <p:nvSpPr>
          <p:cNvPr id="70672" name="AutoShape 16" descr="Fowl pox in Chicken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70674" name="Picture 18" descr="Fowl Pox – Bukoola Vet"/>
          <p:cNvPicPr>
            <a:picLocks noChangeAspect="1" noChangeArrowheads="1"/>
          </p:cNvPicPr>
          <p:nvPr/>
        </p:nvPicPr>
        <p:blipFill>
          <a:blip r:embed="rId4"/>
          <a:srcRect/>
          <a:stretch>
            <a:fillRect/>
          </a:stretch>
        </p:blipFill>
        <p:spPr bwMode="auto">
          <a:xfrm>
            <a:off x="3657600" y="3530032"/>
            <a:ext cx="4833815" cy="3327968"/>
          </a:xfrm>
          <a:prstGeom prst="rect">
            <a:avLst/>
          </a:prstGeom>
          <a:noFill/>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latin typeface="Times New Roman" pitchFamily="18" charset="0"/>
                <a:cs typeface="Times New Roman" pitchFamily="18" charset="0"/>
              </a:rPr>
              <a:t>Post Mortem Lesions</a:t>
            </a:r>
            <a:endParaRPr lang="en-US" dirty="0" smtClean="0">
              <a:latin typeface="Times New Roman" pitchFamily="18" charset="0"/>
              <a:cs typeface="Times New Roman" pitchFamily="18" charset="0"/>
            </a:endParaRPr>
          </a:p>
          <a:p>
            <a:r>
              <a:rPr lang="en-US" b="1" dirty="0" smtClean="0">
                <a:latin typeface="Times New Roman" pitchFamily="18" charset="0"/>
                <a:cs typeface="Times New Roman" pitchFamily="18" charset="0"/>
              </a:rPr>
              <a:t>Skin form</a:t>
            </a:r>
            <a:r>
              <a:rPr lang="en-US" dirty="0" smtClean="0">
                <a:latin typeface="Times New Roman" pitchFamily="18" charset="0"/>
                <a:cs typeface="Times New Roman" pitchFamily="18" charset="0"/>
              </a:rPr>
              <a:t>: small whitish or yellowish areas, nodules or scabs</a:t>
            </a:r>
          </a:p>
          <a:p>
            <a:r>
              <a:rPr lang="en-US" b="1" dirty="0" smtClean="0">
                <a:latin typeface="Times New Roman" pitchFamily="18" charset="0"/>
                <a:cs typeface="Times New Roman" pitchFamily="18" charset="0"/>
              </a:rPr>
              <a:t>Diphtheritic form</a:t>
            </a:r>
            <a:r>
              <a:rPr lang="en-US" dirty="0" smtClean="0">
                <a:latin typeface="Times New Roman" pitchFamily="18" charset="0"/>
                <a:cs typeface="Times New Roman" pitchFamily="18" charset="0"/>
              </a:rPr>
              <a:t>: raised white or opaque nodules which may join to form yellow, cheesy, necrotic lesion</a:t>
            </a:r>
          </a:p>
          <a:p>
            <a:endParaRPr lang="en-US" dirty="0">
              <a:latin typeface="Times New Roman" pitchFamily="18" charset="0"/>
              <a:cs typeface="Times New Roman"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FF0000"/>
                </a:solidFill>
                <a:latin typeface="Times New Roman" pitchFamily="18" charset="0"/>
                <a:cs typeface="Times New Roman" pitchFamily="18" charset="0"/>
              </a:rPr>
              <a:t>Diagnosis</a:t>
            </a:r>
            <a:r>
              <a:rPr lang="en-US" dirty="0" smtClean="0">
                <a:solidFill>
                  <a:srgbClr val="FF0000"/>
                </a:solidFill>
                <a:latin typeface="Times New Roman" pitchFamily="18" charset="0"/>
                <a:cs typeface="Times New Roman" pitchFamily="18" charset="0"/>
              </a:rPr>
              <a:t/>
            </a:r>
            <a:br>
              <a:rPr lang="en-US" dirty="0" smtClean="0">
                <a:solidFill>
                  <a:srgbClr val="FF0000"/>
                </a:solidFill>
                <a:latin typeface="Times New Roman" pitchFamily="18" charset="0"/>
                <a:cs typeface="Times New Roman" pitchFamily="18" charset="0"/>
              </a:rPr>
            </a:br>
            <a:endParaRPr lang="en-US" dirty="0">
              <a:solidFill>
                <a:srgbClr val="FF0000"/>
              </a:solidFill>
            </a:endParaRPr>
          </a:p>
        </p:txBody>
      </p:sp>
      <p:sp>
        <p:nvSpPr>
          <p:cNvPr id="3" name="Content Placeholder 2"/>
          <p:cNvSpPr>
            <a:spLocks noGrp="1"/>
          </p:cNvSpPr>
          <p:nvPr>
            <p:ph idx="1"/>
          </p:nvPr>
        </p:nvSpPr>
        <p:spPr>
          <a:xfrm>
            <a:off x="533400" y="1143000"/>
            <a:ext cx="8153400" cy="4953000"/>
          </a:xfrm>
        </p:spPr>
        <p:txBody>
          <a:bodyPr>
            <a:noAutofit/>
          </a:bodyPr>
          <a:lstStyle/>
          <a:p>
            <a:pPr algn="just"/>
            <a:r>
              <a:rPr lang="en-GB" sz="2400" dirty="0" smtClean="0">
                <a:latin typeface="Times New Roman" pitchFamily="18" charset="0"/>
                <a:cs typeface="Times New Roman" pitchFamily="18" charset="0"/>
              </a:rPr>
              <a:t>Characteristic gross and microscopic lesions and PCR</a:t>
            </a:r>
          </a:p>
          <a:p>
            <a:pPr algn="just"/>
            <a:r>
              <a:rPr lang="en-US" sz="2400" dirty="0" smtClean="0">
                <a:latin typeface="Times New Roman" pitchFamily="18" charset="0"/>
                <a:cs typeface="Times New Roman" pitchFamily="18" charset="0"/>
              </a:rPr>
              <a:t> </a:t>
            </a:r>
            <a:r>
              <a:rPr lang="en-GB" sz="2400" dirty="0" err="1" smtClean="0">
                <a:latin typeface="Times New Roman" pitchFamily="18" charset="0"/>
                <a:cs typeface="Times New Roman" pitchFamily="18" charset="0"/>
              </a:rPr>
              <a:t>Fowlpox</a:t>
            </a:r>
            <a:r>
              <a:rPr lang="en-GB" sz="2400" dirty="0" smtClean="0">
                <a:latin typeface="Times New Roman" pitchFamily="18" charset="0"/>
                <a:cs typeface="Times New Roman" pitchFamily="18" charset="0"/>
              </a:rPr>
              <a:t> virus multiplies in the cytoplasm of epithelial cells with the formation of large </a:t>
            </a:r>
            <a:r>
              <a:rPr lang="en-GB" sz="2400" dirty="0" err="1" smtClean="0">
                <a:latin typeface="Times New Roman" pitchFamily="18" charset="0"/>
                <a:cs typeface="Times New Roman" pitchFamily="18" charset="0"/>
              </a:rPr>
              <a:t>intracytoplasmic</a:t>
            </a:r>
            <a:r>
              <a:rPr lang="en-GB" sz="2400" dirty="0" smtClean="0">
                <a:latin typeface="Times New Roman" pitchFamily="18" charset="0"/>
                <a:cs typeface="Times New Roman" pitchFamily="18" charset="0"/>
              </a:rPr>
              <a:t> inclusion bodies (</a:t>
            </a:r>
            <a:r>
              <a:rPr lang="en-GB" sz="2400" b="1" dirty="0" smtClean="0">
                <a:latin typeface="Times New Roman" pitchFamily="18" charset="0"/>
                <a:cs typeface="Times New Roman" pitchFamily="18" charset="0"/>
              </a:rPr>
              <a:t>Bollinger bodies</a:t>
            </a:r>
            <a:r>
              <a:rPr lang="en-GB" sz="2400" dirty="0" smtClean="0">
                <a:latin typeface="Times New Roman" pitchFamily="18" charset="0"/>
                <a:cs typeface="Times New Roman" pitchFamily="18" charset="0"/>
              </a:rPr>
              <a:t>) that contain smaller elementary bodies (</a:t>
            </a:r>
            <a:r>
              <a:rPr lang="en-GB" sz="2400" b="1" dirty="0" err="1" smtClean="0">
                <a:latin typeface="Times New Roman" pitchFamily="18" charset="0"/>
                <a:cs typeface="Times New Roman" pitchFamily="18" charset="0"/>
              </a:rPr>
              <a:t>Borrel</a:t>
            </a:r>
            <a:r>
              <a:rPr lang="en-GB" sz="2400" b="1" dirty="0" smtClean="0">
                <a:latin typeface="Times New Roman" pitchFamily="18" charset="0"/>
                <a:cs typeface="Times New Roman" pitchFamily="18" charset="0"/>
              </a:rPr>
              <a:t> bodies</a:t>
            </a:r>
            <a:r>
              <a:rPr lang="en-GB" sz="2400" dirty="0" smtClean="0">
                <a:latin typeface="Times New Roman" pitchFamily="18" charset="0"/>
                <a:cs typeface="Times New Roman" pitchFamily="18" charset="0"/>
              </a:rPr>
              <a:t>). The inclusions can be demonstrated in sections of </a:t>
            </a:r>
            <a:r>
              <a:rPr lang="en-GB" sz="2400" dirty="0" err="1" smtClean="0">
                <a:latin typeface="Times New Roman" pitchFamily="18" charset="0"/>
                <a:cs typeface="Times New Roman" pitchFamily="18" charset="0"/>
              </a:rPr>
              <a:t>cutaneous</a:t>
            </a:r>
            <a:r>
              <a:rPr lang="en-GB" sz="2400" dirty="0" smtClean="0">
                <a:latin typeface="Times New Roman" pitchFamily="18" charset="0"/>
                <a:cs typeface="Times New Roman" pitchFamily="18" charset="0"/>
              </a:rPr>
              <a:t> and diphtheritic lesions</a:t>
            </a:r>
          </a:p>
          <a:p>
            <a:pPr algn="just"/>
            <a:r>
              <a:rPr lang="en-GB" sz="2400" dirty="0" smtClean="0">
                <a:latin typeface="Times New Roman" pitchFamily="18" charset="0"/>
                <a:cs typeface="Times New Roman" pitchFamily="18" charset="0"/>
              </a:rPr>
              <a:t>Viral particles with typical poxvirus morphology can be demonstrated by negative-staining electron microscopy</a:t>
            </a:r>
          </a:p>
          <a:p>
            <a:pPr algn="just"/>
            <a:r>
              <a:rPr lang="en-GB" sz="2400" dirty="0" smtClean="0">
                <a:latin typeface="Times New Roman" pitchFamily="18" charset="0"/>
                <a:cs typeface="Times New Roman" pitchFamily="18" charset="0"/>
              </a:rPr>
              <a:t>The virus can be isolated by inoculating </a:t>
            </a:r>
            <a:r>
              <a:rPr lang="en-GB" sz="2400" b="1" dirty="0" err="1" smtClean="0">
                <a:latin typeface="Times New Roman" pitchFamily="18" charset="0"/>
                <a:cs typeface="Times New Roman" pitchFamily="18" charset="0"/>
              </a:rPr>
              <a:t>chorioallantoic</a:t>
            </a:r>
            <a:r>
              <a:rPr lang="en-GB" sz="2400" b="1" dirty="0" smtClean="0">
                <a:latin typeface="Times New Roman" pitchFamily="18" charset="0"/>
                <a:cs typeface="Times New Roman" pitchFamily="18" charset="0"/>
              </a:rPr>
              <a:t> membrane </a:t>
            </a:r>
            <a:r>
              <a:rPr lang="en-GB" sz="2400" dirty="0" smtClean="0">
                <a:latin typeface="Times New Roman" pitchFamily="18" charset="0"/>
                <a:cs typeface="Times New Roman" pitchFamily="18" charset="0"/>
              </a:rPr>
              <a:t>of developing chicken embryos, susceptible birds, or cell cultures of avian origin. </a:t>
            </a:r>
            <a:endParaRPr lang="en-US" sz="2400" dirty="0" smtClean="0">
              <a:latin typeface="Times New Roman" pitchFamily="18" charset="0"/>
              <a:cs typeface="Times New Roman" pitchFamily="18"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FF0000"/>
                </a:solidFill>
              </a:rPr>
              <a:t>Prevention and Control</a:t>
            </a:r>
            <a:r>
              <a:rPr lang="en-US" dirty="0" smtClean="0">
                <a:solidFill>
                  <a:srgbClr val="FF0000"/>
                </a:solidFill>
              </a:rPr>
              <a:t/>
            </a:r>
            <a:br>
              <a:rPr lang="en-US" dirty="0" smtClean="0">
                <a:solidFill>
                  <a:srgbClr val="FF0000"/>
                </a:solidFill>
              </a:rPr>
            </a:br>
            <a:endParaRPr lang="en-US" dirty="0">
              <a:solidFill>
                <a:srgbClr val="FF0000"/>
              </a:solidFill>
            </a:endParaRPr>
          </a:p>
        </p:txBody>
      </p:sp>
      <p:sp>
        <p:nvSpPr>
          <p:cNvPr id="3" name="Content Placeholder 2"/>
          <p:cNvSpPr>
            <a:spLocks noGrp="1"/>
          </p:cNvSpPr>
          <p:nvPr>
            <p:ph idx="1"/>
          </p:nvPr>
        </p:nvSpPr>
        <p:spPr>
          <a:xfrm>
            <a:off x="457200" y="1143000"/>
            <a:ext cx="8077200" cy="5105400"/>
          </a:xfrm>
        </p:spPr>
        <p:txBody>
          <a:bodyPr>
            <a:normAutofit fontScale="92500" lnSpcReduction="20000"/>
          </a:bodyPr>
          <a:lstStyle/>
          <a:p>
            <a:pPr algn="just"/>
            <a:r>
              <a:rPr lang="en-US" sz="2800" dirty="0" smtClean="0">
                <a:latin typeface="Times New Roman" pitchFamily="18" charset="0"/>
                <a:cs typeface="Times New Roman" pitchFamily="18" charset="0"/>
              </a:rPr>
              <a:t>Management – do not introduce new birds with lesions</a:t>
            </a:r>
          </a:p>
          <a:p>
            <a:pPr algn="just"/>
            <a:r>
              <a:rPr lang="en-US" sz="2800" dirty="0" smtClean="0">
                <a:latin typeface="Times New Roman" pitchFamily="18" charset="0"/>
                <a:cs typeface="Times New Roman" pitchFamily="18" charset="0"/>
              </a:rPr>
              <a:t>Virus survives in dried scabs for months or years.  </a:t>
            </a:r>
          </a:p>
          <a:p>
            <a:pPr algn="just"/>
            <a:r>
              <a:rPr lang="en-US" sz="2800" dirty="0" smtClean="0">
                <a:latin typeface="Times New Roman" pitchFamily="18" charset="0"/>
                <a:cs typeface="Times New Roman" pitchFamily="18" charset="0"/>
              </a:rPr>
              <a:t>Burn infected chicken houses and dispose of all infected birds. </a:t>
            </a:r>
          </a:p>
          <a:p>
            <a:pPr algn="just"/>
            <a:r>
              <a:rPr lang="en-US" sz="2800" dirty="0" smtClean="0">
                <a:latin typeface="Times New Roman" pitchFamily="18" charset="0"/>
                <a:cs typeface="Times New Roman" pitchFamily="18" charset="0"/>
              </a:rPr>
              <a:t> Burn or bury all parts of the birds that are unused.  </a:t>
            </a:r>
          </a:p>
          <a:p>
            <a:pPr algn="just"/>
            <a:r>
              <a:rPr lang="en-US" sz="2800" dirty="0" smtClean="0">
                <a:latin typeface="Times New Roman" pitchFamily="18" charset="0"/>
                <a:cs typeface="Times New Roman" pitchFamily="18" charset="0"/>
              </a:rPr>
              <a:t>After all infected birds have been removed and no new cases occur, build another chicken house on a new site.</a:t>
            </a:r>
          </a:p>
          <a:p>
            <a:pPr algn="just"/>
            <a:r>
              <a:rPr lang="en-GB" sz="2800" dirty="0" err="1" smtClean="0">
                <a:latin typeface="Times New Roman" pitchFamily="18" charset="0"/>
                <a:cs typeface="Times New Roman" pitchFamily="18" charset="0"/>
              </a:rPr>
              <a:t>Fowlpox</a:t>
            </a:r>
            <a:r>
              <a:rPr lang="en-GB" sz="2800" dirty="0" smtClean="0">
                <a:latin typeface="Times New Roman" pitchFamily="18" charset="0"/>
                <a:cs typeface="Times New Roman" pitchFamily="18" charset="0"/>
              </a:rPr>
              <a:t> and </a:t>
            </a:r>
            <a:r>
              <a:rPr lang="en-GB" sz="2800" dirty="0" err="1" smtClean="0">
                <a:latin typeface="Times New Roman" pitchFamily="18" charset="0"/>
                <a:cs typeface="Times New Roman" pitchFamily="18" charset="0"/>
              </a:rPr>
              <a:t>pigeonpox</a:t>
            </a:r>
            <a:r>
              <a:rPr lang="en-GB" sz="2800" dirty="0" smtClean="0">
                <a:latin typeface="Times New Roman" pitchFamily="18" charset="0"/>
                <a:cs typeface="Times New Roman" pitchFamily="18" charset="0"/>
              </a:rPr>
              <a:t> virus vaccines of chicken embryo or cell culture origin are available.</a:t>
            </a:r>
          </a:p>
          <a:p>
            <a:pPr algn="just"/>
            <a:r>
              <a:rPr lang="en-GB" sz="2800" dirty="0" smtClean="0">
                <a:latin typeface="Times New Roman" pitchFamily="18" charset="0"/>
                <a:cs typeface="Times New Roman" pitchFamily="18" charset="0"/>
              </a:rPr>
              <a:t> The vaccines are used in susceptible flocks where the disease has been endemic or has been diagnosed in previous flocks</a:t>
            </a:r>
          </a:p>
          <a:p>
            <a:pPr algn="just"/>
            <a:r>
              <a:rPr lang="en-GB" sz="2800" dirty="0" smtClean="0">
                <a:latin typeface="Times New Roman" pitchFamily="18" charset="0"/>
                <a:cs typeface="Times New Roman" pitchFamily="18" charset="0"/>
              </a:rPr>
              <a:t>No </a:t>
            </a:r>
            <a:r>
              <a:rPr lang="en-GB" sz="2800" dirty="0" err="1" smtClean="0">
                <a:latin typeface="Times New Roman" pitchFamily="18" charset="0"/>
                <a:cs typeface="Times New Roman" pitchFamily="18" charset="0"/>
              </a:rPr>
              <a:t>zoonotic</a:t>
            </a:r>
            <a:r>
              <a:rPr lang="en-GB" sz="2800" dirty="0" smtClean="0">
                <a:latin typeface="Times New Roman" pitchFamily="18" charset="0"/>
                <a:cs typeface="Times New Roman" pitchFamily="18" charset="0"/>
              </a:rPr>
              <a:t> risk.</a:t>
            </a:r>
            <a:endParaRPr lang="en-US" sz="2800" dirty="0" smtClean="0">
              <a:latin typeface="Times New Roman" pitchFamily="18" charset="0"/>
              <a:cs typeface="Times New Roman" pitchFamily="18" charset="0"/>
            </a:endParaRPr>
          </a:p>
          <a:p>
            <a:pPr algn="just"/>
            <a:endParaRPr lang="en-US" sz="2800" dirty="0">
              <a:latin typeface="Times New Roman" pitchFamily="18" charset="0"/>
              <a:cs typeface="Times New Roman"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1302</TotalTime>
  <Words>2455</Words>
  <Application>Microsoft Office PowerPoint</Application>
  <PresentationFormat>On-screen Show (4:3)</PresentationFormat>
  <Paragraphs>240</Paragraphs>
  <Slides>41</Slides>
  <Notes>15</Notes>
  <HiddenSlides>0</HiddenSlides>
  <MMClips>0</MMClips>
  <ScaleCrop>false</ScaleCrop>
  <HeadingPairs>
    <vt:vector size="4" baseType="variant">
      <vt:variant>
        <vt:lpstr>Theme</vt:lpstr>
      </vt:variant>
      <vt:variant>
        <vt:i4>1</vt:i4>
      </vt:variant>
      <vt:variant>
        <vt:lpstr>Slide Titles</vt:lpstr>
      </vt:variant>
      <vt:variant>
        <vt:i4>41</vt:i4>
      </vt:variant>
    </vt:vector>
  </HeadingPairs>
  <TitlesOfParts>
    <vt:vector size="42" baseType="lpstr">
      <vt:lpstr>Office Theme</vt:lpstr>
      <vt:lpstr>Poxviridae</vt:lpstr>
      <vt:lpstr>Slide 2</vt:lpstr>
      <vt:lpstr>Classification</vt:lpstr>
      <vt:lpstr>Slide 4</vt:lpstr>
      <vt:lpstr>Virus Morphology</vt:lpstr>
      <vt:lpstr>Slide 6</vt:lpstr>
      <vt:lpstr>Slide 7</vt:lpstr>
      <vt:lpstr>Viral Genome</vt:lpstr>
      <vt:lpstr>Slide 9</vt:lpstr>
      <vt:lpstr>Slide 10</vt:lpstr>
      <vt:lpstr>Replication</vt:lpstr>
      <vt:lpstr>Slide 12</vt:lpstr>
      <vt:lpstr>Slide 13</vt:lpstr>
      <vt:lpstr>Slide 14</vt:lpstr>
      <vt:lpstr>Slide 15</vt:lpstr>
      <vt:lpstr>Slide 16</vt:lpstr>
      <vt:lpstr>Transmission </vt:lpstr>
      <vt:lpstr>Skin lesions</vt:lpstr>
      <vt:lpstr>Cow/Buffalo Pox</vt:lpstr>
      <vt:lpstr>Pseudocowpox</vt:lpstr>
      <vt:lpstr>Slide 21</vt:lpstr>
      <vt:lpstr>Orf (Contagious Pustular dermatitis, Contagious Ecthyma, Scabby Mouth)</vt:lpstr>
      <vt:lpstr>Slide 23</vt:lpstr>
      <vt:lpstr>Slide 24</vt:lpstr>
      <vt:lpstr>Lumpy skin disease (LSD)</vt:lpstr>
      <vt:lpstr>LSD</vt:lpstr>
      <vt:lpstr>Slide 27</vt:lpstr>
      <vt:lpstr>Sheep &amp; goat Pox</vt:lpstr>
      <vt:lpstr>Slide 29</vt:lpstr>
      <vt:lpstr>Lesions </vt:lpstr>
      <vt:lpstr>Prevention </vt:lpstr>
      <vt:lpstr>Control and Eradication</vt:lpstr>
      <vt:lpstr>Control and Eradication</vt:lpstr>
      <vt:lpstr>Disinfection</vt:lpstr>
      <vt:lpstr>Vaccination</vt:lpstr>
      <vt:lpstr>Fowl Pox</vt:lpstr>
      <vt:lpstr>Clinical Signs </vt:lpstr>
      <vt:lpstr>Slide 38</vt:lpstr>
      <vt:lpstr>Slide 39</vt:lpstr>
      <vt:lpstr>Diagnosis </vt:lpstr>
      <vt:lpstr>Prevention and Control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Poxviridae</dc:title>
  <dc:creator>hp</dc:creator>
  <cp:lastModifiedBy>RATHORE</cp:lastModifiedBy>
  <cp:revision>132</cp:revision>
  <dcterms:created xsi:type="dcterms:W3CDTF">2009-04-22T10:06:16Z</dcterms:created>
  <dcterms:modified xsi:type="dcterms:W3CDTF">2025-04-15T09:45:06Z</dcterms:modified>
</cp:coreProperties>
</file>