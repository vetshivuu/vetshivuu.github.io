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B83C0C7-668C-47E6-A587-7324F5696D58}" type="datetimeFigureOut">
              <a:rPr lang="en-US" smtClean="0"/>
              <a:pPr/>
              <a:t>7/6/2022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99D0C4B-3B56-4B78-B972-36E9EBBA67A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mtClean="0"/>
              <a:t>FUNGAL DISEASES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FUNGAL DISEASES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Tissue invasion                    Mycoses</a:t>
            </a:r>
          </a:p>
          <a:p>
            <a:endParaRPr lang="en-US" dirty="0" smtClean="0"/>
          </a:p>
          <a:p>
            <a:r>
              <a:rPr lang="en-US" dirty="0" smtClean="0"/>
              <a:t>Toxin production                 </a:t>
            </a:r>
            <a:r>
              <a:rPr lang="en-US" dirty="0" err="1" smtClean="0"/>
              <a:t>Mycotoxicosis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Induction of hyper sensitivity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581400" y="16764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581400" y="2665412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MYCOSES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09600" y="2362200"/>
          <a:ext cx="8305800" cy="361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2900"/>
                <a:gridCol w="4152900"/>
              </a:tblGrid>
              <a:tr h="600985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Category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Sites</a:t>
                      </a:r>
                      <a:r>
                        <a:rPr lang="en-US" sz="2800" baseline="0" dirty="0" smtClean="0"/>
                        <a:t> of lesions</a:t>
                      </a:r>
                      <a:endParaRPr lang="en-US" sz="2800" dirty="0"/>
                    </a:p>
                  </a:txBody>
                  <a:tcPr/>
                </a:tc>
              </a:tr>
              <a:tr h="1037315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Superficial mycoses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Epidermis, other keratinized structures</a:t>
                      </a:r>
                      <a:r>
                        <a:rPr lang="en-US" sz="2800" baseline="0" dirty="0" smtClean="0"/>
                        <a:t> and mucous membrane</a:t>
                      </a:r>
                      <a:endParaRPr lang="en-US" sz="2800" dirty="0"/>
                    </a:p>
                  </a:txBody>
                  <a:tcPr/>
                </a:tc>
              </a:tr>
              <a:tr h="600985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Subcutaneous mycoses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Subcutaneous tissues</a:t>
                      </a:r>
                      <a:endParaRPr lang="en-US" sz="2800" dirty="0"/>
                    </a:p>
                  </a:txBody>
                  <a:tcPr/>
                </a:tc>
              </a:tr>
              <a:tr h="1037315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Systemic mycoses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Respiratory and digestive tract and other organ systems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098" name="Picture 2" descr="Image result for systemic mycoses diseas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4300" y="609599"/>
            <a:ext cx="4000500" cy="1143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Factors predispose to fungal invasion of tissues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Immunosuppression</a:t>
            </a:r>
            <a:endParaRPr lang="en-US" dirty="0" smtClean="0"/>
          </a:p>
          <a:p>
            <a:r>
              <a:rPr lang="en-US" dirty="0" smtClean="0"/>
              <a:t>Prolonged antibiotic therapy</a:t>
            </a:r>
          </a:p>
          <a:p>
            <a:r>
              <a:rPr lang="en-US" dirty="0" smtClean="0"/>
              <a:t>Immunological defects</a:t>
            </a:r>
          </a:p>
          <a:p>
            <a:r>
              <a:rPr lang="en-US" dirty="0" smtClean="0"/>
              <a:t>Immaturity, ageing and malnutrition</a:t>
            </a:r>
          </a:p>
          <a:p>
            <a:r>
              <a:rPr lang="en-US" dirty="0" smtClean="0"/>
              <a:t>Exposure to heavy challenge of fungal spores</a:t>
            </a:r>
          </a:p>
          <a:p>
            <a:r>
              <a:rPr lang="en-US" dirty="0" smtClean="0"/>
              <a:t>Traumatized tissues</a:t>
            </a:r>
          </a:p>
          <a:p>
            <a:r>
              <a:rPr lang="en-US" dirty="0" smtClean="0"/>
              <a:t>Persistent moisture on skin surface</a:t>
            </a:r>
          </a:p>
          <a:p>
            <a:r>
              <a:rPr lang="en-US" dirty="0" smtClean="0"/>
              <a:t>Some </a:t>
            </a:r>
            <a:r>
              <a:rPr lang="en-US" dirty="0" err="1" smtClean="0"/>
              <a:t>neoplastic</a:t>
            </a:r>
            <a:r>
              <a:rPr lang="en-US" dirty="0" smtClean="0"/>
              <a:t> conditions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 of Fungal Diseases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Clinical signs and history ( </a:t>
            </a:r>
            <a:r>
              <a:rPr lang="en-US" dirty="0" err="1" smtClean="0">
                <a:solidFill>
                  <a:srgbClr val="FF0000"/>
                </a:solidFill>
              </a:rPr>
              <a:t>dermatophytes</a:t>
            </a:r>
            <a:r>
              <a:rPr lang="en-US" dirty="0" smtClean="0"/>
              <a:t>)</a:t>
            </a:r>
          </a:p>
          <a:p>
            <a:r>
              <a:rPr lang="en-US" dirty="0" smtClean="0"/>
              <a:t>Hair and skin scrapping in superficial mycoses</a:t>
            </a:r>
          </a:p>
          <a:p>
            <a:r>
              <a:rPr lang="en-US" dirty="0" smtClean="0"/>
              <a:t>Biopsy or post mortem specimens in subcutaneous and systemic mycoses</a:t>
            </a:r>
          </a:p>
          <a:p>
            <a:r>
              <a:rPr lang="en-US" dirty="0" smtClean="0"/>
              <a:t>Specimens should be collected from the periphery of active lesions</a:t>
            </a:r>
            <a:endParaRPr lang="en-US" dirty="0"/>
          </a:p>
        </p:txBody>
      </p:sp>
      <p:pic>
        <p:nvPicPr>
          <p:cNvPr id="1026" name="Picture 2" descr="Image result for ring wor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3914774"/>
            <a:ext cx="3048000" cy="20288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Direct microscopic examination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   In ring worm </a:t>
            </a:r>
            <a:r>
              <a:rPr lang="en-US" dirty="0" err="1" smtClean="0"/>
              <a:t>anthrosprores</a:t>
            </a:r>
            <a:r>
              <a:rPr lang="en-US" dirty="0" smtClean="0"/>
              <a:t> </a:t>
            </a:r>
            <a:r>
              <a:rPr lang="en-US" dirty="0" err="1" smtClean="0"/>
              <a:t>sorrounding</a:t>
            </a:r>
            <a:r>
              <a:rPr lang="en-US" dirty="0" smtClean="0"/>
              <a:t> infected hair or </a:t>
            </a:r>
            <a:r>
              <a:rPr lang="en-US" dirty="0" err="1" smtClean="0"/>
              <a:t>hypahae</a:t>
            </a:r>
            <a:r>
              <a:rPr lang="en-US" dirty="0" smtClean="0"/>
              <a:t> in infected tissue may be demonstrable in </a:t>
            </a:r>
            <a:r>
              <a:rPr lang="en-US" dirty="0" smtClean="0">
                <a:solidFill>
                  <a:srgbClr val="FF0000"/>
                </a:solidFill>
              </a:rPr>
              <a:t>10% KOH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Cryptococcus </a:t>
            </a:r>
            <a:r>
              <a:rPr lang="en-US" dirty="0" err="1" smtClean="0">
                <a:solidFill>
                  <a:srgbClr val="FF0000"/>
                </a:solidFill>
              </a:rPr>
              <a:t>neoformans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can be demonstrated in cerebrospinal fluid India ink or </a:t>
            </a:r>
            <a:r>
              <a:rPr lang="en-US" dirty="0" err="1" smtClean="0"/>
              <a:t>Nigrosin</a:t>
            </a:r>
            <a:r>
              <a:rPr lang="en-US" dirty="0" smtClean="0"/>
              <a:t>, as budding cells with wide capsules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 smtClean="0"/>
              <a:t>Sporing</a:t>
            </a:r>
            <a:r>
              <a:rPr lang="en-US" dirty="0" smtClean="0"/>
              <a:t> heads of </a:t>
            </a:r>
            <a:r>
              <a:rPr lang="en-US" dirty="0" err="1" smtClean="0"/>
              <a:t>Aspergillus</a:t>
            </a:r>
            <a:r>
              <a:rPr lang="en-US" dirty="0" smtClean="0"/>
              <a:t>, </a:t>
            </a:r>
            <a:r>
              <a:rPr lang="en-US" dirty="0" err="1" smtClean="0"/>
              <a:t>Penicillium</a:t>
            </a:r>
            <a:r>
              <a:rPr lang="en-US" dirty="0" smtClean="0"/>
              <a:t>   by staining with </a:t>
            </a:r>
            <a:r>
              <a:rPr lang="en-US" dirty="0" err="1" smtClean="0">
                <a:solidFill>
                  <a:srgbClr val="C00000"/>
                </a:solidFill>
              </a:rPr>
              <a:t>Lactophenol</a:t>
            </a:r>
            <a:r>
              <a:rPr lang="en-US" dirty="0" smtClean="0">
                <a:solidFill>
                  <a:srgbClr val="C00000"/>
                </a:solidFill>
              </a:rPr>
              <a:t> cotton blue stain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</a:rPr>
              <a:t>Slide culture technique and transparent </a:t>
            </a:r>
            <a:r>
              <a:rPr lang="en-US" dirty="0" err="1" smtClean="0">
                <a:solidFill>
                  <a:srgbClr val="C00000"/>
                </a:solidFill>
              </a:rPr>
              <a:t>adhesisve</a:t>
            </a:r>
            <a:r>
              <a:rPr lang="en-US" dirty="0" smtClean="0">
                <a:solidFill>
                  <a:srgbClr val="C00000"/>
                </a:solidFill>
              </a:rPr>
              <a:t> tape technique</a:t>
            </a:r>
          </a:p>
          <a:p>
            <a:r>
              <a:rPr lang="en-US" dirty="0" smtClean="0"/>
              <a:t>Yeast cells can be stained with </a:t>
            </a:r>
            <a:r>
              <a:rPr lang="en-US" dirty="0" err="1" smtClean="0"/>
              <a:t>methylene</a:t>
            </a:r>
            <a:r>
              <a:rPr lang="en-US" dirty="0" smtClean="0"/>
              <a:t> blue or by the</a:t>
            </a:r>
          </a:p>
          <a:p>
            <a:pPr>
              <a:buNone/>
            </a:pPr>
            <a:r>
              <a:rPr lang="en-US" dirty="0" smtClean="0"/>
              <a:t>   Gram method.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 descr="Image result for arthrospres of dermatophyt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6" name="AutoShape 4" descr="Image result for arthrospres of dermatophyt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438" name="Picture 6" descr="Image result for arthrospres of dermatophyt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228724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 descr="Image result for cryptococcus neoformans india in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Image result for cryptococcus neoformans india in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Image result for cryptococcus neoformans india in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8" name="AutoShape 8" descr="Image result for cryptococcus neoformans india in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Image result for cryptococcus neoformans india in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Image result for cryptococcus neoformans india in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493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769257"/>
            <a:ext cx="5943600" cy="4717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8600"/>
            <a:ext cx="4917294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 descr="Image result for penicillium notatum lactophenol stai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3581400"/>
            <a:ext cx="4156364" cy="27432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5638800" y="5421868"/>
            <a:ext cx="1121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Penicillium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68778" y="2514600"/>
            <a:ext cx="1117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Aspergillus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CULTURE TECHNIQUE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One plate of nutrient agar; potato dextrose is recommended</a:t>
            </a:r>
          </a:p>
          <a:p>
            <a:r>
              <a:rPr lang="en-US" dirty="0" smtClean="0"/>
              <a:t>some fastidious </a:t>
            </a:r>
            <a:r>
              <a:rPr lang="en-US" dirty="0" err="1" smtClean="0"/>
              <a:t>fung</a:t>
            </a:r>
            <a:r>
              <a:rPr lang="en-US" dirty="0" smtClean="0"/>
              <a:t> </a:t>
            </a:r>
            <a:r>
              <a:rPr lang="en-US" dirty="0" err="1" smtClean="0"/>
              <a:t>imay</a:t>
            </a:r>
            <a:r>
              <a:rPr lang="en-US" dirty="0" smtClean="0"/>
              <a:t> require harsher media to induce </a:t>
            </a:r>
            <a:r>
              <a:rPr lang="en-US" dirty="0" err="1" smtClean="0"/>
              <a:t>sporulation</a:t>
            </a:r>
            <a:r>
              <a:rPr lang="en-US" dirty="0" smtClean="0"/>
              <a:t> like corn meal agar or </a:t>
            </a:r>
            <a:r>
              <a:rPr lang="en-US" dirty="0" err="1" smtClean="0"/>
              <a:t>Czapek</a:t>
            </a:r>
            <a:r>
              <a:rPr lang="en-US" dirty="0" smtClean="0"/>
              <a:t> </a:t>
            </a:r>
            <a:r>
              <a:rPr lang="en-US" dirty="0" err="1" smtClean="0"/>
              <a:t>dox</a:t>
            </a:r>
            <a:r>
              <a:rPr lang="en-US" dirty="0" smtClean="0"/>
              <a:t> agar.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26626" name="Picture 2" descr="Image result for slide culture technique 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5775" y="2743200"/>
            <a:ext cx="4721225" cy="35446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CULTURE PREPARATIONS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Using a sterile blade cut out an agar block (7 x 7 mm) small enough to fit under a </a:t>
            </a:r>
            <a:r>
              <a:rPr lang="en-US" dirty="0" err="1" smtClean="0"/>
              <a:t>coverslip</a:t>
            </a:r>
            <a:r>
              <a:rPr lang="en-US" dirty="0" smtClean="0"/>
              <a:t>. </a:t>
            </a:r>
          </a:p>
          <a:p>
            <a:r>
              <a:rPr lang="en-US" dirty="0" smtClean="0"/>
              <a:t> Flip the block up onto the surface of the agar plate. </a:t>
            </a:r>
          </a:p>
          <a:p>
            <a:r>
              <a:rPr lang="en-US" dirty="0" smtClean="0"/>
              <a:t> Inoculate the four sides of the agar block with spores or </a:t>
            </a:r>
            <a:r>
              <a:rPr lang="en-US" dirty="0" err="1" smtClean="0"/>
              <a:t>mycelial</a:t>
            </a:r>
            <a:r>
              <a:rPr lang="en-US" dirty="0" smtClean="0"/>
              <a:t> fragments of the fungus to be grown.</a:t>
            </a:r>
          </a:p>
          <a:p>
            <a:r>
              <a:rPr lang="en-US" dirty="0" smtClean="0"/>
              <a:t> Place a flamed </a:t>
            </a:r>
            <a:r>
              <a:rPr lang="en-US" dirty="0" err="1" smtClean="0"/>
              <a:t>coverslip</a:t>
            </a:r>
            <a:r>
              <a:rPr lang="en-US" dirty="0" smtClean="0"/>
              <a:t> centrally upon the agar block.</a:t>
            </a:r>
          </a:p>
          <a:p>
            <a:r>
              <a:rPr lang="en-US" dirty="0" smtClean="0"/>
              <a:t> Incubate the plate at 26C until growth and </a:t>
            </a:r>
            <a:r>
              <a:rPr lang="en-US" dirty="0" err="1" smtClean="0"/>
              <a:t>sporulation</a:t>
            </a:r>
            <a:r>
              <a:rPr lang="en-US" dirty="0" smtClean="0"/>
              <a:t> have occurred.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CULTURE PREPARATIONS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Remove the cover slip from the agar block.</a:t>
            </a:r>
          </a:p>
          <a:p>
            <a:r>
              <a:rPr lang="en-US" dirty="0" smtClean="0"/>
              <a:t> Apply a drop of 95% alcohol as a wetting agent.</a:t>
            </a:r>
          </a:p>
          <a:p>
            <a:r>
              <a:rPr lang="en-US" dirty="0" smtClean="0"/>
              <a:t> Gently lower the </a:t>
            </a:r>
            <a:r>
              <a:rPr lang="en-US" dirty="0" err="1" smtClean="0"/>
              <a:t>coverslip</a:t>
            </a:r>
            <a:r>
              <a:rPr lang="en-US" dirty="0" smtClean="0"/>
              <a:t> onto a small drop of Lacto </a:t>
            </a:r>
            <a:r>
              <a:rPr lang="en-US" dirty="0" err="1" smtClean="0"/>
              <a:t>phenolcotton</a:t>
            </a:r>
            <a:r>
              <a:rPr lang="en-US" dirty="0" smtClean="0"/>
              <a:t> blue on a clean glass slide.</a:t>
            </a:r>
          </a:p>
          <a:p>
            <a:r>
              <a:rPr lang="en-US" dirty="0" smtClean="0"/>
              <a:t> The slide can be left overnight to dry and later sealed with finger nail polish.</a:t>
            </a:r>
          </a:p>
          <a:p>
            <a:r>
              <a:rPr lang="en-US" dirty="0" smtClean="0"/>
              <a:t> When sealing with nail polish use a coat of clear polish followed by one coat of red </a:t>
            </a:r>
            <a:r>
              <a:rPr lang="en-US" dirty="0" err="1" smtClean="0"/>
              <a:t>Coloured</a:t>
            </a:r>
            <a:r>
              <a:rPr lang="en-US" dirty="0" smtClean="0"/>
              <a:t> polish.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 for Slide 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Most moulds will yield good results , but a few present extra difficulties. The most problematic are those that tend to disintegrate as soon as they are mounted</a:t>
            </a:r>
          </a:p>
          <a:p>
            <a:r>
              <a:rPr lang="en-US" dirty="0" smtClean="0"/>
              <a:t> Species of </a:t>
            </a:r>
            <a:r>
              <a:rPr lang="en-US" dirty="0" err="1" smtClean="0"/>
              <a:t>Cladosporium</a:t>
            </a:r>
            <a:r>
              <a:rPr lang="en-US" dirty="0" smtClean="0"/>
              <a:t>, </a:t>
            </a:r>
            <a:r>
              <a:rPr lang="en-US" dirty="0" err="1" smtClean="0"/>
              <a:t>Monilia</a:t>
            </a:r>
            <a:r>
              <a:rPr lang="en-US" dirty="0" smtClean="0"/>
              <a:t>, and </a:t>
            </a:r>
            <a:r>
              <a:rPr lang="en-US" dirty="0" err="1" smtClean="0"/>
              <a:t>Alternaria</a:t>
            </a:r>
            <a:r>
              <a:rPr lang="en-US" dirty="0" smtClean="0"/>
              <a:t> have spores connected in very fragile chains that can fall apart at the slightest movement of air. </a:t>
            </a:r>
          </a:p>
          <a:p>
            <a:r>
              <a:rPr lang="en-US" dirty="0" smtClean="0"/>
              <a:t>Mounts of these fungi invariably reveal only loose spores and a network of </a:t>
            </a:r>
            <a:r>
              <a:rPr lang="en-US" dirty="0" err="1" smtClean="0"/>
              <a:t>hyphae</a:t>
            </a:r>
            <a:r>
              <a:rPr lang="en-US" dirty="0" smtClean="0"/>
              <a:t>. To overcome this problem it is useful to set up slide cultures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" descr="Image result for slide culture technique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676400"/>
            <a:ext cx="8763000" cy="4138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Fungi are usually isolated on </a:t>
            </a:r>
            <a:r>
              <a:rPr lang="en-US" dirty="0" err="1" smtClean="0"/>
              <a:t>Sabouraud</a:t>
            </a:r>
            <a:r>
              <a:rPr lang="en-US" dirty="0" smtClean="0"/>
              <a:t> dextrose agar (pH 5.5) which inhibits growth of most bacteria.</a:t>
            </a:r>
          </a:p>
          <a:p>
            <a:pPr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The addition of </a:t>
            </a:r>
            <a:r>
              <a:rPr lang="en-US" dirty="0" err="1" smtClean="0"/>
              <a:t>chloramphenicol</a:t>
            </a:r>
            <a:r>
              <a:rPr lang="en-US" dirty="0" smtClean="0"/>
              <a:t> and </a:t>
            </a:r>
            <a:r>
              <a:rPr lang="en-US" dirty="0" err="1" smtClean="0"/>
              <a:t>cycloheximide</a:t>
            </a:r>
            <a:r>
              <a:rPr lang="en-US" dirty="0" smtClean="0"/>
              <a:t> increases selectivity by inhibiting some of the fast-growing contaminating fungi such as the </a:t>
            </a:r>
            <a:r>
              <a:rPr lang="en-US" dirty="0" err="1" smtClean="0"/>
              <a:t>zygomycetes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 stimulate growth of the yeast phase of dimorphic fungi, enriched media, such as brain–heart infusion agar with 5%</a:t>
            </a:r>
          </a:p>
          <a:p>
            <a:pPr>
              <a:buNone/>
            </a:pPr>
            <a:r>
              <a:rPr lang="en-US" dirty="0" smtClean="0"/>
              <a:t>    blood, and incubation at 37°C are required.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HISTOPATHOLOGY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Histopathological</a:t>
            </a:r>
            <a:r>
              <a:rPr lang="en-US" dirty="0" smtClean="0"/>
              <a:t> demonstration of fungal </a:t>
            </a:r>
            <a:r>
              <a:rPr lang="en-US" dirty="0" err="1" smtClean="0"/>
              <a:t>hyphae</a:t>
            </a:r>
            <a:r>
              <a:rPr lang="en-US" dirty="0" smtClean="0"/>
              <a:t> or yeast forms is usually necessary for confirmation of the significance of isolates from deep </a:t>
            </a:r>
            <a:r>
              <a:rPr lang="en-US" dirty="0" err="1" smtClean="0"/>
              <a:t>mycotic</a:t>
            </a:r>
            <a:r>
              <a:rPr lang="en-US" dirty="0" smtClean="0"/>
              <a:t> infections.</a:t>
            </a:r>
          </a:p>
          <a:p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periodic acid- Schiff (PAS) reaction or </a:t>
            </a:r>
            <a:r>
              <a:rPr lang="en-US" dirty="0" err="1" smtClean="0">
                <a:solidFill>
                  <a:srgbClr val="FF0000"/>
                </a:solidFill>
              </a:rPr>
              <a:t>methenamine</a:t>
            </a:r>
            <a:r>
              <a:rPr lang="en-US" dirty="0" smtClean="0">
                <a:solidFill>
                  <a:srgbClr val="FF0000"/>
                </a:solidFill>
              </a:rPr>
              <a:t> silver impregnation </a:t>
            </a:r>
            <a:r>
              <a:rPr lang="en-US" dirty="0" smtClean="0"/>
              <a:t>can be used to demonstrate fungal</a:t>
            </a:r>
          </a:p>
          <a:p>
            <a:pPr>
              <a:buNone/>
            </a:pPr>
            <a:r>
              <a:rPr lang="en-US" dirty="0" smtClean="0"/>
              <a:t>    elements in tissue sections.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DERMATOPHYTES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dirty="0" smtClean="0"/>
              <a:t>invade superficial keratinized structures such as skin, hair and claws.</a:t>
            </a:r>
          </a:p>
          <a:p>
            <a:r>
              <a:rPr lang="en-US" dirty="0" smtClean="0"/>
              <a:t>Members of the phylum </a:t>
            </a:r>
            <a:r>
              <a:rPr lang="en-US" i="1" dirty="0" err="1" smtClean="0"/>
              <a:t>Ascomycota</a:t>
            </a:r>
            <a:endParaRPr lang="en-US" i="1" dirty="0" smtClean="0"/>
          </a:p>
          <a:p>
            <a:r>
              <a:rPr lang="en-US" i="1" dirty="0" err="1" smtClean="0"/>
              <a:t>Microsporum</a:t>
            </a:r>
            <a:r>
              <a:rPr lang="en-US" i="1" dirty="0" smtClean="0"/>
              <a:t>, </a:t>
            </a:r>
            <a:r>
              <a:rPr lang="en-US" i="1" dirty="0" err="1" smtClean="0"/>
              <a:t>Trichophyton</a:t>
            </a:r>
            <a:r>
              <a:rPr lang="en-US" i="1" dirty="0" smtClean="0"/>
              <a:t> and </a:t>
            </a:r>
            <a:r>
              <a:rPr lang="en-US" i="1" dirty="0" err="1" smtClean="0"/>
              <a:t>Epidermophyton</a:t>
            </a:r>
            <a:endParaRPr lang="en-US" i="1" dirty="0" smtClean="0"/>
          </a:p>
          <a:p>
            <a:r>
              <a:rPr lang="en-US" dirty="0" err="1" smtClean="0">
                <a:solidFill>
                  <a:srgbClr val="FF0000"/>
                </a:solidFill>
              </a:rPr>
              <a:t>Arthrospores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en-US" dirty="0" err="1" smtClean="0">
                <a:solidFill>
                  <a:srgbClr val="FF0000"/>
                </a:solidFill>
              </a:rPr>
              <a:t>arthroconidia</a:t>
            </a:r>
            <a:r>
              <a:rPr lang="en-US" dirty="0" smtClean="0"/>
              <a:t>) are the infectious forms most often associated with tissue invasion by this group of fungi. They are released by fragmentation of </a:t>
            </a:r>
            <a:r>
              <a:rPr lang="en-US" dirty="0" err="1" smtClean="0"/>
              <a:t>hyphae</a:t>
            </a:r>
            <a:r>
              <a:rPr lang="en-US" dirty="0" smtClean="0"/>
              <a:t> in keratinized structures. </a:t>
            </a:r>
          </a:p>
          <a:p>
            <a:r>
              <a:rPr lang="en-US" dirty="0" smtClean="0"/>
              <a:t>These resistant forms can remain viable for more than </a:t>
            </a:r>
            <a:r>
              <a:rPr lang="en-US" dirty="0" smtClean="0">
                <a:solidFill>
                  <a:srgbClr val="FF0000"/>
                </a:solidFill>
              </a:rPr>
              <a:t>12 months</a:t>
            </a:r>
            <a:r>
              <a:rPr lang="en-US" dirty="0" smtClean="0"/>
              <a:t> in suitable environments in buildings.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Dermatophytes</a:t>
            </a:r>
            <a:r>
              <a:rPr lang="en-US" dirty="0" smtClean="0"/>
              <a:t> are strict aerobes, most of which grow slowly on standard </a:t>
            </a:r>
            <a:r>
              <a:rPr lang="en-US" dirty="0" err="1" smtClean="0">
                <a:solidFill>
                  <a:srgbClr val="FF0000"/>
                </a:solidFill>
              </a:rPr>
              <a:t>Sabouraud</a:t>
            </a:r>
            <a:r>
              <a:rPr lang="en-US" dirty="0" smtClean="0">
                <a:solidFill>
                  <a:srgbClr val="FF0000"/>
                </a:solidFill>
              </a:rPr>
              <a:t> dextrose agar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Afew</a:t>
            </a:r>
            <a:r>
              <a:rPr lang="en-US" dirty="0" smtClean="0"/>
              <a:t> require special growth factors which are supplied by the addition of yeast extract to the </a:t>
            </a:r>
            <a:r>
              <a:rPr lang="en-US" dirty="0" err="1" smtClean="0"/>
              <a:t>Sabouraud</a:t>
            </a:r>
            <a:r>
              <a:rPr lang="en-US" dirty="0" smtClean="0"/>
              <a:t> dextrose agar. 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Macroconidia</a:t>
            </a:r>
            <a:r>
              <a:rPr lang="en-US" dirty="0" smtClean="0">
                <a:solidFill>
                  <a:srgbClr val="FF0000"/>
                </a:solidFill>
              </a:rPr>
              <a:t> and </a:t>
            </a:r>
            <a:r>
              <a:rPr lang="en-US" dirty="0" err="1" smtClean="0">
                <a:solidFill>
                  <a:srgbClr val="FF0000"/>
                </a:solidFill>
              </a:rPr>
              <a:t>microconidia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are produced in culture</a:t>
            </a:r>
          </a:p>
          <a:p>
            <a:r>
              <a:rPr lang="en-US" dirty="0" smtClean="0"/>
              <a:t>The colonies of many </a:t>
            </a:r>
            <a:r>
              <a:rPr lang="en-US" dirty="0" err="1" smtClean="0"/>
              <a:t>dermatophytes</a:t>
            </a:r>
            <a:r>
              <a:rPr lang="en-US" dirty="0" smtClean="0"/>
              <a:t> are pigmented.</a:t>
            </a:r>
          </a:p>
          <a:p>
            <a:r>
              <a:rPr lang="en-US" dirty="0" smtClean="0"/>
              <a:t> Colonial morphology and the type of </a:t>
            </a:r>
            <a:r>
              <a:rPr lang="en-US" dirty="0" err="1" smtClean="0"/>
              <a:t>macroconidia</a:t>
            </a:r>
            <a:r>
              <a:rPr lang="en-US" dirty="0" smtClean="0"/>
              <a:t> produced are used for identification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Dermatophytes</a:t>
            </a:r>
            <a:r>
              <a:rPr lang="en-US" sz="2400" dirty="0" smtClean="0"/>
              <a:t> grouped according to host preference or habitat</a:t>
            </a:r>
            <a:endParaRPr lang="en-US" sz="2400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5869" y="1905000"/>
            <a:ext cx="7711117" cy="276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4992" y="1343024"/>
            <a:ext cx="6509772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2113" y="2357438"/>
            <a:ext cx="581977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52788" y="2733675"/>
            <a:ext cx="263842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676400" y="4419600"/>
            <a:ext cx="6762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</a:t>
            </a:r>
            <a:r>
              <a:rPr lang="en-US" dirty="0" err="1"/>
              <a:t>dermatophytes</a:t>
            </a:r>
            <a:r>
              <a:rPr lang="en-US" dirty="0"/>
              <a:t> such as </a:t>
            </a:r>
            <a:r>
              <a:rPr lang="en-US" i="1" dirty="0"/>
              <a:t>M. </a:t>
            </a:r>
            <a:r>
              <a:rPr lang="en-US" i="1" dirty="0" err="1"/>
              <a:t>canis</a:t>
            </a:r>
            <a:r>
              <a:rPr lang="en-US" i="1" dirty="0"/>
              <a:t> and T. </a:t>
            </a:r>
            <a:r>
              <a:rPr lang="en-US" i="1" dirty="0" err="1"/>
              <a:t>mentagrophytes</a:t>
            </a:r>
            <a:r>
              <a:rPr lang="en-US" i="1" dirty="0"/>
              <a:t> produce this</a:t>
            </a:r>
          </a:p>
          <a:p>
            <a:r>
              <a:rPr lang="en-US" dirty="0"/>
              <a:t>hair perforation pattern.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Pathogenesis and </a:t>
            </a:r>
            <a:r>
              <a:rPr lang="en-US" b="1" dirty="0" err="1" smtClean="0"/>
              <a:t>pathogenicity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 smtClean="0"/>
              <a:t>Dermatophytes</a:t>
            </a:r>
            <a:r>
              <a:rPr lang="en-US" dirty="0" smtClean="0"/>
              <a:t> invade keratinized structures such as the stratum </a:t>
            </a:r>
            <a:r>
              <a:rPr lang="en-US" dirty="0" err="1" smtClean="0"/>
              <a:t>corneum</a:t>
            </a:r>
            <a:r>
              <a:rPr lang="en-US" dirty="0" smtClean="0"/>
              <a:t> of the epidermis, hair</a:t>
            </a:r>
          </a:p>
          <a:p>
            <a:pPr>
              <a:buNone/>
            </a:pPr>
            <a:r>
              <a:rPr lang="en-US" dirty="0" smtClean="0"/>
              <a:t>      follicles, hair shafts and feathers. </a:t>
            </a:r>
          </a:p>
          <a:p>
            <a:r>
              <a:rPr lang="en-US" dirty="0" smtClean="0"/>
              <a:t>      Lesion development is influenced by the virulence of the </a:t>
            </a:r>
            <a:r>
              <a:rPr lang="en-US" dirty="0" err="1" smtClean="0"/>
              <a:t>dermatophyte</a:t>
            </a:r>
            <a:r>
              <a:rPr lang="en-US" dirty="0" smtClean="0"/>
              <a:t> and the immunological competence of the host.  </a:t>
            </a:r>
          </a:p>
          <a:p>
            <a:r>
              <a:rPr lang="en-US" dirty="0" smtClean="0"/>
              <a:t>      Young, aged, debilitated and </a:t>
            </a:r>
            <a:r>
              <a:rPr lang="en-US" dirty="0" err="1" smtClean="0"/>
              <a:t>immunosuppressed</a:t>
            </a:r>
            <a:r>
              <a:rPr lang="en-US" dirty="0" smtClean="0"/>
              <a:t> animals are particularly susceptible to infection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Direct contact with an infected host or indirectly through infected epithelial debris in the environment.</a:t>
            </a:r>
          </a:p>
          <a:p>
            <a:r>
              <a:rPr lang="en-US" dirty="0" smtClean="0"/>
              <a:t>Damp skin surfaces and warmth </a:t>
            </a:r>
            <a:r>
              <a:rPr lang="en-US" dirty="0" err="1" smtClean="0"/>
              <a:t>favour</a:t>
            </a:r>
            <a:r>
              <a:rPr lang="en-US" dirty="0" smtClean="0"/>
              <a:t> germination of spores. 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Metabolic products of </a:t>
            </a:r>
            <a:r>
              <a:rPr lang="en-US" dirty="0" err="1" smtClean="0"/>
              <a:t>hyphal</a:t>
            </a:r>
            <a:r>
              <a:rPr lang="en-US" dirty="0" smtClean="0"/>
              <a:t> growth may provoke a local inflammatory response. </a:t>
            </a:r>
          </a:p>
          <a:p>
            <a:r>
              <a:rPr lang="en-US" dirty="0" err="1" smtClean="0"/>
              <a:t>Hyphae</a:t>
            </a:r>
            <a:r>
              <a:rPr lang="en-US" dirty="0" smtClean="0"/>
              <a:t> grow centrifugally from the initial lesion towards normal skin producing typical ringworm lesions. </a:t>
            </a:r>
          </a:p>
          <a:p>
            <a:r>
              <a:rPr lang="en-US" dirty="0" smtClean="0"/>
              <a:t>Alopecia, tissue repair and nonviable </a:t>
            </a:r>
            <a:r>
              <a:rPr lang="en-US" dirty="0" err="1" smtClean="0"/>
              <a:t>hyphae</a:t>
            </a:r>
            <a:r>
              <a:rPr lang="en-US" dirty="0" smtClean="0"/>
              <a:t> are found at the </a:t>
            </a:r>
            <a:r>
              <a:rPr lang="en-US" dirty="0" err="1" smtClean="0"/>
              <a:t>centres</a:t>
            </a:r>
            <a:r>
              <a:rPr lang="en-US" dirty="0" smtClean="0"/>
              <a:t> of lesions as they develop.  </a:t>
            </a:r>
          </a:p>
          <a:p>
            <a:r>
              <a:rPr lang="en-US" dirty="0" smtClean="0"/>
              <a:t>Growth of </a:t>
            </a:r>
            <a:r>
              <a:rPr lang="en-US" dirty="0" err="1" smtClean="0"/>
              <a:t>hyphae</a:t>
            </a:r>
            <a:r>
              <a:rPr lang="en-US" dirty="0" smtClean="0"/>
              <a:t> can result in epidermal hyperplasia and hyperkeratosis. </a:t>
            </a:r>
          </a:p>
          <a:p>
            <a:r>
              <a:rPr lang="en-US" dirty="0" smtClean="0"/>
              <a:t>Secondary bacterial infection sometimes follows </a:t>
            </a:r>
            <a:r>
              <a:rPr lang="en-US" dirty="0" err="1" smtClean="0"/>
              <a:t>mycotic</a:t>
            </a:r>
            <a:r>
              <a:rPr lang="en-US" dirty="0" smtClean="0"/>
              <a:t> </a:t>
            </a:r>
            <a:r>
              <a:rPr lang="en-US" dirty="0" err="1" smtClean="0"/>
              <a:t>folliculitis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38250"/>
            <a:ext cx="6886575" cy="4672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4000" dirty="0" smtClean="0">
                <a:latin typeface="Arial" pitchFamily="34" charset="0"/>
                <a:cs typeface="Arial" pitchFamily="34" charset="0"/>
              </a:rPr>
              <a:t>As </a:t>
            </a:r>
            <a:r>
              <a:rPr lang="en-US" sz="4000" dirty="0" err="1" smtClean="0">
                <a:latin typeface="Arial" pitchFamily="34" charset="0"/>
                <a:cs typeface="Arial" pitchFamily="34" charset="0"/>
              </a:rPr>
              <a:t>dermatophyte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 species tend to parasitize particular hosts, the animal species affected may</a:t>
            </a:r>
          </a:p>
          <a:p>
            <a:pPr>
              <a:buNone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          indicate the </a:t>
            </a:r>
            <a:r>
              <a:rPr lang="en-US" sz="4000" dirty="0" err="1" smtClean="0">
                <a:latin typeface="Arial" pitchFamily="34" charset="0"/>
                <a:cs typeface="Arial" pitchFamily="34" charset="0"/>
              </a:rPr>
              <a:t>dermatophyte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 most likely to be involved </a:t>
            </a:r>
          </a:p>
          <a:p>
            <a:pPr>
              <a:buNone/>
            </a:pPr>
            <a:endParaRPr lang="en-US" sz="4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4000" dirty="0" smtClean="0">
                <a:latin typeface="Arial" pitchFamily="34" charset="0"/>
                <a:cs typeface="Arial" pitchFamily="34" charset="0"/>
              </a:rPr>
              <a:t>Specimens suitable for laboratory examination include plucked hair, deep skin scrapings from the</a:t>
            </a:r>
          </a:p>
          <a:p>
            <a:pPr>
              <a:buNone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       edge of lesions, scrapings from affected claws, and biopsy material from </a:t>
            </a:r>
            <a:r>
              <a:rPr lang="en-US" sz="4000" dirty="0" err="1" smtClean="0">
                <a:latin typeface="Arial" pitchFamily="34" charset="0"/>
                <a:cs typeface="Arial" pitchFamily="34" charset="0"/>
              </a:rPr>
              <a:t>pseudomycetomas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endParaRPr lang="en-US" sz="4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4000" dirty="0" smtClean="0">
                <a:latin typeface="Arial" pitchFamily="34" charset="0"/>
                <a:cs typeface="Arial" pitchFamily="34" charset="0"/>
              </a:rPr>
              <a:t>Suitable material from cats can also be collected on a large sheet of paper by brushing the coat</a:t>
            </a:r>
          </a:p>
          <a:p>
            <a:pPr>
              <a:buNone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      with a clean toothbrush.</a:t>
            </a:r>
          </a:p>
          <a:p>
            <a:pPr>
              <a:buNone/>
            </a:pPr>
            <a:endParaRPr lang="en-US" sz="4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4000" dirty="0" smtClean="0">
                <a:latin typeface="Arial" pitchFamily="34" charset="0"/>
                <a:cs typeface="Arial" pitchFamily="34" charset="0"/>
              </a:rPr>
              <a:t>Hairs and skin scrapings treated with KOH should be examined microscopically for the presence</a:t>
            </a:r>
          </a:p>
          <a:p>
            <a:pPr>
              <a:buNone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      of </a:t>
            </a:r>
            <a:r>
              <a:rPr lang="en-US" sz="4000" dirty="0" err="1" smtClean="0">
                <a:latin typeface="Arial" pitchFamily="34" charset="0"/>
                <a:cs typeface="Arial" pitchFamily="34" charset="0"/>
              </a:rPr>
              <a:t>arthrospores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. The arrangement of </a:t>
            </a:r>
            <a:r>
              <a:rPr lang="en-US" sz="4000" dirty="0" err="1" smtClean="0">
                <a:latin typeface="Arial" pitchFamily="34" charset="0"/>
                <a:cs typeface="Arial" pitchFamily="34" charset="0"/>
              </a:rPr>
              <a:t>arthrospores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 on hair shafts is typically </a:t>
            </a:r>
            <a:r>
              <a:rPr lang="en-US" sz="4000" dirty="0" err="1" smtClean="0">
                <a:latin typeface="Arial" pitchFamily="34" charset="0"/>
                <a:cs typeface="Arial" pitchFamily="34" charset="0"/>
              </a:rPr>
              <a:t>ectothrix</a:t>
            </a:r>
            <a:endParaRPr lang="en-US" sz="4000" dirty="0" smtClean="0">
              <a:latin typeface="Arial" pitchFamily="34" charset="0"/>
              <a:cs typeface="Arial" pitchFamily="34" charset="0"/>
            </a:endParaRPr>
          </a:p>
          <a:p>
            <a:endParaRPr lang="en-US" sz="4000" i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4000" dirty="0" smtClean="0">
                <a:latin typeface="Arial" pitchFamily="34" charset="0"/>
                <a:cs typeface="Arial" pitchFamily="34" charset="0"/>
              </a:rPr>
              <a:t>Histological sections of skin or </a:t>
            </a:r>
            <a:r>
              <a:rPr lang="en-US" sz="4000" dirty="0" err="1" smtClean="0">
                <a:latin typeface="Arial" pitchFamily="34" charset="0"/>
                <a:cs typeface="Arial" pitchFamily="34" charset="0"/>
              </a:rPr>
              <a:t>pseudomycetomas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 can be stained by the PAS or </a:t>
            </a:r>
            <a:r>
              <a:rPr lang="en-US" sz="4000" dirty="0" err="1" smtClean="0">
                <a:latin typeface="Arial" pitchFamily="34" charset="0"/>
                <a:cs typeface="Arial" pitchFamily="34" charset="0"/>
              </a:rPr>
              <a:t>methenamine</a:t>
            </a:r>
            <a:endParaRPr lang="en-US" sz="4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     silver techniques to demonstrate fungal structures.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Specimens are cultured on </a:t>
            </a:r>
            <a:r>
              <a:rPr lang="en-US" dirty="0" err="1" smtClean="0"/>
              <a:t>Emmon’s</a:t>
            </a:r>
            <a:r>
              <a:rPr lang="en-US" dirty="0" smtClean="0"/>
              <a:t> </a:t>
            </a:r>
            <a:r>
              <a:rPr lang="en-US" dirty="0" err="1" smtClean="0"/>
              <a:t>Sabouraud</a:t>
            </a:r>
            <a:r>
              <a:rPr lang="en-US" dirty="0" smtClean="0"/>
              <a:t> dextrose agar (pH 6.9) with the addition of 2 to</a:t>
            </a:r>
          </a:p>
          <a:p>
            <a:pPr>
              <a:buNone/>
            </a:pPr>
            <a:r>
              <a:rPr lang="en-US" dirty="0" smtClean="0"/>
              <a:t>        4% yeast extract, 0.05g/</a:t>
            </a:r>
            <a:r>
              <a:rPr lang="en-US" dirty="0" err="1" smtClean="0"/>
              <a:t>litre</a:t>
            </a:r>
            <a:r>
              <a:rPr lang="en-US" dirty="0" smtClean="0"/>
              <a:t> </a:t>
            </a:r>
            <a:r>
              <a:rPr lang="en-US" dirty="0" err="1" smtClean="0"/>
              <a:t>chloramphenicol</a:t>
            </a:r>
            <a:r>
              <a:rPr lang="en-US" dirty="0" smtClean="0"/>
              <a:t> and 0.4 g/</a:t>
            </a:r>
            <a:r>
              <a:rPr lang="en-US" dirty="0" err="1" smtClean="0"/>
              <a:t>litre</a:t>
            </a:r>
            <a:r>
              <a:rPr lang="en-US" dirty="0" smtClean="0"/>
              <a:t> </a:t>
            </a:r>
            <a:r>
              <a:rPr lang="en-US" dirty="0" err="1" smtClean="0"/>
              <a:t>cycloheximide</a:t>
            </a:r>
            <a:r>
              <a:rPr lang="en-US" dirty="0" smtClean="0"/>
              <a:t>. I</a:t>
            </a:r>
          </a:p>
          <a:p>
            <a:r>
              <a:rPr lang="en-US" dirty="0" smtClean="0"/>
              <a:t>Inoculated plates are incubated aerobically at 25°C to 27°C and examined twice weekly for up to 5 weeks.</a:t>
            </a:r>
          </a:p>
          <a:p>
            <a:endParaRPr lang="en-US" dirty="0" smtClean="0"/>
          </a:p>
          <a:p>
            <a:r>
              <a:rPr lang="en-US" dirty="0" smtClean="0"/>
              <a:t>Identification criteria for isolates:</a:t>
            </a:r>
          </a:p>
          <a:p>
            <a:pPr>
              <a:buNone/>
            </a:pPr>
            <a:r>
              <a:rPr lang="en-US" dirty="0" smtClean="0"/>
              <a:t>        – Colonial morphology</a:t>
            </a:r>
          </a:p>
          <a:p>
            <a:pPr>
              <a:buNone/>
            </a:pPr>
            <a:r>
              <a:rPr lang="en-US" dirty="0" smtClean="0"/>
              <a:t>         – Microscopic appearance of </a:t>
            </a:r>
            <a:r>
              <a:rPr lang="en-US" dirty="0" err="1" smtClean="0"/>
              <a:t>macroconidia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– Supplementary tests including growth on DTM medium.</a:t>
            </a:r>
          </a:p>
          <a:p>
            <a:r>
              <a:rPr lang="en-US" dirty="0" smtClean="0"/>
              <a:t>Several DNA-based techniques  such as PCR       </a:t>
            </a:r>
          </a:p>
          <a:p>
            <a:r>
              <a:rPr lang="en-US" dirty="0" smtClean="0"/>
              <a:t>In cats and dogs with suspicious lesions, examination with </a:t>
            </a:r>
            <a:r>
              <a:rPr lang="en-US" dirty="0" smtClean="0">
                <a:solidFill>
                  <a:srgbClr val="FF0000"/>
                </a:solidFill>
              </a:rPr>
              <a:t>Wood’s lamp </a:t>
            </a:r>
            <a:r>
              <a:rPr lang="en-US" dirty="0" smtClean="0"/>
              <a:t>should always be</a:t>
            </a:r>
          </a:p>
          <a:p>
            <a:pPr>
              <a:buNone/>
            </a:pPr>
            <a:r>
              <a:rPr lang="en-US" dirty="0" smtClean="0"/>
              <a:t>       carried out because </a:t>
            </a:r>
            <a:r>
              <a:rPr lang="en-US" i="1" dirty="0" smtClean="0"/>
              <a:t>M. </a:t>
            </a:r>
            <a:r>
              <a:rPr lang="en-US" i="1" dirty="0" err="1" smtClean="0"/>
              <a:t>canis</a:t>
            </a:r>
            <a:r>
              <a:rPr lang="en-US" i="1" dirty="0" smtClean="0"/>
              <a:t> infections are comparatively common in these species. A</a:t>
            </a:r>
          </a:p>
          <a:p>
            <a:pPr>
              <a:buNone/>
            </a:pPr>
            <a:r>
              <a:rPr lang="en-US" dirty="0" smtClean="0"/>
              <a:t>       characteristic </a:t>
            </a:r>
            <a:r>
              <a:rPr lang="en-US" dirty="0" smtClean="0">
                <a:solidFill>
                  <a:srgbClr val="FF0000"/>
                </a:solidFill>
              </a:rPr>
              <a:t>apple-green fluorescence </a:t>
            </a:r>
            <a:r>
              <a:rPr lang="en-US" dirty="0" smtClean="0"/>
              <a:t>from infected hairs is evident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Dermatophytosis</a:t>
            </a:r>
            <a:r>
              <a:rPr lang="en-US" b="1" dirty="0" smtClean="0"/>
              <a:t> in cats and dogs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Microsporon</a:t>
            </a:r>
            <a:r>
              <a:rPr lang="en-US" dirty="0" smtClean="0"/>
              <a:t> </a:t>
            </a:r>
            <a:r>
              <a:rPr lang="en-US" dirty="0" err="1" smtClean="0"/>
              <a:t>canis</a:t>
            </a:r>
            <a:endParaRPr lang="en-US" dirty="0" smtClean="0"/>
          </a:p>
          <a:p>
            <a:r>
              <a:rPr lang="en-US" dirty="0" smtClean="0"/>
              <a:t>Clinical features of the disease include classical</a:t>
            </a:r>
          </a:p>
          <a:p>
            <a:pPr>
              <a:buNone/>
            </a:pPr>
            <a:r>
              <a:rPr lang="en-US" dirty="0" smtClean="0"/>
              <a:t>      ringworm lesions, </a:t>
            </a:r>
            <a:r>
              <a:rPr lang="en-US" dirty="0" err="1" smtClean="0"/>
              <a:t>miliary</a:t>
            </a:r>
            <a:r>
              <a:rPr lang="en-US" dirty="0" smtClean="0"/>
              <a:t> dermatitis, </a:t>
            </a:r>
            <a:r>
              <a:rPr lang="en-US" dirty="0" err="1" smtClean="0"/>
              <a:t>pseudomycetomas</a:t>
            </a:r>
            <a:endParaRPr lang="en-US" dirty="0" smtClean="0"/>
          </a:p>
          <a:p>
            <a:r>
              <a:rPr lang="en-US" dirty="0" smtClean="0"/>
              <a:t>lime </a:t>
            </a:r>
            <a:r>
              <a:rPr lang="en-US" dirty="0" err="1" smtClean="0"/>
              <a:t>sulphur</a:t>
            </a:r>
            <a:r>
              <a:rPr lang="en-US" dirty="0" smtClean="0"/>
              <a:t> or </a:t>
            </a:r>
            <a:r>
              <a:rPr lang="en-US" dirty="0" err="1" smtClean="0"/>
              <a:t>miconazole</a:t>
            </a:r>
            <a:r>
              <a:rPr lang="en-US" dirty="0" smtClean="0"/>
              <a:t> shampoo may be effective</a:t>
            </a:r>
          </a:p>
          <a:p>
            <a:r>
              <a:rPr lang="en-US" dirty="0" err="1" smtClean="0"/>
              <a:t>Itraconazole</a:t>
            </a:r>
            <a:r>
              <a:rPr lang="en-US" dirty="0" smtClean="0"/>
              <a:t>, </a:t>
            </a:r>
            <a:r>
              <a:rPr lang="en-US" dirty="0" err="1" smtClean="0"/>
              <a:t>fluconazole</a:t>
            </a:r>
            <a:r>
              <a:rPr lang="en-US" dirty="0" smtClean="0"/>
              <a:t> or </a:t>
            </a:r>
            <a:r>
              <a:rPr lang="en-US" dirty="0" err="1" smtClean="0"/>
              <a:t>terbinafine</a:t>
            </a:r>
            <a:r>
              <a:rPr lang="en-US" dirty="0" smtClean="0"/>
              <a:t>, administered orally, are the drugs of choice for systemic therapy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Dermatophytosis</a:t>
            </a:r>
            <a:r>
              <a:rPr lang="en-US" b="1" dirty="0" smtClean="0"/>
              <a:t> in cattle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 err="1" smtClean="0"/>
              <a:t>Trichophyton</a:t>
            </a:r>
            <a:r>
              <a:rPr lang="en-US" i="1" dirty="0" smtClean="0"/>
              <a:t> </a:t>
            </a:r>
            <a:r>
              <a:rPr lang="en-US" i="1" dirty="0" err="1" smtClean="0"/>
              <a:t>verrucosum</a:t>
            </a:r>
            <a:endParaRPr lang="en-US" i="1" dirty="0" smtClean="0"/>
          </a:p>
          <a:p>
            <a:r>
              <a:rPr lang="en-US" dirty="0" smtClean="0"/>
              <a:t>Commercial vaccines containing an attenuated strain of </a:t>
            </a:r>
            <a:r>
              <a:rPr lang="en-US" i="1" dirty="0" smtClean="0"/>
              <a:t>T. </a:t>
            </a:r>
            <a:r>
              <a:rPr lang="en-US" i="1" dirty="0" err="1" smtClean="0"/>
              <a:t>verrucosum</a:t>
            </a:r>
            <a:r>
              <a:rPr lang="en-US" i="1" dirty="0" smtClean="0"/>
              <a:t> (LTF-130 or CCM 8165) have been used </a:t>
            </a:r>
            <a:r>
              <a:rPr lang="en-US" dirty="0" smtClean="0"/>
              <a:t>successfully for the control of bovine </a:t>
            </a:r>
            <a:r>
              <a:rPr lang="en-US" dirty="0" err="1" smtClean="0"/>
              <a:t>dermato</a:t>
            </a:r>
            <a:r>
              <a:rPr lang="en-US" dirty="0" smtClean="0"/>
              <a:t>- </a:t>
            </a:r>
            <a:r>
              <a:rPr lang="en-US" dirty="0" err="1" smtClean="0"/>
              <a:t>phytosis</a:t>
            </a:r>
            <a:r>
              <a:rPr lang="en-US" dirty="0" smtClean="0"/>
              <a:t> in Europe and Russia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 smtClean="0"/>
              <a:t>Dermatophytosis</a:t>
            </a:r>
            <a:r>
              <a:rPr lang="en-US" b="1" dirty="0" smtClean="0"/>
              <a:t> in horses </a:t>
            </a:r>
            <a:r>
              <a:rPr lang="en-US" b="1" dirty="0" err="1" smtClean="0"/>
              <a:t>by</a:t>
            </a:r>
            <a:r>
              <a:rPr lang="en-US" i="1" dirty="0" err="1" smtClean="0"/>
              <a:t>Trichophyton</a:t>
            </a:r>
            <a:r>
              <a:rPr lang="en-US" i="1" dirty="0" smtClean="0"/>
              <a:t> </a:t>
            </a:r>
            <a:r>
              <a:rPr lang="en-US" i="1" dirty="0" err="1" smtClean="0"/>
              <a:t>equinum</a:t>
            </a:r>
            <a:endParaRPr lang="en-US" i="1" dirty="0" smtClean="0"/>
          </a:p>
          <a:p>
            <a:endParaRPr lang="en-US" i="1" dirty="0" smtClean="0"/>
          </a:p>
          <a:p>
            <a:r>
              <a:rPr lang="en-US" b="1" dirty="0" err="1" smtClean="0"/>
              <a:t>Dermatophytosis</a:t>
            </a:r>
            <a:r>
              <a:rPr lang="en-US" b="1" dirty="0" smtClean="0"/>
              <a:t> in pigs by </a:t>
            </a:r>
            <a:r>
              <a:rPr lang="en-US" dirty="0" smtClean="0"/>
              <a:t>M. </a:t>
            </a:r>
            <a:r>
              <a:rPr lang="en-US" dirty="0" err="1" smtClean="0"/>
              <a:t>nanum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Favus</a:t>
            </a:r>
            <a:r>
              <a:rPr lang="en-US" b="1" dirty="0" smtClean="0"/>
              <a:t> in poultry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 smtClean="0"/>
              <a:t>M. </a:t>
            </a:r>
            <a:r>
              <a:rPr lang="en-US" i="1" dirty="0" err="1" smtClean="0"/>
              <a:t>gallinae</a:t>
            </a:r>
            <a:endParaRPr lang="en-US" i="1" dirty="0" smtClean="0"/>
          </a:p>
          <a:p>
            <a:r>
              <a:rPr lang="en-US" smtClean="0"/>
              <a:t>White patchy crusts develop on the comb and wattles.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160</TotalTime>
  <Words>1278</Words>
  <Application>Microsoft Office PowerPoint</Application>
  <PresentationFormat>On-screen Show (4:3)</PresentationFormat>
  <Paragraphs>140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Equity</vt:lpstr>
      <vt:lpstr>FUNGAL DISEASES</vt:lpstr>
      <vt:lpstr>FUNGAL DISEASES</vt:lpstr>
      <vt:lpstr>MYCOSES</vt:lpstr>
      <vt:lpstr>Factors predispose to fungal invasion of tissues</vt:lpstr>
      <vt:lpstr>Diagnosis of Fungal Diseases</vt:lpstr>
      <vt:lpstr>Diagnosis contd.</vt:lpstr>
      <vt:lpstr>Slide 7</vt:lpstr>
      <vt:lpstr>Slide 8</vt:lpstr>
      <vt:lpstr>Slide 9</vt:lpstr>
      <vt:lpstr>SLIDE CULTURE TECHNIQUE</vt:lpstr>
      <vt:lpstr>SLIDE CULTURE PREPARATIONS</vt:lpstr>
      <vt:lpstr>SLIDE CULTURE PREPARATIONS</vt:lpstr>
      <vt:lpstr>Need for Slide Culture</vt:lpstr>
      <vt:lpstr>Slide 14</vt:lpstr>
      <vt:lpstr>culture</vt:lpstr>
      <vt:lpstr>HISTOPATHOLOGY</vt:lpstr>
      <vt:lpstr>DERMATOPHYTES</vt:lpstr>
      <vt:lpstr>Slide 18</vt:lpstr>
      <vt:lpstr>Dermatophytes grouped according to host preference or habitat</vt:lpstr>
      <vt:lpstr>Slide 20</vt:lpstr>
      <vt:lpstr>Slide 21</vt:lpstr>
      <vt:lpstr>Slide 22</vt:lpstr>
      <vt:lpstr>Pathogenesis and pathogenicity</vt:lpstr>
      <vt:lpstr>Slide 24</vt:lpstr>
      <vt:lpstr>Slide 25</vt:lpstr>
      <vt:lpstr>DIAGNOSIS</vt:lpstr>
      <vt:lpstr>Slide 27</vt:lpstr>
      <vt:lpstr>Dermatophytosis in cats and dogs</vt:lpstr>
      <vt:lpstr>Dermatophytosis in cattle</vt:lpstr>
      <vt:lpstr>Slide 30</vt:lpstr>
      <vt:lpstr>Favus in poultry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FUNGAL DISEASES</dc:title>
  <dc:creator>reviewer</dc:creator>
  <cp:lastModifiedBy>reviewer</cp:lastModifiedBy>
  <cp:revision>15</cp:revision>
  <dcterms:created xsi:type="dcterms:W3CDTF">2020-02-23T15:23:47Z</dcterms:created>
  <dcterms:modified xsi:type="dcterms:W3CDTF">2022-07-06T02:36:28Z</dcterms:modified>
</cp:coreProperties>
</file>