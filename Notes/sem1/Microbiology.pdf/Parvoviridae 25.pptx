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7" r:id="rId4"/>
    <p:sldId id="261" r:id="rId5"/>
    <p:sldId id="259" r:id="rId6"/>
    <p:sldId id="260" r:id="rId7"/>
    <p:sldId id="305" r:id="rId8"/>
    <p:sldId id="301" r:id="rId9"/>
    <p:sldId id="307" r:id="rId10"/>
    <p:sldId id="262" r:id="rId11"/>
    <p:sldId id="302" r:id="rId12"/>
    <p:sldId id="303" r:id="rId13"/>
    <p:sldId id="304" r:id="rId14"/>
    <p:sldId id="264" r:id="rId15"/>
    <p:sldId id="306" r:id="rId16"/>
    <p:sldId id="269" r:id="rId17"/>
    <p:sldId id="297" r:id="rId18"/>
    <p:sldId id="273" r:id="rId19"/>
    <p:sldId id="296" r:id="rId20"/>
    <p:sldId id="274" r:id="rId21"/>
    <p:sldId id="275" r:id="rId22"/>
    <p:sldId id="277" r:id="rId23"/>
    <p:sldId id="282" r:id="rId24"/>
    <p:sldId id="299" r:id="rId25"/>
    <p:sldId id="284" r:id="rId26"/>
    <p:sldId id="285" r:id="rId27"/>
    <p:sldId id="292" r:id="rId28"/>
    <p:sldId id="29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56000-C34B-44FF-887A-39DD9862D156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583D2-0124-4A51-9F2B-C560340395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Negative sense DNA</a:t>
            </a:r>
            <a:r>
              <a:rPr lang="en-US" baseline="0" dirty="0" smtClean="0"/>
              <a:t> or antisense DNA is a strand that is complementary to mRNA i.e. from this strand mRNA is formed.</a:t>
            </a:r>
          </a:p>
          <a:p>
            <a:r>
              <a:rPr lang="en-US" baseline="0" dirty="0" smtClean="0"/>
              <a:t>Positive sense DNA or Sense DNA is a strand i.e. is similar to that of mRNA. Sense strand looks like mRNA but cannot form mRNA.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583D2-0124-4A51-9F2B-C5603403950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="" xmlns:p14="http://schemas.microsoft.com/office/powerpoint/2010/main" val="355003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ubfamilies" TargetMode="External"/><Relationship Id="rId2" Type="http://schemas.openxmlformats.org/officeDocument/2006/relationships/hyperlink" Target="http://en.wikipedia.org/wiki/Virus_classification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Algerian" pitchFamily="82" charset="0"/>
              </a:rPr>
              <a:t>Parvoviridae</a:t>
            </a:r>
            <a:endParaRPr lang="en-US" sz="4800" b="1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Arial Black" pitchFamily="34" charset="0"/>
              </a:rPr>
              <a:t>Latin </a:t>
            </a:r>
            <a:r>
              <a:rPr lang="en-US" sz="2400" dirty="0" err="1" smtClean="0">
                <a:solidFill>
                  <a:schemeClr val="tx1"/>
                </a:solidFill>
                <a:latin typeface="Arial Black" pitchFamily="34" charset="0"/>
              </a:rPr>
              <a:t>parvus</a:t>
            </a:r>
            <a:r>
              <a:rPr lang="en-US" sz="2400" dirty="0" smtClean="0">
                <a:solidFill>
                  <a:schemeClr val="tx1"/>
                </a:solidFill>
                <a:latin typeface="Arial Black" pitchFamily="34" charset="0"/>
              </a:rPr>
              <a:t> or </a:t>
            </a:r>
            <a:r>
              <a:rPr lang="en-US" sz="2400" dirty="0" err="1" smtClean="0">
                <a:solidFill>
                  <a:schemeClr val="tx1"/>
                </a:solidFill>
                <a:latin typeface="Arial Black" pitchFamily="34" charset="0"/>
              </a:rPr>
              <a:t>parvum</a:t>
            </a:r>
            <a:r>
              <a:rPr lang="en-US" sz="2400" dirty="0" smtClean="0">
                <a:solidFill>
                  <a:schemeClr val="tx1"/>
                </a:solidFill>
                <a:latin typeface="Arial Black" pitchFamily="34" charset="0"/>
              </a:rPr>
              <a:t>, </a:t>
            </a:r>
            <a:r>
              <a:rPr lang="en-US" sz="2400" b="1" dirty="0" smtClean="0">
                <a:solidFill>
                  <a:schemeClr val="tx1"/>
                </a:solidFill>
                <a:latin typeface="Arial Black" pitchFamily="34" charset="0"/>
              </a:rPr>
              <a:t>meaning</a:t>
            </a:r>
            <a:r>
              <a:rPr lang="en-US" sz="2400" dirty="0" smtClean="0">
                <a:solidFill>
                  <a:schemeClr val="tx1"/>
                </a:solidFill>
                <a:latin typeface="Arial Black" pitchFamily="34" charset="0"/>
              </a:rPr>
              <a:t> small or tiny, referring to the small size of </a:t>
            </a:r>
            <a:r>
              <a:rPr lang="en-US" sz="2400" b="1" dirty="0" smtClean="0">
                <a:solidFill>
                  <a:schemeClr val="tx1"/>
                </a:solidFill>
                <a:latin typeface="Arial Black" pitchFamily="34" charset="0"/>
              </a:rPr>
              <a:t>parvovirus</a:t>
            </a:r>
            <a:r>
              <a:rPr lang="en-US" sz="2400" dirty="0" smtClean="0">
                <a:solidFill>
                  <a:schemeClr val="tx1"/>
                </a:solidFill>
                <a:latin typeface="Arial Black" pitchFamily="34" charset="0"/>
              </a:rPr>
              <a:t> </a:t>
            </a:r>
            <a:r>
              <a:rPr lang="en-US" sz="2400" dirty="0" err="1" smtClean="0">
                <a:solidFill>
                  <a:schemeClr val="tx1"/>
                </a:solidFill>
                <a:latin typeface="Arial Black" pitchFamily="34" charset="0"/>
              </a:rPr>
              <a:t>virions</a:t>
            </a:r>
            <a:r>
              <a:rPr lang="en-US" sz="2400" dirty="0" smtClean="0">
                <a:solidFill>
                  <a:schemeClr val="tx1"/>
                </a:solidFill>
                <a:latin typeface="Arial Black" pitchFamily="34" charset="0"/>
              </a:rPr>
              <a:t> </a:t>
            </a:r>
            <a:endParaRPr lang="en-US" sz="2400" dirty="0">
              <a:solidFill>
                <a:schemeClr val="tx1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1695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4282" y="428604"/>
          <a:ext cx="8929717" cy="6386447"/>
        </p:xfrm>
        <a:graphic>
          <a:graphicData uri="http://schemas.openxmlformats.org/drawingml/2006/table">
            <a:tbl>
              <a:tblPr/>
              <a:tblGrid>
                <a:gridCol w="2465377"/>
                <a:gridCol w="6464340"/>
              </a:tblGrid>
              <a:tr h="100045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Times New Roman"/>
                        </a:rPr>
                        <a:t>Parvoviruses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3717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u="sng" dirty="0">
                          <a:solidFill>
                            <a:srgbClr val="0B0080"/>
                          </a:solidFill>
                          <a:latin typeface="Arial"/>
                          <a:ea typeface="Calibri"/>
                          <a:cs typeface="Times New Roman"/>
                          <a:hlinkClick r:id="rId2" tooltip="Virus classification"/>
                        </a:rPr>
                        <a:t>Virus classification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43413">
                <a:tc>
                  <a:txBody>
                    <a:bodyPr/>
                    <a:lstStyle/>
                    <a:p>
                      <a:pPr marL="0" marR="0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Times New Roman"/>
                        </a:rPr>
                        <a:t>Group: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Times New Roman"/>
                        </a:rPr>
                        <a:t>Group II (</a:t>
                      </a:r>
                      <a:r>
                        <a:rPr lang="en-US" sz="2800" b="1" u="sng" dirty="0">
                          <a:solidFill>
                            <a:srgbClr val="0B0080"/>
                          </a:solidFill>
                          <a:latin typeface="Arial"/>
                          <a:ea typeface="Calibri"/>
                          <a:cs typeface="Times New Roman"/>
                        </a:rPr>
                        <a:t>ssDNA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Times New Roman"/>
                        </a:rPr>
                        <a:t>)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</a:tr>
              <a:tr h="837174">
                <a:tc>
                  <a:txBody>
                    <a:bodyPr/>
                    <a:lstStyle/>
                    <a:p>
                      <a:pPr marL="0" marR="0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Times New Roman"/>
                        </a:rPr>
                        <a:t>Family: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Times New Roman"/>
                        </a:rPr>
                        <a:t>Parvoviridae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</a:tr>
              <a:tr h="83717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44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b="1" u="sng" dirty="0">
                          <a:solidFill>
                            <a:srgbClr val="0B0080"/>
                          </a:solidFill>
                          <a:latin typeface="Arial"/>
                          <a:ea typeface="Calibri"/>
                          <a:cs typeface="Times New Roman"/>
                          <a:hlinkClick r:id="rId3" tooltip="Subfamilies"/>
                        </a:rPr>
                        <a:t>Subfamilies</a:t>
                      </a:r>
                      <a:endParaRPr lang="en-US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82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16844">
                <a:tc gridSpan="2"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480"/>
                        </a:spcBef>
                        <a:spcAft>
                          <a:spcPts val="600"/>
                        </a:spcAft>
                      </a:pPr>
                      <a:r>
                        <a:rPr lang="en-US" sz="2400" b="1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Densovirinae</a:t>
                      </a:r>
                      <a:r>
                        <a:rPr lang="en-US" sz="2400" b="1" u="none" baseline="0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400" b="1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(Viruses of insects)- </a:t>
                      </a:r>
                      <a:r>
                        <a:rPr lang="en-US" sz="2400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Densovirus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2400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Iteravirus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,</a:t>
                      </a:r>
                    </a:p>
                    <a:p>
                      <a:pPr marL="0" marR="0">
                        <a:lnSpc>
                          <a:spcPts val="1800"/>
                        </a:lnSpc>
                        <a:spcBef>
                          <a:spcPts val="480"/>
                        </a:spcBef>
                        <a:spcAft>
                          <a:spcPts val="600"/>
                        </a:spcAft>
                      </a:pP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                                                          </a:t>
                      </a:r>
                      <a:r>
                        <a:rPr lang="en-US" sz="2400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Contravirus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   </a:t>
                      </a:r>
                    </a:p>
                    <a:p>
                      <a:pPr marL="0" marR="0">
                        <a:lnSpc>
                          <a:spcPts val="1800"/>
                        </a:lnSpc>
                        <a:spcBef>
                          <a:spcPts val="480"/>
                        </a:spcBef>
                        <a:spcAft>
                          <a:spcPts val="600"/>
                        </a:spcAft>
                      </a:pPr>
                      <a:r>
                        <a:rPr lang="en-US" sz="2400" b="1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Parvovirinae</a:t>
                      </a:r>
                      <a:r>
                        <a:rPr lang="en-US" sz="2400" b="1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   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Parvovirus</a:t>
                      </a:r>
                      <a:r>
                        <a:rPr lang="en-US" sz="2400" u="none" baseline="0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(Feline </a:t>
                      </a:r>
                      <a:r>
                        <a:rPr lang="en-US" sz="2400" u="none" baseline="0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panleukopenia,Canine</a:t>
                      </a:r>
                      <a:r>
                        <a:rPr lang="en-US" sz="2400" u="none" baseline="0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endParaRPr lang="en-US" sz="2400" u="none" dirty="0" smtClean="0">
                        <a:solidFill>
                          <a:schemeClr val="tx1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800"/>
                        </a:lnSpc>
                        <a:spcBef>
                          <a:spcPts val="480"/>
                        </a:spcBef>
                        <a:spcAft>
                          <a:spcPts val="600"/>
                        </a:spcAft>
                      </a:pP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                                                                             </a:t>
                      </a:r>
                      <a:r>
                        <a:rPr lang="en-US" sz="2400" u="none" baseline="0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parvovirus)</a:t>
                      </a:r>
                      <a:endParaRPr lang="en-US" sz="2400" u="none" dirty="0" smtClean="0">
                        <a:solidFill>
                          <a:schemeClr val="tx1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>
                        <a:lnSpc>
                          <a:spcPts val="1800"/>
                        </a:lnSpc>
                        <a:spcBef>
                          <a:spcPts val="480"/>
                        </a:spcBef>
                        <a:spcAft>
                          <a:spcPts val="600"/>
                        </a:spcAft>
                      </a:pP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                          </a:t>
                      </a:r>
                      <a:r>
                        <a:rPr lang="en-US" sz="2400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Erythrovirus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,</a:t>
                      </a:r>
                    </a:p>
                    <a:p>
                      <a:pPr marL="0" marR="0">
                        <a:lnSpc>
                          <a:spcPts val="1800"/>
                        </a:lnSpc>
                        <a:spcBef>
                          <a:spcPts val="480"/>
                        </a:spcBef>
                        <a:spcAft>
                          <a:spcPts val="600"/>
                        </a:spcAft>
                      </a:pP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                          </a:t>
                      </a:r>
                      <a:r>
                        <a:rPr lang="en-US" sz="2400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Dependovirus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400" u="none" dirty="0" err="1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Adeno</a:t>
                      </a:r>
                      <a:r>
                        <a:rPr lang="en-US" sz="2400" u="none" dirty="0" smtClean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Associated Virus)</a:t>
                      </a:r>
                      <a:endParaRPr lang="en-US" sz="2400" u="none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0480" marR="30480" marT="30480" marB="3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00300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Morphology 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928670"/>
            <a:ext cx="8543956" cy="5072098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Non-enveloped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25 nm in diameter, and have icosahedral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symmetry.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surface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features of the capsid revealed by X-ray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crystallography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include a hollow cylinder at each fivefold axis of symmetry that is surrounded by a circular depression (called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canyon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capsid is composed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60 molecules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VP2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protein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along with a few molecules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VP1.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VP1 and VP2 are formed by alternative splicing of the same mRNA, and the entire sequence of VP2 is encoded within the VP1 gene.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third structural protein, VP3, is formed only in "full" (DNA-containing) capsids by cleavage of 15-20 amino acids from the amino terminus of VP2.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VP2 is the most immunogenic.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831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76" y="428605"/>
            <a:ext cx="7000924" cy="483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7158" y="5357826"/>
            <a:ext cx="85011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/>
              <a:t>Capsid</a:t>
            </a:r>
            <a:r>
              <a:rPr lang="en-US" sz="2000" b="1" dirty="0" smtClean="0"/>
              <a:t> confers much stability upon the virus particles, allowing for resistance to inactivation by pH, solvents, or temperatures up to 50 degrees C. </a:t>
            </a:r>
            <a:r>
              <a:rPr lang="en-US" sz="2000" b="1" dirty="0" err="1" smtClean="0">
                <a:solidFill>
                  <a:srgbClr val="FF0000"/>
                </a:solidFill>
              </a:rPr>
              <a:t>Parvoviruses</a:t>
            </a:r>
            <a:r>
              <a:rPr lang="en-US" sz="2000" b="1" dirty="0" smtClean="0">
                <a:solidFill>
                  <a:srgbClr val="FF0000"/>
                </a:solidFill>
              </a:rPr>
              <a:t> are thus among the most resistant viruses known</a:t>
            </a:r>
            <a:r>
              <a:rPr lang="en-US" sz="2000" b="1" dirty="0" smtClean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="" xmlns:p14="http://schemas.microsoft.com/office/powerpoint/2010/main" val="2317016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Genome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500174"/>
            <a:ext cx="840108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genome consists of a single molecule of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single-stranded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DNA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5.2 kb in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size.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parvoviruses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encapsidate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only the negative-sense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 antisense DNA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strand (e.g., canine parvovirus 2, minute virus of mice), whereas others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encapsidate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different proportions of either strand.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genome has 6 to 10 terminal palindromic sequences, enabling each end to form hairpin structures.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Replication occurs in the nucleus of dividing cells; infection leads to large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intranuclear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inclusion bodies</a:t>
            </a:r>
          </a:p>
          <a:p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Most viruses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hemagglutinate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red blood cells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7549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Viral Replication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643998" cy="45259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Viral replication takes place in the nucleus and requires host cell functions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late 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(i.e. period of DNA replication)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or early G2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(i.e. The stage of cell cycle between the end of DNA synthesis and beginning of mitosis)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the cell division cycle.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requirement for cycling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cells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viral replication is the basis for many aspects of the pathogenesis of parvovirus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infections.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Specifically, there is no polymerase enzyme in 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itself nor does the virus encode any such enzyme. 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Instead,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cellular DNA polymerase II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is employed to transcribe viral DNA into a double stranded DNA intermediate, which is then used as a template as other cellular enzymes catalyze the transcription of viral mRNAs.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329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Viral Replication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429684" cy="4857784"/>
          </a:xfrm>
        </p:spPr>
        <p:txBody>
          <a:bodyPr>
            <a:noAutofit/>
          </a:bodyPr>
          <a:lstStyle/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 viral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genome penetrates into the nucleus.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is converted into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by cellular proteins.</a:t>
            </a:r>
          </a:p>
          <a:p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transcription gives rise to viral mRNAs when host cell enters S phase and translated to produce viral proteins.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Replication occurs through 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rolling-hairpin mechanism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with NS1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endonuclease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binding covalently to the 5' genomic end.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Individual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genomes are excised from replication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concatemers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These newly synthesized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ssDNA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can either</a:t>
            </a:r>
            <a:br>
              <a:rPr lang="en-GB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a) be converted to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dsDNA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and serve as a template for transcription/replication</a:t>
            </a:r>
            <a:br>
              <a:rPr lang="en-GB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b) be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encapsidated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to form new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virions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that are released by cell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lysis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Viral Replication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Cellular DNA dependent RNA polymerase synthesizes three mRNA.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These mRNA have a common 3’ terminus.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Most abundant mRNA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which is encoded in the 3'-half of the genome,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codes for structural proteins (VP1and VP2) late in infection.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non structural (NS1) proteins involved in DNA replication reside in left half,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5'-half,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DNA.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Parvoviridae ~ ViralZo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 l="3242"/>
          <a:stretch>
            <a:fillRect/>
          </a:stretch>
        </p:blipFill>
        <p:spPr bwMode="auto">
          <a:xfrm>
            <a:off x="1571605" y="1071545"/>
            <a:ext cx="5861420" cy="4939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14422"/>
            <a:ext cx="840108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nonstructural protein (NS1),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also produced in very large amounts and serves a number of functions: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1) it binds to DNA and is required for viral DNA replication,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2) it serves as a helicase,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3) it serves as an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endonuclease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4) it interferes with cellular DNA replication by producing nicks in cellular DNA.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latter activity leads to the arrest of the cell division cycle in S phase. </a:t>
            </a:r>
          </a:p>
        </p:txBody>
      </p:sp>
    </p:spTree>
    <p:extLst>
      <p:ext uri="{BB962C8B-B14F-4D97-AF65-F5344CB8AC3E}">
        <p14:creationId xmlns="" xmlns:p14="http://schemas.microsoft.com/office/powerpoint/2010/main" val="1378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g\Desktop\adenovirus-parvovirus-polyomavirus-12-63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5750"/>
            <a:ext cx="9144001" cy="60721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8596" y="20002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lgerian" pitchFamily="82" charset="0"/>
              </a:rPr>
              <a:t>Canine Parvovirus </a:t>
            </a:r>
            <a:br>
              <a:rPr lang="en-US" b="1" dirty="0" smtClean="0">
                <a:solidFill>
                  <a:srgbClr val="FF0000"/>
                </a:solidFill>
                <a:latin typeface="Algerian" pitchFamily="82" charset="0"/>
              </a:rPr>
            </a:br>
            <a:endParaRPr lang="en-US" b="1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History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2984"/>
            <a:ext cx="8929718" cy="5357850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There are two types of canine parvovirus called canine minute virus (CPV1) and CPV2.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CPV2 causes the most serious disease and affects domesticated dogs and wild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canids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Variants of CPV type 2 - CPV-2a, CPV-2b and CPV-2c. The antigenic patterns of 2a and 2b are quite similar to the original CPV type 2. Variant 2c however has a unique pattern of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antigenicity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CPV2  virus is very similar to feline 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panleukopenia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virus; they are 98% identical, differing only in two amino acids in the viral 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capsid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 protein VP2 (determinant of Host range difference).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canine virus can replicate in both canine and feline cells but the feline virus replicates only in feline cells.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is also highly similar to mink enteritis, and the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parvoviruses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of raccoons and foxes.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2844" y="285728"/>
            <a:ext cx="8515352" cy="6286544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 distinct age-related canine parvovirus disease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syndromes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have been recognized in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dogs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generalized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neonatal disease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syndrome-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rare.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The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myocarditis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syndrome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usually recognized in pups by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sudden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death, usually without preceding clinical signs. Even though damage to the myocardium may be extensive, some pups may survive with lifelong cardiac problems.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Seen in pups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at 4 to 8 weeks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age and was common when the virus first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emerged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1978-1979.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Widespread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of vaccine and its induction or boosting of maternal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antibody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has made the generalized neonatal disease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syndrome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the myocarditis syndrome less common. </a:t>
            </a:r>
          </a:p>
        </p:txBody>
      </p:sp>
    </p:spTree>
    <p:extLst>
      <p:ext uri="{BB962C8B-B14F-4D97-AF65-F5344CB8AC3E}">
        <p14:creationId xmlns="" xmlns:p14="http://schemas.microsoft.com/office/powerpoint/2010/main" val="1455262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85720" y="428604"/>
            <a:ext cx="8658228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The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leukopenia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/enteritis syndrome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parallels that seen in cats –feline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panleukopenia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feline distemper.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incidence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leukopenia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/enteritis syndrome has fallen since the virus first emerged, but is still an important cause of morbidity.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commonly 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pups at 8 to 12 weeks of age.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Vomiting is often the initial sign and can be severe and protracted. There is anorexia, lethargy, and diarrhea leading to rapid dehydration.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feces are often streaked with blood or frankly hemorrhagic and remain fluid until recovery or death.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Death is uncommon except in young pups.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 smtClean="0"/>
              <a:t>Life cycle of Parvovirus</a:t>
            </a:r>
          </a:p>
        </p:txBody>
      </p:sp>
      <p:pic>
        <p:nvPicPr>
          <p:cNvPr id="7171" name="Picture 3" descr="http://www.agen.com.au/images/parvo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82" y="1428736"/>
            <a:ext cx="8688531" cy="500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298939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Pathogenesis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86874" cy="578647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Following viral entry in the oropharynx, initial viral replication occurs in pharyngeal lymphoid tissue.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 the virus is distributed to other organs and tissues via the bloodstream.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Cells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that have appropriate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receptors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and are in the S phase of the cell cycle are infected and killed or prevented from entering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mitosis.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characteristic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profound leukopenia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involves all white blood cell elements: lymphocytes, neutrophils, monocytes,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platelets.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cells are destroyed, both those present in the circulation and those in lymphoid organs,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including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thymus, bone marrow, lymph nodes, spleen,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Peyer's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patches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Resting peripheral leukocytes may be stimulated to proliferate, thereby becoming permissive for viral replication.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Alternatively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presence of virus bound to the surface of cells may render them targets for cytotoxic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lysis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415981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rgbClr val="FF0000"/>
                </a:solidFill>
              </a:rPr>
              <a:t>Hemorrhagic enteritis</a:t>
            </a:r>
          </a:p>
        </p:txBody>
      </p:sp>
      <p:sp>
        <p:nvSpPr>
          <p:cNvPr id="1126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Villi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become blunt and unable to absorb nutrients.  </a:t>
            </a:r>
          </a:p>
          <a:p>
            <a:pPr marL="609600" indent="-609600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Barrier to GIT flora is broken down</a:t>
            </a:r>
            <a:r>
              <a:rPr lang="en-US" dirty="0" smtClean="0"/>
              <a:t>.</a:t>
            </a:r>
          </a:p>
          <a:p>
            <a:pPr marL="990600" lvl="1" indent="-533400" eaLnBrk="1" hangingPunct="1">
              <a:buFontTx/>
              <a:buNone/>
            </a:pPr>
            <a:endParaRPr lang="en-US" dirty="0" smtClean="0"/>
          </a:p>
        </p:txBody>
      </p:sp>
      <p:sp>
        <p:nvSpPr>
          <p:cNvPr id="11268" name="Rectangle 8"/>
          <p:cNvSpPr>
            <a:spLocks noChangeArrowheads="1"/>
          </p:cNvSpPr>
          <p:nvPr/>
        </p:nvSpPr>
        <p:spPr bwMode="auto">
          <a:xfrm>
            <a:off x="871538" y="195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11269" name="Picture 11" descr="I:\Download\howparvo4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9" y="3071810"/>
            <a:ext cx="3625691" cy="35004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Rectangle 13"/>
          <p:cNvSpPr>
            <a:spLocks noChangeArrowheads="1"/>
          </p:cNvSpPr>
          <p:nvPr/>
        </p:nvSpPr>
        <p:spPr bwMode="auto">
          <a:xfrm>
            <a:off x="1471613" y="2320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11271" name="Picture 15" descr="Drawing of parvo-affected intestinal villu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071810"/>
            <a:ext cx="3183002" cy="355759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1070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Rapidly dividing intestinal epithelial cells in the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crypts of </a:t>
            </a:r>
            <a:r>
              <a:rPr lang="en-US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Lieberkuhn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are very susceptible to infection.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loss of cells from villus tips continues in normal fashion, but the failure in replacing these cells with cells from the crypts leads to greatly shortened,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 absorptive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villi and hence to diarrhea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GB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At all ages, the continuous division of cells in lymphoid tissues and the intestinal epithelium leads to the common occurrence of </a:t>
            </a:r>
            <a:r>
              <a:rPr lang="en-GB" sz="2800" b="1" dirty="0" err="1" smtClean="0">
                <a:latin typeface="Times New Roman" pitchFamily="18" charset="0"/>
                <a:cs typeface="Times New Roman" pitchFamily="18" charset="0"/>
              </a:rPr>
              <a:t>leukopenia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and enteritis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806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rgbClr val="FF0000"/>
                </a:solidFill>
              </a:rPr>
              <a:t>Mechanisms of Death  </a:t>
            </a:r>
          </a:p>
        </p:txBody>
      </p:sp>
      <p:sp>
        <p:nvSpPr>
          <p:cNvPr id="1229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Diarrhea and vomiting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extreme dehydration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SHOCK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Loss of intestinal barrier 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bacterial invasion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SEPTIC SHOCK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990600" lvl="1" indent="-533400" eaLnBrk="1" hangingPunct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eaLnBrk="1" hangingPunct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21569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</a:rPr>
              <a:t>Clinical features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Fever, lethargy, anorexia</a:t>
            </a:r>
          </a:p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Vomiting</a:t>
            </a:r>
          </a:p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Diarrhea: watery, bloody, with a tell-tale odor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Severely dehydrated</a:t>
            </a:r>
          </a:p>
          <a:p>
            <a:pPr eaLnBrk="1" hangingPunct="1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52429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</a:rPr>
              <a:t>Diagnosis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428736"/>
            <a:ext cx="8077200" cy="36576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History and PE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Clinical signs</a:t>
            </a:r>
          </a:p>
          <a:p>
            <a:pPr>
              <a:lnSpc>
                <a:spcPct val="90000"/>
              </a:lnSpc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Haemagglutination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pig and rhesus monkey RBC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by virus present in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fecal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extracts.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Electron microscopy, virus isolation, enzyme immunoassay, and amplification of viral DNA using PCR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Biopsy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Necropsy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Lower and middle small intestines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Bone marrow</a:t>
            </a:r>
          </a:p>
          <a:p>
            <a:pPr lvl="1" eaLnBrk="1" hangingPunct="1">
              <a:lnSpc>
                <a:spcPct val="90000"/>
              </a:lnSpc>
              <a:buFont typeface="Arial" pitchFamily="34" charset="0"/>
              <a:buChar char="•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65" name="Rectangle 11"/>
          <p:cNvSpPr>
            <a:spLocks noChangeArrowheads="1"/>
          </p:cNvSpPr>
          <p:nvPr/>
        </p:nvSpPr>
        <p:spPr bwMode="auto">
          <a:xfrm>
            <a:off x="0" y="2324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66" name="AutoShape 13" descr="http://images/Canine/Parvo/Swab.JPG"/>
          <p:cNvSpPr>
            <a:spLocks noChangeAspect="1" noChangeArrowheads="1"/>
          </p:cNvSpPr>
          <p:nvPr/>
        </p:nvSpPr>
        <p:spPr bwMode="auto">
          <a:xfrm>
            <a:off x="3208338" y="2370138"/>
            <a:ext cx="246856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7275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</a:rPr>
              <a:t>Prognosis</a:t>
            </a:r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28596" y="1571612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Most recover with intensive therapy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Dobermans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Rottweilers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Sensitive to the virus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Poor prognosis</a:t>
            </a:r>
          </a:p>
          <a:p>
            <a:pPr lvl="1" eaLnBrk="1" hangingPunct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Intussusception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eaLnBrk="1" hangingPunct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Hypoproteinemia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improvement after 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day of intensive care</a:t>
            </a:r>
          </a:p>
        </p:txBody>
      </p:sp>
    </p:spTree>
    <p:extLst>
      <p:ext uri="{BB962C8B-B14F-4D97-AF65-F5344CB8AC3E}">
        <p14:creationId xmlns="" xmlns:p14="http://schemas.microsoft.com/office/powerpoint/2010/main" val="3805890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rgbClr val="FF0000"/>
                </a:solidFill>
              </a:rPr>
              <a:t>Protection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Colostrum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Maternal antibodies protective until 2 month of age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Regular Vaccination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Keep indoors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Until the vaccination series are complete</a:t>
            </a:r>
          </a:p>
          <a:p>
            <a:pPr lvl="1">
              <a:buNone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Immunity after natural infection appears to be lifelong</a:t>
            </a:r>
            <a:r>
              <a:rPr lang="en-GB" dirty="0" smtClean="0"/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1386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500042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 </a:t>
            </a:r>
            <a:r>
              <a:rPr lang="en-US" sz="4000" b="1" dirty="0" smtClean="0">
                <a:solidFill>
                  <a:srgbClr val="FF0000"/>
                </a:solidFill>
              </a:rPr>
              <a:t>CPV Vaccine History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Original vaccines incorporated feline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panleukopenia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virus or mink enteritis viruses</a:t>
            </a:r>
          </a:p>
          <a:p>
            <a:pPr lvl="1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Similar to the original CPV</a:t>
            </a:r>
          </a:p>
          <a:p>
            <a:pPr lvl="1" eaLnBrk="1" hangingPunct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Killed and MLV were developed, but variable efficacy</a:t>
            </a:r>
          </a:p>
          <a:p>
            <a:pPr lvl="1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Low titer</a:t>
            </a:r>
          </a:p>
          <a:p>
            <a:pPr lvl="1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Interference of Maternal antibodies</a:t>
            </a:r>
          </a:p>
          <a:p>
            <a:pPr eaLnBrk="1" hangingPunct="1">
              <a:buFont typeface="Wingdings" pitchFamily="2" charset="2"/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2725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2533" name="Group 5"/>
          <p:cNvGrpSpPr>
            <a:grpSpLocks/>
          </p:cNvGrpSpPr>
          <p:nvPr/>
        </p:nvGrpSpPr>
        <p:grpSpPr bwMode="auto">
          <a:xfrm>
            <a:off x="0" y="2725738"/>
            <a:ext cx="9144000" cy="1387475"/>
            <a:chOff x="0" y="0"/>
            <a:chExt cx="5760" cy="874"/>
          </a:xfrm>
        </p:grpSpPr>
        <p:sp>
          <p:nvSpPr>
            <p:cNvPr id="22535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384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53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5760" cy="8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en-US"/>
                <a:t>  </a:t>
              </a:r>
              <a:r>
                <a:rPr kumimoji="1" lang="en-US" sz="8500"/>
                <a:t> </a:t>
              </a:r>
              <a:r>
                <a:rPr kumimoji="1" lang="en-US"/>
                <a:t>                   </a:t>
              </a:r>
            </a:p>
          </p:txBody>
        </p:sp>
      </p:grpSp>
      <p:pic>
        <p:nvPicPr>
          <p:cNvPr id="22534" name="Picture 8" descr="http://www.marvistavet.com/assets/images/syringeorange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30" y="214290"/>
            <a:ext cx="1577975" cy="136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13970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</a:rPr>
              <a:t>Vaccines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600200"/>
            <a:ext cx="8472518" cy="4525963"/>
          </a:xfrm>
        </p:spPr>
        <p:txBody>
          <a:bodyPr>
            <a:normAutofit/>
          </a:bodyPr>
          <a:lstStyle/>
          <a:p>
            <a:pPr lvl="2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DHPP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vaccine, also known as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5-in-1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vaccine, protects dogs against five highly contagious viral diseases that cause severe illness and may be fatal: distemper, canine adenovirus-1 (CAV-1), canine adenovirus-2 (CAV-2),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parainfluenza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parvovirus. </a:t>
            </a:r>
          </a:p>
          <a:p>
            <a:pPr lvl="2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 abbreviations for the vaccine are DA2PP and DAPP.</a:t>
            </a:r>
          </a:p>
          <a:p>
            <a:pPr lvl="2">
              <a:lnSpc>
                <a:spcPct val="90000"/>
              </a:lnSpc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Nobivac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®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DHPPi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Live attenuated vaccine for immunization of dogs against canine distemper virus, canine adenovirus, canine parvovirus and canine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parainfluenza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virus</a:t>
            </a:r>
          </a:p>
          <a:p>
            <a:pPr lvl="2">
              <a:lnSpc>
                <a:spcPct val="9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lnSpc>
                <a:spcPct val="9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14663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1" dirty="0" smtClean="0">
                <a:solidFill>
                  <a:srgbClr val="FF0000"/>
                </a:solidFill>
              </a:rPr>
              <a:t>CPV Vaccination Recommendations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 modified live vaccines for puppies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Start vaccinations at 6-8 weeks of age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Vaccinate every 3-4 weeks until 15-16 weeks of 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Giving a vaccine more frequently than every 2 weeks will cause interference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includes vaccines for different infections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07966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Other Parvoviruses…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924800" cy="4114800"/>
          </a:xfrm>
        </p:spPr>
        <p:txBody>
          <a:bodyPr/>
          <a:lstStyle/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Feline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Panleukopenia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Virus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Porcine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Parovirus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Aleutian Mink Diseases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</p:spTree>
    <p:extLst>
      <p:ext uri="{BB962C8B-B14F-4D97-AF65-F5344CB8AC3E}">
        <p14:creationId xmlns="" xmlns:p14="http://schemas.microsoft.com/office/powerpoint/2010/main" val="253443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1418</Words>
  <Application>Microsoft Office PowerPoint</Application>
  <PresentationFormat>On-screen Show (4:3)</PresentationFormat>
  <Paragraphs>164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Parvoviridae</vt:lpstr>
      <vt:lpstr>Slide 2</vt:lpstr>
      <vt:lpstr>Morphology </vt:lpstr>
      <vt:lpstr>Slide 4</vt:lpstr>
      <vt:lpstr>Genome </vt:lpstr>
      <vt:lpstr>Viral Replication</vt:lpstr>
      <vt:lpstr>Viral Replication</vt:lpstr>
      <vt:lpstr>Viral Replication</vt:lpstr>
      <vt:lpstr>Slide 9</vt:lpstr>
      <vt:lpstr>Slide 10</vt:lpstr>
      <vt:lpstr>Slide 11</vt:lpstr>
      <vt:lpstr>Canine Parvovirus  </vt:lpstr>
      <vt:lpstr>History</vt:lpstr>
      <vt:lpstr>Slide 14</vt:lpstr>
      <vt:lpstr>Slide 15</vt:lpstr>
      <vt:lpstr>Life cycle of Parvovirus</vt:lpstr>
      <vt:lpstr>Pathogenesis</vt:lpstr>
      <vt:lpstr>Hemorrhagic enteritis</vt:lpstr>
      <vt:lpstr>Slide 19</vt:lpstr>
      <vt:lpstr>Mechanisms of Death  </vt:lpstr>
      <vt:lpstr>Clinical features </vt:lpstr>
      <vt:lpstr>Diagnosis</vt:lpstr>
      <vt:lpstr>Prognosis</vt:lpstr>
      <vt:lpstr>Protection</vt:lpstr>
      <vt:lpstr> CPV Vaccine History</vt:lpstr>
      <vt:lpstr>Vaccines </vt:lpstr>
      <vt:lpstr>CPV Vaccination Recommendations</vt:lpstr>
      <vt:lpstr>Other Parvoviruses…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Parvoviridae</dc:title>
  <dc:creator>Sunil</dc:creator>
  <cp:lastModifiedBy>RATHORE</cp:lastModifiedBy>
  <cp:revision>58</cp:revision>
  <dcterms:created xsi:type="dcterms:W3CDTF">2006-08-16T00:00:00Z</dcterms:created>
  <dcterms:modified xsi:type="dcterms:W3CDTF">2025-03-20T05:39:31Z</dcterms:modified>
</cp:coreProperties>
</file>