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81" r:id="rId2"/>
    <p:sldId id="282" r:id="rId3"/>
    <p:sldId id="284" r:id="rId4"/>
    <p:sldId id="285" r:id="rId5"/>
    <p:sldId id="283" r:id="rId6"/>
    <p:sldId id="287" r:id="rId7"/>
    <p:sldId id="286" r:id="rId8"/>
    <p:sldId id="288" r:id="rId9"/>
    <p:sldId id="289" r:id="rId10"/>
    <p:sldId id="290" r:id="rId11"/>
    <p:sldId id="291" r:id="rId12"/>
    <p:sldId id="292" r:id="rId13"/>
    <p:sldId id="293" r:id="rId14"/>
    <p:sldId id="256" r:id="rId15"/>
    <p:sldId id="257" r:id="rId16"/>
    <p:sldId id="297" r:id="rId17"/>
    <p:sldId id="269" r:id="rId18"/>
    <p:sldId id="261" r:id="rId19"/>
    <p:sldId id="270" r:id="rId20"/>
    <p:sldId id="259" r:id="rId21"/>
    <p:sldId id="298" r:id="rId22"/>
    <p:sldId id="260" r:id="rId23"/>
    <p:sldId id="262" r:id="rId24"/>
    <p:sldId id="299" r:id="rId25"/>
    <p:sldId id="295" r:id="rId26"/>
    <p:sldId id="271" r:id="rId27"/>
    <p:sldId id="272" r:id="rId28"/>
    <p:sldId id="267" r:id="rId29"/>
    <p:sldId id="296" r:id="rId30"/>
    <p:sldId id="258" r:id="rId31"/>
    <p:sldId id="263" r:id="rId32"/>
    <p:sldId id="264" r:id="rId33"/>
    <p:sldId id="265" r:id="rId34"/>
    <p:sldId id="268" r:id="rId35"/>
    <p:sldId id="273" r:id="rId36"/>
    <p:sldId id="274" r:id="rId37"/>
    <p:sldId id="294" r:id="rId38"/>
    <p:sldId id="275" r:id="rId39"/>
    <p:sldId id="276" r:id="rId40"/>
    <p:sldId id="277" r:id="rId41"/>
    <p:sldId id="278" r:id="rId42"/>
    <p:sldId id="279" r:id="rId43"/>
    <p:sldId id="280"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510B65D-C734-41A8-A04D-D8C802F073DA}" type="datetimeFigureOut">
              <a:rPr lang="en-US" smtClean="0"/>
              <a:pPr/>
              <a:t>12/26/2024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FA2781-005A-43D2-BD58-24457A20B3D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Mx</a:t>
            </a:r>
            <a:r>
              <a:rPr lang="en-US" baseline="0" dirty="0" smtClean="0"/>
              <a:t> protein –</a:t>
            </a:r>
            <a:r>
              <a:rPr lang="en-US" baseline="0" dirty="0" err="1" smtClean="0"/>
              <a:t>myxovirus</a:t>
            </a:r>
            <a:r>
              <a:rPr lang="en-US" baseline="0" dirty="0" smtClean="0"/>
              <a:t> resistance</a:t>
            </a:r>
            <a:endParaRPr lang="en-US" dirty="0"/>
          </a:p>
        </p:txBody>
      </p:sp>
      <p:sp>
        <p:nvSpPr>
          <p:cNvPr id="4" name="Slide Number Placeholder 3"/>
          <p:cNvSpPr>
            <a:spLocks noGrp="1"/>
          </p:cNvSpPr>
          <p:nvPr>
            <p:ph type="sldNum" sz="quarter" idx="10"/>
          </p:nvPr>
        </p:nvSpPr>
        <p:spPr/>
        <p:txBody>
          <a:bodyPr/>
          <a:lstStyle/>
          <a:p>
            <a:fld id="{A6FA2781-005A-43D2-BD58-24457A20B3DF}" type="slidenum">
              <a:rPr lang="en-US" smtClean="0"/>
              <a:pPr/>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Viral Interference</a:t>
            </a:r>
            <a:endParaRPr lang="en-US" sz="4000" b="1" dirty="0">
              <a:solidFill>
                <a:srgbClr val="FF0000"/>
              </a:solidFill>
            </a:endParaRPr>
          </a:p>
        </p:txBody>
      </p:sp>
      <p:sp>
        <p:nvSpPr>
          <p:cNvPr id="3" name="Content Placeholder 2"/>
          <p:cNvSpPr>
            <a:spLocks noGrp="1"/>
          </p:cNvSpPr>
          <p:nvPr>
            <p:ph idx="1"/>
          </p:nvPr>
        </p:nvSpPr>
        <p:spPr/>
        <p:txBody>
          <a:bodyPr>
            <a:normAutofit/>
          </a:bodyPr>
          <a:lstStyle/>
          <a:p>
            <a:r>
              <a:rPr lang="en-GB" sz="2400" dirty="0" smtClean="0">
                <a:latin typeface="Times New Roman" pitchFamily="18" charset="0"/>
                <a:cs typeface="Times New Roman" pitchFamily="18" charset="0"/>
              </a:rPr>
              <a:t>When a virus-infected cell resists </a:t>
            </a:r>
            <a:r>
              <a:rPr lang="en-GB" sz="2400" dirty="0" err="1" smtClean="0">
                <a:latin typeface="Times New Roman" pitchFamily="18" charset="0"/>
                <a:cs typeface="Times New Roman" pitchFamily="18" charset="0"/>
              </a:rPr>
              <a:t>superinfection</a:t>
            </a:r>
            <a:r>
              <a:rPr lang="en-GB" sz="2400" dirty="0" smtClean="0">
                <a:latin typeface="Times New Roman" pitchFamily="18" charset="0"/>
                <a:cs typeface="Times New Roman" pitchFamily="18" charset="0"/>
              </a:rPr>
              <a:t> with the same or a different virus or virus-virus interaction in which the infection and/or replication of one virus is altered by the presence of another virus within the same host</a:t>
            </a:r>
          </a:p>
          <a:p>
            <a:endParaRPr lang="en-GB" sz="2400" dirty="0" smtClean="0">
              <a:latin typeface="Times New Roman" pitchFamily="18" charset="0"/>
              <a:cs typeface="Times New Roman" pitchFamily="18" charset="0"/>
            </a:endParaRPr>
          </a:p>
          <a:p>
            <a:r>
              <a:rPr lang="en-GB" sz="2400" dirty="0" smtClean="0">
                <a:latin typeface="Times New Roman" pitchFamily="18" charset="0"/>
                <a:cs typeface="Times New Roman" pitchFamily="18" charset="0"/>
              </a:rPr>
              <a:t>HOW?</a:t>
            </a:r>
          </a:p>
          <a:p>
            <a:pPr>
              <a:buNone/>
            </a:pPr>
            <a:r>
              <a:rPr lang="en-GB" sz="2400" dirty="0" smtClean="0">
                <a:latin typeface="Times New Roman" pitchFamily="18" charset="0"/>
                <a:cs typeface="Times New Roman" pitchFamily="18" charset="0"/>
              </a:rPr>
              <a:t>(1) interference mediated by defective interfering mutants, operating only against the </a:t>
            </a:r>
            <a:r>
              <a:rPr lang="en-GB" sz="2400" dirty="0" err="1" smtClean="0">
                <a:latin typeface="Times New Roman" pitchFamily="18" charset="0"/>
                <a:cs typeface="Times New Roman" pitchFamily="18" charset="0"/>
              </a:rPr>
              <a:t>homologuous</a:t>
            </a:r>
            <a:r>
              <a:rPr lang="en-GB" sz="2400" dirty="0" smtClean="0">
                <a:latin typeface="Times New Roman" pitchFamily="18" charset="0"/>
                <a:cs typeface="Times New Roman" pitchFamily="18" charset="0"/>
              </a:rPr>
              <a:t> virus , and </a:t>
            </a:r>
          </a:p>
          <a:p>
            <a:pPr>
              <a:buNone/>
            </a:pPr>
            <a:r>
              <a:rPr lang="en-GB" sz="2400" dirty="0" smtClean="0">
                <a:latin typeface="Times New Roman" pitchFamily="18" charset="0"/>
                <a:cs typeface="Times New Roman" pitchFamily="18" charset="0"/>
              </a:rPr>
              <a:t>(2) interference mediated by interferon</a:t>
            </a:r>
            <a:endParaRPr lang="en-US" sz="24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INTERFERONS </a:t>
            </a:r>
            <a:endParaRPr lang="en-US" b="1" dirty="0">
              <a:solidFill>
                <a:srgbClr val="FF0000"/>
              </a:solidFill>
            </a:endParaRPr>
          </a:p>
        </p:txBody>
      </p:sp>
      <p:sp>
        <p:nvSpPr>
          <p:cNvPr id="3" name="Content Placeholder 2"/>
          <p:cNvSpPr>
            <a:spLocks noGrp="1"/>
          </p:cNvSpPr>
          <p:nvPr>
            <p:ph idx="1"/>
          </p:nvPr>
        </p:nvSpPr>
        <p:spPr>
          <a:xfrm>
            <a:off x="457200" y="1600200"/>
            <a:ext cx="8458200" cy="4876800"/>
          </a:xfrm>
        </p:spPr>
        <p:txBody>
          <a:bodyPr>
            <a:normAutofit/>
          </a:bodyPr>
          <a:lstStyle/>
          <a:p>
            <a:pPr algn="just"/>
            <a:r>
              <a:rPr lang="en-GB" sz="2400" dirty="0" smtClean="0">
                <a:latin typeface="Times New Roman" pitchFamily="18" charset="0"/>
                <a:cs typeface="Times New Roman" pitchFamily="18" charset="0"/>
              </a:rPr>
              <a:t>Discovery by </a:t>
            </a:r>
            <a:r>
              <a:rPr lang="en-GB" sz="2400" b="1" dirty="0" smtClean="0">
                <a:latin typeface="Times New Roman" pitchFamily="18" charset="0"/>
                <a:cs typeface="Times New Roman" pitchFamily="18" charset="0"/>
              </a:rPr>
              <a:t>Isaacs and </a:t>
            </a:r>
            <a:r>
              <a:rPr lang="en-GB" sz="2400" b="1" dirty="0" err="1" smtClean="0">
                <a:latin typeface="Times New Roman" pitchFamily="18" charset="0"/>
                <a:cs typeface="Times New Roman" pitchFamily="18" charset="0"/>
              </a:rPr>
              <a:t>Lindenmann</a:t>
            </a:r>
            <a:r>
              <a:rPr lang="en-GB" sz="2400" b="1" dirty="0" smtClean="0">
                <a:latin typeface="Times New Roman" pitchFamily="18" charset="0"/>
                <a:cs typeface="Times New Roman" pitchFamily="18" charset="0"/>
              </a:rPr>
              <a:t> </a:t>
            </a:r>
            <a:r>
              <a:rPr lang="en-GB" sz="2400" dirty="0" smtClean="0">
                <a:latin typeface="Times New Roman" pitchFamily="18" charset="0"/>
                <a:cs typeface="Times New Roman" pitchFamily="18" charset="0"/>
              </a:rPr>
              <a:t>in 1957.</a:t>
            </a:r>
          </a:p>
          <a:p>
            <a:pPr algn="just"/>
            <a:r>
              <a:rPr lang="en-US" sz="2400" dirty="0" smtClean="0">
                <a:latin typeface="Times New Roman" pitchFamily="18" charset="0"/>
                <a:cs typeface="Times New Roman" pitchFamily="18" charset="0"/>
              </a:rPr>
              <a:t>Interferon is so named because of its ability </a:t>
            </a:r>
            <a:r>
              <a:rPr lang="en-US" sz="2400" dirty="0" smtClean="0">
                <a:solidFill>
                  <a:srgbClr val="FF0000"/>
                </a:solidFill>
                <a:latin typeface="Times New Roman" pitchFamily="18" charset="0"/>
                <a:cs typeface="Times New Roman" pitchFamily="18" charset="0"/>
              </a:rPr>
              <a:t>to interfere </a:t>
            </a:r>
            <a:r>
              <a:rPr lang="en-US" sz="2400" dirty="0" smtClean="0">
                <a:latin typeface="Times New Roman" pitchFamily="18" charset="0"/>
                <a:cs typeface="Times New Roman" pitchFamily="18" charset="0"/>
              </a:rPr>
              <a:t>with virus reproduction or replication</a:t>
            </a:r>
            <a:endParaRPr lang="en-GB" sz="2400" dirty="0" smtClean="0">
              <a:latin typeface="Times New Roman" pitchFamily="18" charset="0"/>
              <a:cs typeface="Times New Roman" pitchFamily="18" charset="0"/>
            </a:endParaRPr>
          </a:p>
          <a:p>
            <a:pPr algn="just"/>
            <a:r>
              <a:rPr lang="en-US" sz="2400" dirty="0" err="1" smtClean="0">
                <a:latin typeface="Times New Roman" pitchFamily="18" charset="0"/>
                <a:cs typeface="Times New Roman" pitchFamily="18" charset="0"/>
              </a:rPr>
              <a:t>Interferons</a:t>
            </a:r>
            <a:r>
              <a:rPr lang="en-US" sz="2400" dirty="0" smtClean="0">
                <a:latin typeface="Times New Roman" pitchFamily="18" charset="0"/>
                <a:cs typeface="Times New Roman" pitchFamily="18" charset="0"/>
              </a:rPr>
              <a:t> (IFNs) are </a:t>
            </a:r>
            <a:r>
              <a:rPr lang="en-GB" sz="2400" dirty="0" smtClean="0">
                <a:latin typeface="Times New Roman" pitchFamily="18" charset="0"/>
                <a:cs typeface="Times New Roman" pitchFamily="18" charset="0"/>
              </a:rPr>
              <a:t>low molecular weight </a:t>
            </a:r>
            <a:r>
              <a:rPr lang="en-US" sz="2400" dirty="0" smtClean="0">
                <a:latin typeface="Times New Roman" pitchFamily="18" charset="0"/>
                <a:cs typeface="Times New Roman" pitchFamily="18" charset="0"/>
              </a:rPr>
              <a:t>proteins made and released by lymphocytes in response to the presence of pathogens—such as viruses, bacteria, or parasites—or tumor cells. </a:t>
            </a:r>
          </a:p>
          <a:p>
            <a:pPr algn="just"/>
            <a:r>
              <a:rPr lang="en-US" sz="2400" dirty="0" smtClean="0">
                <a:latin typeface="Times New Roman" pitchFamily="18" charset="0"/>
                <a:cs typeface="Times New Roman" pitchFamily="18" charset="0"/>
              </a:rPr>
              <a:t>They allow communication between cells to trigger the protective </a:t>
            </a:r>
            <a:r>
              <a:rPr lang="en-US" sz="2400" dirty="0" err="1" smtClean="0">
                <a:latin typeface="Times New Roman" pitchFamily="18" charset="0"/>
                <a:cs typeface="Times New Roman" pitchFamily="18" charset="0"/>
              </a:rPr>
              <a:t>defences</a:t>
            </a:r>
            <a:r>
              <a:rPr lang="en-US" sz="2400" dirty="0" smtClean="0">
                <a:latin typeface="Times New Roman" pitchFamily="18" charset="0"/>
                <a:cs typeface="Times New Roman" pitchFamily="18" charset="0"/>
              </a:rPr>
              <a:t> of the immune system that eradicate pathogens or tumors.</a:t>
            </a:r>
          </a:p>
          <a:p>
            <a:pPr algn="just">
              <a:buNone/>
            </a:pPr>
            <a:endParaRPr lang="en-US" sz="24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Types of IFNs</a:t>
            </a:r>
            <a:endParaRPr lang="en-US" sz="3600" b="1" dirty="0">
              <a:solidFill>
                <a:srgbClr val="FF0000"/>
              </a:solidFill>
            </a:endParaRPr>
          </a:p>
        </p:txBody>
      </p:sp>
      <p:sp>
        <p:nvSpPr>
          <p:cNvPr id="3" name="Content Placeholder 2"/>
          <p:cNvSpPr>
            <a:spLocks noGrp="1"/>
          </p:cNvSpPr>
          <p:nvPr>
            <p:ph idx="1"/>
          </p:nvPr>
        </p:nvSpPr>
        <p:spPr>
          <a:xfrm>
            <a:off x="457200" y="1219200"/>
            <a:ext cx="8458200" cy="4525963"/>
          </a:xfrm>
        </p:spPr>
        <p:txBody>
          <a:bodyPr>
            <a:noAutofit/>
          </a:bodyPr>
          <a:lstStyle/>
          <a:p>
            <a:pPr algn="just"/>
            <a:r>
              <a:rPr lang="en-US" sz="2800" dirty="0" smtClean="0">
                <a:latin typeface="Times New Roman" pitchFamily="18" charset="0"/>
                <a:cs typeface="Times New Roman" pitchFamily="18" charset="0"/>
              </a:rPr>
              <a:t>Three</a:t>
            </a:r>
            <a:r>
              <a:rPr lang="en-US" sz="2400" dirty="0" smtClean="0">
                <a:latin typeface="Times New Roman" pitchFamily="18" charset="0"/>
                <a:cs typeface="Times New Roman" pitchFamily="18" charset="0"/>
              </a:rPr>
              <a:t> main classes- type I IFNs, type II IFN and type III IFNs. </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two main </a:t>
            </a:r>
            <a:r>
              <a:rPr lang="en-US" sz="2400" b="1" dirty="0" smtClean="0">
                <a:latin typeface="Times New Roman" pitchFamily="18" charset="0"/>
                <a:cs typeface="Times New Roman" pitchFamily="18" charset="0"/>
              </a:rPr>
              <a:t>type I IFNs </a:t>
            </a:r>
            <a:r>
              <a:rPr lang="en-US" sz="2400" dirty="0" smtClean="0">
                <a:latin typeface="Times New Roman" pitchFamily="18" charset="0"/>
                <a:cs typeface="Times New Roman" pitchFamily="18" charset="0"/>
              </a:rPr>
              <a:t>includes </a:t>
            </a:r>
            <a:r>
              <a:rPr lang="en-US" sz="2400" b="1" dirty="0" smtClean="0">
                <a:latin typeface="Times New Roman" pitchFamily="18" charset="0"/>
                <a:cs typeface="Times New Roman" pitchFamily="18" charset="0"/>
              </a:rPr>
              <a:t>IFN-α</a:t>
            </a:r>
            <a:r>
              <a:rPr lang="en-US" sz="2400" dirty="0" smtClean="0">
                <a:latin typeface="Times New Roman" pitchFamily="18" charset="0"/>
                <a:cs typeface="Times New Roman" pitchFamily="18" charset="0"/>
              </a:rPr>
              <a:t> (further classified into 13 different subtypes such as IFN-α1, -α2, -α4, -α5, -α6, -α7, -α8, -α10, -α13, -α14, -α16, -α17 and -α21), and </a:t>
            </a:r>
            <a:r>
              <a:rPr lang="en-US" sz="2400" b="1" dirty="0" smtClean="0">
                <a:latin typeface="Times New Roman" pitchFamily="18" charset="0"/>
                <a:cs typeface="Times New Roman" pitchFamily="18" charset="0"/>
              </a:rPr>
              <a:t>IFN-β</a:t>
            </a:r>
            <a:r>
              <a:rPr lang="en-US" sz="2400" dirty="0" smtClean="0">
                <a:latin typeface="Times New Roman" pitchFamily="18" charset="0"/>
                <a:cs typeface="Times New Roman" pitchFamily="18" charset="0"/>
              </a:rPr>
              <a:t>. </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b="1" dirty="0" smtClean="0">
                <a:latin typeface="Times New Roman" pitchFamily="18" charset="0"/>
                <a:cs typeface="Times New Roman" pitchFamily="18" charset="0"/>
              </a:rPr>
              <a:t>type II IFN</a:t>
            </a:r>
            <a:r>
              <a:rPr lang="en-US" sz="2400" dirty="0" smtClean="0">
                <a:latin typeface="Times New Roman" pitchFamily="18" charset="0"/>
                <a:cs typeface="Times New Roman" pitchFamily="18" charset="0"/>
              </a:rPr>
              <a:t> family consists of just </a:t>
            </a:r>
            <a:r>
              <a:rPr lang="en-US" sz="2400" b="1" dirty="0" smtClean="0">
                <a:latin typeface="Times New Roman" pitchFamily="18" charset="0"/>
                <a:cs typeface="Times New Roman" pitchFamily="18" charset="0"/>
              </a:rPr>
              <a:t>IFN-γ</a:t>
            </a:r>
            <a:r>
              <a:rPr lang="en-US" sz="2400" dirty="0" smtClean="0">
                <a:latin typeface="Times New Roman" pitchFamily="18" charset="0"/>
                <a:cs typeface="Times New Roman" pitchFamily="18" charset="0"/>
              </a:rPr>
              <a:t>. </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b="1" dirty="0" smtClean="0">
                <a:latin typeface="Times New Roman" pitchFamily="18" charset="0"/>
                <a:cs typeface="Times New Roman" pitchFamily="18" charset="0"/>
              </a:rPr>
              <a:t>type III IFN</a:t>
            </a:r>
            <a:r>
              <a:rPr lang="en-US" sz="2400" dirty="0" smtClean="0">
                <a:latin typeface="Times New Roman" pitchFamily="18" charset="0"/>
                <a:cs typeface="Times New Roman" pitchFamily="18" charset="0"/>
              </a:rPr>
              <a:t> family comprises IFN-λ subtypes with similar functions to type I IFN cytokines but restricted activity because their receptor is restricted to epithelial cell surfaces.</a:t>
            </a:r>
          </a:p>
          <a:p>
            <a:pPr algn="just"/>
            <a:endParaRPr lang="en-US" sz="2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P\OneDrive\Pictures\Saved Pictures\2022-08-08.png"/>
          <p:cNvPicPr>
            <a:picLocks noChangeAspect="1" noChangeArrowheads="1"/>
          </p:cNvPicPr>
          <p:nvPr/>
        </p:nvPicPr>
        <p:blipFill>
          <a:blip r:embed="rId2"/>
          <a:srcRect/>
          <a:stretch>
            <a:fillRect/>
          </a:stretch>
        </p:blipFill>
        <p:spPr bwMode="auto">
          <a:xfrm>
            <a:off x="41283" y="924004"/>
            <a:ext cx="9102717" cy="4562583"/>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Being </a:t>
            </a:r>
            <a:r>
              <a:rPr lang="en-US" sz="2400" b="1" dirty="0" smtClean="0">
                <a:latin typeface="Times New Roman" pitchFamily="18" charset="0"/>
                <a:cs typeface="Times New Roman" pitchFamily="18" charset="0"/>
              </a:rPr>
              <a:t>cytokines</a:t>
            </a:r>
            <a:r>
              <a:rPr lang="en-US" sz="2400" dirty="0" smtClean="0">
                <a:latin typeface="Times New Roman" pitchFamily="18" charset="0"/>
                <a:cs typeface="Times New Roman" pitchFamily="18" charset="0"/>
              </a:rPr>
              <a:t>, IFNs have other functions: </a:t>
            </a:r>
          </a:p>
          <a:p>
            <a:pPr algn="just">
              <a:buNone/>
            </a:pPr>
            <a:r>
              <a:rPr lang="en-US" sz="2400" dirty="0" smtClean="0">
                <a:latin typeface="Times New Roman" pitchFamily="18" charset="0"/>
                <a:cs typeface="Times New Roman" pitchFamily="18" charset="0"/>
              </a:rPr>
              <a:t>1.They activate immune cells, such as natural killer cells &amp; macrophages; </a:t>
            </a:r>
          </a:p>
          <a:p>
            <a:pPr algn="just">
              <a:buNone/>
            </a:pPr>
            <a:r>
              <a:rPr lang="en-US" sz="2400" dirty="0" smtClean="0">
                <a:latin typeface="Times New Roman" pitchFamily="18" charset="0"/>
                <a:cs typeface="Times New Roman" pitchFamily="18" charset="0"/>
              </a:rPr>
              <a:t>2.They increase recognition of infection or  tumor cells by up-regulating antigen presentation to T- lymphocytes;</a:t>
            </a:r>
          </a:p>
          <a:p>
            <a:pPr algn="just">
              <a:buNone/>
            </a:pPr>
            <a:r>
              <a:rPr lang="en-US" sz="2400" dirty="0" smtClean="0">
                <a:latin typeface="Times New Roman" pitchFamily="18" charset="0"/>
                <a:cs typeface="Times New Roman" pitchFamily="18" charset="0"/>
              </a:rPr>
              <a:t>3. They increase the ability of uninfected host cells to resist new infection by virus. </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Interferon itself is not directly the anti-viral agent, but it is the inducer of one or many anti-viral mechanisms</a:t>
            </a:r>
            <a:endParaRPr lang="en-US" sz="24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a:xfrm>
            <a:off x="685800" y="304800"/>
            <a:ext cx="7772400" cy="609600"/>
          </a:xfrm>
        </p:spPr>
        <p:txBody>
          <a:bodyPr>
            <a:normAutofit fontScale="90000"/>
          </a:bodyPr>
          <a:lstStyle/>
          <a:p>
            <a:r>
              <a:rPr lang="en-US" altLang="zh-CN" b="1">
                <a:solidFill>
                  <a:schemeClr val="bg1"/>
                </a:solidFill>
                <a:ea typeface="宋体" pitchFamily="2" charset="-122"/>
              </a:rPr>
              <a:t>Activities of interferon</a:t>
            </a:r>
          </a:p>
        </p:txBody>
      </p:sp>
      <p:graphicFrame>
        <p:nvGraphicFramePr>
          <p:cNvPr id="246842" name="Group 58"/>
          <p:cNvGraphicFramePr>
            <a:graphicFrameLocks noGrp="1"/>
          </p:cNvGraphicFramePr>
          <p:nvPr/>
        </p:nvGraphicFramePr>
        <p:xfrm>
          <a:off x="990600" y="533400"/>
          <a:ext cx="6858000" cy="5619506"/>
        </p:xfrm>
        <a:graphic>
          <a:graphicData uri="http://schemas.openxmlformats.org/drawingml/2006/table">
            <a:tbl>
              <a:tblPr/>
              <a:tblGrid>
                <a:gridCol w="6858000"/>
              </a:tblGrid>
              <a:tr h="43817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Antiviral  actions</a:t>
                      </a:r>
                    </a:p>
                  </a:txBody>
                  <a:tcPr horzOverflow="overflow">
                    <a:lnL cap="flat">
                      <a:noFill/>
                    </a:lnL>
                    <a:lnR cap="flat">
                      <a:noFill/>
                    </a:lnR>
                    <a:lnT cap="flat">
                      <a:noFill/>
                    </a:lnT>
                    <a:lnB>
                      <a:noFill/>
                    </a:lnB>
                    <a:lnTlToBr>
                      <a:noFill/>
                    </a:lnTlToBr>
                    <a:lnBlToTr>
                      <a:noFill/>
                    </a:lnBlToTr>
                    <a:noFill/>
                  </a:tcPr>
                </a:tc>
              </a:tr>
              <a:tr h="438172">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Char char="•"/>
                        <a:tabLst/>
                      </a:pPr>
                      <a:r>
                        <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rPr>
                        <a:t>initiate an antiviral state in cells</a:t>
                      </a:r>
                    </a:p>
                  </a:txBody>
                  <a:tcPr horzOverflow="overflow">
                    <a:lnL cap="flat">
                      <a:noFill/>
                    </a:lnL>
                    <a:lnR cap="flat">
                      <a:noFill/>
                    </a:lnR>
                    <a:lnT>
                      <a:noFill/>
                    </a:lnT>
                    <a:lnB>
                      <a:noFill/>
                    </a:lnB>
                    <a:lnTlToBr>
                      <a:noFill/>
                    </a:lnTlToBr>
                    <a:lnBlToTr>
                      <a:noFill/>
                    </a:lnBlToTr>
                    <a:noFill/>
                  </a:tcPr>
                </a:tc>
              </a:tr>
              <a:tr h="438172">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Char char="•"/>
                        <a:tabLst/>
                      </a:pPr>
                      <a:r>
                        <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rPr>
                        <a:t>block viral protein synthesis</a:t>
                      </a:r>
                    </a:p>
                  </a:txBody>
                  <a:tcPr horzOverflow="overflow">
                    <a:lnL cap="flat">
                      <a:noFill/>
                    </a:lnL>
                    <a:lnR cap="flat">
                      <a:noFill/>
                    </a:lnR>
                    <a:lnT>
                      <a:noFill/>
                    </a:lnT>
                    <a:lnB>
                      <a:noFill/>
                    </a:lnB>
                    <a:lnTlToBr>
                      <a:noFill/>
                    </a:lnTlToBr>
                    <a:lnBlToTr>
                      <a:noFill/>
                    </a:lnBlToTr>
                    <a:noFill/>
                  </a:tcPr>
                </a:tc>
              </a:tr>
              <a:tr h="438172">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Char char="•"/>
                        <a:tabLst/>
                      </a:pPr>
                      <a:r>
                        <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rPr>
                        <a:t>inhibit cell growth</a:t>
                      </a:r>
                    </a:p>
                  </a:txBody>
                  <a:tcPr horzOverflow="overflow">
                    <a:lnL cap="flat">
                      <a:noFill/>
                    </a:lnL>
                    <a:lnR cap="flat">
                      <a:noFill/>
                    </a:lnR>
                    <a:lnT>
                      <a:noFill/>
                    </a:lnT>
                    <a:lnB>
                      <a:noFill/>
                    </a:lnB>
                    <a:lnTlToBr>
                      <a:noFill/>
                    </a:lnTlToBr>
                    <a:lnBlToTr>
                      <a:noFill/>
                    </a:lnBlToTr>
                    <a:noFill/>
                  </a:tcPr>
                </a:tc>
              </a:tr>
              <a:tr h="5100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err="1" smtClean="0">
                          <a:ln>
                            <a:noFill/>
                          </a:ln>
                          <a:solidFill>
                            <a:schemeClr val="tx1"/>
                          </a:solidFill>
                          <a:effectLst/>
                          <a:latin typeface="Times New Roman" pitchFamily="18" charset="0"/>
                          <a:ea typeface="宋体" pitchFamily="2" charset="-122"/>
                        </a:rPr>
                        <a:t>Immunomodulatory</a:t>
                      </a: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 actions</a:t>
                      </a:r>
                    </a:p>
                  </a:txBody>
                  <a:tcPr horzOverflow="overflow">
                    <a:lnL cap="flat">
                      <a:noFill/>
                    </a:lnL>
                    <a:lnR cap="flat">
                      <a:noFill/>
                    </a:lnR>
                    <a:lnT>
                      <a:noFill/>
                    </a:lnT>
                    <a:lnB>
                      <a:noFill/>
                    </a:lnB>
                    <a:lnTlToBr>
                      <a:noFill/>
                    </a:lnTlToBr>
                    <a:lnBlToTr>
                      <a:noFill/>
                    </a:lnBlToTr>
                    <a:noFill/>
                  </a:tcPr>
                </a:tc>
              </a:tr>
              <a:tr h="438172">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Char char="•"/>
                        <a:tabLst/>
                      </a:pPr>
                      <a:r>
                        <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rPr>
                        <a:t>IFN alpha and IFN-beta activate NK cells</a:t>
                      </a:r>
                    </a:p>
                  </a:txBody>
                  <a:tcPr horzOverflow="overflow">
                    <a:lnL cap="flat">
                      <a:noFill/>
                    </a:lnL>
                    <a:lnR cap="flat">
                      <a:noFill/>
                    </a:lnR>
                    <a:lnT>
                      <a:noFill/>
                    </a:lnT>
                    <a:lnB>
                      <a:noFill/>
                    </a:lnB>
                    <a:lnTlToBr>
                      <a:noFill/>
                    </a:lnTlToBr>
                    <a:lnBlToTr>
                      <a:noFill/>
                    </a:lnBlToTr>
                    <a:noFill/>
                  </a:tcPr>
                </a:tc>
              </a:tr>
              <a:tr h="438172">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Char char="•"/>
                        <a:tabLst/>
                      </a:pPr>
                      <a:r>
                        <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rPr>
                        <a:t>IFN alpha and gamma activates macrophages</a:t>
                      </a:r>
                    </a:p>
                  </a:txBody>
                  <a:tcPr horzOverflow="overflow">
                    <a:lnL cap="flat">
                      <a:noFill/>
                    </a:lnL>
                    <a:lnR cap="flat">
                      <a:noFill/>
                    </a:lnR>
                    <a:lnT>
                      <a:noFill/>
                    </a:lnT>
                    <a:lnB>
                      <a:noFill/>
                    </a:lnB>
                    <a:lnTlToBr>
                      <a:noFill/>
                    </a:lnTlToBr>
                    <a:lnBlToTr>
                      <a:noFill/>
                    </a:lnBlToTr>
                    <a:noFill/>
                  </a:tcPr>
                </a:tc>
              </a:tr>
              <a:tr h="438172">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Char char="•"/>
                        <a:tabLst/>
                      </a:pPr>
                      <a:r>
                        <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rPr>
                        <a:t>increase MHC antigen expression</a:t>
                      </a:r>
                    </a:p>
                  </a:txBody>
                  <a:tcPr horzOverflow="overflow">
                    <a:lnL cap="flat">
                      <a:noFill/>
                    </a:lnL>
                    <a:lnR cap="flat">
                      <a:noFill/>
                    </a:lnR>
                    <a:lnT>
                      <a:noFill/>
                    </a:lnT>
                    <a:lnB>
                      <a:noFill/>
                    </a:lnB>
                    <a:lnTlToBr>
                      <a:noFill/>
                    </a:lnTlToBr>
                    <a:lnBlToTr>
                      <a:noFill/>
                    </a:lnBlToTr>
                    <a:noFill/>
                  </a:tcPr>
                </a:tc>
              </a:tr>
              <a:tr h="537446">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Char char="•"/>
                        <a:tabLst/>
                      </a:pPr>
                      <a:r>
                        <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rPr>
                        <a:t>regulate the activities of T cells</a:t>
                      </a:r>
                    </a:p>
                  </a:txBody>
                  <a:tcPr horzOverflow="overflow">
                    <a:lnL cap="flat">
                      <a:noFill/>
                    </a:lnL>
                    <a:lnR cap="flat">
                      <a:noFill/>
                    </a:lnR>
                    <a:lnT>
                      <a:noFill/>
                    </a:lnT>
                    <a:lnB>
                      <a:noFill/>
                    </a:lnB>
                    <a:lnTlToBr>
                      <a:noFill/>
                    </a:lnTlToBr>
                    <a:lnBlToTr>
                      <a:noFill/>
                    </a:lnBlToTr>
                    <a:noFill/>
                  </a:tcPr>
                </a:tc>
              </a:tr>
              <a:tr h="43817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Other actions</a:t>
                      </a:r>
                    </a:p>
                  </a:txBody>
                  <a:tcPr horzOverflow="overflow">
                    <a:lnL cap="flat">
                      <a:noFill/>
                    </a:lnL>
                    <a:lnR cap="flat">
                      <a:noFill/>
                    </a:lnR>
                    <a:lnT>
                      <a:noFill/>
                    </a:lnT>
                    <a:lnB>
                      <a:noFill/>
                    </a:lnB>
                    <a:lnTlToBr>
                      <a:noFill/>
                    </a:lnTlToBr>
                    <a:lnBlToTr>
                      <a:noFill/>
                    </a:lnBlToTr>
                    <a:noFill/>
                  </a:tcPr>
                </a:tc>
              </a:tr>
              <a:tr h="438172">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Char char="•"/>
                        <a:tabLst/>
                      </a:pPr>
                      <a:r>
                        <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rPr>
                        <a:t>regulate inflammatory processes</a:t>
                      </a:r>
                    </a:p>
                  </a:txBody>
                  <a:tcPr horzOverflow="overflow">
                    <a:lnL cap="flat">
                      <a:noFill/>
                    </a:lnL>
                    <a:lnR cap="flat">
                      <a:noFill/>
                    </a:lnR>
                    <a:lnT>
                      <a:noFill/>
                    </a:lnT>
                    <a:lnB>
                      <a:noFill/>
                    </a:lnB>
                    <a:lnTlToBr>
                      <a:noFill/>
                    </a:lnTlToBr>
                    <a:lnBlToTr>
                      <a:noFill/>
                    </a:lnBlToTr>
                    <a:noFill/>
                  </a:tcPr>
                </a:tc>
              </a:tr>
              <a:tr h="438172">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Char char="•"/>
                        <a:tabLst/>
                      </a:pPr>
                      <a:r>
                        <a:rPr kumimoji="0" lang="en-US" altLang="zh-CN" sz="2400" b="1" i="0" u="none" strike="noStrike" cap="none" normalizeH="0" baseline="0" dirty="0" smtClean="0">
                          <a:ln>
                            <a:noFill/>
                          </a:ln>
                          <a:solidFill>
                            <a:schemeClr val="tx1"/>
                          </a:solidFill>
                          <a:effectLst/>
                          <a:latin typeface="Times New Roman" pitchFamily="18" charset="0"/>
                          <a:ea typeface="宋体" pitchFamily="2" charset="-122"/>
                        </a:rPr>
                        <a:t>regulate tumor</a:t>
                      </a:r>
                      <a:r>
                        <a:rPr kumimoji="0" lang="en-US" altLang="zh-CN" sz="2400" b="0" i="0" u="none" strike="noStrike" cap="none" normalizeH="0" baseline="0" dirty="0" smtClean="0">
                          <a:ln>
                            <a:noFill/>
                          </a:ln>
                          <a:solidFill>
                            <a:schemeClr val="tx1"/>
                          </a:solidFill>
                          <a:effectLst/>
                          <a:latin typeface="Times New Roman" pitchFamily="18" charset="0"/>
                          <a:ea typeface="宋体" pitchFamily="2" charset="-122"/>
                        </a:rPr>
                        <a:t> growth</a:t>
                      </a:r>
                    </a:p>
                  </a:txBody>
                  <a:tcPr horzOverflow="overflow">
                    <a:lnL cap="flat">
                      <a:noFill/>
                    </a:lnL>
                    <a:lnR cap="flat">
                      <a:noFill/>
                    </a:lnR>
                    <a:lnT>
                      <a:noFill/>
                    </a:lnT>
                    <a:lnB cap="flat">
                      <a:noFill/>
                    </a:lnB>
                    <a:lnTlToBr>
                      <a:noFill/>
                    </a:lnTlToBr>
                    <a:lnBlToTr>
                      <a:noFill/>
                    </a:lnBlToTr>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600" b="1" dirty="0" smtClean="0">
                <a:solidFill>
                  <a:srgbClr val="FF0000"/>
                </a:solidFill>
                <a:ea typeface="宋体" pitchFamily="2" charset="-122"/>
              </a:rPr>
              <a:t>Interferon inducing agents</a:t>
            </a:r>
            <a:endParaRPr lang="en-US" sz="3600" b="1" dirty="0">
              <a:solidFill>
                <a:srgbClr val="FF0000"/>
              </a:solidFill>
            </a:endParaRPr>
          </a:p>
        </p:txBody>
      </p:sp>
      <p:sp>
        <p:nvSpPr>
          <p:cNvPr id="3" name="Content Placeholder 2"/>
          <p:cNvSpPr>
            <a:spLocks noGrp="1"/>
          </p:cNvSpPr>
          <p:nvPr>
            <p:ph idx="1"/>
          </p:nvPr>
        </p:nvSpPr>
        <p:spPr/>
        <p:txBody>
          <a:bodyPr>
            <a:normAutofit/>
          </a:bodyPr>
          <a:lstStyle/>
          <a:p>
            <a:pPr>
              <a:lnSpc>
                <a:spcPct val="90000"/>
              </a:lnSpc>
              <a:buNone/>
            </a:pPr>
            <a:r>
              <a:rPr lang="zh-CN" altLang="en-US" sz="2800" dirty="0" smtClean="0">
                <a:latin typeface="Times New Roman" pitchFamily="18" charset="0"/>
                <a:ea typeface="宋体" pitchFamily="2" charset="-122"/>
                <a:cs typeface="Times New Roman" pitchFamily="18" charset="0"/>
              </a:rPr>
              <a:t>(1) </a:t>
            </a:r>
            <a:r>
              <a:rPr lang="en-US" altLang="zh-CN" sz="2800" dirty="0" smtClean="0">
                <a:latin typeface="Times New Roman" pitchFamily="18" charset="0"/>
                <a:ea typeface="宋体" pitchFamily="2" charset="-122"/>
                <a:cs typeface="Times New Roman" pitchFamily="18" charset="0"/>
              </a:rPr>
              <a:t>Viruses. </a:t>
            </a:r>
          </a:p>
          <a:p>
            <a:pPr>
              <a:lnSpc>
                <a:spcPct val="90000"/>
              </a:lnSpc>
              <a:buNone/>
            </a:pPr>
            <a:r>
              <a:rPr lang="en-US" altLang="zh-CN" sz="2800" dirty="0" smtClean="0">
                <a:latin typeface="Times New Roman" pitchFamily="18" charset="0"/>
                <a:ea typeface="宋体" pitchFamily="2" charset="-122"/>
                <a:cs typeface="Times New Roman" pitchFamily="18" charset="0"/>
              </a:rPr>
              <a:t>(2) </a:t>
            </a:r>
            <a:r>
              <a:rPr lang="en-US" altLang="zh-CN" sz="2800" dirty="0" err="1" smtClean="0">
                <a:latin typeface="Times New Roman" pitchFamily="18" charset="0"/>
                <a:ea typeface="宋体" pitchFamily="2" charset="-122"/>
                <a:cs typeface="Times New Roman" pitchFamily="18" charset="0"/>
              </a:rPr>
              <a:t>dsRNA</a:t>
            </a:r>
            <a:r>
              <a:rPr lang="en-US" altLang="zh-CN" sz="2800" dirty="0" smtClean="0">
                <a:latin typeface="Times New Roman" pitchFamily="18" charset="0"/>
                <a:ea typeface="宋体" pitchFamily="2" charset="-122"/>
                <a:cs typeface="Times New Roman" pitchFamily="18" charset="0"/>
              </a:rPr>
              <a:t> is a potent inducer, both viral intermediates, and synthetic poly-C.  </a:t>
            </a:r>
          </a:p>
          <a:p>
            <a:pPr>
              <a:lnSpc>
                <a:spcPct val="90000"/>
              </a:lnSpc>
              <a:buNone/>
            </a:pPr>
            <a:r>
              <a:rPr lang="en-US" altLang="zh-CN" sz="2800" dirty="0" smtClean="0">
                <a:latin typeface="Times New Roman" pitchFamily="18" charset="0"/>
                <a:ea typeface="宋体" pitchFamily="2" charset="-122"/>
                <a:cs typeface="Times New Roman" pitchFamily="18" charset="0"/>
              </a:rPr>
              <a:t>(3) Certain Bacterial infections, and the production of </a:t>
            </a:r>
            <a:r>
              <a:rPr lang="en-US" altLang="zh-CN" sz="2800" dirty="0" err="1" smtClean="0">
                <a:latin typeface="Times New Roman" pitchFamily="18" charset="0"/>
                <a:ea typeface="宋体" pitchFamily="2" charset="-122"/>
                <a:cs typeface="Times New Roman" pitchFamily="18" charset="0"/>
              </a:rPr>
              <a:t>endotoxin</a:t>
            </a:r>
            <a:r>
              <a:rPr lang="en-US" altLang="zh-CN" sz="2800" dirty="0" smtClean="0">
                <a:latin typeface="Times New Roman" pitchFamily="18" charset="0"/>
                <a:ea typeface="宋体" pitchFamily="2" charset="-122"/>
                <a:cs typeface="Times New Roman" pitchFamily="18" charset="0"/>
              </a:rPr>
              <a:t>.  </a:t>
            </a:r>
          </a:p>
          <a:p>
            <a:pPr>
              <a:lnSpc>
                <a:spcPct val="90000"/>
              </a:lnSpc>
              <a:buNone/>
            </a:pPr>
            <a:r>
              <a:rPr lang="en-US" altLang="zh-CN" sz="2800" dirty="0" smtClean="0">
                <a:latin typeface="Times New Roman" pitchFamily="18" charset="0"/>
                <a:ea typeface="宋体" pitchFamily="2" charset="-122"/>
                <a:cs typeface="Times New Roman" pitchFamily="18" charset="0"/>
              </a:rPr>
              <a:t>(4) Metabolic activators/inhibitors. </a:t>
            </a:r>
          </a:p>
          <a:p>
            <a:pPr>
              <a:buNone/>
            </a:pPr>
            <a:endParaRPr lang="en-US" sz="28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685800" y="152400"/>
            <a:ext cx="7772400" cy="1143000"/>
          </a:xfrm>
          <a:noFill/>
          <a:ln/>
        </p:spPr>
        <p:txBody>
          <a:bodyPr>
            <a:normAutofit/>
          </a:bodyPr>
          <a:lstStyle/>
          <a:p>
            <a:r>
              <a:rPr lang="en-US" altLang="zh-CN" sz="3600" b="1" dirty="0">
                <a:solidFill>
                  <a:srgbClr val="FF0000"/>
                </a:solidFill>
                <a:ea typeface="宋体" pitchFamily="2" charset="-122"/>
              </a:rPr>
              <a:t>Mechanism of action</a:t>
            </a:r>
          </a:p>
        </p:txBody>
      </p:sp>
      <p:sp>
        <p:nvSpPr>
          <p:cNvPr id="247811" name="Rectangle 3"/>
          <p:cNvSpPr>
            <a:spLocks noGrp="1" noChangeArrowheads="1"/>
          </p:cNvSpPr>
          <p:nvPr>
            <p:ph type="body" idx="1"/>
          </p:nvPr>
        </p:nvSpPr>
        <p:spPr>
          <a:xfrm>
            <a:off x="228600" y="1371600"/>
            <a:ext cx="8458200" cy="5105400"/>
          </a:xfrm>
          <a:noFill/>
          <a:ln/>
        </p:spPr>
        <p:txBody>
          <a:bodyPr>
            <a:normAutofit/>
          </a:bodyPr>
          <a:lstStyle/>
          <a:p>
            <a:r>
              <a:rPr lang="en-US" altLang="zh-CN" sz="2800" dirty="0" smtClean="0">
                <a:latin typeface="Times New Roman" pitchFamily="18" charset="0"/>
                <a:ea typeface="宋体" pitchFamily="2" charset="-122"/>
                <a:cs typeface="Times New Roman" pitchFamily="18" charset="0"/>
              </a:rPr>
              <a:t>IFN release </a:t>
            </a:r>
            <a:r>
              <a:rPr lang="en-US" altLang="zh-CN" sz="2800" dirty="0">
                <a:latin typeface="Times New Roman" pitchFamily="18" charset="0"/>
                <a:ea typeface="宋体" pitchFamily="2" charset="-122"/>
                <a:cs typeface="Times New Roman" pitchFamily="18" charset="0"/>
              </a:rPr>
              <a:t>from an </a:t>
            </a:r>
            <a:r>
              <a:rPr lang="en-US" altLang="zh-CN" sz="2800" dirty="0" smtClean="0">
                <a:latin typeface="Times New Roman" pitchFamily="18" charset="0"/>
                <a:ea typeface="宋体" pitchFamily="2" charset="-122"/>
                <a:cs typeface="Times New Roman" pitchFamily="18" charset="0"/>
              </a:rPr>
              <a:t>initially </a:t>
            </a:r>
            <a:r>
              <a:rPr lang="en-US" altLang="zh-CN" sz="2800" dirty="0">
                <a:latin typeface="Times New Roman" pitchFamily="18" charset="0"/>
                <a:ea typeface="宋体" pitchFamily="2" charset="-122"/>
                <a:cs typeface="Times New Roman" pitchFamily="18" charset="0"/>
              </a:rPr>
              <a:t>infected cell occurs</a:t>
            </a:r>
          </a:p>
          <a:p>
            <a:r>
              <a:rPr lang="en-US" altLang="zh-CN" sz="2800" dirty="0">
                <a:latin typeface="Times New Roman" pitchFamily="18" charset="0"/>
                <a:ea typeface="宋体" pitchFamily="2" charset="-122"/>
                <a:cs typeface="Times New Roman" pitchFamily="18" charset="0"/>
              </a:rPr>
              <a:t>IFN binds to a specific cell surface receptor on </a:t>
            </a:r>
            <a:r>
              <a:rPr lang="en-US" altLang="zh-CN" sz="2800" dirty="0" smtClean="0">
                <a:latin typeface="Times New Roman" pitchFamily="18" charset="0"/>
                <a:ea typeface="宋体" pitchFamily="2" charset="-122"/>
                <a:cs typeface="Times New Roman" pitchFamily="18" charset="0"/>
              </a:rPr>
              <a:t>plasma membrane of other cells- one receptor for </a:t>
            </a:r>
            <a:r>
              <a:rPr lang="en-US" altLang="zh-CN" sz="2800" dirty="0" err="1" smtClean="0">
                <a:latin typeface="Times New Roman" pitchFamily="18" charset="0"/>
                <a:ea typeface="宋体" pitchFamily="2" charset="-122"/>
                <a:cs typeface="Times New Roman" pitchFamily="18" charset="0"/>
              </a:rPr>
              <a:t>interferons</a:t>
            </a:r>
            <a:r>
              <a:rPr lang="en-US" altLang="zh-CN" sz="2800" dirty="0" smtClean="0">
                <a:latin typeface="Times New Roman" pitchFamily="18" charset="0"/>
                <a:ea typeface="宋体" pitchFamily="2" charset="-122"/>
                <a:cs typeface="Times New Roman" pitchFamily="18" charset="0"/>
              </a:rPr>
              <a:t> </a:t>
            </a:r>
            <a:r>
              <a:rPr lang="el-GR" altLang="zh-CN" sz="2800" dirty="0" smtClean="0">
                <a:latin typeface="Times New Roman" pitchFamily="18" charset="0"/>
                <a:ea typeface="宋体" pitchFamily="2" charset="-122"/>
                <a:cs typeface="Times New Roman" pitchFamily="18" charset="0"/>
              </a:rPr>
              <a:t>α</a:t>
            </a:r>
            <a:r>
              <a:rPr lang="en-US" altLang="zh-CN" sz="2800" dirty="0" smtClean="0">
                <a:latin typeface="Times New Roman" pitchFamily="18" charset="0"/>
                <a:ea typeface="宋体" pitchFamily="2" charset="-122"/>
                <a:cs typeface="Times New Roman" pitchFamily="18" charset="0"/>
              </a:rPr>
              <a:t> and </a:t>
            </a:r>
            <a:r>
              <a:rPr lang="el-GR" altLang="zh-CN" sz="2800" dirty="0" smtClean="0">
                <a:latin typeface="Times New Roman" pitchFamily="18" charset="0"/>
                <a:ea typeface="宋体" pitchFamily="2" charset="-122"/>
                <a:cs typeface="Times New Roman" pitchFamily="18" charset="0"/>
              </a:rPr>
              <a:t>β</a:t>
            </a:r>
            <a:r>
              <a:rPr lang="en-US" altLang="zh-CN" sz="2800" dirty="0" smtClean="0">
                <a:latin typeface="Times New Roman" pitchFamily="18" charset="0"/>
                <a:ea typeface="宋体" pitchFamily="2" charset="-122"/>
                <a:cs typeface="Times New Roman" pitchFamily="18" charset="0"/>
              </a:rPr>
              <a:t> and another for interferon </a:t>
            </a:r>
            <a:r>
              <a:rPr lang="el-GR" altLang="zh-CN" sz="2800" dirty="0" smtClean="0">
                <a:latin typeface="Times New Roman" pitchFamily="18" charset="0"/>
                <a:ea typeface="宋体" pitchFamily="2" charset="-122"/>
                <a:cs typeface="Times New Roman" pitchFamily="18" charset="0"/>
              </a:rPr>
              <a:t>γ</a:t>
            </a:r>
            <a:r>
              <a:rPr lang="en-US" altLang="zh-CN" sz="2800" dirty="0" smtClean="0">
                <a:latin typeface="Times New Roman" pitchFamily="18" charset="0"/>
                <a:ea typeface="宋体" pitchFamily="2" charset="-122"/>
                <a:cs typeface="Times New Roman" pitchFamily="18" charset="0"/>
              </a:rPr>
              <a:t>.</a:t>
            </a:r>
            <a:endParaRPr lang="en-US" altLang="zh-CN" sz="2800" dirty="0">
              <a:latin typeface="Times New Roman" pitchFamily="18" charset="0"/>
              <a:ea typeface="宋体" pitchFamily="2" charset="-122"/>
              <a:cs typeface="Times New Roman" pitchFamily="18" charset="0"/>
            </a:endParaRPr>
          </a:p>
          <a:p>
            <a:r>
              <a:rPr lang="en-US" altLang="zh-CN" sz="2800" dirty="0">
                <a:latin typeface="Times New Roman" pitchFamily="18" charset="0"/>
                <a:ea typeface="宋体" pitchFamily="2" charset="-122"/>
                <a:cs typeface="Times New Roman" pitchFamily="18" charset="0"/>
              </a:rPr>
              <a:t>IFN induces the “antiviral state” : synthesis of </a:t>
            </a:r>
            <a:r>
              <a:rPr lang="en-US" altLang="zh-CN" sz="2800" b="1" dirty="0">
                <a:latin typeface="Times New Roman" pitchFamily="18" charset="0"/>
                <a:ea typeface="宋体" pitchFamily="2" charset="-122"/>
                <a:cs typeface="Times New Roman" pitchFamily="18" charset="0"/>
              </a:rPr>
              <a:t>protein </a:t>
            </a:r>
            <a:r>
              <a:rPr lang="en-US" altLang="zh-CN" sz="2800" b="1" dirty="0" err="1">
                <a:latin typeface="Times New Roman" pitchFamily="18" charset="0"/>
                <a:ea typeface="宋体" pitchFamily="2" charset="-122"/>
                <a:cs typeface="Times New Roman" pitchFamily="18" charset="0"/>
              </a:rPr>
              <a:t>kinase</a:t>
            </a:r>
            <a:r>
              <a:rPr lang="en-US" altLang="zh-CN" sz="2800" b="1" dirty="0">
                <a:latin typeface="Times New Roman" pitchFamily="18" charset="0"/>
                <a:ea typeface="宋体" pitchFamily="2" charset="-122"/>
                <a:cs typeface="Times New Roman" pitchFamily="18" charset="0"/>
              </a:rPr>
              <a:t>, 2’5’ </a:t>
            </a:r>
            <a:r>
              <a:rPr lang="en-US" altLang="zh-CN" sz="2800" b="1" dirty="0" err="1">
                <a:latin typeface="Times New Roman" pitchFamily="18" charset="0"/>
                <a:ea typeface="宋体" pitchFamily="2" charset="-122"/>
                <a:cs typeface="Times New Roman" pitchFamily="18" charset="0"/>
              </a:rPr>
              <a:t>oligoadenylate</a:t>
            </a:r>
            <a:r>
              <a:rPr lang="en-US" altLang="zh-CN" sz="2800" b="1" dirty="0">
                <a:latin typeface="Times New Roman" pitchFamily="18" charset="0"/>
                <a:ea typeface="宋体" pitchFamily="2" charset="-122"/>
                <a:cs typeface="Times New Roman" pitchFamily="18" charset="0"/>
              </a:rPr>
              <a:t> </a:t>
            </a:r>
            <a:r>
              <a:rPr lang="en-US" altLang="zh-CN" sz="2800" b="1" dirty="0" err="1">
                <a:latin typeface="Times New Roman" pitchFamily="18" charset="0"/>
                <a:ea typeface="宋体" pitchFamily="2" charset="-122"/>
                <a:cs typeface="Times New Roman" pitchFamily="18" charset="0"/>
              </a:rPr>
              <a:t>synthetase</a:t>
            </a:r>
            <a:r>
              <a:rPr lang="en-US" altLang="zh-CN" sz="2800" b="1" dirty="0">
                <a:latin typeface="Times New Roman" pitchFamily="18" charset="0"/>
                <a:ea typeface="宋体" pitchFamily="2" charset="-122"/>
                <a:cs typeface="Times New Roman" pitchFamily="18" charset="0"/>
              </a:rPr>
              <a:t>, and </a:t>
            </a:r>
            <a:r>
              <a:rPr lang="en-US" altLang="zh-CN" sz="2800" b="1" dirty="0" err="1">
                <a:latin typeface="Times New Roman" pitchFamily="18" charset="0"/>
                <a:ea typeface="宋体" pitchFamily="2" charset="-122"/>
                <a:cs typeface="Times New Roman" pitchFamily="18" charset="0"/>
              </a:rPr>
              <a:t>ribonuclease</a:t>
            </a:r>
            <a:r>
              <a:rPr lang="en-US" altLang="zh-CN" sz="2800" b="1" dirty="0">
                <a:latin typeface="Times New Roman" pitchFamily="18" charset="0"/>
                <a:ea typeface="宋体" pitchFamily="2" charset="-122"/>
                <a:cs typeface="Times New Roman" pitchFamily="18" charset="0"/>
              </a:rPr>
              <a:t> L </a:t>
            </a:r>
          </a:p>
          <a:p>
            <a:r>
              <a:rPr lang="en-US" altLang="zh-CN" sz="2800" dirty="0">
                <a:latin typeface="Times New Roman" pitchFamily="18" charset="0"/>
                <a:ea typeface="宋体" pitchFamily="2" charset="-122"/>
                <a:cs typeface="Times New Roman" pitchFamily="18" charset="0"/>
              </a:rPr>
              <a:t>Viral infection of the cell activates these enzymes</a:t>
            </a:r>
          </a:p>
          <a:p>
            <a:r>
              <a:rPr lang="en-US" altLang="zh-CN" sz="2800" dirty="0">
                <a:latin typeface="Times New Roman" pitchFamily="18" charset="0"/>
                <a:ea typeface="宋体" pitchFamily="2" charset="-122"/>
                <a:cs typeface="Times New Roman" pitchFamily="18" charset="0"/>
              </a:rPr>
              <a:t>Inhibition of viral and cellular protein synthesis </a:t>
            </a:r>
            <a:r>
              <a:rPr lang="en-US" altLang="zh-CN" sz="2800" dirty="0" smtClean="0">
                <a:latin typeface="Times New Roman" pitchFamily="18" charset="0"/>
                <a:ea typeface="宋体" pitchFamily="2" charset="-122"/>
                <a:cs typeface="Times New Roman" pitchFamily="18" charset="0"/>
              </a:rPr>
              <a:t>occurs.</a:t>
            </a:r>
            <a:endParaRPr lang="zh-CN" altLang="en-US" sz="2800" dirty="0">
              <a:latin typeface="Times New Roman" pitchFamily="18" charset="0"/>
              <a:ea typeface="宋体" pitchFamily="2" charset="-122"/>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a:srcRect/>
          <a:stretch>
            <a:fillRect/>
          </a:stretch>
        </p:blipFill>
        <p:spPr>
          <a:xfrm>
            <a:off x="339600" y="685800"/>
            <a:ext cx="8131199" cy="5867400"/>
          </a:xfrm>
          <a:prstGeom prst="rect">
            <a:avLst/>
          </a:prstGeom>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834" name="Picture 2" descr="C:\My Documents\my english\Entrez-PubMed.files\My Pictures\25A.gif"/>
          <p:cNvPicPr>
            <a:picLocks noChangeAspect="1" noChangeArrowheads="1"/>
          </p:cNvPicPr>
          <p:nvPr/>
        </p:nvPicPr>
        <p:blipFill>
          <a:blip r:embed="rId2"/>
          <a:srcRect/>
          <a:stretch>
            <a:fillRect/>
          </a:stretch>
        </p:blipFill>
        <p:spPr bwMode="auto">
          <a:xfrm>
            <a:off x="762000" y="457200"/>
            <a:ext cx="7772400" cy="59436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9858" name="Picture 2" descr="C:\My Documents\my english\Entrez-PubMed.files\My Pictures\PKR.gif"/>
          <p:cNvPicPr>
            <a:picLocks noChangeAspect="1" noChangeArrowheads="1"/>
          </p:cNvPicPr>
          <p:nvPr/>
        </p:nvPicPr>
        <p:blipFill>
          <a:blip r:embed="rId2"/>
          <a:srcRect/>
          <a:stretch>
            <a:fillRect/>
          </a:stretch>
        </p:blipFill>
        <p:spPr bwMode="auto">
          <a:xfrm>
            <a:off x="914400" y="457200"/>
            <a:ext cx="7467600" cy="5943600"/>
          </a:xfrm>
          <a:prstGeom prst="rect">
            <a:avLst/>
          </a:prstGeom>
          <a:noFill/>
        </p:spPr>
      </p:pic>
      <p:sp>
        <p:nvSpPr>
          <p:cNvPr id="3" name="Rectangle 2"/>
          <p:cNvSpPr/>
          <p:nvPr/>
        </p:nvSpPr>
        <p:spPr>
          <a:xfrm>
            <a:off x="1371600" y="1905000"/>
            <a:ext cx="3124200" cy="369332"/>
          </a:xfrm>
          <a:prstGeom prst="rect">
            <a:avLst/>
          </a:prstGeom>
        </p:spPr>
        <p:txBody>
          <a:bodyPr wrap="square">
            <a:spAutoFit/>
          </a:bodyPr>
          <a:lstStyle/>
          <a:p>
            <a:r>
              <a:rPr lang="en-US" dirty="0" smtClean="0">
                <a:sym typeface="Symbol" pitchFamily="16" charset="2"/>
              </a:rPr>
              <a:t>protein </a:t>
            </a:r>
            <a:r>
              <a:rPr lang="en-US" dirty="0" err="1" smtClean="0">
                <a:sym typeface="Symbol" pitchFamily="16" charset="2"/>
              </a:rPr>
              <a:t>kinase</a:t>
            </a:r>
            <a:r>
              <a:rPr lang="en-US" dirty="0" smtClean="0">
                <a:sym typeface="Symbol" pitchFamily="16" charset="2"/>
              </a:rPr>
              <a:t> RNA dependent </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0882" name="Picture 2" descr="C:\My Documents\my english\Entrez-PubMed.files\My Pictures\I-RNASe.gif"/>
          <p:cNvPicPr>
            <a:picLocks noChangeAspect="1" noChangeArrowheads="1"/>
          </p:cNvPicPr>
          <p:nvPr/>
        </p:nvPicPr>
        <p:blipFill>
          <a:blip r:embed="rId2"/>
          <a:srcRect/>
          <a:stretch>
            <a:fillRect/>
          </a:stretch>
        </p:blipFill>
        <p:spPr bwMode="auto">
          <a:xfrm>
            <a:off x="1371600" y="304800"/>
            <a:ext cx="6038850" cy="61722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4" descr="d:\SCContentMedia\9780323033992\graphics\fullsize\M33992-013-f001.jpg"/>
          <p:cNvPicPr>
            <a:picLocks noChangeAspect="1" noChangeArrowheads="1"/>
          </p:cNvPicPr>
          <p:nvPr/>
        </p:nvPicPr>
        <p:blipFill>
          <a:blip r:embed="rId3"/>
          <a:srcRect/>
          <a:stretch>
            <a:fillRect/>
          </a:stretch>
        </p:blipFill>
        <p:spPr bwMode="auto">
          <a:xfrm>
            <a:off x="1447800" y="381000"/>
            <a:ext cx="6629400" cy="6175375"/>
          </a:xfrm>
          <a:prstGeom prst="rect">
            <a:avLst/>
          </a:prstGeom>
          <a:noFill/>
          <a:ln w="9525">
            <a:solidFill>
              <a:schemeClr val="tx1"/>
            </a:solidFill>
            <a:miter lim="800000"/>
            <a:headEnd/>
            <a:tailEnd/>
          </a:ln>
        </p:spPr>
      </p:pic>
      <p:sp>
        <p:nvSpPr>
          <p:cNvPr id="6147" name="文字方塊 2"/>
          <p:cNvSpPr txBox="1">
            <a:spLocks noChangeArrowheads="1"/>
          </p:cNvSpPr>
          <p:nvPr/>
        </p:nvSpPr>
        <p:spPr bwMode="auto">
          <a:xfrm>
            <a:off x="1692275" y="971550"/>
            <a:ext cx="2087563" cy="369888"/>
          </a:xfrm>
          <a:prstGeom prst="rect">
            <a:avLst/>
          </a:prstGeom>
          <a:noFill/>
          <a:ln w="9525">
            <a:noFill/>
            <a:miter lim="800000"/>
            <a:headEnd/>
            <a:tailEnd/>
          </a:ln>
        </p:spPr>
        <p:txBody>
          <a:bodyPr>
            <a:spAutoFit/>
          </a:bodyPr>
          <a:lstStyle/>
          <a:p>
            <a:r>
              <a:rPr lang="en-US" altLang="zh-TW" sz="1800"/>
              <a:t>Virus-infected cells</a:t>
            </a:r>
            <a:endParaRPr lang="zh-TW" altLang="en-US" sz="1800"/>
          </a:p>
        </p:txBody>
      </p:sp>
      <p:sp>
        <p:nvSpPr>
          <p:cNvPr id="6148" name="文字方塊 3"/>
          <p:cNvSpPr txBox="1">
            <a:spLocks noChangeArrowheads="1"/>
          </p:cNvSpPr>
          <p:nvPr/>
        </p:nvSpPr>
        <p:spPr bwMode="auto">
          <a:xfrm>
            <a:off x="395288" y="3500438"/>
            <a:ext cx="1368425" cy="923925"/>
          </a:xfrm>
          <a:prstGeom prst="rect">
            <a:avLst/>
          </a:prstGeom>
          <a:noFill/>
          <a:ln w="9525">
            <a:noFill/>
            <a:miter lim="800000"/>
            <a:headEnd/>
            <a:tailEnd/>
          </a:ln>
        </p:spPr>
        <p:txBody>
          <a:bodyPr>
            <a:spAutoFit/>
          </a:bodyPr>
          <a:lstStyle/>
          <a:p>
            <a:r>
              <a:rPr lang="en-US" altLang="zh-TW" sz="1800"/>
              <a:t>Bcl-2 and caspase cascade  </a:t>
            </a:r>
            <a:endParaRPr lang="zh-TW" altLang="en-US" sz="1800"/>
          </a:p>
        </p:txBody>
      </p:sp>
      <p:sp>
        <p:nvSpPr>
          <p:cNvPr id="6149" name="文字方塊 4"/>
          <p:cNvSpPr txBox="1">
            <a:spLocks noChangeArrowheads="1"/>
          </p:cNvSpPr>
          <p:nvPr/>
        </p:nvSpPr>
        <p:spPr bwMode="auto">
          <a:xfrm>
            <a:off x="3276600" y="3573463"/>
            <a:ext cx="792163" cy="368300"/>
          </a:xfrm>
          <a:prstGeom prst="rect">
            <a:avLst/>
          </a:prstGeom>
          <a:noFill/>
          <a:ln w="9525">
            <a:noFill/>
            <a:miter lim="800000"/>
            <a:headEnd/>
            <a:tailEnd/>
          </a:ln>
        </p:spPr>
        <p:txBody>
          <a:bodyPr>
            <a:spAutoFit/>
          </a:bodyPr>
          <a:lstStyle/>
          <a:p>
            <a:r>
              <a:rPr lang="en-US" altLang="zh-TW" sz="1800"/>
              <a:t>eIF-2</a:t>
            </a:r>
            <a:endParaRPr lang="zh-TW" altLang="en-US" sz="1800"/>
          </a:p>
        </p:txBody>
      </p:sp>
      <p:sp>
        <p:nvSpPr>
          <p:cNvPr id="6" name="向右箭號 5"/>
          <p:cNvSpPr/>
          <p:nvPr/>
        </p:nvSpPr>
        <p:spPr>
          <a:xfrm>
            <a:off x="3779838" y="1169988"/>
            <a:ext cx="360362" cy="46037"/>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en-US">
              <a:solidFill>
                <a:srgbClr val="FFFFFF"/>
              </a:solidFill>
            </a:endParaRPr>
          </a:p>
        </p:txBody>
      </p:sp>
      <p:sp>
        <p:nvSpPr>
          <p:cNvPr id="6151" name="文字方塊 6"/>
          <p:cNvSpPr txBox="1">
            <a:spLocks noChangeArrowheads="1"/>
          </p:cNvSpPr>
          <p:nvPr/>
        </p:nvSpPr>
        <p:spPr bwMode="auto">
          <a:xfrm>
            <a:off x="5508625" y="1844675"/>
            <a:ext cx="1943100" cy="338138"/>
          </a:xfrm>
          <a:prstGeom prst="rect">
            <a:avLst/>
          </a:prstGeom>
          <a:noFill/>
          <a:ln w="9525">
            <a:noFill/>
            <a:miter lim="800000"/>
            <a:headEnd/>
            <a:tailEnd/>
          </a:ln>
        </p:spPr>
        <p:txBody>
          <a:bodyPr>
            <a:spAutoFit/>
          </a:bodyPr>
          <a:lstStyle/>
          <a:p>
            <a:r>
              <a:rPr lang="en-US" altLang="zh-TW" sz="1600"/>
              <a:t>of uninfected cells</a:t>
            </a:r>
            <a:endParaRPr lang="zh-TW" altLang="en-US" sz="1600"/>
          </a:p>
        </p:txBody>
      </p:sp>
      <p:sp>
        <p:nvSpPr>
          <p:cNvPr id="6152" name="文字方塊 7"/>
          <p:cNvSpPr txBox="1">
            <a:spLocks noChangeArrowheads="1"/>
          </p:cNvSpPr>
          <p:nvPr/>
        </p:nvSpPr>
        <p:spPr bwMode="auto">
          <a:xfrm>
            <a:off x="7524750" y="1844675"/>
            <a:ext cx="1439863" cy="2308225"/>
          </a:xfrm>
          <a:prstGeom prst="rect">
            <a:avLst/>
          </a:prstGeom>
          <a:noFill/>
          <a:ln w="9525">
            <a:noFill/>
            <a:miter lim="800000"/>
            <a:headEnd/>
            <a:tailEnd/>
          </a:ln>
        </p:spPr>
        <p:txBody>
          <a:bodyPr>
            <a:spAutoFit/>
          </a:bodyPr>
          <a:lstStyle/>
          <a:p>
            <a:r>
              <a:rPr lang="en-US" altLang="zh-TW" sz="1600"/>
              <a:t>Increase expression of  MHC class I and II, and thus antigen presentation</a:t>
            </a:r>
          </a:p>
          <a:p>
            <a:endParaRPr lang="en-US" altLang="zh-TW" sz="1600"/>
          </a:p>
          <a:p>
            <a:r>
              <a:rPr lang="en-US" altLang="zh-TW" sz="1600"/>
              <a:t>Killing signal for CTLs</a:t>
            </a:r>
            <a:endParaRPr lang="zh-TW" altLang="en-US" sz="1600"/>
          </a:p>
        </p:txBody>
      </p:sp>
      <p:sp>
        <p:nvSpPr>
          <p:cNvPr id="6153" name="文字方塊 4"/>
          <p:cNvSpPr txBox="1">
            <a:spLocks noChangeArrowheads="1"/>
          </p:cNvSpPr>
          <p:nvPr/>
        </p:nvSpPr>
        <p:spPr bwMode="auto">
          <a:xfrm>
            <a:off x="2268538" y="1844675"/>
            <a:ext cx="1871662" cy="369888"/>
          </a:xfrm>
          <a:prstGeom prst="rect">
            <a:avLst/>
          </a:prstGeom>
          <a:noFill/>
          <a:ln w="9525">
            <a:noFill/>
            <a:miter lim="800000"/>
            <a:headEnd/>
            <a:tailEnd/>
          </a:ln>
        </p:spPr>
        <p:txBody>
          <a:bodyPr>
            <a:spAutoFit/>
          </a:bodyPr>
          <a:lstStyle/>
          <a:p>
            <a:r>
              <a:rPr lang="en-US" altLang="zh-TW" sz="1800"/>
              <a:t>= resistant status</a:t>
            </a:r>
            <a:endParaRPr lang="zh-TW" altLang="en-US" sz="1800"/>
          </a:p>
        </p:txBody>
      </p:sp>
      <p:sp>
        <p:nvSpPr>
          <p:cNvPr id="6154" name="文字方塊 4"/>
          <p:cNvSpPr txBox="1">
            <a:spLocks noChangeArrowheads="1"/>
          </p:cNvSpPr>
          <p:nvPr/>
        </p:nvSpPr>
        <p:spPr bwMode="auto">
          <a:xfrm>
            <a:off x="2843213" y="4859338"/>
            <a:ext cx="1223962" cy="585787"/>
          </a:xfrm>
          <a:prstGeom prst="rect">
            <a:avLst/>
          </a:prstGeom>
          <a:noFill/>
          <a:ln w="9525">
            <a:noFill/>
            <a:miter lim="800000"/>
            <a:headEnd/>
            <a:tailEnd/>
          </a:ln>
        </p:spPr>
        <p:txBody>
          <a:bodyPr>
            <a:spAutoFit/>
          </a:bodyPr>
          <a:lstStyle/>
          <a:p>
            <a:r>
              <a:rPr lang="en-US" altLang="zh-TW" sz="1600"/>
              <a:t>Blocks translation</a:t>
            </a:r>
            <a:endParaRPr lang="zh-TW" altLang="en-US" sz="160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762000"/>
            <a:ext cx="7772400" cy="1470025"/>
          </a:xfrm>
        </p:spPr>
        <p:txBody>
          <a:bodyPr/>
          <a:lstStyle/>
          <a:p>
            <a:r>
              <a:rPr lang="en-US" b="1" dirty="0" smtClean="0">
                <a:solidFill>
                  <a:srgbClr val="C00000"/>
                </a:solidFill>
                <a:latin typeface="Algerian" pitchFamily="82" charset="0"/>
              </a:rPr>
              <a:t>Viral Pathogenesis</a:t>
            </a:r>
            <a:endParaRPr lang="en-US" b="1" dirty="0">
              <a:solidFill>
                <a:srgbClr val="C00000"/>
              </a:solidFill>
              <a:latin typeface="Algerian" pitchFamily="82" charset="0"/>
            </a:endParaRPr>
          </a:p>
        </p:txBody>
      </p:sp>
      <p:sp>
        <p:nvSpPr>
          <p:cNvPr id="3" name="Subtitle 2"/>
          <p:cNvSpPr>
            <a:spLocks noGrp="1"/>
          </p:cNvSpPr>
          <p:nvPr>
            <p:ph type="subTitle" idx="1"/>
          </p:nvPr>
        </p:nvSpPr>
        <p:spPr>
          <a:xfrm>
            <a:off x="304800" y="2590800"/>
            <a:ext cx="8305800" cy="2895600"/>
          </a:xfrm>
        </p:spPr>
        <p:txBody>
          <a:bodyPr>
            <a:noAutofit/>
          </a:bodyPr>
          <a:lstStyle/>
          <a:p>
            <a:pPr marL="342900" lvl="0" indent="-342900" algn="just"/>
            <a:r>
              <a:rPr lang="en-US" sz="2800" b="1" dirty="0" smtClean="0">
                <a:solidFill>
                  <a:prstClr val="black"/>
                </a:solidFill>
                <a:latin typeface="Times New Roman" pitchFamily="18" charset="0"/>
                <a:cs typeface="Times New Roman" pitchFamily="18" charset="0"/>
              </a:rPr>
              <a:t>Viral pathogenesis </a:t>
            </a:r>
            <a:r>
              <a:rPr lang="en-US" sz="2800" dirty="0" smtClean="0">
                <a:solidFill>
                  <a:prstClr val="black"/>
                </a:solidFill>
                <a:latin typeface="Times New Roman" pitchFamily="18" charset="0"/>
                <a:cs typeface="Times New Roman" pitchFamily="18" charset="0"/>
              </a:rPr>
              <a:t>describes the processes by which viral infections cause diseases and involves virus–host interactions at the cellular and systemic level that determine whether a virus will cause a disease, what form that disease takes, and how severe the disease will be. </a:t>
            </a:r>
          </a:p>
          <a:p>
            <a:pPr algn="just"/>
            <a:endParaRPr lang="en-US" sz="4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38200"/>
            <a:ext cx="9144000" cy="6019800"/>
          </a:xfrm>
        </p:spPr>
        <p:txBody>
          <a:bodyPr>
            <a:noAutofit/>
          </a:bodyPr>
          <a:lstStyle/>
          <a:p>
            <a:r>
              <a:rPr lang="en-US" sz="2400" b="1" dirty="0" smtClean="0">
                <a:latin typeface="Times New Roman" pitchFamily="18" charset="0"/>
                <a:cs typeface="Times New Roman" pitchFamily="18" charset="0"/>
              </a:rPr>
              <a:t>Tropism</a:t>
            </a:r>
            <a:r>
              <a:rPr lang="en-US" sz="2400" dirty="0" smtClean="0">
                <a:latin typeface="Times New Roman" pitchFamily="18" charset="0"/>
                <a:cs typeface="Times New Roman" pitchFamily="18" charset="0"/>
              </a:rPr>
              <a:t> - The spectrum of tissues infected by a virus is called tropism.</a:t>
            </a:r>
          </a:p>
          <a:p>
            <a:r>
              <a:rPr lang="en-US" sz="2400" dirty="0" smtClean="0">
                <a:latin typeface="Times New Roman" pitchFamily="18" charset="0"/>
                <a:cs typeface="Times New Roman" pitchFamily="18" charset="0"/>
              </a:rPr>
              <a:t> For example, an </a:t>
            </a:r>
            <a:r>
              <a:rPr lang="en-US" sz="2400" dirty="0" err="1" smtClean="0">
                <a:latin typeface="Times New Roman" pitchFamily="18" charset="0"/>
                <a:cs typeface="Times New Roman" pitchFamily="18" charset="0"/>
              </a:rPr>
              <a:t>enterotropic</a:t>
            </a:r>
            <a:r>
              <a:rPr lang="en-US" sz="2400" dirty="0" smtClean="0">
                <a:latin typeface="Times New Roman" pitchFamily="18" charset="0"/>
                <a:cs typeface="Times New Roman" pitchFamily="18" charset="0"/>
              </a:rPr>
              <a:t> virus replicates in the gut, whereas a </a:t>
            </a:r>
            <a:r>
              <a:rPr lang="en-US" sz="2400" dirty="0" err="1" smtClean="0">
                <a:latin typeface="Times New Roman" pitchFamily="18" charset="0"/>
                <a:cs typeface="Times New Roman" pitchFamily="18" charset="0"/>
              </a:rPr>
              <a:t>neurotropic</a:t>
            </a:r>
            <a:r>
              <a:rPr lang="en-US" sz="2400" dirty="0" smtClean="0">
                <a:latin typeface="Times New Roman" pitchFamily="18" charset="0"/>
                <a:cs typeface="Times New Roman" pitchFamily="18" charset="0"/>
              </a:rPr>
              <a:t> virus replicates in cells of the nervous system. </a:t>
            </a:r>
          </a:p>
          <a:p>
            <a:r>
              <a:rPr lang="en-US" sz="2400" dirty="0" smtClean="0">
                <a:latin typeface="Times New Roman" pitchFamily="18" charset="0"/>
                <a:cs typeface="Times New Roman" pitchFamily="18" charset="0"/>
              </a:rPr>
              <a:t>Some viruses are </a:t>
            </a:r>
            <a:r>
              <a:rPr lang="en-US" sz="2400" b="1" dirty="0" err="1" smtClean="0">
                <a:latin typeface="Times New Roman" pitchFamily="18" charset="0"/>
                <a:cs typeface="Times New Roman" pitchFamily="18" charset="0"/>
              </a:rPr>
              <a:t>pantropic</a:t>
            </a:r>
            <a:r>
              <a:rPr lang="en-US" sz="2400" dirty="0" smtClean="0">
                <a:latin typeface="Times New Roman" pitchFamily="18" charset="0"/>
                <a:cs typeface="Times New Roman" pitchFamily="18" charset="0"/>
              </a:rPr>
              <a:t>, infecting and replicating in many cell types and tissues. </a:t>
            </a:r>
          </a:p>
          <a:p>
            <a:r>
              <a:rPr lang="en-US" sz="2400" dirty="0" smtClean="0">
                <a:latin typeface="Times New Roman" pitchFamily="18" charset="0"/>
                <a:cs typeface="Times New Roman" pitchFamily="18" charset="0"/>
              </a:rPr>
              <a:t>Tropism is governed by at least four parameters. </a:t>
            </a:r>
          </a:p>
          <a:p>
            <a:r>
              <a:rPr lang="en-US" sz="2400" dirty="0" smtClean="0">
                <a:latin typeface="Times New Roman" pitchFamily="18" charset="0"/>
                <a:cs typeface="Times New Roman" pitchFamily="18" charset="0"/>
              </a:rPr>
              <a:t>by the distribution of receptors for entry (</a:t>
            </a:r>
            <a:r>
              <a:rPr lang="en-US" sz="2400" b="1" dirty="0" smtClean="0">
                <a:latin typeface="Times New Roman" pitchFamily="18" charset="0"/>
                <a:cs typeface="Times New Roman" pitchFamily="18" charset="0"/>
              </a:rPr>
              <a:t>susceptibility</a:t>
            </a:r>
            <a:r>
              <a:rPr lang="en-US" sz="2400" dirty="0" smtClean="0">
                <a:latin typeface="Times New Roman" pitchFamily="18" charset="0"/>
                <a:cs typeface="Times New Roman" pitchFamily="18" charset="0"/>
              </a:rPr>
              <a:t>), or </a:t>
            </a:r>
          </a:p>
          <a:p>
            <a:r>
              <a:rPr lang="en-US" sz="2400" dirty="0" smtClean="0">
                <a:latin typeface="Times New Roman" pitchFamily="18" charset="0"/>
                <a:cs typeface="Times New Roman" pitchFamily="18" charset="0"/>
              </a:rPr>
              <a:t>by a requirement of the virus for differentially expressed intracellular gene products to complete the infection (</a:t>
            </a:r>
            <a:r>
              <a:rPr lang="en-US" sz="2400" b="1" dirty="0" err="1" smtClean="0">
                <a:latin typeface="Times New Roman" pitchFamily="18" charset="0"/>
                <a:cs typeface="Times New Roman" pitchFamily="18" charset="0"/>
              </a:rPr>
              <a:t>permissivity</a:t>
            </a:r>
            <a:r>
              <a:rPr lang="en-US" sz="2400" dirty="0" smtClean="0">
                <a:latin typeface="Times New Roman" pitchFamily="18" charset="0"/>
                <a:cs typeface="Times New Roman" pitchFamily="18"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sz="2400" dirty="0" smtClean="0">
                <a:latin typeface="Times New Roman" pitchFamily="18" charset="0"/>
                <a:cs typeface="Times New Roman" pitchFamily="18" charset="0"/>
              </a:rPr>
              <a:t>However, even if the cell is permissive and susceptible, infection may not occur because the virus is physically prevented from interacting with the tissue (</a:t>
            </a:r>
            <a:r>
              <a:rPr lang="en-US" sz="2400" b="1" dirty="0" smtClean="0">
                <a:latin typeface="Times New Roman" pitchFamily="18" charset="0"/>
                <a:cs typeface="Times New Roman" pitchFamily="18" charset="0"/>
              </a:rPr>
              <a:t>accessibility</a:t>
            </a:r>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Rhinoviruses multiply exclusively in the upper respiratory tract because they are adapted to multiply best at low temperature and pH and high oxygen tension.</a:t>
            </a:r>
          </a:p>
          <a:p>
            <a:pPr algn="just"/>
            <a:r>
              <a:rPr lang="en-US" sz="2400" dirty="0" smtClean="0">
                <a:latin typeface="Times New Roman" pitchFamily="18" charset="0"/>
                <a:cs typeface="Times New Roman" pitchFamily="18" charset="0"/>
              </a:rPr>
              <a:t>Finally, an infection may not occur even when the tissue is accessible and the cells are susceptible and permissive because of the local intrinsic and innate immune defenses.</a:t>
            </a:r>
          </a:p>
          <a:p>
            <a:pPr algn="just"/>
            <a:r>
              <a:rPr lang="en-US" sz="2400" dirty="0" smtClean="0">
                <a:latin typeface="Times New Roman" pitchFamily="18" charset="0"/>
                <a:cs typeface="Times New Roman" pitchFamily="18" charset="0"/>
              </a:rPr>
              <a:t>Even if virus initiates infection in a susceptible organ, replication of sufficient virus to cause disease may be prevented by host defenses.</a:t>
            </a:r>
          </a:p>
          <a:p>
            <a:pPr algn="just"/>
            <a:endParaRPr lang="en-US" sz="2400" dirty="0" smtClean="0">
              <a:latin typeface="Times New Roman" pitchFamily="18" charset="0"/>
              <a:cs typeface="Times New Roman" pitchFamily="18" charset="0"/>
            </a:endParaRPr>
          </a:p>
          <a:p>
            <a:pPr algn="just"/>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38200"/>
            <a:ext cx="8839200" cy="4953000"/>
          </a:xfrm>
        </p:spPr>
        <p:txBody>
          <a:bodyPr>
            <a:noAutofit/>
          </a:bodyPr>
          <a:lstStyle/>
          <a:p>
            <a:pPr algn="just"/>
            <a:r>
              <a:rPr lang="en-US" sz="2400" dirty="0" smtClean="0">
                <a:latin typeface="Times New Roman" pitchFamily="18" charset="0"/>
                <a:cs typeface="Times New Roman" pitchFamily="18" charset="0"/>
              </a:rPr>
              <a:t>Disease occurs only if the virus replicates sufficiently to damage essential cells directly, to cause the release of toxic substances from infected tissues, to damage cellular genes or to damage organ function indirectly as a result of the host immune response to the presence of virus antigens.</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Pathogenesis at the cellular level occurs in progressive stages leading to cellular disease.</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Since viruses must use the cell's machinery to synthesize their own nucleic acids and proteins, they have evolved various mechanisms to subvert the cell's normal functions to those required for production of viral macromolecules and eventually viral progeny. </a:t>
            </a:r>
            <a:endParaRPr lang="en-US" sz="24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HP\OneDrive\Pictures\Saved Pictures\2022-08-06.png"/>
          <p:cNvPicPr>
            <a:picLocks noChangeAspect="1" noChangeArrowheads="1"/>
          </p:cNvPicPr>
          <p:nvPr/>
        </p:nvPicPr>
        <p:blipFill>
          <a:blip r:embed="rId2"/>
          <a:srcRect/>
          <a:stretch>
            <a:fillRect/>
          </a:stretch>
        </p:blipFill>
        <p:spPr bwMode="auto">
          <a:xfrm>
            <a:off x="93270" y="1524000"/>
            <a:ext cx="8407793" cy="37338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Viral Pathogenesis</a:t>
            </a:r>
            <a:endParaRPr lang="en-US" sz="4000" b="1" dirty="0">
              <a:solidFill>
                <a:srgbClr val="FF0000"/>
              </a:solidFill>
            </a:endParaRPr>
          </a:p>
        </p:txBody>
      </p:sp>
      <p:sp>
        <p:nvSpPr>
          <p:cNvPr id="3" name="Content Placeholder 2"/>
          <p:cNvSpPr>
            <a:spLocks noGrp="1"/>
          </p:cNvSpPr>
          <p:nvPr>
            <p:ph idx="1"/>
          </p:nvPr>
        </p:nvSpPr>
        <p:spPr/>
        <p:txBody>
          <a:bodyPr>
            <a:normAutofit/>
          </a:bodyPr>
          <a:lstStyle/>
          <a:p>
            <a:pPr>
              <a:buNone/>
            </a:pPr>
            <a:r>
              <a:rPr lang="en-US" sz="2400" dirty="0" smtClean="0">
                <a:latin typeface="Times New Roman" pitchFamily="18" charset="0"/>
                <a:cs typeface="Times New Roman" pitchFamily="18" charset="0"/>
              </a:rPr>
              <a:t>Pathogenic mechanisms of viral disease include </a:t>
            </a:r>
          </a:p>
          <a:p>
            <a:pPr>
              <a:buNone/>
            </a:pPr>
            <a:r>
              <a:rPr lang="en-US" sz="2400" dirty="0" smtClean="0">
                <a:latin typeface="Times New Roman" pitchFamily="18" charset="0"/>
                <a:cs typeface="Times New Roman" pitchFamily="18" charset="0"/>
              </a:rPr>
              <a:t>(1) implantation of virus at the portal of entry,</a:t>
            </a:r>
          </a:p>
          <a:p>
            <a:pPr>
              <a:buNone/>
            </a:pPr>
            <a:r>
              <a:rPr lang="en-US" sz="2400" dirty="0" smtClean="0">
                <a:latin typeface="Times New Roman" pitchFamily="18" charset="0"/>
                <a:cs typeface="Times New Roman" pitchFamily="18" charset="0"/>
              </a:rPr>
              <a:t>(2) local replication, </a:t>
            </a:r>
          </a:p>
          <a:p>
            <a:pPr>
              <a:buNone/>
            </a:pPr>
            <a:r>
              <a:rPr lang="en-US" sz="2400" dirty="0" smtClean="0">
                <a:latin typeface="Times New Roman" pitchFamily="18" charset="0"/>
                <a:cs typeface="Times New Roman" pitchFamily="18" charset="0"/>
              </a:rPr>
              <a:t>(3) spread to target organs (disease sites), and </a:t>
            </a:r>
          </a:p>
          <a:p>
            <a:pPr>
              <a:buNone/>
            </a:pPr>
            <a:r>
              <a:rPr lang="en-US" sz="2400" dirty="0" smtClean="0">
                <a:latin typeface="Times New Roman" pitchFamily="18" charset="0"/>
                <a:cs typeface="Times New Roman" pitchFamily="18" charset="0"/>
              </a:rPr>
              <a:t>(4) spread to sites of shedding of virus into the environment.</a:t>
            </a:r>
          </a:p>
          <a:p>
            <a:pPr>
              <a:buNone/>
            </a:pP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Factors that affect pathogenic mechanisms:</a:t>
            </a:r>
          </a:p>
          <a:p>
            <a:pPr>
              <a:buNone/>
            </a:pPr>
            <a:r>
              <a:rPr lang="en-US" sz="2400" dirty="0" smtClean="0">
                <a:latin typeface="Times New Roman" pitchFamily="18" charset="0"/>
                <a:cs typeface="Times New Roman" pitchFamily="18" charset="0"/>
              </a:rPr>
              <a:t> (1) accessibility of virus to tissue, </a:t>
            </a:r>
          </a:p>
          <a:p>
            <a:pPr>
              <a:buNone/>
            </a:pPr>
            <a:r>
              <a:rPr lang="en-US" sz="2400" dirty="0" smtClean="0">
                <a:latin typeface="Times New Roman" pitchFamily="18" charset="0"/>
                <a:cs typeface="Times New Roman" pitchFamily="18" charset="0"/>
              </a:rPr>
              <a:t>(2) cell susceptibility to virus multiplication, and </a:t>
            </a:r>
          </a:p>
          <a:p>
            <a:pPr>
              <a:buNone/>
            </a:pPr>
            <a:r>
              <a:rPr lang="en-US" sz="2400" dirty="0" smtClean="0">
                <a:latin typeface="Times New Roman" pitchFamily="18" charset="0"/>
                <a:cs typeface="Times New Roman" pitchFamily="18" charset="0"/>
              </a:rPr>
              <a:t>(3) virus susceptibility to host defenses.</a:t>
            </a:r>
            <a:endParaRPr lang="en-US" sz="24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200" b="1" dirty="0" smtClean="0">
                <a:solidFill>
                  <a:srgbClr val="FF0000"/>
                </a:solidFill>
                <a:latin typeface="Arial" pitchFamily="34" charset="0"/>
                <a:cs typeface="Arial" pitchFamily="34" charset="0"/>
              </a:rPr>
              <a:t>Entry Points for a virus into a host</a:t>
            </a:r>
            <a:endParaRPr lang="en-US" sz="3200" dirty="0">
              <a:solidFill>
                <a:srgbClr val="FF0000"/>
              </a:solidFill>
              <a:latin typeface="Arial" pitchFamily="34" charset="0"/>
              <a:cs typeface="Arial" pitchFamily="34" charset="0"/>
            </a:endParaRPr>
          </a:p>
        </p:txBody>
      </p:sp>
      <p:sp>
        <p:nvSpPr>
          <p:cNvPr id="3" name="Content Placeholder 2"/>
          <p:cNvSpPr>
            <a:spLocks noGrp="1"/>
          </p:cNvSpPr>
          <p:nvPr>
            <p:ph idx="1"/>
          </p:nvPr>
        </p:nvSpPr>
        <p:spPr>
          <a:xfrm>
            <a:off x="0" y="914400"/>
            <a:ext cx="9144000" cy="4525963"/>
          </a:xfrm>
        </p:spPr>
        <p:txBody>
          <a:bodyPr>
            <a:noAutofit/>
          </a:bodyPr>
          <a:lstStyle/>
          <a:p>
            <a:pPr>
              <a:buNone/>
            </a:pPr>
            <a:r>
              <a:rPr lang="en-US" sz="2400" b="1" dirty="0" smtClean="0">
                <a:solidFill>
                  <a:srgbClr val="FF0000"/>
                </a:solidFill>
                <a:latin typeface="Times New Roman" pitchFamily="18" charset="0"/>
                <a:cs typeface="Times New Roman" pitchFamily="18" charset="0"/>
              </a:rPr>
              <a:t>Viral Entry </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Three requirements must be satisfied to ensure successful infection in an individual host: </a:t>
            </a:r>
          </a:p>
          <a:p>
            <a:pPr>
              <a:buNone/>
            </a:pPr>
            <a:r>
              <a:rPr lang="en-US" sz="2400" dirty="0" smtClean="0">
                <a:latin typeface="Times New Roman" pitchFamily="18" charset="0"/>
                <a:cs typeface="Times New Roman" pitchFamily="18" charset="0"/>
              </a:rPr>
              <a:t>• Sufficient virus must be available to initiate infection </a:t>
            </a:r>
          </a:p>
          <a:p>
            <a:pPr>
              <a:buNone/>
            </a:pPr>
            <a:r>
              <a:rPr lang="en-US" sz="2400" dirty="0" smtClean="0">
                <a:latin typeface="Times New Roman" pitchFamily="18" charset="0"/>
                <a:cs typeface="Times New Roman" pitchFamily="18" charset="0"/>
              </a:rPr>
              <a:t>• Cells at the site of infection must be accessible, susceptible, and permissive for the virus </a:t>
            </a:r>
          </a:p>
          <a:p>
            <a:pPr>
              <a:buNone/>
            </a:pPr>
            <a:r>
              <a:rPr lang="en-US" sz="2400" dirty="0" smtClean="0">
                <a:latin typeface="Times New Roman" pitchFamily="18" charset="0"/>
                <a:cs typeface="Times New Roman" pitchFamily="18" charset="0"/>
              </a:rPr>
              <a:t>• Local host anti-viral defense systems must be absent or initially ineffective. </a:t>
            </a:r>
          </a:p>
          <a:p>
            <a:pPr>
              <a:buNone/>
            </a:pPr>
            <a:r>
              <a:rPr lang="en-US" sz="2400" b="1" dirty="0" smtClean="0">
                <a:solidFill>
                  <a:srgbClr val="FF0000"/>
                </a:solidFill>
                <a:latin typeface="Times New Roman" pitchFamily="18" charset="0"/>
                <a:cs typeface="Times New Roman" pitchFamily="18" charset="0"/>
              </a:rPr>
              <a:t>Routes of Entry</a:t>
            </a:r>
          </a:p>
          <a:p>
            <a:pPr>
              <a:buNone/>
            </a:pPr>
            <a:r>
              <a:rPr lang="en-US" sz="2400" dirty="0" smtClean="0">
                <a:latin typeface="Times New Roman" pitchFamily="18" charset="0"/>
                <a:cs typeface="Times New Roman" pitchFamily="18" charset="0"/>
              </a:rPr>
              <a:t>1. </a:t>
            </a:r>
            <a:r>
              <a:rPr lang="en-US" sz="2400" b="1" dirty="0" smtClean="0">
                <a:latin typeface="Times New Roman" pitchFamily="18" charset="0"/>
                <a:cs typeface="Times New Roman" pitchFamily="18" charset="0"/>
              </a:rPr>
              <a:t>Skin - poxviruses, </a:t>
            </a:r>
            <a:r>
              <a:rPr lang="en-US" sz="2400" b="1" dirty="0" err="1" smtClean="0">
                <a:latin typeface="Times New Roman" pitchFamily="18" charset="0"/>
                <a:cs typeface="Times New Roman" pitchFamily="18" charset="0"/>
              </a:rPr>
              <a:t>togaviruses</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flaviviruses</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rhabdoviruses</a:t>
            </a:r>
            <a:endParaRPr lang="en-US" sz="2400" b="1"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By injury</a:t>
            </a:r>
          </a:p>
          <a:p>
            <a:r>
              <a:rPr lang="en-US" sz="2400" dirty="0" smtClean="0">
                <a:latin typeface="Times New Roman" pitchFamily="18" charset="0"/>
                <a:cs typeface="Times New Roman" pitchFamily="18" charset="0"/>
              </a:rPr>
              <a:t>Mechanical transfer by arthropod vectors -</a:t>
            </a:r>
            <a:r>
              <a:rPr lang="en-US" sz="2400" b="1" dirty="0" err="1" smtClean="0">
                <a:latin typeface="Times New Roman" pitchFamily="18" charset="0"/>
                <a:cs typeface="Times New Roman" pitchFamily="18" charset="0"/>
              </a:rPr>
              <a:t>arboviruses</a:t>
            </a:r>
            <a:endParaRPr lang="en-US" sz="2400" b="1"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Piercing through skin- </a:t>
            </a:r>
            <a:r>
              <a:rPr lang="en-US" sz="2400" b="1" dirty="0" smtClean="0">
                <a:latin typeface="Times New Roman" pitchFamily="18" charset="0"/>
                <a:cs typeface="Times New Roman" pitchFamily="18" charset="0"/>
              </a:rPr>
              <a:t>iatrogenic</a:t>
            </a:r>
          </a:p>
          <a:p>
            <a:r>
              <a:rPr lang="en-US" sz="2400" dirty="0" smtClean="0">
                <a:latin typeface="Times New Roman" pitchFamily="18" charset="0"/>
                <a:cs typeface="Times New Roman" pitchFamily="18" charset="0"/>
              </a:rPr>
              <a:t>Animal bites</a:t>
            </a:r>
          </a:p>
          <a:p>
            <a:pPr>
              <a:buNone/>
            </a:pPr>
            <a:endParaRPr lang="en-US" sz="18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US" sz="2400" dirty="0" smtClean="0"/>
              <a:t>2. </a:t>
            </a:r>
            <a:r>
              <a:rPr lang="en-US" sz="2400" b="1" dirty="0" smtClean="0">
                <a:latin typeface="Times New Roman" pitchFamily="18" charset="0"/>
                <a:cs typeface="Times New Roman" pitchFamily="18" charset="0"/>
              </a:rPr>
              <a:t>Respiratory Tract - </a:t>
            </a:r>
            <a:r>
              <a:rPr lang="en-US" sz="2400" b="1" dirty="0" err="1" smtClean="0">
                <a:latin typeface="Times New Roman" pitchFamily="18" charset="0"/>
                <a:cs typeface="Times New Roman" pitchFamily="18" charset="0"/>
              </a:rPr>
              <a:t>herpesviruses</a:t>
            </a:r>
            <a:r>
              <a:rPr lang="en-US" sz="2400" b="1" dirty="0" smtClean="0">
                <a:latin typeface="Times New Roman" pitchFamily="18" charset="0"/>
                <a:cs typeface="Times New Roman" pitchFamily="18" charset="0"/>
              </a:rPr>
              <a:t>, adenoviruses, </a:t>
            </a:r>
            <a:r>
              <a:rPr lang="en-US" sz="2400" b="1" dirty="0" err="1" smtClean="0">
                <a:latin typeface="Times New Roman" pitchFamily="18" charset="0"/>
                <a:cs typeface="Times New Roman" pitchFamily="18" charset="0"/>
              </a:rPr>
              <a:t>myxoviruses</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paramyxoviruses</a:t>
            </a:r>
            <a:r>
              <a:rPr lang="en-US" sz="2400" b="1" dirty="0" smtClean="0">
                <a:latin typeface="Times New Roman" pitchFamily="18" charset="0"/>
                <a:cs typeface="Times New Roman" pitchFamily="18" charset="0"/>
              </a:rPr>
              <a:t>, rhinoviruses</a:t>
            </a:r>
          </a:p>
          <a:p>
            <a:r>
              <a:rPr lang="en-US" sz="2400" dirty="0" smtClean="0">
                <a:latin typeface="Times New Roman" pitchFamily="18" charset="0"/>
                <a:cs typeface="Times New Roman" pitchFamily="18" charset="0"/>
              </a:rPr>
              <a:t>Through droplets or </a:t>
            </a:r>
            <a:r>
              <a:rPr lang="en-US" sz="2400" dirty="0" err="1" smtClean="0">
                <a:latin typeface="Times New Roman" pitchFamily="18" charset="0"/>
                <a:cs typeface="Times New Roman" pitchFamily="18" charset="0"/>
              </a:rPr>
              <a:t>fomites</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Spread via coughing and sneezing</a:t>
            </a:r>
          </a:p>
          <a:p>
            <a:r>
              <a:rPr lang="en-US" sz="2400" dirty="0" smtClean="0">
                <a:latin typeface="Times New Roman" pitchFamily="18" charset="0"/>
                <a:cs typeface="Times New Roman" pitchFamily="18" charset="0"/>
              </a:rPr>
              <a:t>Environmental and physicochemical properties of virus particles influence virus survival in aerosol</a:t>
            </a:r>
          </a:p>
          <a:p>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3. </a:t>
            </a:r>
            <a:r>
              <a:rPr lang="en-US" sz="2400" b="1" dirty="0" smtClean="0">
                <a:latin typeface="Times New Roman" pitchFamily="18" charset="0"/>
                <a:cs typeface="Times New Roman" pitchFamily="18" charset="0"/>
              </a:rPr>
              <a:t>Gastrointestinal Tract - </a:t>
            </a:r>
            <a:r>
              <a:rPr lang="en-US" sz="2400" b="1" dirty="0" err="1" smtClean="0">
                <a:latin typeface="Times New Roman" pitchFamily="18" charset="0"/>
                <a:cs typeface="Times New Roman" pitchFamily="18" charset="0"/>
              </a:rPr>
              <a:t>picornaviruses</a:t>
            </a:r>
            <a:r>
              <a:rPr lang="en-US" sz="2400" b="1" dirty="0" smtClean="0">
                <a:latin typeface="Times New Roman" pitchFamily="18" charset="0"/>
                <a:cs typeface="Times New Roman" pitchFamily="18" charset="0"/>
              </a:rPr>
              <a:t>, rotaviruses, </a:t>
            </a:r>
            <a:r>
              <a:rPr lang="en-US" sz="2400" b="1" dirty="0" err="1" smtClean="0">
                <a:latin typeface="Times New Roman" pitchFamily="18" charset="0"/>
                <a:cs typeface="Times New Roman" pitchFamily="18" charset="0"/>
              </a:rPr>
              <a:t>coronaviruses</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parvoviruses</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caliciviruses</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astroviruses</a:t>
            </a:r>
            <a:r>
              <a:rPr lang="en-US" sz="2400" b="1" dirty="0" smtClean="0">
                <a:latin typeface="Times New Roman" pitchFamily="18" charset="0"/>
                <a:cs typeface="Times New Roman" pitchFamily="18" charset="0"/>
              </a:rPr>
              <a:t>, adenoviruses.</a:t>
            </a:r>
          </a:p>
          <a:p>
            <a:r>
              <a:rPr lang="en-US" sz="2400" dirty="0" smtClean="0">
                <a:latin typeface="Times New Roman" pitchFamily="18" charset="0"/>
                <a:cs typeface="Times New Roman" pitchFamily="18" charset="0"/>
              </a:rPr>
              <a:t>By contaminated food and water</a:t>
            </a:r>
          </a:p>
          <a:p>
            <a:pPr>
              <a:buNone/>
            </a:pPr>
            <a:endParaRPr lang="en-US" sz="2400" dirty="0" smtClean="0">
              <a:latin typeface="Times New Roman" pitchFamily="18" charset="0"/>
              <a:cs typeface="Times New Roman" pitchFamily="18" charset="0"/>
            </a:endParaRPr>
          </a:p>
          <a:p>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81000" y="304800"/>
            <a:ext cx="8458200" cy="4648200"/>
          </a:xfrm>
        </p:spPr>
        <p:txBody>
          <a:bodyPr>
            <a:noAutofit/>
          </a:bodyPr>
          <a:lstStyle/>
          <a:p>
            <a:pPr>
              <a:buNone/>
            </a:pP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4. </a:t>
            </a:r>
            <a:r>
              <a:rPr lang="en-US" sz="2400" b="1" dirty="0" smtClean="0">
                <a:latin typeface="Times New Roman" pitchFamily="18" charset="0"/>
                <a:cs typeface="Times New Roman" pitchFamily="18" charset="0"/>
              </a:rPr>
              <a:t>Genitourinary Tract - retroviruses, </a:t>
            </a:r>
            <a:r>
              <a:rPr lang="en-US" sz="2400" b="1" dirty="0" err="1" smtClean="0">
                <a:latin typeface="Times New Roman" pitchFamily="18" charset="0"/>
                <a:cs typeface="Times New Roman" pitchFamily="18" charset="0"/>
              </a:rPr>
              <a:t>herpesviruses</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papillomaviruses</a:t>
            </a:r>
            <a:r>
              <a:rPr lang="en-US" sz="2400" b="1"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Due to trauma or abrasions to epithelium</a:t>
            </a:r>
          </a:p>
          <a:p>
            <a:r>
              <a:rPr lang="en-US" sz="2400" dirty="0" smtClean="0">
                <a:latin typeface="Times New Roman" pitchFamily="18" charset="0"/>
                <a:cs typeface="Times New Roman" pitchFamily="18" charset="0"/>
              </a:rPr>
              <a:t>Infections of epithelium</a:t>
            </a:r>
          </a:p>
          <a:p>
            <a:pPr>
              <a:buNone/>
            </a:pP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5. </a:t>
            </a:r>
            <a:r>
              <a:rPr lang="en-US" sz="2400" b="1" dirty="0" smtClean="0">
                <a:latin typeface="Times New Roman" pitchFamily="18" charset="0"/>
                <a:cs typeface="Times New Roman" pitchFamily="18" charset="0"/>
              </a:rPr>
              <a:t>Conjunctiva - adenoviruses, </a:t>
            </a:r>
            <a:r>
              <a:rPr lang="en-US" sz="2400" b="1" dirty="0" err="1" smtClean="0">
                <a:latin typeface="Times New Roman" pitchFamily="18" charset="0"/>
                <a:cs typeface="Times New Roman" pitchFamily="18" charset="0"/>
              </a:rPr>
              <a:t>herpesviruses</a:t>
            </a:r>
            <a:endParaRPr lang="en-US" sz="2400" b="1"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Usually leads to conjunctivitis</a:t>
            </a:r>
          </a:p>
          <a:p>
            <a:r>
              <a:rPr lang="en-US" sz="2400" dirty="0" smtClean="0">
                <a:latin typeface="Times New Roman" pitchFamily="18" charset="0"/>
                <a:cs typeface="Times New Roman" pitchFamily="18" charset="0"/>
              </a:rPr>
              <a:t>Sometimes may lead to systemic infection, e.g. Infectious canine hepatitis virus</a:t>
            </a:r>
          </a:p>
          <a:p>
            <a:pPr>
              <a:buNone/>
            </a:pPr>
            <a:endParaRPr lang="en-US" sz="2400" dirty="0" smtClean="0">
              <a:latin typeface="Times New Roman" pitchFamily="18" charset="0"/>
              <a:cs typeface="Times New Roman" pitchFamily="18" charset="0"/>
            </a:endParaRPr>
          </a:p>
          <a:p>
            <a:pPr>
              <a:buNone/>
            </a:pPr>
            <a:r>
              <a:rPr lang="en-US" sz="2400" b="1" dirty="0" err="1" smtClean="0">
                <a:latin typeface="Times New Roman" pitchFamily="18" charset="0"/>
                <a:cs typeface="Times New Roman" pitchFamily="18" charset="0"/>
              </a:rPr>
              <a:t>Viremia</a:t>
            </a:r>
            <a:r>
              <a:rPr lang="en-US" sz="2400" dirty="0" smtClean="0">
                <a:latin typeface="Times New Roman" pitchFamily="18" charset="0"/>
                <a:cs typeface="Times New Roman" pitchFamily="18" charset="0"/>
              </a:rPr>
              <a:t> - presence of infectious virus particles in the blood. These </a:t>
            </a:r>
            <a:r>
              <a:rPr lang="en-US" sz="2400" dirty="0" err="1" smtClean="0">
                <a:latin typeface="Times New Roman" pitchFamily="18" charset="0"/>
                <a:cs typeface="Times New Roman" pitchFamily="18" charset="0"/>
              </a:rPr>
              <a:t>virions</a:t>
            </a:r>
            <a:r>
              <a:rPr lang="en-US" sz="2400" dirty="0" smtClean="0">
                <a:latin typeface="Times New Roman" pitchFamily="18" charset="0"/>
                <a:cs typeface="Times New Roman" pitchFamily="18" charset="0"/>
              </a:rPr>
              <a:t> may be free in the blood or contained within infected cells such as lymphocytes.</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3200" b="1" dirty="0" smtClean="0">
                <a:solidFill>
                  <a:srgbClr val="FF0000"/>
                </a:solidFill>
              </a:rPr>
              <a:t>Virus dissemination within the host</a:t>
            </a:r>
            <a:endParaRPr lang="en-US" sz="3200" dirty="0">
              <a:solidFill>
                <a:srgbClr val="FF0000"/>
              </a:solidFill>
            </a:endParaRPr>
          </a:p>
        </p:txBody>
      </p:sp>
      <p:sp>
        <p:nvSpPr>
          <p:cNvPr id="3" name="Content Placeholder 2"/>
          <p:cNvSpPr>
            <a:spLocks noGrp="1"/>
          </p:cNvSpPr>
          <p:nvPr>
            <p:ph idx="1"/>
          </p:nvPr>
        </p:nvSpPr>
        <p:spPr>
          <a:xfrm>
            <a:off x="0" y="914400"/>
            <a:ext cx="8915400" cy="4724400"/>
          </a:xfrm>
        </p:spPr>
        <p:txBody>
          <a:bodyPr>
            <a:noAutofit/>
          </a:bodyPr>
          <a:lstStyle/>
          <a:p>
            <a:r>
              <a:rPr lang="en-US" sz="2400" dirty="0" smtClean="0">
                <a:latin typeface="Times New Roman" pitchFamily="18" charset="0"/>
                <a:cs typeface="Times New Roman" pitchFamily="18" charset="0"/>
              </a:rPr>
              <a:t>An infection that spreads beyond the primary site of infection is called </a:t>
            </a:r>
            <a:r>
              <a:rPr lang="en-US" sz="2400" b="1" dirty="0" smtClean="0">
                <a:latin typeface="Times New Roman" pitchFamily="18" charset="0"/>
                <a:cs typeface="Times New Roman" pitchFamily="18" charset="0"/>
              </a:rPr>
              <a:t>disseminated.</a:t>
            </a:r>
          </a:p>
          <a:p>
            <a:pPr>
              <a:buNone/>
            </a:pPr>
            <a:r>
              <a:rPr lang="en-US" sz="2400" b="1" dirty="0" smtClean="0">
                <a:latin typeface="Times New Roman" pitchFamily="18" charset="0"/>
                <a:cs typeface="Times New Roman" pitchFamily="18" charset="0"/>
              </a:rPr>
              <a:t>1. Localized versus systemic infection:</a:t>
            </a:r>
          </a:p>
          <a:p>
            <a:r>
              <a:rPr lang="en-US" sz="2400" dirty="0" smtClean="0">
                <a:latin typeface="Times New Roman" pitchFamily="18" charset="0"/>
                <a:cs typeface="Times New Roman" pitchFamily="18" charset="0"/>
              </a:rPr>
              <a:t>Infection of polarized epithelial cells</a:t>
            </a:r>
          </a:p>
          <a:p>
            <a:r>
              <a:rPr lang="en-US" sz="2400" dirty="0" smtClean="0">
                <a:latin typeface="Times New Roman" pitchFamily="18" charset="0"/>
                <a:cs typeface="Times New Roman" pitchFamily="18" charset="0"/>
              </a:rPr>
              <a:t>If virus is budding at the luminal surface- the disease is localized</a:t>
            </a:r>
          </a:p>
          <a:p>
            <a:r>
              <a:rPr lang="en-US" sz="2400" dirty="0" smtClean="0">
                <a:latin typeface="Times New Roman" pitchFamily="18" charset="0"/>
                <a:cs typeface="Times New Roman" pitchFamily="18" charset="0"/>
              </a:rPr>
              <a:t>If the virus is released at the basal surface- systemic infection is a strong possibility</a:t>
            </a:r>
          </a:p>
          <a:p>
            <a:pPr>
              <a:buNone/>
            </a:pPr>
            <a:r>
              <a:rPr lang="en-US" sz="2400" b="1" dirty="0" smtClean="0">
                <a:latin typeface="Times New Roman" pitchFamily="18" charset="0"/>
                <a:cs typeface="Times New Roman" pitchFamily="18" charset="0"/>
              </a:rPr>
              <a:t>2. </a:t>
            </a:r>
            <a:r>
              <a:rPr lang="en-US" sz="2400" b="1" dirty="0" err="1" smtClean="0">
                <a:latin typeface="Times New Roman" pitchFamily="18" charset="0"/>
                <a:cs typeface="Times New Roman" pitchFamily="18" charset="0"/>
              </a:rPr>
              <a:t>Hematogenous</a:t>
            </a:r>
            <a:r>
              <a:rPr lang="en-US" sz="2400" b="1" dirty="0" smtClean="0">
                <a:latin typeface="Times New Roman" pitchFamily="18" charset="0"/>
                <a:cs typeface="Times New Roman" pitchFamily="18" charset="0"/>
              </a:rPr>
              <a:t> spread. Occurs through:</a:t>
            </a:r>
          </a:p>
          <a:p>
            <a:r>
              <a:rPr lang="en-US" sz="2400" dirty="0" smtClean="0">
                <a:latin typeface="Times New Roman" pitchFamily="18" charset="0"/>
                <a:cs typeface="Times New Roman" pitchFamily="18" charset="0"/>
              </a:rPr>
              <a:t>The bite of an arthropod vector</a:t>
            </a:r>
          </a:p>
          <a:p>
            <a:r>
              <a:rPr lang="en-US" sz="2400" dirty="0" smtClean="0">
                <a:latin typeface="Times New Roman" pitchFamily="18" charset="0"/>
                <a:cs typeface="Times New Roman" pitchFamily="18" charset="0"/>
              </a:rPr>
              <a:t>Iatrogenic inoculation</a:t>
            </a:r>
          </a:p>
          <a:p>
            <a:r>
              <a:rPr lang="en-US" sz="2400" dirty="0" smtClean="0">
                <a:latin typeface="Times New Roman" pitchFamily="18" charset="0"/>
                <a:cs typeface="Times New Roman" pitchFamily="18" charset="0"/>
              </a:rPr>
              <a:t>Use of contaminated needles</a:t>
            </a:r>
          </a:p>
          <a:p>
            <a:r>
              <a:rPr lang="en-US" sz="2400" dirty="0" smtClean="0">
                <a:latin typeface="Times New Roman" pitchFamily="18" charset="0"/>
                <a:cs typeface="Times New Roman" pitchFamily="18" charset="0"/>
              </a:rPr>
              <a:t>Blood transfusion</a:t>
            </a:r>
          </a:p>
          <a:p>
            <a:r>
              <a:rPr lang="en-US" sz="2400" dirty="0" smtClean="0">
                <a:latin typeface="Times New Roman" pitchFamily="18" charset="0"/>
                <a:cs typeface="Times New Roman" pitchFamily="18" charset="0"/>
              </a:rPr>
              <a:t>Infections lead to </a:t>
            </a:r>
            <a:r>
              <a:rPr lang="en-US" sz="2400" dirty="0" err="1" smtClean="0">
                <a:latin typeface="Times New Roman" pitchFamily="18" charset="0"/>
                <a:cs typeface="Times New Roman" pitchFamily="18" charset="0"/>
              </a:rPr>
              <a:t>viremia</a:t>
            </a:r>
            <a:r>
              <a:rPr lang="en-US" sz="2400" dirty="0" smtClean="0">
                <a:latin typeface="Times New Roman" pitchFamily="18" charset="0"/>
                <a:cs typeface="Times New Roman" pitchFamily="18" charset="0"/>
              </a:rPr>
              <a:t>, then spread to other susceptible sites in body</a:t>
            </a:r>
          </a:p>
          <a:p>
            <a:pPr>
              <a:buNone/>
            </a:pPr>
            <a:endParaRPr lang="en-US" sz="24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buNone/>
            </a:pPr>
            <a:r>
              <a:rPr lang="en-US" sz="2400" dirty="0" smtClean="0"/>
              <a:t>3. </a:t>
            </a:r>
            <a:r>
              <a:rPr lang="en-US" sz="2400" b="1" dirty="0" smtClean="0">
                <a:latin typeface="Times New Roman" pitchFamily="18" charset="0"/>
                <a:cs typeface="Times New Roman" pitchFamily="18" charset="0"/>
              </a:rPr>
              <a:t>Neural spread</a:t>
            </a:r>
          </a:p>
          <a:p>
            <a:r>
              <a:rPr lang="en-US" sz="2400" dirty="0" smtClean="0">
                <a:latin typeface="Times New Roman" pitchFamily="18" charset="0"/>
                <a:cs typeface="Times New Roman" pitchFamily="18" charset="0"/>
              </a:rPr>
              <a:t>A </a:t>
            </a:r>
            <a:r>
              <a:rPr lang="en-US" sz="2400" b="1" dirty="0" err="1" smtClean="0">
                <a:latin typeface="Times New Roman" pitchFamily="18" charset="0"/>
                <a:cs typeface="Times New Roman" pitchFamily="18" charset="0"/>
              </a:rPr>
              <a:t>neurotropic</a:t>
            </a:r>
            <a:r>
              <a:rPr lang="en-US" sz="2400" b="1" dirty="0" smtClean="0">
                <a:latin typeface="Times New Roman" pitchFamily="18" charset="0"/>
                <a:cs typeface="Times New Roman" pitchFamily="18" charset="0"/>
              </a:rPr>
              <a:t> virus </a:t>
            </a:r>
            <a:r>
              <a:rPr lang="en-US" sz="2400" dirty="0" smtClean="0">
                <a:latin typeface="Times New Roman" pitchFamily="18" charset="0"/>
                <a:cs typeface="Times New Roman" pitchFamily="18" charset="0"/>
              </a:rPr>
              <a:t>can infect neural cells; infection may occur by neural or </a:t>
            </a:r>
            <a:r>
              <a:rPr lang="en-US" sz="2400" dirty="0" err="1" smtClean="0">
                <a:latin typeface="Times New Roman" pitchFamily="18" charset="0"/>
                <a:cs typeface="Times New Roman" pitchFamily="18" charset="0"/>
              </a:rPr>
              <a:t>hematogenous</a:t>
            </a:r>
            <a:r>
              <a:rPr lang="en-US" sz="2400" dirty="0" smtClean="0">
                <a:latin typeface="Times New Roman" pitchFamily="18" charset="0"/>
                <a:cs typeface="Times New Roman" pitchFamily="18" charset="0"/>
              </a:rPr>
              <a:t> spread initiating from a peripheral site. </a:t>
            </a:r>
          </a:p>
          <a:p>
            <a:r>
              <a:rPr lang="en-US" sz="2400" dirty="0" smtClean="0">
                <a:latin typeface="Times New Roman" pitchFamily="18" charset="0"/>
                <a:cs typeface="Times New Roman" pitchFamily="18" charset="0"/>
              </a:rPr>
              <a:t>A </a:t>
            </a:r>
            <a:r>
              <a:rPr lang="en-US" sz="2400" b="1" dirty="0" err="1" smtClean="0">
                <a:latin typeface="Times New Roman" pitchFamily="18" charset="0"/>
                <a:cs typeface="Times New Roman" pitchFamily="18" charset="0"/>
              </a:rPr>
              <a:t>neuroinvasive</a:t>
            </a:r>
            <a:r>
              <a:rPr lang="en-US" sz="2400" b="1" dirty="0" smtClean="0">
                <a:latin typeface="Times New Roman" pitchFamily="18" charset="0"/>
                <a:cs typeface="Times New Roman" pitchFamily="18" charset="0"/>
              </a:rPr>
              <a:t> virus </a:t>
            </a:r>
            <a:r>
              <a:rPr lang="en-US" sz="2400" dirty="0" smtClean="0">
                <a:latin typeface="Times New Roman" pitchFamily="18" charset="0"/>
                <a:cs typeface="Times New Roman" pitchFamily="18" charset="0"/>
              </a:rPr>
              <a:t>can enter the central nervous system (spinal cord and brain) after infection of a peripheral site. </a:t>
            </a:r>
          </a:p>
          <a:p>
            <a:r>
              <a:rPr lang="en-US" sz="2400" dirty="0" smtClean="0">
                <a:latin typeface="Times New Roman" pitchFamily="18" charset="0"/>
                <a:cs typeface="Times New Roman" pitchFamily="18" charset="0"/>
              </a:rPr>
              <a:t>A </a:t>
            </a:r>
            <a:r>
              <a:rPr lang="en-US" sz="2400" b="1" dirty="0" err="1" smtClean="0">
                <a:latin typeface="Times New Roman" pitchFamily="18" charset="0"/>
                <a:cs typeface="Times New Roman" pitchFamily="18" charset="0"/>
              </a:rPr>
              <a:t>neurovirulent</a:t>
            </a:r>
            <a:r>
              <a:rPr lang="en-US" sz="2400" b="1" dirty="0" smtClean="0">
                <a:latin typeface="Times New Roman" pitchFamily="18" charset="0"/>
                <a:cs typeface="Times New Roman" pitchFamily="18" charset="0"/>
              </a:rPr>
              <a:t> virus </a:t>
            </a:r>
            <a:r>
              <a:rPr lang="en-US" sz="2400" dirty="0" smtClean="0">
                <a:latin typeface="Times New Roman" pitchFamily="18" charset="0"/>
                <a:cs typeface="Times New Roman" pitchFamily="18" charset="0"/>
              </a:rPr>
              <a:t>can cause disease of nervous tissue, manifested by neurological symptoms and often death.</a:t>
            </a:r>
          </a:p>
          <a:p>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228600" y="1600200"/>
            <a:ext cx="8458200" cy="5029200"/>
          </a:xfrm>
        </p:spPr>
        <p:txBody>
          <a:bodyPr>
            <a:normAutofit lnSpcReduction="10000"/>
          </a:bodyPr>
          <a:lstStyle/>
          <a:p>
            <a:pPr algn="just">
              <a:buNone/>
            </a:pPr>
            <a:r>
              <a:rPr lang="en-GB" sz="2400" b="1" dirty="0" smtClean="0">
                <a:latin typeface="Times New Roman" pitchFamily="18" charset="0"/>
                <a:cs typeface="Times New Roman" pitchFamily="18" charset="0"/>
              </a:rPr>
              <a:t>Examples:</a:t>
            </a:r>
            <a:r>
              <a:rPr lang="en-GB" sz="2400" dirty="0" smtClean="0">
                <a:latin typeface="Times New Roman" pitchFamily="18" charset="0"/>
                <a:cs typeface="Times New Roman" pitchFamily="18" charset="0"/>
              </a:rPr>
              <a:t> </a:t>
            </a:r>
          </a:p>
          <a:p>
            <a:pPr algn="just"/>
            <a:r>
              <a:rPr lang="en-GB" sz="2400" dirty="0" smtClean="0">
                <a:latin typeface="Times New Roman" pitchFamily="18" charset="0"/>
                <a:cs typeface="Times New Roman" pitchFamily="18" charset="0"/>
              </a:rPr>
              <a:t>Herpes simplex virus has low </a:t>
            </a:r>
            <a:r>
              <a:rPr lang="en-GB" sz="2400" dirty="0" err="1" smtClean="0">
                <a:latin typeface="Times New Roman" pitchFamily="18" charset="0"/>
                <a:cs typeface="Times New Roman" pitchFamily="18" charset="0"/>
              </a:rPr>
              <a:t>neuroinvasiveness</a:t>
            </a:r>
            <a:r>
              <a:rPr lang="en-GB" sz="2400" dirty="0" smtClean="0">
                <a:latin typeface="Times New Roman" pitchFamily="18" charset="0"/>
                <a:cs typeface="Times New Roman" pitchFamily="18" charset="0"/>
              </a:rPr>
              <a:t> of the central nervous system, but high </a:t>
            </a:r>
            <a:r>
              <a:rPr lang="en-GB" sz="2400" dirty="0" err="1" smtClean="0">
                <a:latin typeface="Times New Roman" pitchFamily="18" charset="0"/>
                <a:cs typeface="Times New Roman" pitchFamily="18" charset="0"/>
              </a:rPr>
              <a:t>neurovirulence</a:t>
            </a:r>
            <a:r>
              <a:rPr lang="en-GB" sz="2400" dirty="0" smtClean="0">
                <a:latin typeface="Times New Roman" pitchFamily="18" charset="0"/>
                <a:cs typeface="Times New Roman" pitchFamily="18" charset="0"/>
              </a:rPr>
              <a:t>. It always enters the peripheral nervous system but rarely enters the central nervous system. When it does, the consequences are almost always severe, if not fatal. </a:t>
            </a:r>
          </a:p>
          <a:p>
            <a:pPr algn="just"/>
            <a:r>
              <a:rPr lang="en-GB" sz="2400" dirty="0" smtClean="0">
                <a:latin typeface="Times New Roman" pitchFamily="18" charset="0"/>
                <a:cs typeface="Times New Roman" pitchFamily="18" charset="0"/>
              </a:rPr>
              <a:t>Mumps virus has high </a:t>
            </a:r>
            <a:r>
              <a:rPr lang="en-GB" sz="2400" dirty="0" err="1" smtClean="0">
                <a:latin typeface="Times New Roman" pitchFamily="18" charset="0"/>
                <a:cs typeface="Times New Roman" pitchFamily="18" charset="0"/>
              </a:rPr>
              <a:t>neuroinvasiveness</a:t>
            </a:r>
            <a:r>
              <a:rPr lang="en-GB" sz="2400" dirty="0" smtClean="0">
                <a:latin typeface="Times New Roman" pitchFamily="18" charset="0"/>
                <a:cs typeface="Times New Roman" pitchFamily="18" charset="0"/>
              </a:rPr>
              <a:t> but low </a:t>
            </a:r>
            <a:r>
              <a:rPr lang="en-GB" sz="2400" dirty="0" err="1" smtClean="0">
                <a:latin typeface="Times New Roman" pitchFamily="18" charset="0"/>
                <a:cs typeface="Times New Roman" pitchFamily="18" charset="0"/>
              </a:rPr>
              <a:t>neurovirulence</a:t>
            </a:r>
            <a:r>
              <a:rPr lang="en-GB" sz="2400" dirty="0" smtClean="0">
                <a:latin typeface="Times New Roman" pitchFamily="18" charset="0"/>
                <a:cs typeface="Times New Roman" pitchFamily="18" charset="0"/>
              </a:rPr>
              <a:t>. Most infections lead to invasion of the central nervous system, but neurological disease is mild. </a:t>
            </a:r>
          </a:p>
          <a:p>
            <a:pPr algn="just"/>
            <a:r>
              <a:rPr lang="en-GB" sz="2400" dirty="0" smtClean="0">
                <a:latin typeface="Times New Roman" pitchFamily="18" charset="0"/>
                <a:cs typeface="Times New Roman" pitchFamily="18" charset="0"/>
              </a:rPr>
              <a:t>Rabies virus has high </a:t>
            </a:r>
            <a:r>
              <a:rPr lang="en-GB" sz="2400" dirty="0" err="1" smtClean="0">
                <a:latin typeface="Times New Roman" pitchFamily="18" charset="0"/>
                <a:cs typeface="Times New Roman" pitchFamily="18" charset="0"/>
              </a:rPr>
              <a:t>neuroinvasiveness</a:t>
            </a:r>
            <a:r>
              <a:rPr lang="en-GB" sz="2400" dirty="0" smtClean="0">
                <a:latin typeface="Times New Roman" pitchFamily="18" charset="0"/>
                <a:cs typeface="Times New Roman" pitchFamily="18" charset="0"/>
              </a:rPr>
              <a:t> and high </a:t>
            </a:r>
            <a:r>
              <a:rPr lang="en-GB" sz="2400" dirty="0" err="1" smtClean="0">
                <a:latin typeface="Times New Roman" pitchFamily="18" charset="0"/>
                <a:cs typeface="Times New Roman" pitchFamily="18" charset="0"/>
              </a:rPr>
              <a:t>neurovirulence</a:t>
            </a:r>
            <a:r>
              <a:rPr lang="en-GB" sz="2400" dirty="0" smtClean="0">
                <a:latin typeface="Times New Roman" pitchFamily="18" charset="0"/>
                <a:cs typeface="Times New Roman" pitchFamily="18" charset="0"/>
              </a:rPr>
              <a:t>. It readily infects the peripheral nervous system and spreads to the central nervous system with 100% lethality unless antiviral therapy is administered shortly after infection. </a:t>
            </a:r>
            <a:endParaRPr lang="en-US" sz="24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Incubation Period</a:t>
            </a:r>
            <a:endParaRPr lang="en-US" sz="4000" dirty="0">
              <a:solidFill>
                <a:srgbClr val="FF0000"/>
              </a:solidFill>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The incubation period is </a:t>
            </a:r>
            <a:r>
              <a:rPr lang="en-US" sz="2400" b="1" dirty="0" smtClean="0">
                <a:latin typeface="Times New Roman" pitchFamily="18" charset="0"/>
                <a:cs typeface="Times New Roman" pitchFamily="18" charset="0"/>
              </a:rPr>
              <a:t>the time between exposure to virus and onset of disease. </a:t>
            </a:r>
          </a:p>
          <a:p>
            <a:r>
              <a:rPr lang="en-US" sz="2400" dirty="0" smtClean="0">
                <a:latin typeface="Times New Roman" pitchFamily="18" charset="0"/>
                <a:cs typeface="Times New Roman" pitchFamily="18" charset="0"/>
              </a:rPr>
              <a:t>During this usually asymptomatic period, implantation, local multiplication, and spread (for disseminated infections) occur.</a:t>
            </a:r>
          </a:p>
          <a:p>
            <a:r>
              <a:rPr lang="en-US" sz="2400" dirty="0" smtClean="0">
                <a:latin typeface="Times New Roman" pitchFamily="18" charset="0"/>
                <a:cs typeface="Times New Roman" pitchFamily="18" charset="0"/>
              </a:rPr>
              <a:t>The incubation period tends to be brief (1 to 3 days) in infections in which virus travels only a short distance to reach the target organ (i.e., in infections in which disease is due to virus replication at the portal of entry). </a:t>
            </a:r>
          </a:p>
          <a:p>
            <a:r>
              <a:rPr lang="en-US" sz="2400" dirty="0" smtClean="0">
                <a:latin typeface="Times New Roman" pitchFamily="18" charset="0"/>
                <a:cs typeface="Times New Roman" pitchFamily="18" charset="0"/>
              </a:rPr>
              <a:t>Conversely, incubation periods in generalized infections are longer because of the stepwise fashion by which the virus moves through the body before reaching the target organs.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Multiplication in Target Organs</a:t>
            </a:r>
            <a:endParaRPr lang="en-US" sz="3600" dirty="0">
              <a:solidFill>
                <a:srgbClr val="FF0000"/>
              </a:solidFill>
            </a:endParaRPr>
          </a:p>
        </p:txBody>
      </p:sp>
      <p:sp>
        <p:nvSpPr>
          <p:cNvPr id="3" name="Content Placeholder 2"/>
          <p:cNvSpPr>
            <a:spLocks noGrp="1"/>
          </p:cNvSpPr>
          <p:nvPr>
            <p:ph idx="1"/>
          </p:nvPr>
        </p:nvSpPr>
        <p:spPr>
          <a:xfrm>
            <a:off x="228600" y="1295400"/>
            <a:ext cx="8763000" cy="4800600"/>
          </a:xfrm>
        </p:spPr>
        <p:txBody>
          <a:bodyPr>
            <a:noAutofit/>
          </a:bodyPr>
          <a:lstStyle/>
          <a:p>
            <a:r>
              <a:rPr lang="en-US" sz="2400" dirty="0" smtClean="0">
                <a:latin typeface="Times New Roman" pitchFamily="18" charset="0"/>
                <a:cs typeface="Times New Roman" pitchFamily="18" charset="0"/>
              </a:rPr>
              <a:t>Virus replication in the target organ resembles replication at other body sites except that </a:t>
            </a:r>
          </a:p>
          <a:p>
            <a:pPr marL="457200" indent="-457200">
              <a:buAutoNum type="arabicParenBoth"/>
            </a:pPr>
            <a:r>
              <a:rPr lang="en-US" sz="2400" dirty="0" smtClean="0">
                <a:latin typeface="Times New Roman" pitchFamily="18" charset="0"/>
                <a:cs typeface="Times New Roman" pitchFamily="18" charset="0"/>
              </a:rPr>
              <a:t>the target organ in systemic infections is usually reached late during the stepwise progression of virus through the body, and </a:t>
            </a:r>
          </a:p>
          <a:p>
            <a:pPr marL="457200" indent="-457200">
              <a:buAutoNum type="arabicParenBoth"/>
            </a:pPr>
            <a:r>
              <a:rPr lang="en-US" sz="2400" dirty="0" smtClean="0">
                <a:latin typeface="Times New Roman" pitchFamily="18" charset="0"/>
                <a:cs typeface="Times New Roman" pitchFamily="18" charset="0"/>
              </a:rPr>
              <a:t>clinical disease originates there. </a:t>
            </a:r>
          </a:p>
          <a:p>
            <a:pPr marL="457200" indent="-457200"/>
            <a:r>
              <a:rPr lang="en-US" sz="2400" dirty="0" smtClean="0">
                <a:latin typeface="Times New Roman" pitchFamily="18" charset="0"/>
                <a:cs typeface="Times New Roman" pitchFamily="18" charset="0"/>
              </a:rPr>
              <a:t>At each step of virus progression through the body, the local recovery mechanisms (local body defenses, including interferon, local inflammation, and local immunity) are activated. </a:t>
            </a:r>
          </a:p>
          <a:p>
            <a:pPr marL="457200" indent="-457200"/>
            <a:r>
              <a:rPr lang="en-US" sz="2400" dirty="0" smtClean="0">
                <a:latin typeface="Times New Roman" pitchFamily="18" charset="0"/>
                <a:cs typeface="Times New Roman" pitchFamily="18" charset="0"/>
              </a:rPr>
              <a:t>Thus, when the target organ is infected, the previously infected sites may have reached various stages of recovery.</a:t>
            </a:r>
          </a:p>
          <a:p>
            <a:pPr marL="457200" indent="-457200"/>
            <a:r>
              <a:rPr lang="en-US" sz="2400" dirty="0" smtClean="0">
                <a:latin typeface="Times New Roman" pitchFamily="18" charset="0"/>
                <a:cs typeface="Times New Roman" pitchFamily="18" charset="0"/>
              </a:rPr>
              <a:t>Depending on the balance between virus and host defenses, virus multiplication in the target organ may be sufficient to produce dysfunction manifested by disease or death. </a:t>
            </a:r>
            <a:endParaRPr lang="en-US" sz="24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609600" y="774125"/>
            <a:ext cx="8153400" cy="4407475"/>
          </a:xfrm>
          <a:prstGeom prst="rect">
            <a:avLst/>
          </a:prstGeom>
          <a:noFill/>
          <a:ln w="9525">
            <a:noFill/>
            <a:miter lim="800000"/>
            <a:headEnd/>
            <a:tailEnd/>
          </a:ln>
          <a:effectLst/>
        </p:spPr>
      </p:pic>
      <p:sp>
        <p:nvSpPr>
          <p:cNvPr id="3" name="TextBox 2"/>
          <p:cNvSpPr txBox="1"/>
          <p:nvPr/>
        </p:nvSpPr>
        <p:spPr>
          <a:xfrm>
            <a:off x="3276600" y="228600"/>
            <a:ext cx="3657600" cy="523220"/>
          </a:xfrm>
          <a:prstGeom prst="rect">
            <a:avLst/>
          </a:prstGeom>
          <a:noFill/>
        </p:spPr>
        <p:txBody>
          <a:bodyPr wrap="square" rtlCol="0">
            <a:spAutoFit/>
          </a:bodyPr>
          <a:lstStyle/>
          <a:p>
            <a:r>
              <a:rPr lang="en-US" sz="2800" b="1" dirty="0" smtClean="0">
                <a:solidFill>
                  <a:srgbClr val="FF0000"/>
                </a:solidFill>
                <a:latin typeface="Times New Roman" pitchFamily="18" charset="0"/>
                <a:cs typeface="Times New Roman" pitchFamily="18" charset="0"/>
              </a:rPr>
              <a:t>Virus shedding</a:t>
            </a:r>
            <a:endParaRPr lang="en-US" sz="2800" b="1" dirty="0">
              <a:solidFill>
                <a:srgbClr val="FF0000"/>
              </a:solidFill>
              <a:latin typeface="Times New Roman" pitchFamily="18" charset="0"/>
              <a:cs typeface="Times New Roman" pitchFamily="18" charset="0"/>
            </a:endParaRPr>
          </a:p>
        </p:txBody>
      </p:sp>
      <p:sp>
        <p:nvSpPr>
          <p:cNvPr id="4" name="Rectangle 3"/>
          <p:cNvSpPr/>
          <p:nvPr/>
        </p:nvSpPr>
        <p:spPr>
          <a:xfrm>
            <a:off x="304800" y="5410200"/>
            <a:ext cx="8229600" cy="1200329"/>
          </a:xfrm>
          <a:prstGeom prst="rect">
            <a:avLst/>
          </a:prstGeom>
        </p:spPr>
        <p:txBody>
          <a:bodyPr wrap="square">
            <a:spAutoFit/>
          </a:bodyPr>
          <a:lstStyle/>
          <a:p>
            <a:r>
              <a:rPr lang="en-US" sz="2400" dirty="0" smtClean="0">
                <a:latin typeface="Times New Roman" pitchFamily="18" charset="0"/>
                <a:cs typeface="Times New Roman" pitchFamily="18" charset="0"/>
              </a:rPr>
              <a:t>Although the respiratory tract, alimentary tract, </a:t>
            </a:r>
            <a:r>
              <a:rPr lang="en-US" sz="2400" dirty="0" err="1" smtClean="0">
                <a:latin typeface="Times New Roman" pitchFamily="18" charset="0"/>
                <a:cs typeface="Times New Roman" pitchFamily="18" charset="0"/>
              </a:rPr>
              <a:t>urogenital</a:t>
            </a:r>
            <a:r>
              <a:rPr lang="en-US" sz="2400" dirty="0" smtClean="0">
                <a:latin typeface="Times New Roman" pitchFamily="18" charset="0"/>
                <a:cs typeface="Times New Roman" pitchFamily="18" charset="0"/>
              </a:rPr>
              <a:t> tract and blood are the most frequent sites of shedding, diverse viruses may be shed at virtually every site.</a:t>
            </a:r>
            <a:endParaRPr lang="en-US" sz="24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533400"/>
            <a:ext cx="8763000" cy="4876800"/>
          </a:xfrm>
        </p:spPr>
        <p:txBody>
          <a:bodyPr>
            <a:noAutofit/>
          </a:bodyPr>
          <a:lstStyle/>
          <a:p>
            <a:r>
              <a:rPr lang="en-GB" sz="2400" dirty="0" err="1" smtClean="0">
                <a:latin typeface="Times New Roman" pitchFamily="18" charset="0"/>
                <a:cs typeface="Times New Roman" pitchFamily="18" charset="0"/>
              </a:rPr>
              <a:t>Virions</a:t>
            </a:r>
            <a:r>
              <a:rPr lang="en-GB" sz="2400" dirty="0" smtClean="0">
                <a:latin typeface="Times New Roman" pitchFamily="18" charset="0"/>
                <a:cs typeface="Times New Roman" pitchFamily="18" charset="0"/>
              </a:rPr>
              <a:t> can be released from the apical surface, from the </a:t>
            </a:r>
            <a:r>
              <a:rPr lang="en-GB" sz="2400" dirty="0" err="1" smtClean="0">
                <a:latin typeface="Times New Roman" pitchFamily="18" charset="0"/>
                <a:cs typeface="Times New Roman" pitchFamily="18" charset="0"/>
              </a:rPr>
              <a:t>basolateral</a:t>
            </a:r>
            <a:r>
              <a:rPr lang="en-GB" sz="2400" dirty="0" smtClean="0">
                <a:latin typeface="Times New Roman" pitchFamily="18" charset="0"/>
                <a:cs typeface="Times New Roman" pitchFamily="18" charset="0"/>
              </a:rPr>
              <a:t> surface, or from both. </a:t>
            </a:r>
          </a:p>
          <a:p>
            <a:r>
              <a:rPr lang="en-GB" sz="2400" dirty="0" smtClean="0">
                <a:latin typeface="Times New Roman" pitchFamily="18" charset="0"/>
                <a:cs typeface="Times New Roman" pitchFamily="18" charset="0"/>
              </a:rPr>
              <a:t>After replication, virus released from the apical surface is outside the host. Such directional release facilitates the dispersal of many newly replicated enteric viruses in the </a:t>
            </a:r>
            <a:r>
              <a:rPr lang="en-GB" sz="2400" dirty="0" err="1" smtClean="0">
                <a:latin typeface="Times New Roman" pitchFamily="18" charset="0"/>
                <a:cs typeface="Times New Roman" pitchFamily="18" charset="0"/>
              </a:rPr>
              <a:t>feces</a:t>
            </a:r>
            <a:r>
              <a:rPr lang="en-GB" sz="2400" dirty="0" smtClean="0">
                <a:latin typeface="Times New Roman" pitchFamily="18" charset="0"/>
                <a:cs typeface="Times New Roman" pitchFamily="18" charset="0"/>
              </a:rPr>
              <a:t> (e.g., poliovirus).</a:t>
            </a:r>
          </a:p>
          <a:p>
            <a:r>
              <a:rPr lang="en-GB" sz="2400" dirty="0" smtClean="0">
                <a:latin typeface="Times New Roman" pitchFamily="18" charset="0"/>
                <a:cs typeface="Times New Roman" pitchFamily="18" charset="0"/>
              </a:rPr>
              <a:t> In contrast, virus particles released from the </a:t>
            </a:r>
            <a:r>
              <a:rPr lang="en-GB" sz="2400" dirty="0" err="1" smtClean="0">
                <a:latin typeface="Times New Roman" pitchFamily="18" charset="0"/>
                <a:cs typeface="Times New Roman" pitchFamily="18" charset="0"/>
              </a:rPr>
              <a:t>basolateral</a:t>
            </a:r>
            <a:r>
              <a:rPr lang="en-GB" sz="2400" dirty="0" smtClean="0">
                <a:latin typeface="Times New Roman" pitchFamily="18" charset="0"/>
                <a:cs typeface="Times New Roman" pitchFamily="18" charset="0"/>
              </a:rPr>
              <a:t> surfaces of polarized epithelial cells have been moved away from the </a:t>
            </a:r>
            <a:r>
              <a:rPr lang="en-GB" sz="2400" dirty="0" err="1" smtClean="0">
                <a:latin typeface="Times New Roman" pitchFamily="18" charset="0"/>
                <a:cs typeface="Times New Roman" pitchFamily="18" charset="0"/>
              </a:rPr>
              <a:t>defenses</a:t>
            </a:r>
            <a:r>
              <a:rPr lang="en-GB" sz="2400" dirty="0" smtClean="0">
                <a:latin typeface="Times New Roman" pitchFamily="18" charset="0"/>
                <a:cs typeface="Times New Roman" pitchFamily="18" charset="0"/>
              </a:rPr>
              <a:t> of the </a:t>
            </a:r>
            <a:r>
              <a:rPr lang="en-GB" sz="2400" dirty="0" err="1" smtClean="0">
                <a:latin typeface="Times New Roman" pitchFamily="18" charset="0"/>
                <a:cs typeface="Times New Roman" pitchFamily="18" charset="0"/>
              </a:rPr>
              <a:t>lumenal</a:t>
            </a:r>
            <a:r>
              <a:rPr lang="en-GB" sz="2400" dirty="0" smtClean="0">
                <a:latin typeface="Times New Roman" pitchFamily="18" charset="0"/>
                <a:cs typeface="Times New Roman" pitchFamily="18" charset="0"/>
              </a:rPr>
              <a:t> surface. </a:t>
            </a:r>
          </a:p>
          <a:p>
            <a:r>
              <a:rPr lang="en-GB" sz="2400" dirty="0" smtClean="0">
                <a:latin typeface="Times New Roman" pitchFamily="18" charset="0"/>
                <a:cs typeface="Times New Roman" pitchFamily="18" charset="0"/>
              </a:rPr>
              <a:t>Directional release is therefore a major determinant of the infection pattern.</a:t>
            </a:r>
          </a:p>
          <a:p>
            <a:r>
              <a:rPr lang="en-GB" sz="2400" dirty="0" smtClean="0">
                <a:latin typeface="Times New Roman" pitchFamily="18" charset="0"/>
                <a:cs typeface="Times New Roman" pitchFamily="18" charset="0"/>
              </a:rPr>
              <a:t> In general, </a:t>
            </a:r>
            <a:r>
              <a:rPr lang="en-GB" sz="2400" b="1" dirty="0" smtClean="0">
                <a:latin typeface="Times New Roman" pitchFamily="18" charset="0"/>
                <a:cs typeface="Times New Roman" pitchFamily="18" charset="0"/>
              </a:rPr>
              <a:t>viruses released at apical membranes establish a localized or limited infection. </a:t>
            </a:r>
          </a:p>
          <a:p>
            <a:r>
              <a:rPr lang="en-GB" sz="2400" b="1" dirty="0" smtClean="0">
                <a:latin typeface="Times New Roman" pitchFamily="18" charset="0"/>
                <a:cs typeface="Times New Roman" pitchFamily="18" charset="0"/>
              </a:rPr>
              <a:t>Release of viruses at the basal membrane provides access to the underlying tissues and may facilitate systemic spread. </a:t>
            </a:r>
            <a:endParaRPr lang="en-US" sz="2400" b="1"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42863" y="381001"/>
            <a:ext cx="9058275" cy="609600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685800" y="152400"/>
            <a:ext cx="8153400" cy="6527893"/>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114300" y="830263"/>
            <a:ext cx="8915400" cy="520065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1138238" y="77788"/>
            <a:ext cx="6867525" cy="67056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rPr>
              <a:t>Genetic Determinants of Virulence</a:t>
            </a:r>
            <a:endParaRPr lang="en-US" sz="3200" b="1" dirty="0">
              <a:solidFill>
                <a:srgbClr val="FF0000"/>
              </a:solidFill>
            </a:endParaRPr>
          </a:p>
        </p:txBody>
      </p:sp>
      <p:sp>
        <p:nvSpPr>
          <p:cNvPr id="3" name="Content Placeholder 2"/>
          <p:cNvSpPr>
            <a:spLocks noGrp="1"/>
          </p:cNvSpPr>
          <p:nvPr>
            <p:ph idx="1"/>
          </p:nvPr>
        </p:nvSpPr>
        <p:spPr/>
        <p:txBody>
          <a:bodyPr>
            <a:normAutofit/>
          </a:bodyPr>
          <a:lstStyle/>
          <a:p>
            <a:pPr marL="457200" indent="-457200">
              <a:buAutoNum type="arabicPeriod"/>
            </a:pPr>
            <a:r>
              <a:rPr lang="en-US" sz="2400" dirty="0" smtClean="0">
                <a:latin typeface="Times New Roman" pitchFamily="18" charset="0"/>
                <a:cs typeface="Times New Roman" pitchFamily="18" charset="0"/>
              </a:rPr>
              <a:t>Gene products that alter the ability of the virus to replicate</a:t>
            </a:r>
            <a:r>
              <a:rPr lang="en-US" sz="2400" dirty="0" smtClean="0"/>
              <a:t>.</a:t>
            </a:r>
          </a:p>
          <a:p>
            <a:pPr marL="514350" indent="-514350">
              <a:buFont typeface="Arial" pitchFamily="34" charset="0"/>
              <a:buAutoNum type="arabicPeriod"/>
            </a:pPr>
            <a:endParaRPr lang="en-US" sz="2400" dirty="0" smtClean="0">
              <a:latin typeface="Times New Roman" pitchFamily="18" charset="0"/>
              <a:cs typeface="Times New Roman" pitchFamily="18" charset="0"/>
            </a:endParaRPr>
          </a:p>
          <a:p>
            <a:pPr marL="514350" indent="-514350">
              <a:buFont typeface="Arial" pitchFamily="34" charset="0"/>
              <a:buAutoNum type="arabicPeriod"/>
            </a:pPr>
            <a:r>
              <a:rPr lang="en-US" sz="2400" dirty="0" smtClean="0">
                <a:latin typeface="Times New Roman" pitchFamily="18" charset="0"/>
                <a:cs typeface="Times New Roman" pitchFamily="18" charset="0"/>
              </a:rPr>
              <a:t>Gene </a:t>
            </a:r>
            <a:r>
              <a:rPr lang="en-US" sz="2400" dirty="0" smtClean="0">
                <a:latin typeface="Times New Roman" pitchFamily="18" charset="0"/>
                <a:cs typeface="Times New Roman" pitchFamily="18" charset="0"/>
              </a:rPr>
              <a:t>products that modify the host’s defense mechanisms.</a:t>
            </a:r>
          </a:p>
          <a:p>
            <a:pPr marL="514350" indent="-514350">
              <a:buFont typeface="Arial" pitchFamily="34" charset="0"/>
              <a:buAutoNum type="arabicPeriod"/>
            </a:pPr>
            <a:endParaRPr lang="en-US" sz="2400" dirty="0" smtClean="0">
              <a:latin typeface="Times New Roman" pitchFamily="18" charset="0"/>
              <a:cs typeface="Times New Roman" pitchFamily="18" charset="0"/>
            </a:endParaRPr>
          </a:p>
          <a:p>
            <a:pPr marL="514350" indent="-514350">
              <a:buFont typeface="Arial" pitchFamily="34" charset="0"/>
              <a:buAutoNum type="arabicPeriod"/>
            </a:pPr>
            <a:r>
              <a:rPr lang="en-US" sz="2400" dirty="0" smtClean="0">
                <a:latin typeface="Times New Roman" pitchFamily="18" charset="0"/>
                <a:cs typeface="Times New Roman" pitchFamily="18" charset="0"/>
              </a:rPr>
              <a:t>Genes </a:t>
            </a:r>
            <a:r>
              <a:rPr lang="en-US" sz="2400" dirty="0" smtClean="0">
                <a:latin typeface="Times New Roman" pitchFamily="18" charset="0"/>
                <a:cs typeface="Times New Roman" pitchFamily="18" charset="0"/>
              </a:rPr>
              <a:t>that enable the virus to spread in the host</a:t>
            </a:r>
          </a:p>
          <a:p>
            <a:pPr marL="514350" indent="-514350">
              <a:buFont typeface="Arial" pitchFamily="34" charset="0"/>
              <a:buAutoNum type="arabicPeriod"/>
            </a:pPr>
            <a:endParaRPr lang="en-US" sz="2400" dirty="0" smtClean="0">
              <a:latin typeface="Times New Roman" pitchFamily="18" charset="0"/>
              <a:cs typeface="Times New Roman" pitchFamily="18" charset="0"/>
            </a:endParaRPr>
          </a:p>
          <a:p>
            <a:pPr marL="514350" indent="-514350">
              <a:buFont typeface="Arial" pitchFamily="34" charset="0"/>
              <a:buAutoNum type="arabicPeriod"/>
            </a:pPr>
            <a:r>
              <a:rPr lang="en-US" sz="2400" dirty="0" smtClean="0">
                <a:latin typeface="Times New Roman" pitchFamily="18" charset="0"/>
                <a:cs typeface="Times New Roman" pitchFamily="18" charset="0"/>
              </a:rPr>
              <a:t>Toxic </a:t>
            </a:r>
            <a:r>
              <a:rPr lang="en-US" sz="2400" dirty="0" smtClean="0">
                <a:latin typeface="Times New Roman" pitchFamily="18" charset="0"/>
                <a:cs typeface="Times New Roman" pitchFamily="18" charset="0"/>
              </a:rPr>
              <a:t>viral proteins</a:t>
            </a:r>
            <a:endParaRPr lang="en-US" sz="2400"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solidFill>
                  <a:srgbClr val="FF0000"/>
                </a:solidFill>
                <a:latin typeface="Times New Roman" pitchFamily="18" charset="0"/>
                <a:cs typeface="Times New Roman" pitchFamily="18" charset="0"/>
              </a:rPr>
              <a:t>1. Gene products that alter the ability of the virus to replicate</a:t>
            </a:r>
            <a:endParaRPr lang="en-US" sz="2800" b="1" dirty="0">
              <a:solidFill>
                <a:srgbClr val="FF0000"/>
              </a:solidFill>
            </a:endParaRPr>
          </a:p>
        </p:txBody>
      </p:sp>
      <p:sp>
        <p:nvSpPr>
          <p:cNvPr id="3" name="Content Placeholder 2"/>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Genes that encode proteins affecting both viral replication and virulence can be placed in one of two subclasses:</a:t>
            </a:r>
          </a:p>
          <a:p>
            <a:pPr marL="457200" indent="-457200" algn="just">
              <a:buAutoNum type="arabicPeriod"/>
            </a:pPr>
            <a:endParaRPr lang="en-US" sz="2400" dirty="0" smtClean="0">
              <a:latin typeface="Times New Roman" pitchFamily="18" charset="0"/>
              <a:cs typeface="Times New Roman" pitchFamily="18" charset="0"/>
            </a:endParaRPr>
          </a:p>
          <a:p>
            <a:pPr marL="457200" indent="-457200" algn="just">
              <a:buAutoNum type="arabicPeriod"/>
            </a:pPr>
            <a:r>
              <a:rPr lang="en-US" sz="2400" dirty="0" smtClean="0">
                <a:latin typeface="Times New Roman" pitchFamily="18" charset="0"/>
                <a:cs typeface="Times New Roman" pitchFamily="18" charset="0"/>
              </a:rPr>
              <a:t>Mutation including </a:t>
            </a:r>
            <a:r>
              <a:rPr lang="en-US" sz="2400" dirty="0" smtClean="0">
                <a:latin typeface="Times New Roman" pitchFamily="18" charset="0"/>
                <a:cs typeface="Times New Roman" pitchFamily="18" charset="0"/>
              </a:rPr>
              <a:t>a general defect in replication in the animal host and in many cultured cell types. Reduced virulence results from failure to produce sufficient numbers of virus particles to cause disease. Such a phenotype may be caused by mutations in any viral gene. </a:t>
            </a:r>
          </a:p>
          <a:p>
            <a:pPr marL="457200" indent="-457200" algn="just">
              <a:buFont typeface="Arial" pitchFamily="34" charset="0"/>
              <a:buAutoNum type="arabicPeriod"/>
            </a:pPr>
            <a:endParaRPr lang="en-US" sz="2400" dirty="0" smtClean="0">
              <a:latin typeface="Times New Roman" pitchFamily="18" charset="0"/>
              <a:cs typeface="Times New Roman" pitchFamily="18" charset="0"/>
            </a:endParaRPr>
          </a:p>
          <a:p>
            <a:pPr marL="457200" indent="-457200" algn="just">
              <a:buFont typeface="Arial" pitchFamily="34" charset="0"/>
              <a:buAutoNum type="arabicPeriod"/>
            </a:pPr>
            <a:r>
              <a:rPr lang="en-US" sz="2400" dirty="0" smtClean="0">
                <a:latin typeface="Times New Roman" pitchFamily="18" charset="0"/>
                <a:cs typeface="Times New Roman" pitchFamily="18" charset="0"/>
              </a:rPr>
              <a:t>Mutation </a:t>
            </a:r>
            <a:r>
              <a:rPr lang="en-US" sz="2400" dirty="0" smtClean="0">
                <a:latin typeface="Times New Roman" pitchFamily="18" charset="0"/>
                <a:cs typeface="Times New Roman" pitchFamily="18" charset="0"/>
              </a:rPr>
              <a:t>in a gene specifically required for virulence but no replication defects in cells in culture</a:t>
            </a:r>
            <a:endParaRPr lang="en-US" sz="2400"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solidFill>
                  <a:srgbClr val="FF0000"/>
                </a:solidFill>
              </a:rPr>
              <a:t>2. Gene products that modify the host’s defense mechanisms</a:t>
            </a:r>
            <a:endParaRPr lang="en-US" sz="2800" b="1" dirty="0">
              <a:solidFill>
                <a:srgbClr val="FF0000"/>
              </a:solidFill>
            </a:endParaRPr>
          </a:p>
        </p:txBody>
      </p:sp>
      <p:sp>
        <p:nvSpPr>
          <p:cNvPr id="3" name="Content Placeholder 2"/>
          <p:cNvSpPr>
            <a:spLocks noGrp="1"/>
          </p:cNvSpPr>
          <p:nvPr>
            <p:ph idx="1"/>
          </p:nvPr>
        </p:nvSpPr>
        <p:spPr>
          <a:xfrm>
            <a:off x="381000" y="1600200"/>
            <a:ext cx="8305800" cy="5105400"/>
          </a:xfrm>
        </p:spPr>
        <p:txBody>
          <a:bodyPr>
            <a:normAutofit/>
          </a:bodyPr>
          <a:lstStyle/>
          <a:p>
            <a:pPr algn="just"/>
            <a:r>
              <a:rPr lang="en-US" sz="2400" dirty="0" smtClean="0">
                <a:latin typeface="Times New Roman" pitchFamily="18" charset="0"/>
                <a:cs typeface="Times New Roman" pitchFamily="18" charset="0"/>
              </a:rPr>
              <a:t>The study of viral virulence genes has identified a diverse array of viral proteins that sabotage the body’s intrinsic defenses and innate and adaptive systems.</a:t>
            </a:r>
          </a:p>
          <a:p>
            <a:pPr algn="just"/>
            <a:r>
              <a:rPr lang="en-US" sz="2400" dirty="0" smtClean="0">
                <a:latin typeface="Times New Roman" pitchFamily="18" charset="0"/>
                <a:cs typeface="Times New Roman" pitchFamily="18" charset="0"/>
              </a:rPr>
              <a:t> Some of these viral proteins are called </a:t>
            </a:r>
            <a:r>
              <a:rPr lang="en-US" sz="2400" b="1" dirty="0" err="1" smtClean="0">
                <a:latin typeface="Times New Roman" pitchFamily="18" charset="0"/>
                <a:cs typeface="Times New Roman" pitchFamily="18" charset="0"/>
              </a:rPr>
              <a:t>virokines</a:t>
            </a:r>
            <a:r>
              <a:rPr lang="en-US" sz="2400" dirty="0" smtClean="0">
                <a:latin typeface="Times New Roman" pitchFamily="18" charset="0"/>
                <a:cs typeface="Times New Roman" pitchFamily="18" charset="0"/>
              </a:rPr>
              <a:t> (secreted proteins that mimic cytokines, growth factors, or similar extra-cellular immune regulators) or </a:t>
            </a:r>
            <a:endParaRPr lang="en-US" sz="2400" b="1" dirty="0" smtClean="0">
              <a:latin typeface="Times New Roman" pitchFamily="18" charset="0"/>
              <a:cs typeface="Times New Roman" pitchFamily="18" charset="0"/>
            </a:endParaRPr>
          </a:p>
          <a:p>
            <a:pPr algn="just"/>
            <a:r>
              <a:rPr lang="en-US" sz="2400" b="1" dirty="0" err="1" smtClean="0">
                <a:latin typeface="Times New Roman" pitchFamily="18" charset="0"/>
                <a:cs typeface="Times New Roman" pitchFamily="18" charset="0"/>
              </a:rPr>
              <a:t>viroceptors</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homologs</a:t>
            </a:r>
            <a:r>
              <a:rPr lang="en-US" sz="2400" dirty="0" smtClean="0">
                <a:latin typeface="Times New Roman" pitchFamily="18" charset="0"/>
                <a:cs typeface="Times New Roman" pitchFamily="18" charset="0"/>
              </a:rPr>
              <a:t> of </a:t>
            </a:r>
            <a:r>
              <a:rPr lang="en-US" sz="2400" dirty="0" smtClean="0">
                <a:latin typeface="Times New Roman" pitchFamily="18" charset="0"/>
                <a:cs typeface="Times New Roman" pitchFamily="18" charset="0"/>
              </a:rPr>
              <a:t>cytokine </a:t>
            </a:r>
            <a:r>
              <a:rPr lang="en-US" sz="2400" dirty="0" smtClean="0">
                <a:latin typeface="Times New Roman" pitchFamily="18" charset="0"/>
                <a:cs typeface="Times New Roman" pitchFamily="18" charset="0"/>
              </a:rPr>
              <a:t>receptors). </a:t>
            </a:r>
          </a:p>
          <a:p>
            <a:pPr algn="just"/>
            <a:r>
              <a:rPr lang="en-US" sz="2400" dirty="0" smtClean="0">
                <a:latin typeface="Times New Roman" pitchFamily="18" charset="0"/>
                <a:cs typeface="Times New Roman" pitchFamily="18" charset="0"/>
              </a:rPr>
              <a:t>Mutations in genes encoding either class of protein affect virulence, but these genes are not required for growth in cell culture. </a:t>
            </a:r>
          </a:p>
          <a:p>
            <a:pPr algn="just"/>
            <a:r>
              <a:rPr lang="en-US" sz="2400" dirty="0" smtClean="0">
                <a:latin typeface="Times New Roman" pitchFamily="18" charset="0"/>
                <a:cs typeface="Times New Roman" pitchFamily="18" charset="0"/>
              </a:rPr>
              <a:t>Most </a:t>
            </a:r>
            <a:r>
              <a:rPr lang="en-US" sz="2400" dirty="0" err="1" smtClean="0">
                <a:latin typeface="Times New Roman" pitchFamily="18" charset="0"/>
                <a:cs typeface="Times New Roman" pitchFamily="18" charset="0"/>
              </a:rPr>
              <a:t>virokines</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viroceptors</a:t>
            </a:r>
            <a:r>
              <a:rPr lang="en-US" sz="2400" dirty="0" smtClean="0">
                <a:latin typeface="Times New Roman" pitchFamily="18" charset="0"/>
                <a:cs typeface="Times New Roman" pitchFamily="18" charset="0"/>
              </a:rPr>
              <a:t> have been discovered in the genomes of large DNA viruses. </a:t>
            </a:r>
            <a:endParaRPr lang="en-US" sz="2400" dirty="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solidFill>
                  <a:srgbClr val="FF0000"/>
                </a:solidFill>
              </a:rPr>
              <a:t>Virokines</a:t>
            </a:r>
            <a:endParaRPr lang="en-US" b="1" dirty="0">
              <a:solidFill>
                <a:srgbClr val="FF0000"/>
              </a:solidFill>
            </a:endParaRPr>
          </a:p>
        </p:txBody>
      </p:sp>
      <p:sp>
        <p:nvSpPr>
          <p:cNvPr id="3" name="Content Placeholder 2"/>
          <p:cNvSpPr>
            <a:spLocks noGrp="1"/>
          </p:cNvSpPr>
          <p:nvPr>
            <p:ph idx="1"/>
          </p:nvPr>
        </p:nvSpPr>
        <p:spPr>
          <a:xfrm>
            <a:off x="228600" y="1600200"/>
            <a:ext cx="8458200" cy="4953000"/>
          </a:xfrm>
        </p:spPr>
        <p:txBody>
          <a:bodyPr>
            <a:normAutofit/>
          </a:bodyPr>
          <a:lstStyle/>
          <a:p>
            <a:pPr algn="just"/>
            <a:r>
              <a:rPr lang="en-US" sz="2400" dirty="0" err="1" smtClean="0">
                <a:latin typeface="Times New Roman" pitchFamily="18" charset="0"/>
                <a:cs typeface="Times New Roman" pitchFamily="18" charset="0"/>
              </a:rPr>
              <a:t>Virokines</a:t>
            </a:r>
            <a:r>
              <a:rPr lang="en-US" sz="2400" dirty="0" smtClean="0">
                <a:latin typeface="Times New Roman" pitchFamily="18" charset="0"/>
                <a:cs typeface="Times New Roman" pitchFamily="18" charset="0"/>
              </a:rPr>
              <a:t> comprise a class of virus-coded proteins that are not required for viral replication in vitro, but influence the pathogenesis of infection in vivo by sabotaging the body's innate resistance or immune response. </a:t>
            </a:r>
          </a:p>
          <a:p>
            <a:pPr algn="just"/>
            <a:r>
              <a:rPr lang="en-US" sz="2400" dirty="0" err="1" smtClean="0">
                <a:latin typeface="Times New Roman" pitchFamily="18" charset="0"/>
                <a:cs typeface="Times New Roman" pitchFamily="18" charset="0"/>
              </a:rPr>
              <a:t>Virokines</a:t>
            </a:r>
            <a:r>
              <a:rPr lang="en-US" sz="2400" dirty="0" smtClean="0">
                <a:latin typeface="Times New Roman" pitchFamily="18" charset="0"/>
                <a:cs typeface="Times New Roman" pitchFamily="18" charset="0"/>
              </a:rPr>
              <a:t> can be grouped as</a:t>
            </a:r>
          </a:p>
          <a:p>
            <a:pPr algn="just">
              <a:buNone/>
            </a:pPr>
            <a:r>
              <a:rPr lang="en-US" sz="2400" dirty="0" smtClean="0">
                <a:latin typeface="Times New Roman" pitchFamily="18" charset="0"/>
                <a:cs typeface="Times New Roman" pitchFamily="18" charset="0"/>
              </a:rPr>
              <a:t> (1) inhibitors of T cell </a:t>
            </a:r>
            <a:r>
              <a:rPr lang="en-US" sz="2400" dirty="0" err="1" smtClean="0">
                <a:latin typeface="Times New Roman" pitchFamily="18" charset="0"/>
                <a:cs typeface="Times New Roman" pitchFamily="18" charset="0"/>
              </a:rPr>
              <a:t>cytotoxicity</a:t>
            </a:r>
            <a:r>
              <a:rPr lang="en-US" sz="2400" dirty="0" smtClean="0">
                <a:latin typeface="Times New Roman" pitchFamily="18" charset="0"/>
                <a:cs typeface="Times New Roman" pitchFamily="18" charset="0"/>
              </a:rPr>
              <a:t> that bind nascent class I MHC protein; </a:t>
            </a:r>
          </a:p>
          <a:p>
            <a:pPr algn="just">
              <a:buNone/>
            </a:pPr>
            <a:r>
              <a:rPr lang="en-US" sz="2400" dirty="0" smtClean="0">
                <a:latin typeface="Times New Roman" pitchFamily="18" charset="0"/>
                <a:cs typeface="Times New Roman" pitchFamily="18" charset="0"/>
              </a:rPr>
              <a:t>(2) inhibitors of cytokines, such as interleukin 1, interferon 2' and tumor necrosis-factor a; </a:t>
            </a:r>
          </a:p>
          <a:p>
            <a:pPr algn="just">
              <a:buNone/>
            </a:pPr>
            <a:r>
              <a:rPr lang="en-US" sz="2400" dirty="0" smtClean="0">
                <a:latin typeface="Times New Roman" pitchFamily="18" charset="0"/>
                <a:cs typeface="Times New Roman" pitchFamily="18" charset="0"/>
              </a:rPr>
              <a:t>(3) inhibitors of the complement cascade; </a:t>
            </a:r>
          </a:p>
          <a:p>
            <a:pPr algn="just">
              <a:buNone/>
            </a:pPr>
            <a:r>
              <a:rPr lang="en-US" sz="2400" dirty="0" smtClean="0">
                <a:latin typeface="Times New Roman" pitchFamily="18" charset="0"/>
                <a:cs typeface="Times New Roman" pitchFamily="18" charset="0"/>
              </a:rPr>
              <a:t>(4) inhibitors of antibody-mediated cytolysis; and </a:t>
            </a:r>
          </a:p>
          <a:p>
            <a:pPr algn="just">
              <a:buNone/>
            </a:pPr>
            <a:r>
              <a:rPr lang="en-US" sz="2400" dirty="0" smtClean="0">
                <a:latin typeface="Times New Roman" pitchFamily="18" charset="0"/>
                <a:cs typeface="Times New Roman" pitchFamily="18" charset="0"/>
              </a:rPr>
              <a:t>(5) cytokine mimics, e.g., interleukin 10.</a:t>
            </a:r>
            <a:endParaRPr lang="en-US" sz="2400" dirty="0">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solidFill>
                  <a:srgbClr val="FF0000"/>
                </a:solidFill>
              </a:rPr>
              <a:t>3. Genes that enable the virus to spread in the host</a:t>
            </a:r>
            <a:endParaRPr lang="en-US" sz="2800" b="1" dirty="0">
              <a:solidFill>
                <a:srgbClr val="FF0000"/>
              </a:solidFill>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The mutation of some viral genes disrupts spread from peripheral sites of inoculation to the organ where disease occurs. </a:t>
            </a:r>
          </a:p>
          <a:p>
            <a:r>
              <a:rPr lang="en-US" sz="2400" dirty="0" smtClean="0">
                <a:latin typeface="Times New Roman" pitchFamily="18" charset="0"/>
                <a:cs typeface="Times New Roman" pitchFamily="18" charset="0"/>
              </a:rPr>
              <a:t>For example, after intramuscular inoculation in mice, </a:t>
            </a:r>
            <a:r>
              <a:rPr lang="en-US" sz="2400" dirty="0" err="1" smtClean="0">
                <a:latin typeface="Times New Roman" pitchFamily="18" charset="0"/>
                <a:cs typeface="Times New Roman" pitchFamily="18" charset="0"/>
              </a:rPr>
              <a:t>reovirus</a:t>
            </a:r>
            <a:r>
              <a:rPr lang="en-US" sz="2400" dirty="0" smtClean="0">
                <a:latin typeface="Times New Roman" pitchFamily="18" charset="0"/>
                <a:cs typeface="Times New Roman" pitchFamily="18" charset="0"/>
              </a:rPr>
              <a:t> type 1 spreads to the central nervous system through the blood, while type 3 spreads by neural routes. </a:t>
            </a:r>
          </a:p>
          <a:p>
            <a:r>
              <a:rPr lang="en-US" sz="2400" dirty="0" smtClean="0">
                <a:latin typeface="Times New Roman" pitchFamily="18" charset="0"/>
                <a:cs typeface="Times New Roman" pitchFamily="18" charset="0"/>
              </a:rPr>
              <a:t>Studies of viral recombinants between types 1 and 3 indicate that the gene encoding the viral outer </a:t>
            </a:r>
            <a:r>
              <a:rPr lang="en-US" sz="2400" dirty="0" err="1" smtClean="0">
                <a:latin typeface="Times New Roman" pitchFamily="18" charset="0"/>
                <a:cs typeface="Times New Roman" pitchFamily="18" charset="0"/>
              </a:rPr>
              <a:t>capsid</a:t>
            </a:r>
            <a:r>
              <a:rPr lang="en-US" sz="2400" dirty="0" smtClean="0">
                <a:latin typeface="Times New Roman" pitchFamily="18" charset="0"/>
                <a:cs typeface="Times New Roman" pitchFamily="18" charset="0"/>
              </a:rPr>
              <a:t> protein s1, which recognizes the cell receptor, determines the route of spread.</a:t>
            </a:r>
            <a:endParaRPr lang="en-US" sz="2400"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rPr>
              <a:t>4. Toxic viral proteins</a:t>
            </a:r>
            <a:endParaRPr lang="en-US" sz="3200" b="1" dirty="0">
              <a:solidFill>
                <a:srgbClr val="FF0000"/>
              </a:solidFill>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Some viral gene products cause cell injury directly, and alterations in these genes reduces viral virulence. </a:t>
            </a:r>
          </a:p>
          <a:p>
            <a:r>
              <a:rPr lang="en-US" sz="2400" dirty="0" smtClean="0">
                <a:latin typeface="Times New Roman" pitchFamily="18" charset="0"/>
                <a:cs typeface="Times New Roman" pitchFamily="18" charset="0"/>
              </a:rPr>
              <a:t>Evidence of their intrinsic activity is usually obtained by adding purified proteins to cultured cells, or by synthesis of the proteins from plasmids or viral vectors.</a:t>
            </a:r>
          </a:p>
          <a:p>
            <a:r>
              <a:rPr lang="en-US" sz="2400" dirty="0" smtClean="0">
                <a:latin typeface="Times New Roman" pitchFamily="18" charset="0"/>
                <a:cs typeface="Times New Roman" pitchFamily="18" charset="0"/>
              </a:rPr>
              <a:t>The most convincing example of a viral protein with intrinsic toxicity relevant to the viral disease is the </a:t>
            </a:r>
            <a:r>
              <a:rPr lang="en-US" sz="2400" b="1" dirty="0" smtClean="0">
                <a:latin typeface="Times New Roman" pitchFamily="18" charset="0"/>
                <a:cs typeface="Times New Roman" pitchFamily="18" charset="0"/>
              </a:rPr>
              <a:t>NSP4 protein </a:t>
            </a:r>
            <a:r>
              <a:rPr lang="en-US" sz="2400" dirty="0" smtClean="0">
                <a:latin typeface="Times New Roman" pitchFamily="18" charset="0"/>
                <a:cs typeface="Times New Roman" pitchFamily="18" charset="0"/>
              </a:rPr>
              <a:t>of rotaviruses, which cause gastroenteritis and diarrhea.</a:t>
            </a:r>
          </a:p>
          <a:p>
            <a:r>
              <a:rPr lang="en-US" sz="2400" dirty="0" smtClean="0">
                <a:latin typeface="Times New Roman" pitchFamily="18" charset="0"/>
                <a:cs typeface="Times New Roman" pitchFamily="18" charset="0"/>
              </a:rPr>
              <a:t>NSP4 acts as a viral </a:t>
            </a:r>
            <a:r>
              <a:rPr lang="en-US" sz="2400" dirty="0" err="1" smtClean="0">
                <a:latin typeface="Times New Roman" pitchFamily="18" charset="0"/>
                <a:cs typeface="Times New Roman" pitchFamily="18" charset="0"/>
              </a:rPr>
              <a:t>enterotoxin</a:t>
            </a:r>
            <a:r>
              <a:rPr lang="en-US" sz="2400" dirty="0" smtClean="0">
                <a:latin typeface="Times New Roman" pitchFamily="18" charset="0"/>
                <a:cs typeface="Times New Roman" pitchFamily="18" charset="0"/>
              </a:rPr>
              <a:t> and triggers a signal transduction pathway in the intestinal mucosa.</a:t>
            </a:r>
            <a:endParaRPr lang="en-US" sz="2400"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solidFill>
                  <a:srgbClr val="FF0000"/>
                </a:solidFill>
              </a:rPr>
              <a:t>Viral infections and </a:t>
            </a:r>
            <a:r>
              <a:rPr lang="en-US" sz="4000" b="1" dirty="0" err="1" smtClean="0">
                <a:solidFill>
                  <a:srgbClr val="FF0000"/>
                </a:solidFill>
              </a:rPr>
              <a:t>Immunopathology</a:t>
            </a:r>
            <a:r>
              <a:rPr lang="en-US" sz="4000" b="1" dirty="0" smtClean="0">
                <a:solidFill>
                  <a:srgbClr val="FF0000"/>
                </a:solidFill>
              </a:rPr>
              <a:t> </a:t>
            </a:r>
            <a:endParaRPr lang="en-US" sz="4000" b="1" dirty="0">
              <a:solidFill>
                <a:srgbClr val="FF0000"/>
              </a:solidFill>
            </a:endParaRPr>
          </a:p>
        </p:txBody>
      </p:sp>
      <p:sp>
        <p:nvSpPr>
          <p:cNvPr id="3" name="Content Placeholder 2"/>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Most symptoms and many diseases caused by viral infection are a consequence of the immune response </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Damage caused by the immune system is called </a:t>
            </a:r>
            <a:r>
              <a:rPr lang="en-US" sz="2400" b="1" dirty="0" err="1" smtClean="0">
                <a:latin typeface="Times New Roman" pitchFamily="18" charset="0"/>
                <a:cs typeface="Times New Roman" pitchFamily="18" charset="0"/>
              </a:rPr>
              <a:t>immunopathology</a:t>
            </a:r>
            <a:r>
              <a:rPr lang="en-US" sz="2400" dirty="0" smtClean="0">
                <a:latin typeface="Times New Roman" pitchFamily="18" charset="0"/>
                <a:cs typeface="Times New Roman" pitchFamily="18" charset="0"/>
              </a:rPr>
              <a:t>, and it may be the price paid by the host to eliminate a viral infection. </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For </a:t>
            </a:r>
            <a:r>
              <a:rPr lang="en-US" sz="2400" b="1" dirty="0" smtClean="0">
                <a:latin typeface="Times New Roman" pitchFamily="18" charset="0"/>
                <a:cs typeface="Times New Roman" pitchFamily="18" charset="0"/>
              </a:rPr>
              <a:t>non-</a:t>
            </a:r>
            <a:r>
              <a:rPr lang="en-US" sz="2400" b="1" dirty="0" err="1" smtClean="0">
                <a:latin typeface="Times New Roman" pitchFamily="18" charset="0"/>
                <a:cs typeface="Times New Roman" pitchFamily="18" charset="0"/>
              </a:rPr>
              <a:t>cytolytic</a:t>
            </a:r>
            <a:r>
              <a:rPr lang="en-US" sz="2400" b="1" dirty="0" smtClean="0">
                <a:latin typeface="Times New Roman" pitchFamily="18" charset="0"/>
                <a:cs typeface="Times New Roman" pitchFamily="18" charset="0"/>
              </a:rPr>
              <a:t> viruses </a:t>
            </a:r>
            <a:r>
              <a:rPr lang="en-US" sz="2400" dirty="0" smtClean="0">
                <a:latin typeface="Times New Roman" pitchFamily="18" charset="0"/>
                <a:cs typeface="Times New Roman" pitchFamily="18" charset="0"/>
              </a:rPr>
              <a:t>it is likely that the immune response is the sole cause of disease.</a:t>
            </a:r>
            <a:endParaRPr lang="en-US" sz="2400" dirty="0">
              <a:latin typeface="Times New Roman" pitchFamily="18" charset="0"/>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err="1" smtClean="0">
                <a:solidFill>
                  <a:srgbClr val="FF0000"/>
                </a:solidFill>
              </a:rPr>
              <a:t>Immunopathological</a:t>
            </a:r>
            <a:r>
              <a:rPr lang="en-US" sz="3600" b="1" dirty="0" smtClean="0">
                <a:solidFill>
                  <a:srgbClr val="FF0000"/>
                </a:solidFill>
              </a:rPr>
              <a:t> Lesions</a:t>
            </a:r>
            <a:endParaRPr lang="en-US" sz="3600" b="1" dirty="0">
              <a:solidFill>
                <a:srgbClr val="FF0000"/>
              </a:solidFill>
            </a:endParaRPr>
          </a:p>
        </p:txBody>
      </p:sp>
      <p:sp>
        <p:nvSpPr>
          <p:cNvPr id="3" name="Content Placeholder 2"/>
          <p:cNvSpPr>
            <a:spLocks noGrp="1"/>
          </p:cNvSpPr>
          <p:nvPr>
            <p:ph idx="1"/>
          </p:nvPr>
        </p:nvSpPr>
        <p:spPr>
          <a:xfrm>
            <a:off x="76200" y="1295400"/>
            <a:ext cx="9067800" cy="5257800"/>
          </a:xfrm>
        </p:spPr>
        <p:txBody>
          <a:bodyPr>
            <a:normAutofit lnSpcReduction="10000"/>
          </a:bodyPr>
          <a:lstStyle/>
          <a:p>
            <a:pPr algn="just">
              <a:buNone/>
            </a:pPr>
            <a:r>
              <a:rPr lang="en-US" sz="2400" dirty="0" smtClean="0">
                <a:latin typeface="Times New Roman" pitchFamily="18" charset="0"/>
                <a:cs typeface="Times New Roman" pitchFamily="18" charset="0"/>
              </a:rPr>
              <a:t>1. </a:t>
            </a:r>
            <a:r>
              <a:rPr lang="en-US" sz="2400" b="1" dirty="0" smtClean="0">
                <a:latin typeface="Times New Roman" pitchFamily="18" charset="0"/>
                <a:cs typeface="Times New Roman" pitchFamily="18" charset="0"/>
              </a:rPr>
              <a:t>Lesions caused by </a:t>
            </a:r>
            <a:r>
              <a:rPr lang="en-US" sz="2400" b="1" dirty="0" err="1" smtClean="0">
                <a:latin typeface="Times New Roman" pitchFamily="18" charset="0"/>
                <a:cs typeface="Times New Roman" pitchFamily="18" charset="0"/>
              </a:rPr>
              <a:t>cytotoxic</a:t>
            </a:r>
            <a:r>
              <a:rPr lang="en-US" sz="2400" b="1" dirty="0" smtClean="0">
                <a:latin typeface="Times New Roman" pitchFamily="18" charset="0"/>
                <a:cs typeface="Times New Roman" pitchFamily="18" charset="0"/>
              </a:rPr>
              <a:t> T lymphocytes (CTLs)- </a:t>
            </a:r>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Myocarditis</a:t>
            </a:r>
            <a:r>
              <a:rPr lang="en-US" sz="2400" dirty="0" smtClean="0">
                <a:latin typeface="Times New Roman" pitchFamily="18" charset="0"/>
                <a:cs typeface="Times New Roman" pitchFamily="18" charset="0"/>
              </a:rPr>
              <a:t> caused by </a:t>
            </a:r>
            <a:r>
              <a:rPr lang="en-US" sz="2400" dirty="0" err="1" smtClean="0">
                <a:latin typeface="Times New Roman" pitchFamily="18" charset="0"/>
                <a:cs typeface="Times New Roman" pitchFamily="18" charset="0"/>
              </a:rPr>
              <a:t>coxsackievirus</a:t>
            </a:r>
            <a:r>
              <a:rPr lang="en-US" sz="2400" dirty="0" smtClean="0">
                <a:latin typeface="Times New Roman" pitchFamily="18" charset="0"/>
                <a:cs typeface="Times New Roman" pitchFamily="18" charset="0"/>
              </a:rPr>
              <a:t> B infection of mice requires the presence of </a:t>
            </a:r>
            <a:r>
              <a:rPr lang="en-US" sz="2400" dirty="0" err="1" smtClean="0">
                <a:latin typeface="Times New Roman" pitchFamily="18" charset="0"/>
                <a:cs typeface="Times New Roman" pitchFamily="18" charset="0"/>
              </a:rPr>
              <a:t>CTLs.Acute</a:t>
            </a:r>
            <a:r>
              <a:rPr lang="en-US" sz="2400" dirty="0" smtClean="0">
                <a:latin typeface="Times New Roman" pitchFamily="18" charset="0"/>
                <a:cs typeface="Times New Roman" pitchFamily="18" charset="0"/>
              </a:rPr>
              <a:t> and often fatal respiratory disease caused by hantaviruses is characterized by prominent infiltration of CTLs into the lung.</a:t>
            </a:r>
          </a:p>
          <a:p>
            <a:pPr algn="just">
              <a:buNone/>
            </a:pPr>
            <a:r>
              <a:rPr lang="en-US" sz="2400" dirty="0" smtClean="0">
                <a:latin typeface="Times New Roman" pitchFamily="18" charset="0"/>
                <a:cs typeface="Times New Roman" pitchFamily="18" charset="0"/>
              </a:rPr>
              <a:t>2. </a:t>
            </a:r>
            <a:r>
              <a:rPr lang="en-US" sz="2400" b="1" dirty="0" smtClean="0">
                <a:latin typeface="Times New Roman" pitchFamily="18" charset="0"/>
                <a:cs typeface="Times New Roman" pitchFamily="18" charset="0"/>
              </a:rPr>
              <a:t>Lesions caused by CD4+ T-cells- </a:t>
            </a:r>
            <a:r>
              <a:rPr lang="en-US" sz="2400" dirty="0" smtClean="0">
                <a:latin typeface="Times New Roman" pitchFamily="18" charset="0"/>
                <a:cs typeface="Times New Roman" pitchFamily="18" charset="0"/>
              </a:rPr>
              <a:t>CD4+ T lymphocytes elaborate far more cytokines than do CTLs and recruit and activate many nonspecific </a:t>
            </a:r>
            <a:r>
              <a:rPr lang="en-US" sz="2400" dirty="0" err="1" smtClean="0">
                <a:latin typeface="Times New Roman" pitchFamily="18" charset="0"/>
                <a:cs typeface="Times New Roman" pitchFamily="18" charset="0"/>
              </a:rPr>
              <a:t>effector</a:t>
            </a:r>
            <a:r>
              <a:rPr lang="en-US" sz="2400" dirty="0" smtClean="0">
                <a:latin typeface="Times New Roman" pitchFamily="18" charset="0"/>
                <a:cs typeface="Times New Roman" pitchFamily="18" charset="0"/>
              </a:rPr>
              <a:t> cells. Such inflammatory reactions are usually called </a:t>
            </a:r>
            <a:r>
              <a:rPr lang="en-US" sz="2400" b="1" dirty="0" smtClean="0">
                <a:latin typeface="Times New Roman" pitchFamily="18" charset="0"/>
                <a:cs typeface="Times New Roman" pitchFamily="18" charset="0"/>
              </a:rPr>
              <a:t>delayed-type hypersensitivity responses</a:t>
            </a:r>
            <a:r>
              <a:rPr lang="en-US" sz="2400" dirty="0" smtClean="0">
                <a:latin typeface="Times New Roman" pitchFamily="18" charset="0"/>
                <a:cs typeface="Times New Roman" pitchFamily="18" charset="0"/>
              </a:rPr>
              <a:t>. </a:t>
            </a:r>
          </a:p>
          <a:p>
            <a:pPr algn="just">
              <a:buNone/>
            </a:pPr>
            <a:r>
              <a:rPr lang="en-US" sz="2400" dirty="0" smtClean="0">
                <a:latin typeface="Times New Roman" pitchFamily="18" charset="0"/>
                <a:cs typeface="Times New Roman" pitchFamily="18" charset="0"/>
              </a:rPr>
              <a:t>Most of the recruited cells are </a:t>
            </a:r>
            <a:r>
              <a:rPr lang="en-US" sz="2400" dirty="0" err="1" smtClean="0">
                <a:latin typeface="Times New Roman" pitchFamily="18" charset="0"/>
                <a:cs typeface="Times New Roman" pitchFamily="18" charset="0"/>
              </a:rPr>
              <a:t>neutrophils</a:t>
            </a:r>
            <a:r>
              <a:rPr lang="en-US" sz="2400" dirty="0" smtClean="0">
                <a:latin typeface="Times New Roman" pitchFamily="18" charset="0"/>
                <a:cs typeface="Times New Roman" pitchFamily="18" charset="0"/>
              </a:rPr>
              <a:t> and mononuclear cells, which are protective and cause tissue damage. </a:t>
            </a:r>
          </a:p>
          <a:p>
            <a:pPr algn="just">
              <a:buNone/>
            </a:pPr>
            <a:r>
              <a:rPr lang="en-US" sz="2400" dirty="0" err="1" smtClean="0">
                <a:latin typeface="Times New Roman" pitchFamily="18" charset="0"/>
                <a:cs typeface="Times New Roman" pitchFamily="18" charset="0"/>
              </a:rPr>
              <a:t>Immunopathology</a:t>
            </a:r>
            <a:r>
              <a:rPr lang="en-US" sz="2400" dirty="0" smtClean="0">
                <a:latin typeface="Times New Roman" pitchFamily="18" charset="0"/>
                <a:cs typeface="Times New Roman" pitchFamily="18" charset="0"/>
              </a:rPr>
              <a:t> is the result of release of </a:t>
            </a:r>
            <a:r>
              <a:rPr lang="en-US" sz="2400" dirty="0" err="1" smtClean="0">
                <a:latin typeface="Times New Roman" pitchFamily="18" charset="0"/>
                <a:cs typeface="Times New Roman" pitchFamily="18" charset="0"/>
              </a:rPr>
              <a:t>proteolytic</a:t>
            </a:r>
            <a:r>
              <a:rPr lang="en-US" sz="2400" dirty="0" smtClean="0">
                <a:latin typeface="Times New Roman" pitchFamily="18" charset="0"/>
                <a:cs typeface="Times New Roman" pitchFamily="18" charset="0"/>
              </a:rPr>
              <a:t> enzymes, reactive free radicals such as peroxide and nitric oxide, and cytokines such as TNF-α.</a:t>
            </a:r>
            <a:endParaRPr lang="en-US" sz="2400" dirty="0">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0" y="228600"/>
            <a:ext cx="8153400" cy="6400800"/>
          </a:xfrm>
        </p:spPr>
        <p:txBody>
          <a:bodyPr>
            <a:normAutofit lnSpcReduction="10000"/>
          </a:bodyPr>
          <a:lstStyle/>
          <a:p>
            <a:pPr algn="just">
              <a:buNone/>
            </a:pPr>
            <a:r>
              <a:rPr lang="en-US" sz="2400" dirty="0" smtClean="0">
                <a:latin typeface="Times New Roman" pitchFamily="18" charset="0"/>
                <a:cs typeface="Times New Roman" pitchFamily="18" charset="0"/>
              </a:rPr>
              <a:t>3</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Immunopathological</a:t>
            </a:r>
            <a:r>
              <a:rPr lang="en-US" sz="2400" b="1" dirty="0" smtClean="0">
                <a:latin typeface="Times New Roman" pitchFamily="18" charset="0"/>
                <a:cs typeface="Times New Roman" pitchFamily="18" charset="0"/>
              </a:rPr>
              <a:t> Lesions Caused by B-cells </a:t>
            </a:r>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Virus-antibody complexes accumulate to high concentrations when extensive viral replication occurs at sites inaccessible to the immune system or continues in the presence of an inadequate immune response. </a:t>
            </a:r>
          </a:p>
          <a:p>
            <a:pPr algn="just"/>
            <a:r>
              <a:rPr lang="en-US" sz="2400" dirty="0" smtClean="0">
                <a:latin typeface="Times New Roman" pitchFamily="18" charset="0"/>
                <a:cs typeface="Times New Roman" pitchFamily="18" charset="0"/>
              </a:rPr>
              <a:t>Such complexes are not efficiently cleared by the </a:t>
            </a:r>
            <a:r>
              <a:rPr lang="en-US" sz="2400" dirty="0" err="1" smtClean="0">
                <a:latin typeface="Times New Roman" pitchFamily="18" charset="0"/>
                <a:cs typeface="Times New Roman" pitchFamily="18" charset="0"/>
              </a:rPr>
              <a:t>reticuloendothelial</a:t>
            </a:r>
            <a:r>
              <a:rPr lang="en-US" sz="2400" dirty="0" smtClean="0">
                <a:latin typeface="Times New Roman" pitchFamily="18" charset="0"/>
                <a:cs typeface="Times New Roman" pitchFamily="18" charset="0"/>
              </a:rPr>
              <a:t> system and continue to circulate in the blood. </a:t>
            </a:r>
          </a:p>
          <a:p>
            <a:pPr algn="just"/>
            <a:r>
              <a:rPr lang="en-US" sz="2400" dirty="0" smtClean="0">
                <a:latin typeface="Times New Roman" pitchFamily="18" charset="0"/>
                <a:cs typeface="Times New Roman" pitchFamily="18" charset="0"/>
              </a:rPr>
              <a:t>They become deposited in the smallest capillaries and cause lesions that are exacerbated when the complement system is activated. </a:t>
            </a:r>
          </a:p>
          <a:p>
            <a:pPr algn="just"/>
            <a:r>
              <a:rPr lang="en-US" sz="2400" dirty="0" smtClean="0">
                <a:latin typeface="Times New Roman" pitchFamily="18" charset="0"/>
                <a:cs typeface="Times New Roman" pitchFamily="18" charset="0"/>
              </a:rPr>
              <a:t>Deposition of these immune complexes in blood vessels, kidney, and brain may result in </a:t>
            </a:r>
            <a:r>
              <a:rPr lang="en-US" sz="2400" dirty="0" err="1" smtClean="0">
                <a:latin typeface="Times New Roman" pitchFamily="18" charset="0"/>
                <a:cs typeface="Times New Roman" pitchFamily="18" charset="0"/>
              </a:rPr>
              <a:t>vasculitis</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glomerulonephritis</a:t>
            </a:r>
            <a:r>
              <a:rPr lang="en-US" sz="2400" dirty="0" smtClean="0">
                <a:latin typeface="Times New Roman" pitchFamily="18" charset="0"/>
                <a:cs typeface="Times New Roman" pitchFamily="18" charset="0"/>
              </a:rPr>
              <a:t>, and mental confusion, respectively.</a:t>
            </a:r>
          </a:p>
          <a:p>
            <a:pPr algn="just"/>
            <a:r>
              <a:rPr lang="en-US" sz="2400" dirty="0" smtClean="0">
                <a:latin typeface="Times New Roman" pitchFamily="18" charset="0"/>
                <a:cs typeface="Times New Roman" pitchFamily="18" charset="0"/>
              </a:rPr>
              <a:t> Antibodies may also enhance viral infection. This mechanism probably accounts for the pathogenesis of dengue hemorrhagic fever.</a:t>
            </a:r>
            <a:endParaRPr lang="en-US" sz="2400"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400" b="1" dirty="0" smtClean="0">
                <a:latin typeface="Times New Roman" pitchFamily="18" charset="0"/>
                <a:cs typeface="Times New Roman" pitchFamily="18" charset="0"/>
              </a:rPr>
              <a:t>4. Injury Mediated by Free Radicals-</a:t>
            </a:r>
          </a:p>
          <a:p>
            <a:pPr>
              <a:buNone/>
            </a:pPr>
            <a:r>
              <a:rPr lang="en-US" sz="2400" dirty="0" smtClean="0">
                <a:latin typeface="Times New Roman" pitchFamily="18" charset="0"/>
                <a:cs typeface="Times New Roman" pitchFamily="18" charset="0"/>
              </a:rPr>
              <a:t> Nitric oxide (NO) is produced in virus-infected tissues during inflammation as part of the innate immune response. </a:t>
            </a:r>
          </a:p>
          <a:p>
            <a:pPr>
              <a:buNone/>
            </a:pPr>
            <a:r>
              <a:rPr lang="en-US" sz="2400" dirty="0" smtClean="0">
                <a:latin typeface="Times New Roman" pitchFamily="18" charset="0"/>
                <a:cs typeface="Times New Roman" pitchFamily="18" charset="0"/>
              </a:rPr>
              <a:t>This gas has been shown to inhibit the replication of many viruses in cultured cells and in animal models. </a:t>
            </a:r>
          </a:p>
          <a:p>
            <a:pPr>
              <a:buNone/>
            </a:pPr>
            <a:r>
              <a:rPr lang="en-US" sz="2400" dirty="0" smtClean="0">
                <a:latin typeface="Times New Roman" pitchFamily="18" charset="0"/>
                <a:cs typeface="Times New Roman" pitchFamily="18" charset="0"/>
              </a:rPr>
              <a:t>While low concentrations of NO have a protective effect, high concentrations or prolonged production have the potential to contribute to tissue damage.</a:t>
            </a:r>
            <a:endParaRPr lang="en-US"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1118</TotalTime>
  <Words>2628</Words>
  <Application>Microsoft Office PowerPoint</Application>
  <PresentationFormat>On-screen Show (4:3)</PresentationFormat>
  <Paragraphs>215</Paragraphs>
  <Slides>43</Slides>
  <Notes>1</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Viral Interference</vt:lpstr>
      <vt:lpstr>INTERFERONS </vt:lpstr>
      <vt:lpstr>Types of IFNs</vt:lpstr>
      <vt:lpstr>Slide 4</vt:lpstr>
      <vt:lpstr>Slide 5</vt:lpstr>
      <vt:lpstr>Activities of interferon</vt:lpstr>
      <vt:lpstr>Interferon inducing agents</vt:lpstr>
      <vt:lpstr>Mechanism of action</vt:lpstr>
      <vt:lpstr>Slide 9</vt:lpstr>
      <vt:lpstr>Slide 10</vt:lpstr>
      <vt:lpstr>Slide 11</vt:lpstr>
      <vt:lpstr>Slide 12</vt:lpstr>
      <vt:lpstr>Slide 13</vt:lpstr>
      <vt:lpstr>Viral Pathogenesis</vt:lpstr>
      <vt:lpstr>Slide 15</vt:lpstr>
      <vt:lpstr>Slide 16</vt:lpstr>
      <vt:lpstr>Slide 17</vt:lpstr>
      <vt:lpstr>Slide 18</vt:lpstr>
      <vt:lpstr>Viral Pathogenesis</vt:lpstr>
      <vt:lpstr>Entry Points for a virus into a host</vt:lpstr>
      <vt:lpstr>Slide 21</vt:lpstr>
      <vt:lpstr>Slide 22</vt:lpstr>
      <vt:lpstr>Virus dissemination within the host</vt:lpstr>
      <vt:lpstr>Slide 24</vt:lpstr>
      <vt:lpstr>Slide 25</vt:lpstr>
      <vt:lpstr>Incubation Period</vt:lpstr>
      <vt:lpstr>Multiplication in Target Organs</vt:lpstr>
      <vt:lpstr>Slide 28</vt:lpstr>
      <vt:lpstr>Slide 29</vt:lpstr>
      <vt:lpstr>Slide 30</vt:lpstr>
      <vt:lpstr>Slide 31</vt:lpstr>
      <vt:lpstr>Slide 32</vt:lpstr>
      <vt:lpstr>Slide 33</vt:lpstr>
      <vt:lpstr>Genetic Determinants of Virulence</vt:lpstr>
      <vt:lpstr>1. Gene products that alter the ability of the virus to replicate</vt:lpstr>
      <vt:lpstr>2. Gene products that modify the host’s defense mechanisms</vt:lpstr>
      <vt:lpstr>Virokines</vt:lpstr>
      <vt:lpstr>3. Genes that enable the virus to spread in the host</vt:lpstr>
      <vt:lpstr>4. Toxic viral proteins</vt:lpstr>
      <vt:lpstr>Viral infections and Immunopathology </vt:lpstr>
      <vt:lpstr>Immunopathological Lesions</vt:lpstr>
      <vt:lpstr>Slide 42</vt:lpstr>
      <vt:lpstr>Slide 43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Viral Pathogenesis</dc:title>
  <dc:creator>HP</dc:creator>
  <cp:lastModifiedBy>RATHORE</cp:lastModifiedBy>
  <cp:revision>94</cp:revision>
  <dcterms:created xsi:type="dcterms:W3CDTF">2006-08-16T00:00:00Z</dcterms:created>
  <dcterms:modified xsi:type="dcterms:W3CDTF">2024-12-26T06:01:29Z</dcterms:modified>
</cp:coreProperties>
</file>