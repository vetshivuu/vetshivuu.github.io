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7"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300" r:id="rId44"/>
    <p:sldId id="299" r:id="rId45"/>
    <p:sldId id="301" r:id="rId46"/>
    <p:sldId id="302" r:id="rId47"/>
    <p:sldId id="303"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11/28/2023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C00000"/>
                </a:solidFill>
                <a:latin typeface="Algerian" pitchFamily="82" charset="0"/>
              </a:rPr>
              <a:t>Viral genetics</a:t>
            </a:r>
            <a:endParaRPr lang="en-US" b="1" dirty="0">
              <a:solidFill>
                <a:srgbClr val="C00000"/>
              </a:solidFill>
              <a:latin typeface="Algerian" pitchFamily="82" charset="0"/>
            </a:endParaRP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C00000"/>
                </a:solidFill>
              </a:rPr>
              <a:t>Purpose </a:t>
            </a:r>
            <a:endParaRPr lang="en-US" sz="4000" b="1" dirty="0">
              <a:solidFill>
                <a:srgbClr val="C00000"/>
              </a:solidFill>
            </a:endParaRPr>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Generation of different strain, type, variant within a particular virus</a:t>
            </a:r>
          </a:p>
          <a:p>
            <a:r>
              <a:rPr lang="en-US" sz="2800" dirty="0" smtClean="0">
                <a:latin typeface="Times New Roman" pitchFamily="18" charset="0"/>
                <a:cs typeface="Times New Roman" pitchFamily="18" charset="0"/>
              </a:rPr>
              <a:t>Generation of viruses with increased or decreased pathogenic potential</a:t>
            </a:r>
          </a:p>
          <a:p>
            <a:r>
              <a:rPr lang="en-US" sz="2800" dirty="0" smtClean="0">
                <a:latin typeface="Times New Roman" pitchFamily="18" charset="0"/>
                <a:cs typeface="Times New Roman" pitchFamily="18" charset="0"/>
              </a:rPr>
              <a:t>Genetic and molecular basis of viral disease process</a:t>
            </a:r>
          </a:p>
          <a:p>
            <a:r>
              <a:rPr lang="en-US" sz="2800" dirty="0" smtClean="0">
                <a:latin typeface="Times New Roman" pitchFamily="18" charset="0"/>
                <a:cs typeface="Times New Roman" pitchFamily="18" charset="0"/>
              </a:rPr>
              <a:t>Effective diagnosis, prevention and treatment of viral infection</a:t>
            </a:r>
            <a:endParaRPr lang="en-US" sz="28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smtClean="0">
                <a:solidFill>
                  <a:srgbClr val="C00000"/>
                </a:solidFill>
              </a:rPr>
              <a:t>Mutations</a:t>
            </a:r>
            <a:endParaRPr lang="en-US" sz="4000" b="1" dirty="0">
              <a:solidFill>
                <a:srgbClr val="C00000"/>
              </a:solidFill>
            </a:endParaRPr>
          </a:p>
        </p:txBody>
      </p:sp>
      <p:sp>
        <p:nvSpPr>
          <p:cNvPr id="3" name="Content Placeholder 2"/>
          <p:cNvSpPr>
            <a:spLocks noGrp="1"/>
          </p:cNvSpPr>
          <p:nvPr>
            <p:ph idx="1"/>
          </p:nvPr>
        </p:nvSpPr>
        <p:spPr>
          <a:xfrm>
            <a:off x="0" y="990600"/>
            <a:ext cx="8991600" cy="5334000"/>
          </a:xfrm>
        </p:spPr>
        <p:txBody>
          <a:bodyPr>
            <a:noAutofit/>
          </a:bodyPr>
          <a:lstStyle/>
          <a:p>
            <a:pPr algn="just"/>
            <a:r>
              <a:rPr lang="en-US" sz="2000" dirty="0" smtClean="0">
                <a:latin typeface="Times New Roman" pitchFamily="18" charset="0"/>
                <a:cs typeface="Times New Roman" pitchFamily="18" charset="0"/>
              </a:rPr>
              <a:t> A mutation is a change in the nucleic acid sequence of an organism. </a:t>
            </a:r>
          </a:p>
          <a:p>
            <a:pPr algn="just"/>
            <a:r>
              <a:rPr lang="en-US" sz="2000" dirty="0" smtClean="0">
                <a:latin typeface="Times New Roman" pitchFamily="18" charset="0"/>
                <a:cs typeface="Times New Roman" pitchFamily="18" charset="0"/>
              </a:rPr>
              <a:t>In viruses, errors in copying the viral nucleic acid during replication cycles results in mutation. </a:t>
            </a:r>
          </a:p>
          <a:p>
            <a:pPr algn="just"/>
            <a:r>
              <a:rPr lang="en-US" sz="2000" b="1" dirty="0" smtClean="0">
                <a:latin typeface="Times New Roman" pitchFamily="18" charset="0"/>
                <a:cs typeface="Times New Roman" pitchFamily="18" charset="0"/>
              </a:rPr>
              <a:t>In general, mutation rates are considerably higher in most RNA viruses than in DNA viruses. This is due to higher error rates in RNA-dependent RNA polymerases than DNA-dependent DNA polymerases.</a:t>
            </a:r>
          </a:p>
          <a:p>
            <a:pPr algn="just"/>
            <a:r>
              <a:rPr lang="en-US" sz="2000" dirty="0" smtClean="0">
                <a:latin typeface="Times New Roman" pitchFamily="18" charset="0"/>
                <a:cs typeface="Times New Roman" pitchFamily="18" charset="0"/>
              </a:rPr>
              <a:t>The organism possessing a mutation is referred to a </a:t>
            </a:r>
            <a:r>
              <a:rPr lang="en-US" sz="2000" b="1" dirty="0" smtClean="0">
                <a:latin typeface="Times New Roman" pitchFamily="18" charset="0"/>
                <a:cs typeface="Times New Roman" pitchFamily="18" charset="0"/>
              </a:rPr>
              <a:t>mutant</a:t>
            </a:r>
            <a:r>
              <a:rPr lang="en-US" sz="2000" dirty="0" smtClean="0">
                <a:latin typeface="Times New Roman" pitchFamily="18" charset="0"/>
                <a:cs typeface="Times New Roman" pitchFamily="18" charset="0"/>
              </a:rPr>
              <a:t>. This change is based on comparison with the wild type (reference) virus. </a:t>
            </a:r>
          </a:p>
          <a:p>
            <a:pPr algn="just"/>
            <a:r>
              <a:rPr lang="en-US" sz="2000" dirty="0" smtClean="0">
                <a:latin typeface="Times New Roman" pitchFamily="18" charset="0"/>
                <a:cs typeface="Times New Roman" pitchFamily="18" charset="0"/>
              </a:rPr>
              <a:t>The term “strain,” “type,” “variant,” and “mutant” are used to designate a virus that differs in certain heritable characteristics from the parental or wild-type virus.</a:t>
            </a:r>
          </a:p>
          <a:p>
            <a:pPr algn="just"/>
            <a:r>
              <a:rPr lang="en-US" sz="2000" b="1" dirty="0" smtClean="0">
                <a:latin typeface="Times New Roman" pitchFamily="18" charset="0"/>
                <a:cs typeface="Times New Roman" pitchFamily="18" charset="0"/>
              </a:rPr>
              <a:t>Strain</a:t>
            </a:r>
            <a:r>
              <a:rPr lang="en-US" sz="2000" dirty="0" smtClean="0">
                <a:latin typeface="Times New Roman" pitchFamily="18" charset="0"/>
                <a:cs typeface="Times New Roman" pitchFamily="18" charset="0"/>
              </a:rPr>
              <a:t>: Different lines or isolates of the same virus (e.g., from different geographical locations or patients)</a:t>
            </a:r>
          </a:p>
          <a:p>
            <a:pPr algn="just"/>
            <a:r>
              <a:rPr lang="en-US" sz="2000" b="1" dirty="0" smtClean="0">
                <a:latin typeface="Times New Roman" pitchFamily="18" charset="0"/>
                <a:cs typeface="Times New Roman" pitchFamily="18" charset="0"/>
              </a:rPr>
              <a:t> Type</a:t>
            </a:r>
            <a:r>
              <a:rPr lang="en-US" sz="2000" dirty="0" smtClean="0">
                <a:latin typeface="Times New Roman" pitchFamily="18" charset="0"/>
                <a:cs typeface="Times New Roman" pitchFamily="18" charset="0"/>
              </a:rPr>
              <a:t>: Different serotypes of the same virus (e.g., various antibody neutralization phenotypes)</a:t>
            </a:r>
          </a:p>
          <a:p>
            <a:pPr algn="just"/>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Variant</a:t>
            </a:r>
            <a:r>
              <a:rPr lang="en-US" sz="2000" dirty="0" smtClean="0">
                <a:latin typeface="Times New Roman" pitchFamily="18" charset="0"/>
                <a:cs typeface="Times New Roman" pitchFamily="18" charset="0"/>
              </a:rPr>
              <a:t>: A virus whose phenotype differs from the original wild-type strain but the genetic basis for the difference is not known</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smtClean="0">
                <a:solidFill>
                  <a:srgbClr val="FF0000"/>
                </a:solidFill>
              </a:rPr>
              <a:t>Mutagenesis</a:t>
            </a:r>
            <a:endParaRPr lang="en-US" sz="4000" b="1" dirty="0">
              <a:solidFill>
                <a:srgbClr val="FF0000"/>
              </a:solidFill>
            </a:endParaRPr>
          </a:p>
        </p:txBody>
      </p:sp>
      <p:sp>
        <p:nvSpPr>
          <p:cNvPr id="3" name="Content Placeholder 2"/>
          <p:cNvSpPr>
            <a:spLocks noGrp="1"/>
          </p:cNvSpPr>
          <p:nvPr>
            <p:ph idx="1"/>
          </p:nvPr>
        </p:nvSpPr>
        <p:spPr>
          <a:xfrm>
            <a:off x="152400" y="914400"/>
            <a:ext cx="8991600" cy="5334000"/>
          </a:xfrm>
        </p:spPr>
        <p:txBody>
          <a:bodyPr>
            <a:noAutofit/>
          </a:bodyPr>
          <a:lstStyle/>
          <a:p>
            <a:pPr marL="457200" indent="-457200">
              <a:buAutoNum type="arabicPeriod"/>
            </a:pPr>
            <a:r>
              <a:rPr lang="en-US" sz="2000" b="1" dirty="0" smtClean="0">
                <a:latin typeface="Times New Roman" pitchFamily="18" charset="0"/>
                <a:cs typeface="Times New Roman" pitchFamily="18" charset="0"/>
              </a:rPr>
              <a:t>Spontaneous mutation - </a:t>
            </a:r>
            <a:r>
              <a:rPr lang="en-US" sz="2000" dirty="0" smtClean="0">
                <a:latin typeface="Times New Roman" pitchFamily="18" charset="0"/>
                <a:cs typeface="Times New Roman" pitchFamily="18" charset="0"/>
              </a:rPr>
              <a:t>Mutation in the absence of any known mutagen. These are </a:t>
            </a:r>
            <a:r>
              <a:rPr lang="en-US" sz="2000" b="1" dirty="0" smtClean="0">
                <a:latin typeface="Times New Roman" pitchFamily="18" charset="0"/>
                <a:cs typeface="Times New Roman" pitchFamily="18" charset="0"/>
              </a:rPr>
              <a:t>endogenous</a:t>
            </a:r>
            <a:r>
              <a:rPr lang="en-US" sz="2000" dirty="0" smtClean="0">
                <a:latin typeface="Times New Roman" pitchFamily="18" charset="0"/>
                <a:cs typeface="Times New Roman" pitchFamily="18" charset="0"/>
              </a:rPr>
              <a:t>, being the result of DNA or RNA polymerase errors or the result of incorporation of naturally occurring </a:t>
            </a:r>
            <a:r>
              <a:rPr lang="en-US" sz="2000" dirty="0" err="1" smtClean="0">
                <a:latin typeface="Times New Roman" pitchFamily="18" charset="0"/>
                <a:cs typeface="Times New Roman" pitchFamily="18" charset="0"/>
              </a:rPr>
              <a:t>tautomeric</a:t>
            </a:r>
            <a:r>
              <a:rPr lang="en-US" sz="2000" dirty="0" smtClean="0">
                <a:latin typeface="Times New Roman" pitchFamily="18" charset="0"/>
                <a:cs typeface="Times New Roman" pitchFamily="18" charset="0"/>
              </a:rPr>
              <a:t> forms of nucleotides. </a:t>
            </a:r>
            <a:r>
              <a:rPr lang="en-US" sz="2000" dirty="0" smtClean="0">
                <a:solidFill>
                  <a:srgbClr val="FF0000"/>
                </a:solidFill>
                <a:latin typeface="Times New Roman" pitchFamily="18" charset="0"/>
                <a:cs typeface="Times New Roman" pitchFamily="18" charset="0"/>
              </a:rPr>
              <a:t>DNA viruses are typically more genetically stable than RNA viruses</a:t>
            </a:r>
          </a:p>
          <a:p>
            <a:pPr marL="457200" indent="-457200">
              <a:buAutoNum type="arabicPeriod"/>
            </a:pPr>
            <a:r>
              <a:rPr lang="en-US" sz="2000" b="1" dirty="0" smtClean="0">
                <a:latin typeface="Times New Roman" pitchFamily="18" charset="0"/>
                <a:cs typeface="Times New Roman" pitchFamily="18" charset="0"/>
              </a:rPr>
              <a:t>2. Induced mutation – </a:t>
            </a:r>
            <a:r>
              <a:rPr lang="en-US" sz="2000" dirty="0" smtClean="0">
                <a:latin typeface="Times New Roman" pitchFamily="18" charset="0"/>
                <a:cs typeface="Times New Roman" pitchFamily="18" charset="0"/>
              </a:rPr>
              <a:t>are </a:t>
            </a:r>
            <a:r>
              <a:rPr lang="en-US" sz="2000" b="1" dirty="0" smtClean="0">
                <a:latin typeface="Times New Roman" pitchFamily="18" charset="0"/>
                <a:cs typeface="Times New Roman" pitchFamily="18" charset="0"/>
              </a:rPr>
              <a:t>exogenous</a:t>
            </a:r>
            <a:r>
              <a:rPr lang="en-US" sz="2000" dirty="0" smtClean="0">
                <a:latin typeface="Times New Roman" pitchFamily="18" charset="0"/>
                <a:cs typeface="Times New Roman" pitchFamily="18" charset="0"/>
              </a:rPr>
              <a:t> and derived from mutagen-treated population of the wild-type virus. </a:t>
            </a:r>
          </a:p>
          <a:p>
            <a:pPr>
              <a:buNone/>
            </a:pPr>
            <a:r>
              <a:rPr lang="en-US" sz="2000" b="1" dirty="0" smtClean="0">
                <a:latin typeface="Times New Roman" pitchFamily="18" charset="0"/>
                <a:cs typeface="Times New Roman" pitchFamily="18" charset="0"/>
              </a:rPr>
              <a:t>Mutagens (chemicals or radiation) </a:t>
            </a:r>
            <a:r>
              <a:rPr lang="en-US" sz="2000" dirty="0" smtClean="0">
                <a:latin typeface="Times New Roman" pitchFamily="18" charset="0"/>
                <a:cs typeface="Times New Roman" pitchFamily="18" charset="0"/>
              </a:rPr>
              <a:t>are used to increase the frequency of mutants in the population that is subsequently screened by using appropriate selective pressures. </a:t>
            </a:r>
            <a:endParaRPr lang="en-US" sz="2000" b="1"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Chemical mutagens act either directly on the bases or indirectly by enhancing </a:t>
            </a:r>
            <a:r>
              <a:rPr lang="en-US" sz="2000" dirty="0" err="1" smtClean="0">
                <a:latin typeface="Times New Roman" pitchFamily="18" charset="0"/>
                <a:cs typeface="Times New Roman" pitchFamily="18" charset="0"/>
              </a:rPr>
              <a:t>mispairing</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Eg</a:t>
            </a:r>
            <a:r>
              <a:rPr lang="en-US" sz="2000" dirty="0" smtClean="0">
                <a:latin typeface="Times New Roman" pitchFamily="18" charset="0"/>
                <a:cs typeface="Times New Roman" pitchFamily="18" charset="0"/>
              </a:rPr>
              <a:t>. nitrous acid or </a:t>
            </a:r>
            <a:r>
              <a:rPr lang="en-US" sz="2000" dirty="0" err="1" smtClean="0">
                <a:latin typeface="Times New Roman" pitchFamily="18" charset="0"/>
                <a:cs typeface="Times New Roman" pitchFamily="18" charset="0"/>
              </a:rPr>
              <a:t>nitrosoguanidine</a:t>
            </a:r>
            <a:r>
              <a:rPr lang="en-US" sz="2000" dirty="0" smtClean="0">
                <a:latin typeface="Times New Roman" pitchFamily="18" charset="0"/>
                <a:cs typeface="Times New Roman" pitchFamily="18" charset="0"/>
              </a:rPr>
              <a:t>. Nucleotide analogs such as 5-fluorouracil (for RNA viruses) or 5'-bromodeoxyuridine (for DNA viruses) are mutagenic only when virus replicates in their presence, because they are incorporated into the viral nucleic acid and produce mutations by miscoding during replication.</a:t>
            </a:r>
          </a:p>
          <a:p>
            <a:r>
              <a:rPr lang="en-US" sz="2000" dirty="0" err="1" smtClean="0">
                <a:latin typeface="Times New Roman" pitchFamily="18" charset="0"/>
                <a:cs typeface="Times New Roman" pitchFamily="18" charset="0"/>
              </a:rPr>
              <a:t>Uv</a:t>
            </a:r>
            <a:r>
              <a:rPr lang="en-US" sz="2000" dirty="0" smtClean="0">
                <a:latin typeface="Times New Roman" pitchFamily="18" charset="0"/>
                <a:cs typeface="Times New Roman" pitchFamily="18" charset="0"/>
              </a:rPr>
              <a:t> radiation can induce the formation of </a:t>
            </a:r>
            <a:r>
              <a:rPr lang="en-US" sz="2000" dirty="0" err="1" smtClean="0">
                <a:latin typeface="Times New Roman" pitchFamily="18" charset="0"/>
                <a:cs typeface="Times New Roman" pitchFamily="18" charset="0"/>
              </a:rPr>
              <a:t>pyrimidine</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dimers</a:t>
            </a:r>
            <a:r>
              <a:rPr lang="en-US" sz="2000" dirty="0" smtClean="0">
                <a:latin typeface="Times New Roman" pitchFamily="18" charset="0"/>
                <a:cs typeface="Times New Roman" pitchFamily="18" charset="0"/>
              </a:rPr>
              <a:t>, ionizing radiation can damage DNA directly by breaking chemical bonds or indirectly by forming free radicals that in turn damage DNA.</a:t>
            </a:r>
            <a:endParaRPr lang="en-US"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Types of Mutations</a:t>
            </a:r>
            <a:endParaRPr lang="en-US" sz="3600" b="1" dirty="0">
              <a:solidFill>
                <a:srgbClr val="FF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Mutations results in change in </a:t>
            </a:r>
            <a:r>
              <a:rPr lang="en-US" sz="2400" b="1" dirty="0" smtClean="0">
                <a:latin typeface="Times New Roman" pitchFamily="18" charset="0"/>
                <a:cs typeface="Times New Roman" pitchFamily="18" charset="0"/>
              </a:rPr>
              <a:t>viral phenotype </a:t>
            </a:r>
            <a:r>
              <a:rPr lang="en-US" sz="2400" dirty="0" smtClean="0">
                <a:latin typeface="Times New Roman" pitchFamily="18" charset="0"/>
                <a:cs typeface="Times New Roman" pitchFamily="18" charset="0"/>
              </a:rPr>
              <a:t>(the kind of change they produce in the properties of the virus or the infection it causes) or </a:t>
            </a:r>
          </a:p>
          <a:p>
            <a:r>
              <a:rPr lang="en-US" sz="2400" b="1" dirty="0" smtClean="0">
                <a:latin typeface="Times New Roman" pitchFamily="18" charset="0"/>
                <a:cs typeface="Times New Roman" pitchFamily="18" charset="0"/>
              </a:rPr>
              <a:t>Viral genotype </a:t>
            </a:r>
            <a:r>
              <a:rPr lang="en-US" sz="2400" dirty="0" smtClean="0">
                <a:latin typeface="Times New Roman" pitchFamily="18" charset="0"/>
                <a:cs typeface="Times New Roman" pitchFamily="18" charset="0"/>
              </a:rPr>
              <a:t>(the kind of change they produce in the viral genome)</a:t>
            </a:r>
          </a:p>
          <a:p>
            <a:r>
              <a:rPr lang="en-US" sz="2400" b="1" dirty="0" smtClean="0">
                <a:latin typeface="Times New Roman" pitchFamily="18" charset="0"/>
                <a:cs typeface="Times New Roman" pitchFamily="18" charset="0"/>
              </a:rPr>
              <a:t>Phenotypic change </a:t>
            </a:r>
            <a:r>
              <a:rPr lang="en-US" sz="2400" dirty="0" smtClean="0">
                <a:latin typeface="Times New Roman" pitchFamily="18" charset="0"/>
                <a:cs typeface="Times New Roman" pitchFamily="18" charset="0"/>
              </a:rPr>
              <a:t>may be evidenced- </a:t>
            </a:r>
          </a:p>
          <a:p>
            <a:r>
              <a:rPr lang="en-US" sz="2400" dirty="0" smtClean="0">
                <a:latin typeface="Times New Roman" pitchFamily="18" charset="0"/>
                <a:cs typeface="Times New Roman" pitchFamily="18" charset="0"/>
              </a:rPr>
              <a:t>by a change in a physical characteristic of the </a:t>
            </a:r>
            <a:r>
              <a:rPr lang="en-US" sz="2400" dirty="0" err="1" smtClean="0">
                <a:latin typeface="Times New Roman" pitchFamily="18" charset="0"/>
                <a:cs typeface="Times New Roman" pitchFamily="18" charset="0"/>
              </a:rPr>
              <a:t>virion</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by a change in a </a:t>
            </a:r>
            <a:r>
              <a:rPr lang="en-US" sz="2400" dirty="0" err="1" smtClean="0">
                <a:latin typeface="Times New Roman" pitchFamily="18" charset="0"/>
                <a:cs typeface="Times New Roman" pitchFamily="18" charset="0"/>
              </a:rPr>
              <a:t>replicative</a:t>
            </a:r>
            <a:r>
              <a:rPr lang="en-US" sz="2400" dirty="0" smtClean="0">
                <a:latin typeface="Times New Roman" pitchFamily="18" charset="0"/>
                <a:cs typeface="Times New Roman" pitchFamily="18" charset="0"/>
              </a:rPr>
              <a:t> characteristic seen during infection in cell culture, or </a:t>
            </a:r>
          </a:p>
          <a:p>
            <a:r>
              <a:rPr lang="en-US" sz="2400" dirty="0" smtClean="0">
                <a:latin typeface="Times New Roman" pitchFamily="18" charset="0"/>
                <a:cs typeface="Times New Roman" pitchFamily="18" charset="0"/>
              </a:rPr>
              <a:t>by a change in a pathogenic property in an infected animal</a:t>
            </a:r>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rPr>
              <a:t>Phenotypic classification of mutants</a:t>
            </a:r>
            <a:endParaRPr lang="en-US" sz="3200" b="1" dirty="0">
              <a:solidFill>
                <a:srgbClr val="FF0000"/>
              </a:solidFill>
            </a:endParaRPr>
          </a:p>
        </p:txBody>
      </p:sp>
      <p:sp>
        <p:nvSpPr>
          <p:cNvPr id="3" name="Content Placeholder 2"/>
          <p:cNvSpPr>
            <a:spLocks noGrp="1"/>
          </p:cNvSpPr>
          <p:nvPr>
            <p:ph idx="1"/>
          </p:nvPr>
        </p:nvSpPr>
        <p:spPr>
          <a:xfrm>
            <a:off x="152400" y="1447800"/>
            <a:ext cx="8991600" cy="5105400"/>
          </a:xfrm>
        </p:spPr>
        <p:txBody>
          <a:bodyPr>
            <a:normAutofit fontScale="62500" lnSpcReduction="20000"/>
          </a:bodyPr>
          <a:lstStyle/>
          <a:p>
            <a:pPr>
              <a:buNone/>
            </a:pPr>
            <a:r>
              <a:rPr lang="en-US" b="1" dirty="0" smtClean="0">
                <a:latin typeface="Times New Roman" pitchFamily="18" charset="0"/>
                <a:cs typeface="Times New Roman" pitchFamily="18" charset="0"/>
              </a:rPr>
              <a:t>1. Plaque morphology mutations: </a:t>
            </a:r>
            <a:r>
              <a:rPr lang="en-US" dirty="0" smtClean="0">
                <a:latin typeface="Times New Roman" pitchFamily="18" charset="0"/>
                <a:cs typeface="Times New Roman" pitchFamily="18" charset="0"/>
              </a:rPr>
              <a:t>Mutants have altered morphology due to one of a variety of</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metabolic differences. e.g. </a:t>
            </a:r>
            <a:r>
              <a:rPr lang="en-US" dirty="0" err="1" smtClean="0">
                <a:latin typeface="Times New Roman" pitchFamily="18" charset="0"/>
                <a:cs typeface="Times New Roman" pitchFamily="18" charset="0"/>
              </a:rPr>
              <a:t>syncytial</a:t>
            </a:r>
            <a:r>
              <a:rPr lang="en-US" dirty="0" smtClean="0">
                <a:latin typeface="Times New Roman" pitchFamily="18" charset="0"/>
                <a:cs typeface="Times New Roman" pitchFamily="18" charset="0"/>
              </a:rPr>
              <a:t> (</a:t>
            </a:r>
            <a:r>
              <a:rPr lang="en-US" i="1" dirty="0" err="1" smtClean="0">
                <a:latin typeface="Times New Roman" pitchFamily="18" charset="0"/>
                <a:cs typeface="Times New Roman" pitchFamily="18" charset="0"/>
              </a:rPr>
              <a:t>syn</a:t>
            </a:r>
            <a:r>
              <a:rPr lang="en-US" i="1" dirty="0" smtClean="0">
                <a:latin typeface="Times New Roman" pitchFamily="18" charset="0"/>
                <a:cs typeface="Times New Roman" pitchFamily="18" charset="0"/>
              </a:rPr>
              <a:t>) mutants of viruses like </a:t>
            </a:r>
            <a:r>
              <a:rPr lang="en-US" i="1" dirty="0" err="1" smtClean="0">
                <a:latin typeface="Times New Roman" pitchFamily="18" charset="0"/>
                <a:cs typeface="Times New Roman" pitchFamily="18" charset="0"/>
              </a:rPr>
              <a:t>herpesvirus</a:t>
            </a:r>
            <a:r>
              <a:rPr lang="en-US" i="1" dirty="0" smtClean="0">
                <a:latin typeface="Times New Roman" pitchFamily="18" charset="0"/>
                <a:cs typeface="Times New Roman" pitchFamily="18" charset="0"/>
              </a:rPr>
              <a:t>, cause neighboring cells </a:t>
            </a:r>
            <a:r>
              <a:rPr lang="en-US" dirty="0" smtClean="0">
                <a:latin typeface="Times New Roman" pitchFamily="18" charset="0"/>
                <a:cs typeface="Times New Roman" pitchFamily="18" charset="0"/>
              </a:rPr>
              <a:t>to fuse rather than undergo typical </a:t>
            </a:r>
            <a:r>
              <a:rPr lang="en-US" dirty="0" err="1" smtClean="0">
                <a:latin typeface="Times New Roman" pitchFamily="18" charset="0"/>
                <a:cs typeface="Times New Roman" pitchFamily="18" charset="0"/>
              </a:rPr>
              <a:t>cytolytic</a:t>
            </a:r>
            <a:r>
              <a:rPr lang="en-US" dirty="0" smtClean="0">
                <a:latin typeface="Times New Roman" pitchFamily="18" charset="0"/>
                <a:cs typeface="Times New Roman" pitchFamily="18" charset="0"/>
              </a:rPr>
              <a:t> changes.</a:t>
            </a:r>
          </a:p>
          <a:p>
            <a:pPr>
              <a:buNone/>
            </a:pPr>
            <a:r>
              <a:rPr lang="en-US" b="1" dirty="0" smtClean="0">
                <a:latin typeface="Times New Roman" pitchFamily="18" charset="0"/>
                <a:cs typeface="Times New Roman" pitchFamily="18" charset="0"/>
              </a:rPr>
              <a:t>2. Host range mutations: </a:t>
            </a:r>
            <a:r>
              <a:rPr lang="en-US" dirty="0" smtClean="0">
                <a:latin typeface="Times New Roman" pitchFamily="18" charset="0"/>
                <a:cs typeface="Times New Roman" pitchFamily="18" charset="0"/>
              </a:rPr>
              <a:t>Mutation allows for a change in the host range of a particular virus from the original one associated with the wild type virus. This type of change is believed to have occurred with feline parvovirus, which extended its host range and became capable of infecting dogs.</a:t>
            </a:r>
          </a:p>
          <a:p>
            <a:pPr>
              <a:buNone/>
            </a:pPr>
            <a:r>
              <a:rPr lang="en-US" dirty="0" smtClean="0">
                <a:latin typeface="Times New Roman" pitchFamily="18" charset="0"/>
                <a:cs typeface="Times New Roman" pitchFamily="18" charset="0"/>
              </a:rPr>
              <a:t>3. </a:t>
            </a:r>
            <a:r>
              <a:rPr lang="en-US" b="1" dirty="0" smtClean="0">
                <a:latin typeface="Times New Roman" pitchFamily="18" charset="0"/>
                <a:cs typeface="Times New Roman" pitchFamily="18" charset="0"/>
              </a:rPr>
              <a:t>Temperature-sensitive mutations: </a:t>
            </a:r>
            <a:r>
              <a:rPr lang="en-US" dirty="0" smtClean="0">
                <a:latin typeface="Times New Roman" pitchFamily="18" charset="0"/>
                <a:cs typeface="Times New Roman" pitchFamily="18" charset="0"/>
              </a:rPr>
              <a:t>This includes a series of mutations that replicate under a specific range of conditions, beyond this range wild type viruses are capable of replication but the conditional is not. </a:t>
            </a:r>
          </a:p>
          <a:p>
            <a:pPr>
              <a:buNone/>
            </a:pPr>
            <a:r>
              <a:rPr lang="en-US" dirty="0" smtClean="0">
                <a:latin typeface="Times New Roman" pitchFamily="18" charset="0"/>
                <a:cs typeface="Times New Roman" pitchFamily="18" charset="0"/>
              </a:rPr>
              <a:t>Examples of conditional lethal mutants include </a:t>
            </a:r>
            <a:r>
              <a:rPr lang="en-US" b="1" dirty="0" smtClean="0">
                <a:latin typeface="Times New Roman" pitchFamily="18" charset="0"/>
                <a:cs typeface="Times New Roman" pitchFamily="18" charset="0"/>
              </a:rPr>
              <a:t>temperature-sensitive mutants and cold-sensitive mutants. </a:t>
            </a:r>
          </a:p>
          <a:p>
            <a:pPr>
              <a:buNone/>
            </a:pPr>
            <a:r>
              <a:rPr lang="en-US" b="1" i="1" dirty="0" smtClean="0">
                <a:latin typeface="Times New Roman" pitchFamily="18" charset="0"/>
                <a:cs typeface="Times New Roman" pitchFamily="18" charset="0"/>
              </a:rPr>
              <a:t>Temperature-sensitive (</a:t>
            </a:r>
            <a:r>
              <a:rPr lang="en-US" b="1" i="1" dirty="0" err="1" smtClean="0">
                <a:latin typeface="Times New Roman" pitchFamily="18" charset="0"/>
                <a:cs typeface="Times New Roman" pitchFamily="18" charset="0"/>
              </a:rPr>
              <a:t>ts</a:t>
            </a:r>
            <a:r>
              <a:rPr lang="en-US" b="1" i="1" dirty="0" smtClean="0">
                <a:latin typeface="Times New Roman" pitchFamily="18" charset="0"/>
                <a:cs typeface="Times New Roman" pitchFamily="18" charset="0"/>
              </a:rPr>
              <a:t>) mutants have </a:t>
            </a:r>
            <a:r>
              <a:rPr lang="en-US" b="1" dirty="0" smtClean="0">
                <a:latin typeface="Times New Roman" pitchFamily="18" charset="0"/>
                <a:cs typeface="Times New Roman" pitchFamily="18" charset="0"/>
              </a:rPr>
              <a:t>conditional-lethal phenotype. The </a:t>
            </a:r>
            <a:r>
              <a:rPr lang="en-US" b="1" i="1" dirty="0" err="1" smtClean="0">
                <a:latin typeface="Times New Roman" pitchFamily="18" charset="0"/>
                <a:cs typeface="Times New Roman" pitchFamily="18" charset="0"/>
              </a:rPr>
              <a:t>ts</a:t>
            </a:r>
            <a:r>
              <a:rPr lang="en-US" b="1" i="1" dirty="0" smtClean="0">
                <a:latin typeface="Times New Roman" pitchFamily="18" charset="0"/>
                <a:cs typeface="Times New Roman" pitchFamily="18" charset="0"/>
              </a:rPr>
              <a:t> mutants </a:t>
            </a:r>
            <a:r>
              <a:rPr lang="en-US" dirty="0" smtClean="0">
                <a:latin typeface="Times New Roman" pitchFamily="18" charset="0"/>
                <a:cs typeface="Times New Roman" pitchFamily="18" charset="0"/>
              </a:rPr>
              <a:t>are produced by alteration in the nucleotide sequence of a gene so that the resulting protein product of the gene is unable to assume or maintain its functional configuration at the non-permissive (39℃) temperature. The protein, however, is able to assume a functional configuration at permissive temperature (32 ℃). e.g. </a:t>
            </a:r>
            <a:r>
              <a:rPr lang="en-US" dirty="0" err="1" smtClean="0">
                <a:latin typeface="Times New Roman" pitchFamily="18" charset="0"/>
                <a:cs typeface="Times New Roman" pitchFamily="18" charset="0"/>
              </a:rPr>
              <a:t>herpesviruses</a:t>
            </a:r>
            <a:r>
              <a:rPr lang="en-US" dirty="0" smtClean="0">
                <a:latin typeface="Times New Roman" pitchFamily="18" charset="0"/>
                <a:cs typeface="Times New Roman" pitchFamily="18" charset="0"/>
              </a:rPr>
              <a:t>, adenoviruses.</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rPr>
              <a:t>Genotypic Classification of Mutants</a:t>
            </a:r>
            <a:endParaRPr lang="en-US" sz="3200" b="1" dirty="0">
              <a:solidFill>
                <a:srgbClr val="FF0000"/>
              </a:solidFill>
            </a:endParaRPr>
          </a:p>
        </p:txBody>
      </p:sp>
      <p:sp>
        <p:nvSpPr>
          <p:cNvPr id="3" name="Content Placeholder 2"/>
          <p:cNvSpPr>
            <a:spLocks noGrp="1"/>
          </p:cNvSpPr>
          <p:nvPr>
            <p:ph idx="1"/>
          </p:nvPr>
        </p:nvSpPr>
        <p:spPr>
          <a:xfrm>
            <a:off x="228600" y="1600200"/>
            <a:ext cx="8458200" cy="4953000"/>
          </a:xfrm>
        </p:spPr>
        <p:txBody>
          <a:bodyPr>
            <a:normAutofit lnSpcReduction="10000"/>
          </a:bodyPr>
          <a:lstStyle/>
          <a:p>
            <a:r>
              <a:rPr lang="en-US" sz="2400" b="1" dirty="0" smtClean="0">
                <a:latin typeface="Times New Roman" pitchFamily="18" charset="0"/>
                <a:cs typeface="Times New Roman" pitchFamily="18" charset="0"/>
              </a:rPr>
              <a:t>Deletion mutations: </a:t>
            </a:r>
            <a:r>
              <a:rPr lang="en-US" sz="2400" dirty="0" smtClean="0">
                <a:latin typeface="Times New Roman" pitchFamily="18" charset="0"/>
                <a:cs typeface="Times New Roman" pitchFamily="18" charset="0"/>
              </a:rPr>
              <a:t>These mutants have a deletion in their genomes. e.g. </a:t>
            </a:r>
            <a:r>
              <a:rPr lang="en-US" sz="2400" dirty="0" err="1" smtClean="0">
                <a:latin typeface="Times New Roman" pitchFamily="18" charset="0"/>
                <a:cs typeface="Times New Roman" pitchFamily="18" charset="0"/>
              </a:rPr>
              <a:t>psuedorabies</a:t>
            </a:r>
            <a:r>
              <a:rPr lang="en-US" sz="2400" dirty="0" smtClean="0">
                <a:latin typeface="Times New Roman" pitchFamily="18" charset="0"/>
                <a:cs typeface="Times New Roman" pitchFamily="18" charset="0"/>
              </a:rPr>
              <a:t> virus gene deleted vaccine.</a:t>
            </a:r>
          </a:p>
          <a:p>
            <a:r>
              <a:rPr lang="en-US" sz="2400" b="1" dirty="0" smtClean="0">
                <a:latin typeface="Times New Roman" pitchFamily="18" charset="0"/>
                <a:cs typeface="Times New Roman" pitchFamily="18" charset="0"/>
              </a:rPr>
              <a:t>Point mutations: </a:t>
            </a:r>
            <a:r>
              <a:rPr lang="en-US" sz="2400" dirty="0" smtClean="0">
                <a:latin typeface="Times New Roman" pitchFamily="18" charset="0"/>
                <a:cs typeface="Times New Roman" pitchFamily="18" charset="0"/>
              </a:rPr>
              <a:t>Alteration of a single nucleotide in the viral genome. This can be achieved by an </a:t>
            </a:r>
            <a:r>
              <a:rPr lang="en-US" sz="2400" i="1" dirty="0" smtClean="0">
                <a:latin typeface="Times New Roman" pitchFamily="18" charset="0"/>
                <a:cs typeface="Times New Roman" pitchFamily="18" charset="0"/>
              </a:rPr>
              <a:t>in vitro mutagenesis technique.</a:t>
            </a:r>
          </a:p>
          <a:p>
            <a:r>
              <a:rPr lang="en-US" sz="2400" dirty="0" smtClean="0">
                <a:latin typeface="Times New Roman" pitchFamily="18" charset="0"/>
                <a:cs typeface="Times New Roman" pitchFamily="18" charset="0"/>
              </a:rPr>
              <a:t>The phenotypic expression of a mutation may be reversed not only by a back-mutation in the affected nucleotide(s) but also by a </a:t>
            </a:r>
            <a:r>
              <a:rPr lang="en-US" sz="2400" b="1" dirty="0" smtClean="0">
                <a:latin typeface="Times New Roman" pitchFamily="18" charset="0"/>
                <a:cs typeface="Times New Roman" pitchFamily="18" charset="0"/>
              </a:rPr>
              <a:t>suppresser mutation </a:t>
            </a:r>
            <a:r>
              <a:rPr lang="en-US" sz="2400" dirty="0" smtClean="0">
                <a:latin typeface="Times New Roman" pitchFamily="18" charset="0"/>
                <a:cs typeface="Times New Roman" pitchFamily="18" charset="0"/>
              </a:rPr>
              <a:t>occurring elsewhere in the same gene, or even in a different gene, which leads to the reappearance of the wild-type phenotype.</a:t>
            </a:r>
          </a:p>
          <a:p>
            <a:r>
              <a:rPr lang="en-US" sz="2400" dirty="0" smtClean="0">
                <a:latin typeface="Times New Roman" pitchFamily="18" charset="0"/>
                <a:cs typeface="Times New Roman" pitchFamily="18" charset="0"/>
              </a:rPr>
              <a:t>Mutations based on nucleotide substitutions revert most frequently, those based on small deletions or insertions less frequently, and those based on large deletions rarely if ever.</a:t>
            </a:r>
            <a:endParaRPr lang="en-US" sz="2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rPr>
              <a:t>Defective Interfering (DIP) particles or Mutants</a:t>
            </a:r>
            <a:endParaRPr lang="en-US" sz="3200"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sz="2800" dirty="0" smtClean="0">
                <a:latin typeface="Times New Roman" pitchFamily="18" charset="0"/>
                <a:cs typeface="Times New Roman" pitchFamily="18" charset="0"/>
              </a:rPr>
              <a:t>Defective interfering particles (DIPs), caused by the critical absence of part the viral genome, are unable to replicate on their own. </a:t>
            </a:r>
          </a:p>
          <a:p>
            <a:r>
              <a:rPr lang="en-US" sz="2800" dirty="0" smtClean="0">
                <a:latin typeface="Times New Roman" pitchFamily="18" charset="0"/>
                <a:cs typeface="Times New Roman" pitchFamily="18" charset="0"/>
              </a:rPr>
              <a:t>They need the presence of the parental wild-type virus; at the same time they interfere with and usually decrease the yield of the parental virus.</a:t>
            </a:r>
          </a:p>
          <a:p>
            <a:r>
              <a:rPr lang="en-US" sz="2800" dirty="0" smtClean="0">
                <a:latin typeface="Times New Roman" pitchFamily="18" charset="0"/>
                <a:cs typeface="Times New Roman" pitchFamily="18" charset="0"/>
              </a:rPr>
              <a:t>All DI particles of RNA viruses that have been characterized are deletion mutants.</a:t>
            </a:r>
          </a:p>
          <a:p>
            <a:r>
              <a:rPr lang="en-US" sz="2800" dirty="0" smtClean="0">
                <a:latin typeface="Times New Roman" pitchFamily="18" charset="0"/>
                <a:cs typeface="Times New Roman" pitchFamily="18" charset="0"/>
              </a:rPr>
              <a:t>Hepatitis delta virus or HDV is a defective virus, requires infection of the same cell with HBV, which contributes the </a:t>
            </a:r>
            <a:r>
              <a:rPr lang="en-US" sz="2800" dirty="0" err="1" smtClean="0">
                <a:latin typeface="Times New Roman" pitchFamily="18" charset="0"/>
                <a:cs typeface="Times New Roman" pitchFamily="18" charset="0"/>
              </a:rPr>
              <a:t>HBsAg</a:t>
            </a:r>
            <a:r>
              <a:rPr lang="en-US" sz="2800" dirty="0" smtClean="0">
                <a:latin typeface="Times New Roman" pitchFamily="18" charset="0"/>
                <a:cs typeface="Times New Roman" pitchFamily="18" charset="0"/>
              </a:rPr>
              <a:t> that HDV uses for </a:t>
            </a:r>
            <a:r>
              <a:rPr lang="en-US" sz="2800" dirty="0" err="1" smtClean="0">
                <a:latin typeface="Times New Roman" pitchFamily="18" charset="0"/>
                <a:cs typeface="Times New Roman" pitchFamily="18" charset="0"/>
              </a:rPr>
              <a:t>virion</a:t>
            </a:r>
            <a:r>
              <a:rPr lang="en-US" sz="2800" dirty="0" smtClean="0">
                <a:latin typeface="Times New Roman" pitchFamily="18" charset="0"/>
                <a:cs typeface="Times New Roman" pitchFamily="18" charset="0"/>
              </a:rPr>
              <a:t> assembly.</a:t>
            </a:r>
            <a:endParaRPr lang="en-US" sz="28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Antigenic shift and drift</a:t>
            </a:r>
            <a:endParaRPr lang="en-US" sz="3600" b="1" dirty="0">
              <a:solidFill>
                <a:srgbClr val="FF0000"/>
              </a:solidFill>
            </a:endParaRPr>
          </a:p>
        </p:txBody>
      </p:sp>
      <p:sp>
        <p:nvSpPr>
          <p:cNvPr id="3" name="Content Placeholder 2"/>
          <p:cNvSpPr>
            <a:spLocks noGrp="1"/>
          </p:cNvSpPr>
          <p:nvPr>
            <p:ph idx="1"/>
          </p:nvPr>
        </p:nvSpPr>
        <p:spPr>
          <a:xfrm>
            <a:off x="457200" y="1600200"/>
            <a:ext cx="8458200" cy="5105400"/>
          </a:xfrm>
        </p:spPr>
        <p:txBody>
          <a:bodyPr>
            <a:normAutofit lnSpcReduction="10000"/>
          </a:bodyPr>
          <a:lstStyle/>
          <a:p>
            <a:r>
              <a:rPr lang="en-GB" sz="2400" b="1" dirty="0" smtClean="0">
                <a:latin typeface="Times New Roman" pitchFamily="18" charset="0"/>
                <a:cs typeface="Times New Roman" pitchFamily="18" charset="0"/>
              </a:rPr>
              <a:t>Antigenic shift </a:t>
            </a:r>
            <a:r>
              <a:rPr lang="en-GB" sz="2400" dirty="0" smtClean="0">
                <a:latin typeface="Times New Roman" pitchFamily="18" charset="0"/>
                <a:cs typeface="Times New Roman" pitchFamily="18" charset="0"/>
              </a:rPr>
              <a:t>refers to the change in antigen associated with a viral pathogen due to the acquisition of a novel entire gene or a change in an existing one. </a:t>
            </a:r>
          </a:p>
          <a:p>
            <a:r>
              <a:rPr lang="en-GB" sz="2400" dirty="0" smtClean="0">
                <a:latin typeface="Times New Roman" pitchFamily="18" charset="0"/>
                <a:cs typeface="Times New Roman" pitchFamily="18" charset="0"/>
              </a:rPr>
              <a:t>Typically antigenic shift is observed readily with those viruses that possess multipartite genomes, such </a:t>
            </a:r>
            <a:r>
              <a:rPr lang="en-GB" sz="2400" dirty="0" err="1" smtClean="0">
                <a:latin typeface="Times New Roman" pitchFamily="18" charset="0"/>
                <a:cs typeface="Times New Roman" pitchFamily="18" charset="0"/>
              </a:rPr>
              <a:t>orthomyxoviruses</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arenaviruses</a:t>
            </a:r>
            <a:r>
              <a:rPr lang="en-GB" sz="2400" dirty="0" smtClean="0">
                <a:latin typeface="Times New Roman" pitchFamily="18" charset="0"/>
                <a:cs typeface="Times New Roman" pitchFamily="18" charset="0"/>
              </a:rPr>
              <a:t> and </a:t>
            </a:r>
            <a:r>
              <a:rPr lang="en-GB" sz="2400" dirty="0" err="1" smtClean="0">
                <a:latin typeface="Times New Roman" pitchFamily="18" charset="0"/>
                <a:cs typeface="Times New Roman" pitchFamily="18" charset="0"/>
              </a:rPr>
              <a:t>bunyaviruses</a:t>
            </a:r>
            <a:r>
              <a:rPr lang="en-GB" sz="2400" dirty="0" smtClean="0">
                <a:latin typeface="Times New Roman" pitchFamily="18" charset="0"/>
                <a:cs typeface="Times New Roman" pitchFamily="18" charset="0"/>
              </a:rPr>
              <a:t>. </a:t>
            </a:r>
          </a:p>
          <a:p>
            <a:r>
              <a:rPr lang="en-GB" sz="2400" dirty="0" err="1" smtClean="0">
                <a:latin typeface="Times New Roman" pitchFamily="18" charset="0"/>
                <a:cs typeface="Times New Roman" pitchFamily="18" charset="0"/>
              </a:rPr>
              <a:t>Coinfection</a:t>
            </a:r>
            <a:r>
              <a:rPr lang="en-GB" sz="2400" dirty="0" smtClean="0">
                <a:latin typeface="Times New Roman" pitchFamily="18" charset="0"/>
                <a:cs typeface="Times New Roman" pitchFamily="18" charset="0"/>
              </a:rPr>
              <a:t> of different strains in the same cell may result in packaging mixed genomes, containing some segments from one virus and other from the other. </a:t>
            </a:r>
          </a:p>
          <a:p>
            <a:r>
              <a:rPr lang="en-GB" sz="2400" dirty="0" smtClean="0">
                <a:latin typeface="Times New Roman" pitchFamily="18" charset="0"/>
                <a:cs typeface="Times New Roman" pitchFamily="18" charset="0"/>
              </a:rPr>
              <a:t>In influenza viruses, antigenic shift involves the sudden acquisition of the gene for a completely new </a:t>
            </a:r>
            <a:r>
              <a:rPr lang="en-GB" sz="2400" dirty="0" err="1" smtClean="0">
                <a:latin typeface="Times New Roman" pitchFamily="18" charset="0"/>
                <a:cs typeface="Times New Roman" pitchFamily="18" charset="0"/>
              </a:rPr>
              <a:t>hemagglutinin</a:t>
            </a:r>
            <a:r>
              <a:rPr lang="en-GB" sz="2400" dirty="0" smtClean="0">
                <a:latin typeface="Times New Roman" pitchFamily="18" charset="0"/>
                <a:cs typeface="Times New Roman" pitchFamily="18" charset="0"/>
              </a:rPr>
              <a:t>(HA) or neuraminidase (N), giving rise to a novel subtype that may spread rapidly around the world, unencumbered by any herd immunity. </a:t>
            </a:r>
            <a:endParaRPr lang="en-US" sz="24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smtClean="0">
                <a:solidFill>
                  <a:srgbClr val="FF0000"/>
                </a:solidFill>
                <a:latin typeface="Arial" pitchFamily="34" charset="0"/>
                <a:cs typeface="Arial" pitchFamily="34" charset="0"/>
              </a:rPr>
              <a:t>Pig serves as a "mixing vessel"</a:t>
            </a:r>
            <a:endParaRPr lang="en-US" sz="3600" b="1" dirty="0">
              <a:solidFill>
                <a:srgbClr val="FF0000"/>
              </a:solidFill>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r>
              <a:rPr lang="en-GB" sz="2400" dirty="0" smtClean="0">
                <a:latin typeface="Times New Roman" pitchFamily="18" charset="0"/>
                <a:cs typeface="Times New Roman" pitchFamily="18" charset="0"/>
              </a:rPr>
              <a:t>Influenza A viruses from birds grow very poorly in humans, and vice versa.</a:t>
            </a:r>
          </a:p>
          <a:p>
            <a:r>
              <a:rPr lang="en-GB" sz="2400" dirty="0" smtClean="0">
                <a:latin typeface="Times New Roman" pitchFamily="18" charset="0"/>
                <a:cs typeface="Times New Roman" pitchFamily="18" charset="0"/>
              </a:rPr>
              <a:t>Both avian and human influenza viruses can replicate in swine, and genetic </a:t>
            </a:r>
            <a:r>
              <a:rPr lang="en-GB" sz="2400" dirty="0" err="1" smtClean="0">
                <a:latin typeface="Times New Roman" pitchFamily="18" charset="0"/>
                <a:cs typeface="Times New Roman" pitchFamily="18" charset="0"/>
              </a:rPr>
              <a:t>reassortment</a:t>
            </a:r>
            <a:r>
              <a:rPr lang="en-GB" sz="2400" dirty="0" smtClean="0">
                <a:latin typeface="Times New Roman" pitchFamily="18" charset="0"/>
                <a:cs typeface="Times New Roman" pitchFamily="18" charset="0"/>
              </a:rPr>
              <a:t> between them occurs in host. </a:t>
            </a:r>
          </a:p>
          <a:p>
            <a:r>
              <a:rPr lang="en-GB" sz="2400" dirty="0" smtClean="0">
                <a:latin typeface="Times New Roman" pitchFamily="18" charset="0"/>
                <a:cs typeface="Times New Roman" pitchFamily="18" charset="0"/>
              </a:rPr>
              <a:t>An antigenic shift in nature occurs when the prevailing human strain of influenza A virus and an avian influenza virus concurrently infect a pig, which serves as a "mixing vessel." Every 10-20 years a </a:t>
            </a:r>
            <a:r>
              <a:rPr lang="en-GB" sz="2400" dirty="0" err="1" smtClean="0">
                <a:latin typeface="Times New Roman" pitchFamily="18" charset="0"/>
                <a:cs typeface="Times New Roman" pitchFamily="18" charset="0"/>
              </a:rPr>
              <a:t>reassortant</a:t>
            </a:r>
            <a:r>
              <a:rPr lang="en-GB" sz="2400" dirty="0" smtClean="0">
                <a:latin typeface="Times New Roman" pitchFamily="18" charset="0"/>
                <a:cs typeface="Times New Roman" pitchFamily="18" charset="0"/>
              </a:rPr>
              <a:t> virus from the pig, containing genes encoding </a:t>
            </a:r>
            <a:r>
              <a:rPr lang="en-GB" sz="2400" dirty="0" err="1" smtClean="0">
                <a:latin typeface="Times New Roman" pitchFamily="18" charset="0"/>
                <a:cs typeface="Times New Roman" pitchFamily="18" charset="0"/>
              </a:rPr>
              <a:t>replicative</a:t>
            </a:r>
            <a:r>
              <a:rPr lang="en-GB" sz="2400" dirty="0" smtClean="0">
                <a:latin typeface="Times New Roman" pitchFamily="18" charset="0"/>
                <a:cs typeface="Times New Roman" pitchFamily="18" charset="0"/>
              </a:rPr>
              <a:t> functions from a human virus and a </a:t>
            </a:r>
            <a:r>
              <a:rPr lang="en-GB" sz="2400" dirty="0" err="1" smtClean="0">
                <a:latin typeface="Times New Roman" pitchFamily="18" charset="0"/>
                <a:cs typeface="Times New Roman" pitchFamily="18" charset="0"/>
              </a:rPr>
              <a:t>hemagglutinin</a:t>
            </a:r>
            <a:r>
              <a:rPr lang="en-GB" sz="2400" dirty="0" smtClean="0">
                <a:latin typeface="Times New Roman" pitchFamily="18" charset="0"/>
                <a:cs typeface="Times New Roman" pitchFamily="18" charset="0"/>
              </a:rPr>
              <a:t> gene derived from an avian virus, emerges.</a:t>
            </a:r>
          </a:p>
          <a:p>
            <a:r>
              <a:rPr lang="en-GB" sz="2400" dirty="0" smtClean="0">
                <a:latin typeface="Times New Roman" pitchFamily="18" charset="0"/>
                <a:cs typeface="Times New Roman" pitchFamily="18" charset="0"/>
              </a:rPr>
              <a:t>H1N1replaced by H2N1 or H3N2 </a:t>
            </a:r>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itchFamily="18" charset="0"/>
                <a:cs typeface="Times New Roman" pitchFamily="18" charset="0"/>
              </a:rPr>
              <a:t>Antigenic drift </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GB" sz="2400" dirty="0" smtClean="0">
                <a:latin typeface="Times New Roman" pitchFamily="18" charset="0"/>
                <a:cs typeface="Times New Roman" pitchFamily="18" charset="0"/>
              </a:rPr>
              <a:t>It is a result of accumulation of point mutations (single bases substitutions) and has been identified as the mechanism associated with the antigenic variation observed with influenza viruses and may be the mechanism associated with the variability observed with rhinoviruses.</a:t>
            </a:r>
          </a:p>
          <a:p>
            <a:r>
              <a:rPr lang="en-GB" sz="2400" dirty="0" smtClean="0">
                <a:latin typeface="Times New Roman" pitchFamily="18" charset="0"/>
                <a:cs typeface="Times New Roman" pitchFamily="18" charset="0"/>
              </a:rPr>
              <a:t>Produce strains each </a:t>
            </a:r>
            <a:r>
              <a:rPr lang="en-GB" sz="2400" dirty="0" err="1" smtClean="0">
                <a:latin typeface="Times New Roman" pitchFamily="18" charset="0"/>
                <a:cs typeface="Times New Roman" pitchFamily="18" charset="0"/>
              </a:rPr>
              <a:t>antigenically</a:t>
            </a:r>
            <a:r>
              <a:rPr lang="en-GB" sz="2400" dirty="0" smtClean="0">
                <a:latin typeface="Times New Roman" pitchFamily="18" charset="0"/>
                <a:cs typeface="Times New Roman" pitchFamily="18" charset="0"/>
              </a:rPr>
              <a:t> slightly different from its predecessor.</a:t>
            </a:r>
          </a:p>
          <a:p>
            <a:r>
              <a:rPr lang="en-GB" sz="2400" dirty="0" smtClean="0">
                <a:latin typeface="Times New Roman" pitchFamily="18" charset="0"/>
                <a:cs typeface="Times New Roman" pitchFamily="18" charset="0"/>
              </a:rPr>
              <a:t>In influenza viruses, mutations in the gene encoding the </a:t>
            </a:r>
            <a:r>
              <a:rPr lang="en-GB" sz="2400" dirty="0" err="1" smtClean="0">
                <a:latin typeface="Times New Roman" pitchFamily="18" charset="0"/>
                <a:cs typeface="Times New Roman" pitchFamily="18" charset="0"/>
              </a:rPr>
              <a:t>hemagglutinin</a:t>
            </a:r>
            <a:r>
              <a:rPr lang="en-GB" sz="2400" dirty="0" smtClean="0">
                <a:latin typeface="Times New Roman" pitchFamily="18" charset="0"/>
                <a:cs typeface="Times New Roman" pitchFamily="18" charset="0"/>
              </a:rPr>
              <a:t> sometimes alter its antigenic sites. When antiserum against the formerly prevalent strain no longer neutralizes the variant, a new strain has emerged. </a:t>
            </a:r>
            <a:endParaRPr lang="en-US"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52400" y="228600"/>
          <a:ext cx="8991600" cy="6496207"/>
        </p:xfrm>
        <a:graphic>
          <a:graphicData uri="http://schemas.openxmlformats.org/drawingml/2006/table">
            <a:tbl>
              <a:tblPr/>
              <a:tblGrid>
                <a:gridCol w="749564"/>
                <a:gridCol w="3581251"/>
                <a:gridCol w="4660785"/>
              </a:tblGrid>
              <a:tr h="559282">
                <a:tc>
                  <a:txBody>
                    <a:bodyPr/>
                    <a:lstStyle/>
                    <a:p>
                      <a:pPr algn="ctr" fontAlgn="ctr"/>
                      <a:r>
                        <a:rPr lang="en-US" sz="2000" b="0" dirty="0">
                          <a:solidFill>
                            <a:srgbClr val="000000"/>
                          </a:solidFill>
                          <a:latin typeface="Times New Roman" pitchFamily="18" charset="0"/>
                          <a:cs typeface="Times New Roman" pitchFamily="18" charset="0"/>
                        </a:rPr>
                        <a:t>S.N.</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AECFC"/>
                    </a:solidFill>
                  </a:tcPr>
                </a:tc>
                <a:tc>
                  <a:txBody>
                    <a:bodyPr/>
                    <a:lstStyle/>
                    <a:p>
                      <a:pPr algn="ctr" fontAlgn="ctr"/>
                      <a:r>
                        <a:rPr lang="en-US" sz="2000" b="1" dirty="0">
                          <a:solidFill>
                            <a:srgbClr val="000000"/>
                          </a:solidFill>
                          <a:latin typeface="Times New Roman" pitchFamily="18" charset="0"/>
                          <a:cs typeface="Times New Roman" pitchFamily="18" charset="0"/>
                        </a:rPr>
                        <a:t>Antigenic Shift</a:t>
                      </a:r>
                      <a:endParaRPr lang="en-US" sz="2000" b="0" dirty="0">
                        <a:solidFill>
                          <a:srgbClr val="000000"/>
                        </a:solidFill>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AECFC"/>
                    </a:solidFill>
                  </a:tcPr>
                </a:tc>
                <a:tc>
                  <a:txBody>
                    <a:bodyPr/>
                    <a:lstStyle/>
                    <a:p>
                      <a:pPr algn="ctr" fontAlgn="ctr"/>
                      <a:r>
                        <a:rPr lang="en-US" sz="2000" b="1" dirty="0">
                          <a:solidFill>
                            <a:srgbClr val="000000"/>
                          </a:solidFill>
                          <a:latin typeface="Times New Roman" pitchFamily="18" charset="0"/>
                          <a:cs typeface="Times New Roman" pitchFamily="18" charset="0"/>
                        </a:rPr>
                        <a:t>Antigenic Drift</a:t>
                      </a:r>
                      <a:endParaRPr lang="en-US" sz="2000" b="0" dirty="0">
                        <a:solidFill>
                          <a:srgbClr val="000000"/>
                        </a:solidFill>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AECFC"/>
                    </a:solidFill>
                  </a:tcPr>
                </a:tc>
              </a:tr>
              <a:tr h="559282">
                <a:tc>
                  <a:txBody>
                    <a:bodyPr/>
                    <a:lstStyle/>
                    <a:p>
                      <a:pPr algn="ctr" fontAlgn="ctr"/>
                      <a:r>
                        <a:rPr lang="en-US" sz="2000" b="1">
                          <a:latin typeface="Times New Roman" pitchFamily="18" charset="0"/>
                          <a:cs typeface="Times New Roman" pitchFamily="18" charset="0"/>
                        </a:rPr>
                        <a:t>1</a:t>
                      </a:r>
                      <a:endParaRPr lang="en-US" sz="2000" b="0">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US" sz="2000" b="0">
                          <a:latin typeface="Times New Roman" pitchFamily="18" charset="0"/>
                          <a:cs typeface="Times New Roman" pitchFamily="18" charset="0"/>
                        </a:rPr>
                        <a:t>Major Antigenic Change</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US" sz="2000" b="0">
                          <a:latin typeface="Times New Roman" pitchFamily="18" charset="0"/>
                          <a:cs typeface="Times New Roman" pitchFamily="18" charset="0"/>
                        </a:rPr>
                        <a:t>Minor Antigenic Change</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r>
              <a:tr h="1033315">
                <a:tc>
                  <a:txBody>
                    <a:bodyPr/>
                    <a:lstStyle/>
                    <a:p>
                      <a:pPr algn="ctr" fontAlgn="ctr"/>
                      <a:r>
                        <a:rPr lang="en-US" sz="2000" b="1">
                          <a:latin typeface="Times New Roman" pitchFamily="18" charset="0"/>
                          <a:cs typeface="Times New Roman" pitchFamily="18" charset="0"/>
                        </a:rPr>
                        <a:t>2</a:t>
                      </a:r>
                      <a:endParaRPr lang="en-US" sz="2000" b="0">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000" b="0">
                          <a:latin typeface="Times New Roman" pitchFamily="18" charset="0"/>
                          <a:cs typeface="Times New Roman" pitchFamily="18" charset="0"/>
                        </a:rPr>
                        <a:t>Forming new sub-type (Subtype A + Subtype B –&gt; New Subtype)</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000" b="0">
                          <a:latin typeface="Times New Roman" pitchFamily="18" charset="0"/>
                          <a:cs typeface="Times New Roman" pitchFamily="18" charset="0"/>
                        </a:rPr>
                        <a:t>Forming new strain of virus</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574488">
                <a:tc>
                  <a:txBody>
                    <a:bodyPr/>
                    <a:lstStyle/>
                    <a:p>
                      <a:pPr algn="ctr" fontAlgn="ctr"/>
                      <a:r>
                        <a:rPr lang="en-US" sz="2000" b="1">
                          <a:latin typeface="Times New Roman" pitchFamily="18" charset="0"/>
                          <a:cs typeface="Times New Roman" pitchFamily="18" charset="0"/>
                        </a:rPr>
                        <a:t>3</a:t>
                      </a:r>
                      <a:endParaRPr lang="en-US" sz="2000" b="0">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GB" sz="2000" b="0">
                          <a:latin typeface="Times New Roman" pitchFamily="18" charset="0"/>
                          <a:cs typeface="Times New Roman" pitchFamily="18" charset="0"/>
                        </a:rPr>
                        <a:t>One or Two Viruses are Involved</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GB" sz="2000" b="0">
                          <a:latin typeface="Times New Roman" pitchFamily="18" charset="0"/>
                          <a:cs typeface="Times New Roman" pitchFamily="18" charset="0"/>
                        </a:rPr>
                        <a:t>Only one virus is involve</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r>
              <a:tr h="559282">
                <a:tc>
                  <a:txBody>
                    <a:bodyPr/>
                    <a:lstStyle/>
                    <a:p>
                      <a:pPr algn="ctr" fontAlgn="ctr"/>
                      <a:r>
                        <a:rPr lang="en-US" sz="2000" b="1">
                          <a:latin typeface="Times New Roman" pitchFamily="18" charset="0"/>
                          <a:cs typeface="Times New Roman" pitchFamily="18" charset="0"/>
                        </a:rPr>
                        <a:t>4</a:t>
                      </a:r>
                      <a:endParaRPr lang="en-US" sz="2000" b="0">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000" b="0">
                          <a:latin typeface="Times New Roman" pitchFamily="18" charset="0"/>
                          <a:cs typeface="Times New Roman" pitchFamily="18" charset="0"/>
                        </a:rPr>
                        <a:t>Occurs once in a time</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2000" b="0" dirty="0">
                          <a:latin typeface="Times New Roman" pitchFamily="18" charset="0"/>
                          <a:cs typeface="Times New Roman" pitchFamily="18" charset="0"/>
                        </a:rPr>
                        <a:t>Occurs frequently</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033315">
                <a:tc>
                  <a:txBody>
                    <a:bodyPr/>
                    <a:lstStyle/>
                    <a:p>
                      <a:pPr algn="ctr" fontAlgn="ctr"/>
                      <a:r>
                        <a:rPr lang="en-US" sz="2000" b="1">
                          <a:latin typeface="Times New Roman" pitchFamily="18" charset="0"/>
                          <a:cs typeface="Times New Roman" pitchFamily="18" charset="0"/>
                        </a:rPr>
                        <a:t>5</a:t>
                      </a:r>
                      <a:endParaRPr lang="en-US" sz="2000" b="0">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GB" sz="2000" b="0">
                          <a:latin typeface="Times New Roman" pitchFamily="18" charset="0"/>
                          <a:cs typeface="Times New Roman" pitchFamily="18" charset="0"/>
                        </a:rPr>
                        <a:t>May jump from one species to another (animal-human)</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GB" sz="2000" b="0">
                          <a:latin typeface="Times New Roman" pitchFamily="18" charset="0"/>
                          <a:cs typeface="Times New Roman" pitchFamily="18" charset="0"/>
                        </a:rPr>
                        <a:t>May infect animals of the same species</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r>
              <a:tr h="574488">
                <a:tc>
                  <a:txBody>
                    <a:bodyPr/>
                    <a:lstStyle/>
                    <a:p>
                      <a:pPr algn="ctr" fontAlgn="ctr"/>
                      <a:r>
                        <a:rPr lang="en-US" sz="2000" b="1">
                          <a:latin typeface="Times New Roman" pitchFamily="18" charset="0"/>
                          <a:cs typeface="Times New Roman" pitchFamily="18" charset="0"/>
                        </a:rPr>
                        <a:t>6</a:t>
                      </a:r>
                      <a:endParaRPr lang="en-US" sz="2000" b="0">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000" b="0">
                          <a:latin typeface="Times New Roman" pitchFamily="18" charset="0"/>
                          <a:cs typeface="Times New Roman" pitchFamily="18" charset="0"/>
                        </a:rPr>
                        <a:t>Large change in nucleotides of RNA</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2000" b="0">
                          <a:latin typeface="Times New Roman" pitchFamily="18" charset="0"/>
                          <a:cs typeface="Times New Roman" pitchFamily="18" charset="0"/>
                        </a:rPr>
                        <a:t>Small mutation of RNA</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507347">
                <a:tc>
                  <a:txBody>
                    <a:bodyPr/>
                    <a:lstStyle/>
                    <a:p>
                      <a:pPr algn="ctr" fontAlgn="ctr"/>
                      <a:r>
                        <a:rPr lang="en-US" sz="2000" b="1">
                          <a:latin typeface="Times New Roman" pitchFamily="18" charset="0"/>
                          <a:cs typeface="Times New Roman" pitchFamily="18" charset="0"/>
                        </a:rPr>
                        <a:t>7</a:t>
                      </a:r>
                      <a:endParaRPr lang="en-US" sz="2000" b="0">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GB" sz="2000" b="0">
                          <a:latin typeface="Times New Roman" pitchFamily="18" charset="0"/>
                          <a:cs typeface="Times New Roman" pitchFamily="18" charset="0"/>
                        </a:rPr>
                        <a:t>Occurs as a results of genome reassortment between difference subtypes.</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GB" sz="2000" b="0" dirty="0">
                          <a:latin typeface="Times New Roman" pitchFamily="18" charset="0"/>
                          <a:cs typeface="Times New Roman" pitchFamily="18" charset="0"/>
                        </a:rPr>
                        <a:t>Occurs as a result of the accumulation of point mutations in the gene.</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228601"/>
          <a:ext cx="9067800" cy="6343843"/>
        </p:xfrm>
        <a:graphic>
          <a:graphicData uri="http://schemas.openxmlformats.org/drawingml/2006/table">
            <a:tbl>
              <a:tblPr/>
              <a:tblGrid>
                <a:gridCol w="1068474"/>
                <a:gridCol w="3655926"/>
                <a:gridCol w="4343400"/>
              </a:tblGrid>
              <a:tr h="468175">
                <a:tc>
                  <a:txBody>
                    <a:bodyPr/>
                    <a:lstStyle/>
                    <a:p>
                      <a:pPr algn="ctr" fontAlgn="ctr"/>
                      <a:r>
                        <a:rPr lang="en-US" sz="2000" b="0" dirty="0">
                          <a:solidFill>
                            <a:srgbClr val="FF0000"/>
                          </a:solidFill>
                          <a:latin typeface="Times New Roman" pitchFamily="18" charset="0"/>
                          <a:cs typeface="Times New Roman" pitchFamily="18" charset="0"/>
                        </a:rPr>
                        <a:t>S.N.</a:t>
                      </a: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2000" b="1" dirty="0">
                          <a:solidFill>
                            <a:srgbClr val="FF0000"/>
                          </a:solidFill>
                          <a:latin typeface="Times New Roman" pitchFamily="18" charset="0"/>
                          <a:cs typeface="Times New Roman" pitchFamily="18" charset="0"/>
                        </a:rPr>
                        <a:t>Antigenic Shift</a:t>
                      </a:r>
                      <a:endParaRPr lang="en-US" sz="2000" b="0" dirty="0">
                        <a:solidFill>
                          <a:srgbClr val="FF0000"/>
                        </a:solidFill>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2000" b="1" dirty="0">
                          <a:solidFill>
                            <a:srgbClr val="FF0000"/>
                          </a:solidFill>
                          <a:latin typeface="Times New Roman" pitchFamily="18" charset="0"/>
                          <a:cs typeface="Times New Roman" pitchFamily="18" charset="0"/>
                        </a:rPr>
                        <a:t>Antigenic Drift</a:t>
                      </a:r>
                      <a:endParaRPr lang="en-US" sz="2000" b="0" dirty="0">
                        <a:solidFill>
                          <a:srgbClr val="FF0000"/>
                        </a:solidFill>
                        <a:latin typeface="Times New Roman" pitchFamily="18" charset="0"/>
                        <a:cs typeface="Times New Roman" pitchFamily="18" charset="0"/>
                      </a:endParaRPr>
                    </a:p>
                  </a:txBody>
                  <a:tcPr marL="30148" marR="30148" marT="30148" marB="30148" anchor="ctr">
                    <a:lnL w="6350" cap="flat" cmpd="sng" algn="ctr">
                      <a:solidFill>
                        <a:srgbClr val="DDDDDD"/>
                      </a:solidFill>
                      <a:prstDash val="solid"/>
                      <a:round/>
                      <a:headEnd type="none" w="med" len="med"/>
                      <a:tailEnd type="none" w="med" len="med"/>
                    </a:lnL>
                    <a:lnB w="6350" cap="flat" cmpd="sng" algn="ctr">
                      <a:solidFill>
                        <a:srgbClr val="DDDDDD"/>
                      </a:solidFill>
                      <a:prstDash val="solid"/>
                      <a:round/>
                      <a:headEnd type="none" w="med" len="med"/>
                      <a:tailEnd type="none" w="med" len="med"/>
                    </a:lnB>
                  </a:tcPr>
                </a:tc>
              </a:tr>
              <a:tr h="2367660">
                <a:tc>
                  <a:txBody>
                    <a:bodyPr/>
                    <a:lstStyle/>
                    <a:p>
                      <a:pPr algn="ctr" fontAlgn="ctr"/>
                      <a:r>
                        <a:rPr lang="en-GB" sz="2400" b="0" dirty="0">
                          <a:latin typeface="Times New Roman" pitchFamily="18" charset="0"/>
                          <a:cs typeface="Times New Roman" pitchFamily="18" charset="0"/>
                        </a:rPr>
                        <a:t/>
                      </a:r>
                      <a:br>
                        <a:rPr lang="en-GB" sz="2400" b="0" dirty="0">
                          <a:latin typeface="Times New Roman" pitchFamily="18" charset="0"/>
                          <a:cs typeface="Times New Roman" pitchFamily="18" charset="0"/>
                        </a:rPr>
                      </a:br>
                      <a:r>
                        <a:rPr lang="en-GB" sz="2400" b="0" dirty="0" smtClean="0">
                          <a:latin typeface="Times New Roman" pitchFamily="18" charset="0"/>
                          <a:cs typeface="Times New Roman" pitchFamily="18" charset="0"/>
                        </a:rPr>
                        <a:t>8.</a:t>
                      </a:r>
                      <a:endParaRPr lang="en-GB" sz="2400" b="0" dirty="0">
                        <a:latin typeface="Times New Roman" pitchFamily="18" charset="0"/>
                        <a:cs typeface="Times New Roman" pitchFamily="18" charset="0"/>
                      </a:endParaRP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400" b="0" dirty="0" smtClean="0">
                          <a:latin typeface="Times New Roman" pitchFamily="18" charset="0"/>
                          <a:cs typeface="Times New Roman" pitchFamily="18" charset="0"/>
                        </a:rPr>
                        <a:t>An antigenic change which results in drastic or dramatic alternation in HA (</a:t>
                      </a:r>
                      <a:r>
                        <a:rPr lang="en-GB" sz="2400" b="0" dirty="0" err="1" smtClean="0">
                          <a:latin typeface="Times New Roman" pitchFamily="18" charset="0"/>
                          <a:cs typeface="Times New Roman" pitchFamily="18" charset="0"/>
                        </a:rPr>
                        <a:t>hemagglutinin</a:t>
                      </a:r>
                      <a:r>
                        <a:rPr lang="en-GB" sz="2400" b="0" dirty="0" smtClean="0">
                          <a:latin typeface="Times New Roman" pitchFamily="18" charset="0"/>
                          <a:cs typeface="Times New Roman" pitchFamily="18" charset="0"/>
                        </a:rPr>
                        <a:t>) or NA (neuraminidase) subtypes</a:t>
                      </a:r>
                      <a:endParaRPr lang="en-GB" sz="2400" b="0" dirty="0">
                        <a:latin typeface="Times New Roman" pitchFamily="18" charset="0"/>
                        <a:cs typeface="Times New Roman" pitchFamily="18" charset="0"/>
                      </a:endParaRP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GB" sz="2400" b="0" dirty="0" smtClean="0">
                          <a:latin typeface="Times New Roman" pitchFamily="18" charset="0"/>
                          <a:cs typeface="Times New Roman" pitchFamily="18" charset="0"/>
                        </a:rPr>
                        <a:t>An antigenic change can alter antigenic sites on the molecule such that a </a:t>
                      </a:r>
                      <a:r>
                        <a:rPr lang="en-GB" sz="2400" b="0" dirty="0" err="1" smtClean="0">
                          <a:latin typeface="Times New Roman" pitchFamily="18" charset="0"/>
                          <a:cs typeface="Times New Roman" pitchFamily="18" charset="0"/>
                        </a:rPr>
                        <a:t>virion</a:t>
                      </a:r>
                      <a:r>
                        <a:rPr lang="en-GB" sz="2400" b="0" dirty="0" smtClean="0">
                          <a:latin typeface="Times New Roman" pitchFamily="18" charset="0"/>
                          <a:cs typeface="Times New Roman" pitchFamily="18" charset="0"/>
                        </a:rPr>
                        <a:t> can escape recognition by the host’s immune system</a:t>
                      </a:r>
                      <a:endParaRPr lang="en-US" sz="2400" dirty="0">
                        <a:latin typeface="Times New Roman" pitchFamily="18" charset="0"/>
                        <a:cs typeface="Times New Roman" pitchFamily="18" charset="0"/>
                      </a:endParaRPr>
                    </a:p>
                  </a:txBody>
                  <a:tcPr marL="48638" marR="48638" marT="24319" marB="24319">
                    <a:lnL w="6350" cap="flat" cmpd="sng" algn="ctr">
                      <a:solidFill>
                        <a:srgbClr val="DDDDDD"/>
                      </a:solidFill>
                      <a:prstDash val="solid"/>
                      <a:round/>
                      <a:headEnd type="none" w="med" len="med"/>
                      <a:tailEnd type="none" w="med" len="med"/>
                    </a:lnL>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730061">
                <a:tc>
                  <a:txBody>
                    <a:bodyPr/>
                    <a:lstStyle/>
                    <a:p>
                      <a:pPr algn="ctr" fontAlgn="ctr"/>
                      <a:r>
                        <a:rPr lang="en-US" sz="2400" b="1">
                          <a:latin typeface="Times New Roman" pitchFamily="18" charset="0"/>
                          <a:cs typeface="Times New Roman" pitchFamily="18" charset="0"/>
                        </a:rPr>
                        <a:t>9</a:t>
                      </a:r>
                      <a:endParaRPr lang="en-US" sz="2400" b="0">
                        <a:latin typeface="Times New Roman" pitchFamily="18" charset="0"/>
                        <a:cs typeface="Times New Roman" pitchFamily="18" charset="0"/>
                      </a:endParaRP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US" sz="2400" b="0">
                          <a:latin typeface="Times New Roman" pitchFamily="18" charset="0"/>
                          <a:cs typeface="Times New Roman" pitchFamily="18" charset="0"/>
                        </a:rPr>
                        <a:t>Large and sudden mutation</a:t>
                      </a: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US" sz="2400" b="0">
                          <a:latin typeface="Times New Roman" pitchFamily="18" charset="0"/>
                          <a:cs typeface="Times New Roman" pitchFamily="18" charset="0"/>
                        </a:rPr>
                        <a:t>Random and Spontaneous Mutation</a:t>
                      </a: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r>
              <a:tr h="730061">
                <a:tc>
                  <a:txBody>
                    <a:bodyPr/>
                    <a:lstStyle/>
                    <a:p>
                      <a:pPr algn="ctr" fontAlgn="ctr"/>
                      <a:r>
                        <a:rPr lang="en-US" sz="2400" b="1">
                          <a:latin typeface="Times New Roman" pitchFamily="18" charset="0"/>
                          <a:cs typeface="Times New Roman" pitchFamily="18" charset="0"/>
                        </a:rPr>
                        <a:t>10</a:t>
                      </a:r>
                      <a:endParaRPr lang="en-US" sz="2400" b="0">
                        <a:latin typeface="Times New Roman" pitchFamily="18" charset="0"/>
                        <a:cs typeface="Times New Roman" pitchFamily="18" charset="0"/>
                      </a:endParaRP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400" b="0">
                          <a:latin typeface="Times New Roman" pitchFamily="18" charset="0"/>
                          <a:cs typeface="Times New Roman" pitchFamily="18" charset="0"/>
                        </a:rPr>
                        <a:t>Difficult to treat (need new vaccine)</a:t>
                      </a: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400" b="0">
                          <a:latin typeface="Times New Roman" pitchFamily="18" charset="0"/>
                          <a:cs typeface="Times New Roman" pitchFamily="18" charset="0"/>
                        </a:rPr>
                        <a:t>Easy to treat (antibody and drugs available)</a:t>
                      </a: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730061">
                <a:tc>
                  <a:txBody>
                    <a:bodyPr/>
                    <a:lstStyle/>
                    <a:p>
                      <a:pPr algn="ctr" fontAlgn="ctr"/>
                      <a:r>
                        <a:rPr lang="en-US" sz="2400" b="1">
                          <a:latin typeface="Times New Roman" pitchFamily="18" charset="0"/>
                          <a:cs typeface="Times New Roman" pitchFamily="18" charset="0"/>
                        </a:rPr>
                        <a:t>11</a:t>
                      </a:r>
                      <a:endParaRPr lang="en-US" sz="2400" b="0">
                        <a:latin typeface="Times New Roman" pitchFamily="18" charset="0"/>
                        <a:cs typeface="Times New Roman" pitchFamily="18" charset="0"/>
                      </a:endParaRP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GB" sz="2400" b="0">
                          <a:latin typeface="Times New Roman" pitchFamily="18" charset="0"/>
                          <a:cs typeface="Times New Roman" pitchFamily="18" charset="0"/>
                        </a:rPr>
                        <a:t>Occurs only in Influenza Virus A</a:t>
                      </a: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ctr" fontAlgn="ctr"/>
                      <a:r>
                        <a:rPr lang="en-GB" sz="2400" b="0">
                          <a:latin typeface="Times New Roman" pitchFamily="18" charset="0"/>
                          <a:cs typeface="Times New Roman" pitchFamily="18" charset="0"/>
                        </a:rPr>
                        <a:t>Occurs in Influenza Virus A, B and C</a:t>
                      </a: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r>
              <a:tr h="1069980">
                <a:tc>
                  <a:txBody>
                    <a:bodyPr/>
                    <a:lstStyle/>
                    <a:p>
                      <a:pPr algn="ctr" fontAlgn="ctr"/>
                      <a:r>
                        <a:rPr lang="en-US" sz="2400" b="1">
                          <a:latin typeface="Times New Roman" pitchFamily="18" charset="0"/>
                          <a:cs typeface="Times New Roman" pitchFamily="18" charset="0"/>
                        </a:rPr>
                        <a:t>12</a:t>
                      </a:r>
                      <a:endParaRPr lang="en-US" sz="2400" b="0">
                        <a:latin typeface="Times New Roman" pitchFamily="18" charset="0"/>
                        <a:cs typeface="Times New Roman" pitchFamily="18" charset="0"/>
                      </a:endParaRP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400" b="0" dirty="0">
                          <a:latin typeface="Times New Roman" pitchFamily="18" charset="0"/>
                          <a:cs typeface="Times New Roman" pitchFamily="18" charset="0"/>
                        </a:rPr>
                        <a:t>Give rise to pandemics, which occurs irregularly and unpredictably.</a:t>
                      </a: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GB" sz="2400" b="0" dirty="0">
                          <a:latin typeface="Times New Roman" pitchFamily="18" charset="0"/>
                          <a:cs typeface="Times New Roman" pitchFamily="18" charset="0"/>
                        </a:rPr>
                        <a:t>Usually responsible for epidemics in between pandemics</a:t>
                      </a:r>
                    </a:p>
                  </a:txBody>
                  <a:tcPr marL="27021" marR="27021" marT="27021" marB="2702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itchFamily="18" charset="0"/>
                <a:cs typeface="Times New Roman" pitchFamily="18" charset="0"/>
              </a:rPr>
              <a:t>Genetic Interaction Between Viruses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1219200"/>
            <a:ext cx="8839200" cy="5638800"/>
          </a:xfrm>
        </p:spPr>
        <p:txBody>
          <a:bodyPr>
            <a:normAutofit fontScale="92500"/>
          </a:bodyPr>
          <a:lstStyle/>
          <a:p>
            <a:r>
              <a:rPr lang="en-GB" sz="2400" dirty="0" smtClean="0">
                <a:latin typeface="Times New Roman" pitchFamily="18" charset="0"/>
                <a:cs typeface="Times New Roman" pitchFamily="18" charset="0"/>
              </a:rPr>
              <a:t>Viral infections with two or more different viruses are known to occur in nature as well as in culture. These are referred to as </a:t>
            </a:r>
            <a:r>
              <a:rPr lang="en-GB" sz="2400" b="1" dirty="0" smtClean="0">
                <a:latin typeface="Times New Roman" pitchFamily="18" charset="0"/>
                <a:cs typeface="Times New Roman" pitchFamily="18" charset="0"/>
              </a:rPr>
              <a:t>mixed infections </a:t>
            </a:r>
            <a:r>
              <a:rPr lang="en-GB" sz="2400" dirty="0" smtClean="0">
                <a:latin typeface="Times New Roman" pitchFamily="18" charset="0"/>
                <a:cs typeface="Times New Roman" pitchFamily="18" charset="0"/>
              </a:rPr>
              <a:t>and can result in new viral combinations, and thus new variants of the virus. Some of the interactions that can occur during mixed infections are:</a:t>
            </a:r>
          </a:p>
          <a:p>
            <a:pPr>
              <a:buNone/>
            </a:pPr>
            <a:r>
              <a:rPr lang="en-GB" sz="2400" b="1" dirty="0" smtClean="0">
                <a:solidFill>
                  <a:srgbClr val="FF0000"/>
                </a:solidFill>
                <a:latin typeface="Times New Roman" pitchFamily="18" charset="0"/>
                <a:cs typeface="Times New Roman" pitchFamily="18" charset="0"/>
              </a:rPr>
              <a:t>1. Complementation- </a:t>
            </a:r>
            <a:r>
              <a:rPr lang="en-GB" sz="2400" dirty="0" smtClean="0">
                <a:latin typeface="Times New Roman" pitchFamily="18" charset="0"/>
                <a:cs typeface="Times New Roman" pitchFamily="18" charset="0"/>
              </a:rPr>
              <a:t>interactions between viral proteins in doubly infected cells that result in rescue or increased yields of one or both viruses.</a:t>
            </a:r>
          </a:p>
          <a:p>
            <a:pPr>
              <a:buNone/>
            </a:pPr>
            <a:r>
              <a:rPr lang="en-GB" sz="2400" dirty="0" smtClean="0">
                <a:latin typeface="Times New Roman" pitchFamily="18" charset="0"/>
                <a:cs typeface="Times New Roman" pitchFamily="18" charset="0"/>
              </a:rPr>
              <a:t>This can occur between two strains of the same virus, two related viruses, or two unrelated viruses </a:t>
            </a:r>
            <a:r>
              <a:rPr lang="en-GB" sz="2400" b="1" dirty="0" smtClean="0">
                <a:latin typeface="Times New Roman" pitchFamily="18" charset="0"/>
                <a:cs typeface="Times New Roman" pitchFamily="18" charset="0"/>
              </a:rPr>
              <a:t>while their genotypes remain unchanged. </a:t>
            </a:r>
          </a:p>
          <a:p>
            <a:pPr>
              <a:buNone/>
            </a:pPr>
            <a:r>
              <a:rPr lang="en-GB" sz="2400" dirty="0" smtClean="0">
                <a:latin typeface="Times New Roman" pitchFamily="18" charset="0"/>
                <a:cs typeface="Times New Roman" pitchFamily="18" charset="0"/>
              </a:rPr>
              <a:t>Complementation can occur during a mixed infection when one of the two viruses is deficient in a particular gene product. Without this protein, the virus is incapable of transmission and replication and is therefore a defective particle. </a:t>
            </a:r>
          </a:p>
          <a:p>
            <a:pPr>
              <a:buNone/>
            </a:pPr>
            <a:r>
              <a:rPr lang="en-GB" sz="2400" dirty="0" smtClean="0">
                <a:latin typeface="Times New Roman" pitchFamily="18" charset="0"/>
                <a:cs typeface="Times New Roman" pitchFamily="18" charset="0"/>
              </a:rPr>
              <a:t>In a mixed infection, if the second virus involved does make the product (thus complementing of the defect), the defective particle is capable of completing the transmission and replication processes</a:t>
            </a: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2. Genetic recombination</a:t>
            </a:r>
            <a:endParaRPr lang="en-US" sz="4000" b="1" dirty="0">
              <a:solidFill>
                <a:srgbClr val="FF0000"/>
              </a:solidFill>
            </a:endParaRPr>
          </a:p>
        </p:txBody>
      </p:sp>
      <p:sp>
        <p:nvSpPr>
          <p:cNvPr id="3" name="Content Placeholder 2"/>
          <p:cNvSpPr>
            <a:spLocks noGrp="1"/>
          </p:cNvSpPr>
          <p:nvPr>
            <p:ph idx="1"/>
          </p:nvPr>
        </p:nvSpPr>
        <p:spPr/>
        <p:txBody>
          <a:bodyPr>
            <a:normAutofit/>
          </a:bodyPr>
          <a:lstStyle/>
          <a:p>
            <a:r>
              <a:rPr lang="en-GB" sz="2400" dirty="0" smtClean="0">
                <a:latin typeface="Times New Roman" pitchFamily="18" charset="0"/>
                <a:cs typeface="Times New Roman" pitchFamily="18" charset="0"/>
              </a:rPr>
              <a:t>When two different viruses simultaneously infect the same cell, genetic recombination may occur between the nucleic acid molecules during or after their synthesis. As a result, the progeny are genetically distinct from the two "parental" viruses. Three mechanisms:</a:t>
            </a:r>
          </a:p>
          <a:p>
            <a:pPr>
              <a:buNone/>
            </a:pPr>
            <a:r>
              <a:rPr lang="en-GB" sz="2400" dirty="0" smtClean="0">
                <a:latin typeface="Times New Roman" pitchFamily="18" charset="0"/>
                <a:cs typeface="Times New Roman" pitchFamily="18" charset="0"/>
              </a:rPr>
              <a:t>1. </a:t>
            </a:r>
            <a:r>
              <a:rPr lang="en-GB" sz="2400" dirty="0" err="1" smtClean="0">
                <a:latin typeface="Times New Roman" pitchFamily="18" charset="0"/>
                <a:cs typeface="Times New Roman" pitchFamily="18" charset="0"/>
              </a:rPr>
              <a:t>Intramolecular</a:t>
            </a:r>
            <a:r>
              <a:rPr lang="en-GB" sz="2400" dirty="0" smtClean="0">
                <a:latin typeface="Times New Roman" pitchFamily="18" charset="0"/>
                <a:cs typeface="Times New Roman" pitchFamily="18" charset="0"/>
              </a:rPr>
              <a:t> recombination</a:t>
            </a:r>
          </a:p>
          <a:p>
            <a:pPr>
              <a:buNone/>
            </a:pPr>
            <a:r>
              <a:rPr lang="en-GB" sz="2400" dirty="0" smtClean="0">
                <a:latin typeface="Times New Roman" pitchFamily="18" charset="0"/>
                <a:cs typeface="Times New Roman" pitchFamily="18" charset="0"/>
              </a:rPr>
              <a:t>2. Copy-choice Recombination</a:t>
            </a:r>
          </a:p>
          <a:p>
            <a:pPr>
              <a:buNone/>
            </a:pPr>
            <a:r>
              <a:rPr lang="en-GB" sz="2400" dirty="0" smtClean="0">
                <a:latin typeface="Times New Roman" pitchFamily="18" charset="0"/>
                <a:cs typeface="Times New Roman" pitchFamily="18" charset="0"/>
              </a:rPr>
              <a:t>3. Genetic </a:t>
            </a:r>
            <a:r>
              <a:rPr lang="en-GB" sz="2400" dirty="0" err="1" smtClean="0">
                <a:latin typeface="Times New Roman" pitchFamily="18" charset="0"/>
                <a:cs typeface="Times New Roman" pitchFamily="18" charset="0"/>
              </a:rPr>
              <a:t>reassortment</a:t>
            </a:r>
            <a:endParaRPr lang="en-GB"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4. Genetic reactivation</a:t>
            </a:r>
            <a:endParaRPr lang="en-US" sz="2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err="1" smtClean="0">
                <a:solidFill>
                  <a:srgbClr val="FF0000"/>
                </a:solidFill>
                <a:latin typeface="Times New Roman" pitchFamily="18" charset="0"/>
                <a:cs typeface="Times New Roman" pitchFamily="18" charset="0"/>
              </a:rPr>
              <a:t>Intramolecular</a:t>
            </a:r>
            <a:r>
              <a:rPr lang="en-US" sz="3600" b="1" dirty="0" smtClean="0">
                <a:solidFill>
                  <a:srgbClr val="FF0000"/>
                </a:solidFill>
                <a:latin typeface="Times New Roman" pitchFamily="18" charset="0"/>
                <a:cs typeface="Times New Roman" pitchFamily="18" charset="0"/>
              </a:rPr>
              <a:t> recombination </a:t>
            </a:r>
            <a:endParaRPr lang="en-US" b="1" dirty="0">
              <a:solidFill>
                <a:srgbClr val="FF0000"/>
              </a:solidFill>
            </a:endParaRPr>
          </a:p>
        </p:txBody>
      </p:sp>
      <p:sp>
        <p:nvSpPr>
          <p:cNvPr id="3" name="Content Placeholder 2"/>
          <p:cNvSpPr>
            <a:spLocks noGrp="1"/>
          </p:cNvSpPr>
          <p:nvPr>
            <p:ph idx="1"/>
          </p:nvPr>
        </p:nvSpPr>
        <p:spPr/>
        <p:txBody>
          <a:bodyPr>
            <a:normAutofit fontScale="92500"/>
          </a:bodyPr>
          <a:lstStyle/>
          <a:p>
            <a:r>
              <a:rPr lang="en-US" sz="2400" dirty="0" smtClean="0">
                <a:latin typeface="Times New Roman" pitchFamily="18" charset="0"/>
                <a:cs typeface="Times New Roman" pitchFamily="18" charset="0"/>
              </a:rPr>
              <a:t>Involves the exchange of nucleotide sequences between different but usually closely related viruses during replication </a:t>
            </a:r>
          </a:p>
          <a:p>
            <a:r>
              <a:rPr lang="en-US" sz="2400" dirty="0" smtClean="0">
                <a:latin typeface="Times New Roman" pitchFamily="18" charset="0"/>
                <a:cs typeface="Times New Roman" pitchFamily="18" charset="0"/>
              </a:rPr>
              <a:t>It occurs with all double-stranded DNA viruses, presumably because of template switching by the polymerase. </a:t>
            </a:r>
            <a:r>
              <a:rPr lang="en-US" sz="2400" dirty="0" err="1" smtClean="0">
                <a:latin typeface="Times New Roman" pitchFamily="18" charset="0"/>
                <a:cs typeface="Times New Roman" pitchFamily="18" charset="0"/>
              </a:rPr>
              <a:t>Intramolecular</a:t>
            </a:r>
            <a:r>
              <a:rPr lang="en-US" sz="2400" dirty="0" smtClean="0">
                <a:latin typeface="Times New Roman" pitchFamily="18" charset="0"/>
                <a:cs typeface="Times New Roman" pitchFamily="18" charset="0"/>
              </a:rPr>
              <a:t> recombination also occurs among RNA viruses (e.g., </a:t>
            </a:r>
            <a:r>
              <a:rPr lang="en-US" sz="2400" dirty="0" err="1" smtClean="0">
                <a:latin typeface="Times New Roman" pitchFamily="18" charset="0"/>
                <a:cs typeface="Times New Roman" pitchFamily="18" charset="0"/>
              </a:rPr>
              <a:t>picornaviruses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coronaviruses</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togaviruses</a:t>
            </a:r>
            <a:r>
              <a:rPr lang="en-US" sz="2400" dirty="0" smtClean="0">
                <a:latin typeface="Times New Roman" pitchFamily="18" charset="0"/>
                <a:cs typeface="Times New Roman" pitchFamily="18" charset="0"/>
              </a:rPr>
              <a:t>)</a:t>
            </a:r>
          </a:p>
          <a:p>
            <a:r>
              <a:rPr lang="en-GB" sz="2400" dirty="0" smtClean="0">
                <a:latin typeface="Times New Roman" pitchFamily="18" charset="0"/>
                <a:cs typeface="Times New Roman" pitchFamily="18" charset="0"/>
              </a:rPr>
              <a:t>In all DNA viruses and RNA viruses that replicate via DNA intermediates, recombination involves the breakage and reformation of covalent bonds within the nucleic acid.</a:t>
            </a:r>
          </a:p>
          <a:p>
            <a:r>
              <a:rPr lang="en-GB" sz="2400" dirty="0" smtClean="0">
                <a:latin typeface="Times New Roman" pitchFamily="18" charset="0"/>
                <a:cs typeface="Times New Roman" pitchFamily="18" charset="0"/>
              </a:rPr>
              <a:t>Recombination between two regions on a single </a:t>
            </a:r>
            <a:r>
              <a:rPr lang="en-GB" sz="2400" dirty="0" err="1" smtClean="0">
                <a:latin typeface="Times New Roman" pitchFamily="18" charset="0"/>
                <a:cs typeface="Times New Roman" pitchFamily="18" charset="0"/>
              </a:rPr>
              <a:t>dsDNA</a:t>
            </a:r>
            <a:r>
              <a:rPr lang="en-GB" sz="2400" dirty="0" smtClean="0">
                <a:latin typeface="Times New Roman" pitchFamily="18" charset="0"/>
                <a:cs typeface="Times New Roman" pitchFamily="18" charset="0"/>
              </a:rPr>
              <a:t> molecule can result in looping out of the intermediate region, yielding a shorter </a:t>
            </a:r>
            <a:r>
              <a:rPr lang="en-GB" sz="2400" dirty="0" err="1" smtClean="0">
                <a:latin typeface="Times New Roman" pitchFamily="18" charset="0"/>
                <a:cs typeface="Times New Roman" pitchFamily="18" charset="0"/>
              </a:rPr>
              <a:t>dsDNA</a:t>
            </a:r>
            <a:r>
              <a:rPr lang="en-GB" sz="2400" dirty="0" smtClean="0">
                <a:latin typeface="Times New Roman" pitchFamily="18" charset="0"/>
                <a:cs typeface="Times New Roman" pitchFamily="18" charset="0"/>
              </a:rPr>
              <a:t> molecule and a separate circular </a:t>
            </a:r>
            <a:r>
              <a:rPr lang="en-GB" sz="2400" dirty="0" err="1" smtClean="0">
                <a:latin typeface="Times New Roman" pitchFamily="18" charset="0"/>
                <a:cs typeface="Times New Roman" pitchFamily="18" charset="0"/>
              </a:rPr>
              <a:t>dsDNA</a:t>
            </a:r>
            <a:r>
              <a:rPr lang="en-GB" sz="2400" dirty="0" smtClean="0">
                <a:latin typeface="Times New Roman" pitchFamily="18" charset="0"/>
                <a:cs typeface="Times New Roman" pitchFamily="18" charset="0"/>
              </a:rPr>
              <a:t> molecule</a:t>
            </a:r>
            <a:endParaRPr lang="en-US" sz="24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smtClean="0">
                <a:solidFill>
                  <a:srgbClr val="FF0000"/>
                </a:solidFill>
                <a:latin typeface="Times New Roman" pitchFamily="18" charset="0"/>
                <a:cs typeface="Times New Roman" pitchFamily="18" charset="0"/>
              </a:rPr>
              <a:t>Copy-choice Recombination </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600200"/>
            <a:ext cx="8382000" cy="4724400"/>
          </a:xfrm>
        </p:spPr>
        <p:txBody>
          <a:bodyPr>
            <a:normAutofit/>
          </a:bodyPr>
          <a:lstStyle/>
          <a:p>
            <a:r>
              <a:rPr lang="en-GB" sz="2400" dirty="0" smtClean="0">
                <a:latin typeface="Times New Roman" pitchFamily="18" charset="0"/>
                <a:cs typeface="Times New Roman" pitchFamily="18" charset="0"/>
              </a:rPr>
              <a:t>A genetic recombination in which the new nucleic acid molecule comes about by replicating selected parts of each parental molecule and by alternating between the two (maternal and paternal). </a:t>
            </a:r>
          </a:p>
          <a:p>
            <a:r>
              <a:rPr lang="en-GB" sz="2400" dirty="0" smtClean="0">
                <a:latin typeface="Times New Roman" pitchFamily="18" charset="0"/>
                <a:cs typeface="Times New Roman" pitchFamily="18" charset="0"/>
              </a:rPr>
              <a:t>Polymerase switches template strand during RNA synthesis</a:t>
            </a:r>
          </a:p>
          <a:p>
            <a:r>
              <a:rPr lang="en-GB" sz="2400" dirty="0" smtClean="0">
                <a:latin typeface="Times New Roman" pitchFamily="18" charset="0"/>
                <a:cs typeface="Times New Roman" pitchFamily="18" charset="0"/>
              </a:rPr>
              <a:t>This mechanism is poorly understood and occurs in </a:t>
            </a:r>
            <a:r>
              <a:rPr lang="en-GB" sz="2400" dirty="0" err="1" smtClean="0">
                <a:latin typeface="Times New Roman" pitchFamily="18" charset="0"/>
                <a:cs typeface="Times New Roman" pitchFamily="18" charset="0"/>
              </a:rPr>
              <a:t>monopartite</a:t>
            </a:r>
            <a:r>
              <a:rPr lang="en-GB" sz="2400" dirty="0" smtClean="0">
                <a:latin typeface="Times New Roman" pitchFamily="18" charset="0"/>
                <a:cs typeface="Times New Roman" pitchFamily="18" charset="0"/>
              </a:rPr>
              <a:t> RNA viruses. </a:t>
            </a:r>
            <a:endParaRPr lang="en-US"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smtClean="0">
                <a:solidFill>
                  <a:srgbClr val="FF0000"/>
                </a:solidFill>
                <a:latin typeface="Times New Roman" pitchFamily="18" charset="0"/>
                <a:cs typeface="Times New Roman" pitchFamily="18" charset="0"/>
              </a:rPr>
              <a:t>Genetic </a:t>
            </a:r>
            <a:r>
              <a:rPr lang="en-GB" sz="4000" b="1" dirty="0" err="1" smtClean="0">
                <a:solidFill>
                  <a:srgbClr val="FF0000"/>
                </a:solidFill>
                <a:latin typeface="Times New Roman" pitchFamily="18" charset="0"/>
                <a:cs typeface="Times New Roman" pitchFamily="18" charset="0"/>
              </a:rPr>
              <a:t>Reassortment</a:t>
            </a:r>
            <a:endParaRPr lang="en-US" sz="40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GB" sz="2800" dirty="0" smtClean="0">
                <a:latin typeface="Times New Roman" pitchFamily="18" charset="0"/>
                <a:cs typeface="Times New Roman" pitchFamily="18" charset="0"/>
              </a:rPr>
              <a:t>This occurs in mixed infections with variant viruses having segmented genomes infecting a single cell. </a:t>
            </a:r>
          </a:p>
          <a:p>
            <a:r>
              <a:rPr lang="en-GB" sz="2800" dirty="0" smtClean="0">
                <a:latin typeface="Times New Roman" pitchFamily="18" charset="0"/>
                <a:cs typeface="Times New Roman" pitchFamily="18" charset="0"/>
              </a:rPr>
              <a:t>The progeny </a:t>
            </a:r>
            <a:r>
              <a:rPr lang="en-GB" sz="2800" dirty="0" err="1" smtClean="0">
                <a:latin typeface="Times New Roman" pitchFamily="18" charset="0"/>
                <a:cs typeface="Times New Roman" pitchFamily="18" charset="0"/>
              </a:rPr>
              <a:t>virions</a:t>
            </a:r>
            <a:r>
              <a:rPr lang="en-GB" sz="2800" dirty="0" smtClean="0">
                <a:latin typeface="Times New Roman" pitchFamily="18" charset="0"/>
                <a:cs typeface="Times New Roman" pitchFamily="18" charset="0"/>
              </a:rPr>
              <a:t> can contain some segments from one parent, some from the other. </a:t>
            </a:r>
          </a:p>
          <a:p>
            <a:r>
              <a:rPr lang="en-GB" sz="2800" dirty="0" smtClean="0">
                <a:latin typeface="Times New Roman" pitchFamily="18" charset="0"/>
                <a:cs typeface="Times New Roman" pitchFamily="18" charset="0"/>
              </a:rPr>
              <a:t>This is an efficient process observed with </a:t>
            </a:r>
            <a:r>
              <a:rPr lang="en-GB" sz="2800" dirty="0" err="1" smtClean="0">
                <a:latin typeface="Times New Roman" pitchFamily="18" charset="0"/>
                <a:cs typeface="Times New Roman" pitchFamily="18" charset="0"/>
              </a:rPr>
              <a:t>orthomyxoviruses</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reoviruses</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arenaviruses</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bunyaviruses</a:t>
            </a:r>
            <a:r>
              <a:rPr lang="en-GB" sz="2800" dirty="0" smtClean="0">
                <a:latin typeface="Times New Roman" pitchFamily="18" charset="0"/>
                <a:cs typeface="Times New Roman" pitchFamily="18" charset="0"/>
              </a:rPr>
              <a:t>. </a:t>
            </a:r>
          </a:p>
          <a:p>
            <a:r>
              <a:rPr lang="en-GB" sz="2800" dirty="0" err="1" smtClean="0">
                <a:latin typeface="Times New Roman" pitchFamily="18" charset="0"/>
                <a:cs typeface="Times New Roman" pitchFamily="18" charset="0"/>
              </a:rPr>
              <a:t>Reassortment</a:t>
            </a:r>
            <a:r>
              <a:rPr lang="en-GB" sz="2800" dirty="0" smtClean="0">
                <a:latin typeface="Times New Roman" pitchFamily="18" charset="0"/>
                <a:cs typeface="Times New Roman" pitchFamily="18" charset="0"/>
              </a:rPr>
              <a:t> has been implicated in the appearance of new, highly virulent influenza virus strains throughout the 20th century. </a:t>
            </a:r>
            <a:endParaRPr lang="en-US" sz="28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864734" y="609600"/>
            <a:ext cx="8039100" cy="37338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Genetic Reactivation</a:t>
            </a:r>
            <a:endParaRPr lang="en-US" sz="3600" b="1" dirty="0">
              <a:solidFill>
                <a:srgbClr val="FF0000"/>
              </a:solidFill>
            </a:endParaRPr>
          </a:p>
        </p:txBody>
      </p:sp>
      <p:sp>
        <p:nvSpPr>
          <p:cNvPr id="3" name="Content Placeholder 2"/>
          <p:cNvSpPr>
            <a:spLocks noGrp="1"/>
          </p:cNvSpPr>
          <p:nvPr>
            <p:ph idx="1"/>
          </p:nvPr>
        </p:nvSpPr>
        <p:spPr>
          <a:xfrm>
            <a:off x="228600" y="1600200"/>
            <a:ext cx="8686800" cy="4525963"/>
          </a:xfrm>
        </p:spPr>
        <p:txBody>
          <a:bodyPr>
            <a:normAutofit/>
          </a:bodyPr>
          <a:lstStyle/>
          <a:p>
            <a:r>
              <a:rPr lang="en-GB" sz="2400" dirty="0" smtClean="0">
                <a:latin typeface="Times New Roman" pitchFamily="18" charset="0"/>
                <a:cs typeface="Times New Roman" pitchFamily="18" charset="0"/>
              </a:rPr>
              <a:t>Genetic reactivation is a special case recombination/</a:t>
            </a:r>
            <a:r>
              <a:rPr lang="en-GB" sz="2400" dirty="0" err="1" smtClean="0">
                <a:latin typeface="Times New Roman" pitchFamily="18" charset="0"/>
                <a:cs typeface="Times New Roman" pitchFamily="18" charset="0"/>
              </a:rPr>
              <a:t>reassortment</a:t>
            </a:r>
            <a:r>
              <a:rPr lang="en-GB" sz="2400" dirty="0" smtClean="0">
                <a:latin typeface="Times New Roman" pitchFamily="18" charset="0"/>
                <a:cs typeface="Times New Roman" pitchFamily="18" charset="0"/>
              </a:rPr>
              <a:t> that occurs in mixed infections when one or both of the viruses is non-infectious. </a:t>
            </a:r>
          </a:p>
          <a:p>
            <a:r>
              <a:rPr lang="en-GB" sz="2400" dirty="0" smtClean="0">
                <a:latin typeface="Times New Roman" pitchFamily="18" charset="0"/>
                <a:cs typeface="Times New Roman" pitchFamily="18" charset="0"/>
              </a:rPr>
              <a:t>The progeny, resulting from either recombination or </a:t>
            </a:r>
            <a:r>
              <a:rPr lang="en-GB" sz="2400" dirty="0" err="1" smtClean="0">
                <a:latin typeface="Times New Roman" pitchFamily="18" charset="0"/>
                <a:cs typeface="Times New Roman" pitchFamily="18" charset="0"/>
              </a:rPr>
              <a:t>reassortment</a:t>
            </a:r>
            <a:r>
              <a:rPr lang="en-GB" sz="2400" dirty="0" smtClean="0">
                <a:latin typeface="Times New Roman" pitchFamily="18" charset="0"/>
                <a:cs typeface="Times New Roman" pitchFamily="18" charset="0"/>
              </a:rPr>
              <a:t>, are now infectious and carry markers of both parents.</a:t>
            </a:r>
          </a:p>
          <a:p>
            <a:r>
              <a:rPr lang="en-GB" sz="2400" dirty="0" smtClean="0">
                <a:latin typeface="Times New Roman" pitchFamily="18" charset="0"/>
                <a:cs typeface="Times New Roman" pitchFamily="18" charset="0"/>
              </a:rPr>
              <a:t> If only one parent was non-infectious, the process is called </a:t>
            </a:r>
            <a:r>
              <a:rPr lang="en-GB" sz="2400" b="1" dirty="0" smtClean="0">
                <a:latin typeface="Times New Roman" pitchFamily="18" charset="0"/>
                <a:cs typeface="Times New Roman" pitchFamily="18" charset="0"/>
              </a:rPr>
              <a:t>cross-reactivation or marker rescue.</a:t>
            </a:r>
          </a:p>
          <a:p>
            <a:r>
              <a:rPr lang="en-GB" sz="2400" dirty="0" smtClean="0">
                <a:latin typeface="Times New Roman" pitchFamily="18" charset="0"/>
                <a:cs typeface="Times New Roman" pitchFamily="18" charset="0"/>
              </a:rPr>
              <a:t> If both parents were non-infectious, the process is called </a:t>
            </a:r>
            <a:r>
              <a:rPr lang="en-GB" sz="2400" b="1" dirty="0" smtClean="0">
                <a:latin typeface="Times New Roman" pitchFamily="18" charset="0"/>
                <a:cs typeface="Times New Roman" pitchFamily="18" charset="0"/>
              </a:rPr>
              <a:t>multiplicity reactivation. </a:t>
            </a:r>
            <a:endParaRPr lang="en-US" sz="2400" b="1"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itchFamily="18" charset="0"/>
                <a:cs typeface="Times New Roman" pitchFamily="18" charset="0"/>
              </a:rPr>
              <a:t>Genotypic mixing</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600200"/>
            <a:ext cx="8382000" cy="4953000"/>
          </a:xfrm>
        </p:spPr>
        <p:txBody>
          <a:bodyPr>
            <a:normAutofit lnSpcReduction="10000"/>
          </a:bodyPr>
          <a:lstStyle/>
          <a:p>
            <a:r>
              <a:rPr lang="en-GB" sz="2800" dirty="0" smtClean="0">
                <a:latin typeface="Times New Roman" pitchFamily="18" charset="0"/>
                <a:cs typeface="Times New Roman" pitchFamily="18" charset="0"/>
              </a:rPr>
              <a:t>This is the incorporation of more than one complete genome into the same virus </a:t>
            </a:r>
            <a:r>
              <a:rPr lang="en-GB" sz="2800" dirty="0" err="1" smtClean="0">
                <a:latin typeface="Times New Roman" pitchFamily="18" charset="0"/>
                <a:cs typeface="Times New Roman" pitchFamily="18" charset="0"/>
              </a:rPr>
              <a:t>capsid</a:t>
            </a:r>
            <a:r>
              <a:rPr lang="en-GB" sz="2800" dirty="0" smtClean="0">
                <a:latin typeface="Times New Roman" pitchFamily="18" charset="0"/>
                <a:cs typeface="Times New Roman" pitchFamily="18" charset="0"/>
              </a:rPr>
              <a:t>. </a:t>
            </a:r>
          </a:p>
          <a:p>
            <a:r>
              <a:rPr lang="en-GB" sz="2800" dirty="0" smtClean="0">
                <a:latin typeface="Times New Roman" pitchFamily="18" charset="0"/>
                <a:cs typeface="Times New Roman" pitchFamily="18" charset="0"/>
              </a:rPr>
              <a:t>If the genomes are from the same virus species, the phenomenon is </a:t>
            </a:r>
            <a:r>
              <a:rPr lang="en-GB" sz="2800" b="1" dirty="0" smtClean="0">
                <a:latin typeface="Times New Roman" pitchFamily="18" charset="0"/>
                <a:cs typeface="Times New Roman" pitchFamily="18" charset="0"/>
              </a:rPr>
              <a:t>polyploidy</a:t>
            </a:r>
            <a:r>
              <a:rPr lang="en-GB" sz="2800" dirty="0" smtClean="0">
                <a:latin typeface="Times New Roman" pitchFamily="18" charset="0"/>
                <a:cs typeface="Times New Roman" pitchFamily="18" charset="0"/>
              </a:rPr>
              <a:t>;</a:t>
            </a:r>
          </a:p>
          <a:p>
            <a:r>
              <a:rPr lang="en-GB" sz="2800" dirty="0" smtClean="0">
                <a:latin typeface="Times New Roman" pitchFamily="18" charset="0"/>
                <a:cs typeface="Times New Roman" pitchFamily="18" charset="0"/>
              </a:rPr>
              <a:t> if the genomes are from different virus species, the phenomenon is </a:t>
            </a:r>
            <a:r>
              <a:rPr lang="en-GB" sz="2800" b="1" dirty="0" err="1" smtClean="0">
                <a:latin typeface="Times New Roman" pitchFamily="18" charset="0"/>
                <a:cs typeface="Times New Roman" pitchFamily="18" charset="0"/>
              </a:rPr>
              <a:t>heteropolyploidy</a:t>
            </a:r>
            <a:r>
              <a:rPr lang="en-GB" sz="2800" b="1" dirty="0" smtClean="0">
                <a:latin typeface="Times New Roman" pitchFamily="18" charset="0"/>
                <a:cs typeface="Times New Roman" pitchFamily="18" charset="0"/>
              </a:rPr>
              <a:t> or genotypic mixing</a:t>
            </a:r>
            <a:r>
              <a:rPr lang="en-GB" sz="2800" dirty="0" smtClean="0">
                <a:latin typeface="Times New Roman" pitchFamily="18" charset="0"/>
                <a:cs typeface="Times New Roman" pitchFamily="18" charset="0"/>
              </a:rPr>
              <a:t>. </a:t>
            </a:r>
          </a:p>
          <a:p>
            <a:r>
              <a:rPr lang="en-GB" sz="2800" dirty="0" smtClean="0">
                <a:latin typeface="Times New Roman" pitchFamily="18" charset="0"/>
                <a:cs typeface="Times New Roman" pitchFamily="18" charset="0"/>
              </a:rPr>
              <a:t>There is no recombination between the genomes and cells singly infected with the </a:t>
            </a:r>
            <a:r>
              <a:rPr lang="en-GB" sz="2800" dirty="0" err="1" smtClean="0">
                <a:latin typeface="Times New Roman" pitchFamily="18" charset="0"/>
                <a:cs typeface="Times New Roman" pitchFamily="18" charset="0"/>
              </a:rPr>
              <a:t>genotypically</a:t>
            </a:r>
            <a:r>
              <a:rPr lang="en-GB" sz="2800" dirty="0" smtClean="0">
                <a:latin typeface="Times New Roman" pitchFamily="18" charset="0"/>
                <a:cs typeface="Times New Roman" pitchFamily="18" charset="0"/>
              </a:rPr>
              <a:t> mixed viruses will yield progeny identical to both original parents as well as more </a:t>
            </a:r>
            <a:r>
              <a:rPr lang="en-GB" sz="2800" dirty="0" err="1" smtClean="0">
                <a:latin typeface="Times New Roman" pitchFamily="18" charset="0"/>
                <a:cs typeface="Times New Roman" pitchFamily="18" charset="0"/>
              </a:rPr>
              <a:t>genotypically</a:t>
            </a:r>
            <a:r>
              <a:rPr lang="en-GB" sz="2800" dirty="0" smtClean="0">
                <a:latin typeface="Times New Roman" pitchFamily="18" charset="0"/>
                <a:cs typeface="Times New Roman" pitchFamily="18" charset="0"/>
              </a:rPr>
              <a:t> mixed viruses.</a:t>
            </a:r>
            <a:endParaRPr lang="en-US" sz="28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itchFamily="18" charset="0"/>
                <a:cs typeface="Times New Roman" pitchFamily="18" charset="0"/>
              </a:rPr>
              <a:t>Phenotypic mixing</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295400"/>
            <a:ext cx="8458200" cy="5334000"/>
          </a:xfrm>
        </p:spPr>
        <p:txBody>
          <a:bodyPr>
            <a:normAutofit fontScale="92500"/>
          </a:bodyPr>
          <a:lstStyle/>
          <a:p>
            <a:r>
              <a:rPr lang="en-GB" sz="2400" dirty="0" smtClean="0">
                <a:latin typeface="Times New Roman" pitchFamily="18" charset="0"/>
                <a:cs typeface="Times New Roman" pitchFamily="18" charset="0"/>
              </a:rPr>
              <a:t>A process by which individual progeny of a mixed infection contains structural proteins (</a:t>
            </a:r>
            <a:r>
              <a:rPr lang="en-GB" sz="2400" dirty="0" err="1" smtClean="0">
                <a:latin typeface="Times New Roman" pitchFamily="18" charset="0"/>
                <a:cs typeface="Times New Roman" pitchFamily="18" charset="0"/>
              </a:rPr>
              <a:t>capsid</a:t>
            </a:r>
            <a:r>
              <a:rPr lang="en-GB" sz="2400" dirty="0" smtClean="0">
                <a:latin typeface="Times New Roman" pitchFamily="18" charset="0"/>
                <a:cs typeface="Times New Roman" pitchFamily="18" charset="0"/>
              </a:rPr>
              <a:t> or envelope) derived from both parental viruses.</a:t>
            </a:r>
          </a:p>
          <a:p>
            <a:r>
              <a:rPr lang="en-GB" sz="2400" dirty="0" smtClean="0">
                <a:latin typeface="Times New Roman" pitchFamily="18" charset="0"/>
                <a:cs typeface="Times New Roman" pitchFamily="18" charset="0"/>
              </a:rPr>
              <a:t>Phenotypic mixing is an example of non-genetic interactions between two viruses.</a:t>
            </a:r>
          </a:p>
          <a:p>
            <a:r>
              <a:rPr lang="en-GB" sz="2400" dirty="0" smtClean="0">
                <a:latin typeface="Times New Roman" pitchFamily="18" charset="0"/>
                <a:cs typeface="Times New Roman" pitchFamily="18" charset="0"/>
              </a:rPr>
              <a:t>A progeny genome identical to one parent is enclosed within a </a:t>
            </a:r>
            <a:r>
              <a:rPr lang="en-GB" sz="2400" dirty="0" err="1" smtClean="0">
                <a:latin typeface="Times New Roman" pitchFamily="18" charset="0"/>
                <a:cs typeface="Times New Roman" pitchFamily="18" charset="0"/>
              </a:rPr>
              <a:t>capsid</a:t>
            </a:r>
            <a:r>
              <a:rPr lang="en-GB" sz="2400" dirty="0" smtClean="0">
                <a:latin typeface="Times New Roman" pitchFamily="18" charset="0"/>
                <a:cs typeface="Times New Roman" pitchFamily="18" charset="0"/>
              </a:rPr>
              <a:t> or envelope entirely specified by the other parent and it is referred to as </a:t>
            </a:r>
            <a:r>
              <a:rPr lang="en-GB" sz="2400" b="1" dirty="0" err="1" smtClean="0">
                <a:latin typeface="Times New Roman" pitchFamily="18" charset="0"/>
                <a:cs typeface="Times New Roman" pitchFamily="18" charset="0"/>
              </a:rPr>
              <a:t>pseudotype</a:t>
            </a:r>
            <a:r>
              <a:rPr lang="en-GB" sz="2400" b="1" dirty="0" smtClean="0">
                <a:latin typeface="Times New Roman" pitchFamily="18" charset="0"/>
                <a:cs typeface="Times New Roman" pitchFamily="18" charset="0"/>
              </a:rPr>
              <a:t> formation or the envelopes of some of the progeny particles display antigens derived from both parents.</a:t>
            </a:r>
          </a:p>
          <a:p>
            <a:r>
              <a:rPr lang="en-GB" sz="2400" dirty="0" smtClean="0">
                <a:latin typeface="Times New Roman" pitchFamily="18" charset="0"/>
                <a:cs typeface="Times New Roman" pitchFamily="18" charset="0"/>
              </a:rPr>
              <a:t>With </a:t>
            </a:r>
            <a:r>
              <a:rPr lang="en-GB" sz="2400" dirty="0" err="1" smtClean="0">
                <a:latin typeface="Times New Roman" pitchFamily="18" charset="0"/>
                <a:cs typeface="Times New Roman" pitchFamily="18" charset="0"/>
              </a:rPr>
              <a:t>nonenveloped</a:t>
            </a:r>
            <a:r>
              <a:rPr lang="en-GB" sz="2400" dirty="0" smtClean="0">
                <a:latin typeface="Times New Roman" pitchFamily="18" charset="0"/>
                <a:cs typeface="Times New Roman" pitchFamily="18" charset="0"/>
              </a:rPr>
              <a:t> viruses, phenotypic mixing can take the form of </a:t>
            </a:r>
            <a:r>
              <a:rPr lang="en-GB" sz="2400" b="1" dirty="0" err="1" smtClean="0">
                <a:latin typeface="Times New Roman" pitchFamily="18" charset="0"/>
                <a:cs typeface="Times New Roman" pitchFamily="18" charset="0"/>
              </a:rPr>
              <a:t>transcapsidation</a:t>
            </a:r>
            <a:r>
              <a:rPr lang="en-GB" sz="2400" dirty="0" smtClean="0">
                <a:latin typeface="Times New Roman" pitchFamily="18" charset="0"/>
                <a:cs typeface="Times New Roman" pitchFamily="18" charset="0"/>
              </a:rPr>
              <a:t>, in which there is partial or usually complete exchange of </a:t>
            </a:r>
            <a:r>
              <a:rPr lang="en-GB" sz="2400" dirty="0" err="1" smtClean="0">
                <a:latin typeface="Times New Roman" pitchFamily="18" charset="0"/>
                <a:cs typeface="Times New Roman" pitchFamily="18" charset="0"/>
              </a:rPr>
              <a:t>capsids</a:t>
            </a:r>
            <a:r>
              <a:rPr lang="en-GB" sz="2400" dirty="0" smtClean="0">
                <a:latin typeface="Times New Roman" pitchFamily="18" charset="0"/>
                <a:cs typeface="Times New Roman" pitchFamily="18" charset="0"/>
              </a:rPr>
              <a:t> . For example, poliovirus nucleic acid may be enclosed within a </a:t>
            </a:r>
            <a:r>
              <a:rPr lang="en-GB" sz="2400" dirty="0" err="1" smtClean="0">
                <a:latin typeface="Times New Roman" pitchFamily="18" charset="0"/>
                <a:cs typeface="Times New Roman" pitchFamily="18" charset="0"/>
              </a:rPr>
              <a:t>coxsackievirus</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capsid</a:t>
            </a:r>
            <a:r>
              <a:rPr lang="en-GB" sz="2400" dirty="0" smtClean="0">
                <a:latin typeface="Times New Roman" pitchFamily="18" charset="0"/>
                <a:cs typeface="Times New Roman" pitchFamily="18" charset="0"/>
              </a:rPr>
              <a:t>, or adenovirus 7 genome may be enclosed within an adenovirus 2 </a:t>
            </a:r>
            <a:r>
              <a:rPr lang="en-GB" sz="2400" dirty="0" err="1" smtClean="0">
                <a:latin typeface="Times New Roman" pitchFamily="18" charset="0"/>
                <a:cs typeface="Times New Roman" pitchFamily="18" charset="0"/>
              </a:rPr>
              <a:t>capsid</a:t>
            </a:r>
            <a:r>
              <a:rPr lang="en-GB"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An external file that holds a picture, illustration, etc.&#10;Object name is gr1.jpg"/>
          <p:cNvPicPr>
            <a:picLocks noChangeAspect="1" noChangeArrowheads="1"/>
          </p:cNvPicPr>
          <p:nvPr/>
        </p:nvPicPr>
        <p:blipFill>
          <a:blip r:embed="rId2"/>
          <a:srcRect t="30134" r="7206" b="-1094"/>
          <a:stretch>
            <a:fillRect/>
          </a:stretch>
        </p:blipFill>
        <p:spPr bwMode="auto">
          <a:xfrm>
            <a:off x="1295400" y="228600"/>
            <a:ext cx="5638800" cy="6236855"/>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7030A0"/>
                </a:solidFill>
                <a:latin typeface="Algerian" pitchFamily="82" charset="0"/>
              </a:rPr>
              <a:t>VIRUS -CELL INTERACTIONS</a:t>
            </a:r>
            <a:endParaRPr lang="en-US" sz="3600" dirty="0"/>
          </a:p>
        </p:txBody>
      </p:sp>
      <p:sp>
        <p:nvSpPr>
          <p:cNvPr id="3" name="Content Placeholder 2"/>
          <p:cNvSpPr>
            <a:spLocks noGrp="1"/>
          </p:cNvSpPr>
          <p:nvPr>
            <p:ph idx="1"/>
          </p:nvPr>
        </p:nvSpPr>
        <p:spPr>
          <a:xfrm>
            <a:off x="152400" y="1600200"/>
            <a:ext cx="8839200" cy="4953000"/>
          </a:xfrm>
        </p:spPr>
        <p:txBody>
          <a:bodyPr>
            <a:normAutofit/>
          </a:bodyPr>
          <a:lstStyle/>
          <a:p>
            <a:pPr>
              <a:buNone/>
            </a:pPr>
            <a:r>
              <a:rPr lang="en-GB" sz="2400" dirty="0" smtClean="0">
                <a:latin typeface="Times New Roman" pitchFamily="18" charset="0"/>
                <a:cs typeface="Times New Roman" pitchFamily="18" charset="0"/>
              </a:rPr>
              <a:t> The range of changes induced in more than 200 different kinds of cells in the typical animal host by different viruses is remarkably diverse. </a:t>
            </a:r>
          </a:p>
          <a:p>
            <a:r>
              <a:rPr lang="en-GB" sz="2400" dirty="0" smtClean="0">
                <a:latin typeface="Times New Roman" pitchFamily="18" charset="0"/>
                <a:cs typeface="Times New Roman" pitchFamily="18" charset="0"/>
              </a:rPr>
              <a:t> Disruption of cellular function </a:t>
            </a:r>
          </a:p>
          <a:p>
            <a:r>
              <a:rPr lang="en-GB" sz="2400" dirty="0" smtClean="0">
                <a:latin typeface="Times New Roman" pitchFamily="18" charset="0"/>
                <a:cs typeface="Times New Roman" pitchFamily="18" charset="0"/>
              </a:rPr>
              <a:t>Induction of cell death </a:t>
            </a:r>
          </a:p>
          <a:p>
            <a:r>
              <a:rPr lang="en-GB" sz="2400" dirty="0" smtClean="0">
                <a:latin typeface="Times New Roman" pitchFamily="18" charset="0"/>
                <a:cs typeface="Times New Roman" pitchFamily="18" charset="0"/>
              </a:rPr>
              <a:t> Transformation </a:t>
            </a:r>
          </a:p>
          <a:p>
            <a:r>
              <a:rPr lang="en-GB" sz="2400" dirty="0" smtClean="0">
                <a:latin typeface="Times New Roman" pitchFamily="18" charset="0"/>
                <a:cs typeface="Times New Roman" pitchFamily="18" charset="0"/>
              </a:rPr>
              <a:t> Activation of an inappropriate immune response </a:t>
            </a:r>
          </a:p>
          <a:p>
            <a:endParaRPr lang="en-GB" sz="2400" b="1" dirty="0" smtClean="0">
              <a:latin typeface="Times New Roman" pitchFamily="18" charset="0"/>
              <a:cs typeface="Times New Roman" pitchFamily="18" charset="0"/>
            </a:endParaRPr>
          </a:p>
          <a:p>
            <a:r>
              <a:rPr lang="en-GB" sz="2400" b="1" dirty="0" smtClean="0">
                <a:latin typeface="Times New Roman" pitchFamily="18" charset="0"/>
                <a:cs typeface="Times New Roman" pitchFamily="18" charset="0"/>
              </a:rPr>
              <a:t>These changes are manifested as disease.</a:t>
            </a:r>
            <a:endParaRPr lang="en-US" sz="2400" b="1"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itchFamily="18" charset="0"/>
                <a:cs typeface="Times New Roman" pitchFamily="18" charset="0"/>
              </a:rPr>
              <a:t>Types of Virus-Cell </a:t>
            </a:r>
            <a:r>
              <a:rPr lang="en-US" sz="3600" b="1" dirty="0" err="1" smtClean="0">
                <a:solidFill>
                  <a:srgbClr val="FF0000"/>
                </a:solidFill>
                <a:latin typeface="Times New Roman" pitchFamily="18" charset="0"/>
                <a:cs typeface="Times New Roman" pitchFamily="18" charset="0"/>
              </a:rPr>
              <a:t>Interations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0" y="1295400"/>
            <a:ext cx="8763000" cy="4953000"/>
          </a:xfrm>
        </p:spPr>
        <p:txBody>
          <a:bodyPr>
            <a:noAutofit/>
          </a:bodyPr>
          <a:lstStyle/>
          <a:p>
            <a:pPr algn="just"/>
            <a:r>
              <a:rPr lang="en-GB" sz="2400" b="1" dirty="0" err="1" smtClean="0">
                <a:latin typeface="Times New Roman" pitchFamily="18" charset="0"/>
                <a:cs typeface="Times New Roman" pitchFamily="18" charset="0"/>
              </a:rPr>
              <a:t>Cytolytic</a:t>
            </a:r>
            <a:r>
              <a:rPr lang="en-GB" sz="2400" b="1" dirty="0" smtClean="0">
                <a:latin typeface="Times New Roman" pitchFamily="18" charset="0"/>
                <a:cs typeface="Times New Roman" pitchFamily="18" charset="0"/>
              </a:rPr>
              <a:t> or </a:t>
            </a:r>
            <a:r>
              <a:rPr lang="en-GB" sz="2400" b="1" dirty="0" err="1" smtClean="0">
                <a:latin typeface="Times New Roman" pitchFamily="18" charset="0"/>
                <a:cs typeface="Times New Roman" pitchFamily="18" charset="0"/>
              </a:rPr>
              <a:t>cytocidal</a:t>
            </a:r>
            <a:r>
              <a:rPr lang="en-GB" sz="2400" b="1" dirty="0" smtClean="0">
                <a:latin typeface="Times New Roman" pitchFamily="18" charset="0"/>
                <a:cs typeface="Times New Roman" pitchFamily="18" charset="0"/>
              </a:rPr>
              <a:t> infection</a:t>
            </a:r>
            <a:r>
              <a:rPr lang="en-GB" sz="2400" dirty="0" smtClean="0">
                <a:latin typeface="Times New Roman" pitchFamily="18" charset="0"/>
                <a:cs typeface="Times New Roman" pitchFamily="18" charset="0"/>
              </a:rPr>
              <a:t> – Cell die </a:t>
            </a:r>
          </a:p>
          <a:p>
            <a:pPr algn="just"/>
            <a:r>
              <a:rPr lang="en-GB" sz="2400" b="1" dirty="0" smtClean="0">
                <a:latin typeface="Times New Roman" pitchFamily="18" charset="0"/>
                <a:cs typeface="Times New Roman" pitchFamily="18" charset="0"/>
              </a:rPr>
              <a:t>Non-</a:t>
            </a:r>
            <a:r>
              <a:rPr lang="en-GB" sz="2400" b="1" dirty="0" err="1" smtClean="0">
                <a:latin typeface="Times New Roman" pitchFamily="18" charset="0"/>
                <a:cs typeface="Times New Roman" pitchFamily="18" charset="0"/>
              </a:rPr>
              <a:t>cytolytic</a:t>
            </a:r>
            <a:r>
              <a:rPr lang="en-GB" sz="2400" b="1" dirty="0" smtClean="0">
                <a:latin typeface="Times New Roman" pitchFamily="18" charset="0"/>
                <a:cs typeface="Times New Roman" pitchFamily="18" charset="0"/>
              </a:rPr>
              <a:t> infection </a:t>
            </a:r>
            <a:r>
              <a:rPr lang="en-GB" sz="2400" dirty="0" smtClean="0">
                <a:latin typeface="Times New Roman" pitchFamily="18" charset="0"/>
                <a:cs typeface="Times New Roman" pitchFamily="18" charset="0"/>
              </a:rPr>
              <a:t>– Cell remain intact  </a:t>
            </a:r>
          </a:p>
          <a:p>
            <a:pPr algn="just"/>
            <a:r>
              <a:rPr lang="en-GB" sz="2400" b="1" dirty="0" smtClean="0">
                <a:latin typeface="Times New Roman" pitchFamily="18" charset="0"/>
                <a:cs typeface="Times New Roman" pitchFamily="18" charset="0"/>
              </a:rPr>
              <a:t>Productive Infections </a:t>
            </a:r>
            <a:r>
              <a:rPr lang="en-GB" sz="2400" dirty="0" smtClean="0">
                <a:latin typeface="Times New Roman" pitchFamily="18" charset="0"/>
                <a:cs typeface="Times New Roman" pitchFamily="18" charset="0"/>
              </a:rPr>
              <a:t>– Virus replicates and fully infectious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are </a:t>
            </a:r>
            <a:r>
              <a:rPr lang="en-GB" sz="2400" dirty="0" err="1" smtClean="0">
                <a:latin typeface="Times New Roman" pitchFamily="18" charset="0"/>
                <a:cs typeface="Times New Roman" pitchFamily="18" charset="0"/>
              </a:rPr>
              <a:t>poroduced</a:t>
            </a:r>
            <a:endParaRPr lang="en-GB" sz="2400" dirty="0" smtClean="0">
              <a:latin typeface="Times New Roman" pitchFamily="18" charset="0"/>
              <a:cs typeface="Times New Roman" pitchFamily="18" charset="0"/>
            </a:endParaRPr>
          </a:p>
          <a:p>
            <a:pPr algn="just"/>
            <a:r>
              <a:rPr lang="en-GB" sz="2400" b="1" dirty="0" smtClean="0">
                <a:latin typeface="Times New Roman" pitchFamily="18" charset="0"/>
                <a:cs typeface="Times New Roman" pitchFamily="18" charset="0"/>
              </a:rPr>
              <a:t>Non productive Infections/ abortive infecti</a:t>
            </a:r>
            <a:r>
              <a:rPr lang="en-GB" sz="2400" dirty="0" smtClean="0">
                <a:latin typeface="Times New Roman" pitchFamily="18" charset="0"/>
                <a:cs typeface="Times New Roman" pitchFamily="18" charset="0"/>
              </a:rPr>
              <a:t>ons – Virus replicate inside the cell but defective virus or incomplete progeny is produced. Infections of non-permissive cells yield no infectious progeny virus  </a:t>
            </a:r>
          </a:p>
          <a:p>
            <a:pPr algn="just"/>
            <a:r>
              <a:rPr lang="en-GB" sz="2400" b="1" dirty="0" smtClean="0">
                <a:latin typeface="Times New Roman" pitchFamily="18" charset="0"/>
                <a:cs typeface="Times New Roman" pitchFamily="18" charset="0"/>
              </a:rPr>
              <a:t>Permissive cells </a:t>
            </a:r>
            <a:r>
              <a:rPr lang="en-GB" sz="2400" dirty="0" smtClean="0">
                <a:latin typeface="Times New Roman" pitchFamily="18" charset="0"/>
                <a:cs typeface="Times New Roman" pitchFamily="18" charset="0"/>
              </a:rPr>
              <a:t>– They support the complete replication of viruses </a:t>
            </a:r>
          </a:p>
          <a:p>
            <a:pPr algn="just"/>
            <a:r>
              <a:rPr lang="en-GB" sz="2400" b="1" dirty="0" smtClean="0">
                <a:latin typeface="Times New Roman" pitchFamily="18" charset="0"/>
                <a:cs typeface="Times New Roman" pitchFamily="18" charset="0"/>
              </a:rPr>
              <a:t>Non permissive cells </a:t>
            </a:r>
            <a:r>
              <a:rPr lang="en-GB" sz="2400" dirty="0" smtClean="0">
                <a:latin typeface="Times New Roman" pitchFamily="18" charset="0"/>
                <a:cs typeface="Times New Roman" pitchFamily="18" charset="0"/>
              </a:rPr>
              <a:t>– Not allow the replication of virus. viral replication may be blocked at any point from viral attachment through to the final stages of </a:t>
            </a:r>
            <a:r>
              <a:rPr lang="en-GB" sz="2400" dirty="0" err="1" smtClean="0">
                <a:latin typeface="Times New Roman" pitchFamily="18" charset="0"/>
                <a:cs typeface="Times New Roman" pitchFamily="18" charset="0"/>
              </a:rPr>
              <a:t>virion</a:t>
            </a:r>
            <a:r>
              <a:rPr lang="en-GB" sz="2400" dirty="0" smtClean="0">
                <a:latin typeface="Times New Roman" pitchFamily="18" charset="0"/>
                <a:cs typeface="Times New Roman" pitchFamily="18" charset="0"/>
              </a:rPr>
              <a:t> assembly and release.</a:t>
            </a:r>
            <a:endParaRPr lang="en-US" sz="24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65753" y="738188"/>
            <a:ext cx="8749647" cy="551021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err="1" smtClean="0">
                <a:solidFill>
                  <a:srgbClr val="FF0000"/>
                </a:solidFill>
                <a:latin typeface="Times New Roman" pitchFamily="18" charset="0"/>
                <a:cs typeface="Times New Roman" pitchFamily="18" charset="0"/>
              </a:rPr>
              <a:t>Cytocidal</a:t>
            </a:r>
            <a:r>
              <a:rPr lang="en-GB" sz="3600" b="1" dirty="0" smtClean="0">
                <a:solidFill>
                  <a:srgbClr val="FF0000"/>
                </a:solidFill>
                <a:latin typeface="Times New Roman" pitchFamily="18" charset="0"/>
                <a:cs typeface="Times New Roman" pitchFamily="18" charset="0"/>
              </a:rPr>
              <a:t> changes in virus-infected cells </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524000"/>
            <a:ext cx="8686800" cy="5105400"/>
          </a:xfrm>
        </p:spPr>
        <p:txBody>
          <a:bodyPr>
            <a:noAutofit/>
          </a:bodyPr>
          <a:lstStyle/>
          <a:p>
            <a:pPr algn="just"/>
            <a:r>
              <a:rPr lang="en-GB" sz="2400" dirty="0" err="1" smtClean="0">
                <a:latin typeface="Times New Roman" pitchFamily="18" charset="0"/>
                <a:cs typeface="Times New Roman" pitchFamily="18" charset="0"/>
              </a:rPr>
              <a:t>Cytopathic</a:t>
            </a:r>
            <a:r>
              <a:rPr lang="en-GB" sz="2400" dirty="0" smtClean="0">
                <a:latin typeface="Times New Roman" pitchFamily="18" charset="0"/>
                <a:cs typeface="Times New Roman" pitchFamily="18" charset="0"/>
              </a:rPr>
              <a:t> viruses kill the cells in which they replicate and leads to cell damage.  </a:t>
            </a:r>
          </a:p>
          <a:p>
            <a:pPr algn="just"/>
            <a:r>
              <a:rPr lang="en-GB" sz="2400" dirty="0" smtClean="0">
                <a:latin typeface="Times New Roman" pitchFamily="18" charset="0"/>
                <a:cs typeface="Times New Roman" pitchFamily="18" charset="0"/>
              </a:rPr>
              <a:t>Morphological changes in cells caused by viral infection are called </a:t>
            </a:r>
            <a:r>
              <a:rPr lang="en-GB" sz="2400" b="1" dirty="0" err="1" smtClean="0">
                <a:latin typeface="Times New Roman" pitchFamily="18" charset="0"/>
                <a:cs typeface="Times New Roman" pitchFamily="18" charset="0"/>
              </a:rPr>
              <a:t>cytopathic</a:t>
            </a:r>
            <a:r>
              <a:rPr lang="en-GB" sz="2400" b="1" dirty="0" smtClean="0">
                <a:latin typeface="Times New Roman" pitchFamily="18" charset="0"/>
                <a:cs typeface="Times New Roman" pitchFamily="18" charset="0"/>
              </a:rPr>
              <a:t> effects (CPE); </a:t>
            </a:r>
            <a:r>
              <a:rPr lang="en-GB" sz="2400" dirty="0" smtClean="0">
                <a:latin typeface="Times New Roman" pitchFamily="18" charset="0"/>
                <a:cs typeface="Times New Roman" pitchFamily="18" charset="0"/>
              </a:rPr>
              <a:t>the responsible virus is said to be </a:t>
            </a:r>
            <a:r>
              <a:rPr lang="en-GB" sz="2400" dirty="0" err="1" smtClean="0">
                <a:latin typeface="Times New Roman" pitchFamily="18" charset="0"/>
                <a:cs typeface="Times New Roman" pitchFamily="18" charset="0"/>
              </a:rPr>
              <a:t>cytopathogenic</a:t>
            </a:r>
            <a:r>
              <a:rPr lang="en-GB" sz="2400" dirty="0" smtClean="0">
                <a:latin typeface="Times New Roman" pitchFamily="18" charset="0"/>
                <a:cs typeface="Times New Roman" pitchFamily="18" charset="0"/>
              </a:rPr>
              <a:t>. </a:t>
            </a:r>
          </a:p>
          <a:p>
            <a:pPr algn="just"/>
            <a:r>
              <a:rPr lang="en-GB" sz="2400" dirty="0" smtClean="0">
                <a:latin typeface="Times New Roman" pitchFamily="18" charset="0"/>
                <a:cs typeface="Times New Roman" pitchFamily="18" charset="0"/>
              </a:rPr>
              <a:t>CPE can usually be observed by low-power light microscopy of unstained cell cultures. </a:t>
            </a:r>
          </a:p>
          <a:p>
            <a:pPr algn="just"/>
            <a:r>
              <a:rPr lang="en-GB" sz="2400" dirty="0" smtClean="0">
                <a:latin typeface="Times New Roman" pitchFamily="18" charset="0"/>
                <a:cs typeface="Times New Roman" pitchFamily="18" charset="0"/>
              </a:rPr>
              <a:t>The microscopic appearance of the CPE caused by some of these </a:t>
            </a:r>
            <a:r>
              <a:rPr lang="en-GB" sz="2400" dirty="0" err="1" smtClean="0">
                <a:latin typeface="Times New Roman" pitchFamily="18" charset="0"/>
                <a:cs typeface="Times New Roman" pitchFamily="18" charset="0"/>
              </a:rPr>
              <a:t>cytocidal</a:t>
            </a:r>
            <a:r>
              <a:rPr lang="en-GB" sz="2400" dirty="0" smtClean="0">
                <a:latin typeface="Times New Roman" pitchFamily="18" charset="0"/>
                <a:cs typeface="Times New Roman" pitchFamily="18" charset="0"/>
              </a:rPr>
              <a:t> viruses may be sufficiently characteristic to allow provisional identification of an unknown virus. </a:t>
            </a:r>
          </a:p>
          <a:p>
            <a:pPr algn="just"/>
            <a:r>
              <a:rPr lang="en-GB" sz="2400" dirty="0" err="1" smtClean="0">
                <a:latin typeface="Times New Roman" pitchFamily="18" charset="0"/>
                <a:cs typeface="Times New Roman" pitchFamily="18" charset="0"/>
              </a:rPr>
              <a:t>Cytopathic</a:t>
            </a:r>
            <a:r>
              <a:rPr lang="en-GB" sz="2400" dirty="0" smtClean="0">
                <a:latin typeface="Times New Roman" pitchFamily="18" charset="0"/>
                <a:cs typeface="Times New Roman" pitchFamily="18" charset="0"/>
              </a:rPr>
              <a:t> effect is often characteristic of the particular virus involved </a:t>
            </a:r>
            <a:endParaRPr lang="en-US"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latin typeface="Times New Roman" pitchFamily="18" charset="0"/>
                <a:cs typeface="Times New Roman" pitchFamily="18" charset="0"/>
              </a:rPr>
              <a:t>Mechanisms of Cell Damage</a:t>
            </a:r>
            <a:endParaRPr lang="en-US" sz="40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GB" sz="2800" dirty="0" smtClean="0">
                <a:latin typeface="Times New Roman" pitchFamily="18" charset="0"/>
                <a:cs typeface="Times New Roman" pitchFamily="18" charset="0"/>
              </a:rPr>
              <a:t>Inhibition of Host Cell Nucleic Acid Synthesis </a:t>
            </a:r>
          </a:p>
          <a:p>
            <a:endParaRPr lang="en-GB"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 Inhibition of Host Cell RNA Transcription </a:t>
            </a:r>
          </a:p>
          <a:p>
            <a:pPr>
              <a:buNone/>
            </a:pPr>
            <a:r>
              <a:rPr lang="en-GB" sz="2800" dirty="0" smtClean="0">
                <a:latin typeface="Times New Roman" pitchFamily="18" charset="0"/>
                <a:cs typeface="Times New Roman" pitchFamily="18" charset="0"/>
              </a:rPr>
              <a:t> </a:t>
            </a:r>
          </a:p>
          <a:p>
            <a:r>
              <a:rPr lang="en-GB" sz="2800" dirty="0" smtClean="0">
                <a:latin typeface="Times New Roman" pitchFamily="18" charset="0"/>
                <a:cs typeface="Times New Roman" pitchFamily="18" charset="0"/>
              </a:rPr>
              <a:t>Inhibition of Processing of Host Cell mRNAs </a:t>
            </a:r>
          </a:p>
          <a:p>
            <a:endParaRPr lang="en-GB"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 Inhibition of Host Cell Protein Synthesis </a:t>
            </a:r>
          </a:p>
          <a:p>
            <a:endParaRPr lang="en-GB"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Inviting immune cells</a:t>
            </a:r>
            <a:endParaRPr lang="en-US" sz="28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smtClean="0">
                <a:solidFill>
                  <a:srgbClr val="FF0000"/>
                </a:solidFill>
                <a:latin typeface="Times New Roman" pitchFamily="18" charset="0"/>
                <a:cs typeface="Times New Roman" pitchFamily="18" charset="0"/>
              </a:rPr>
              <a:t>Inhibition of Host Cell Nucleic Acid Synthesis</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Common in viral infections. </a:t>
            </a:r>
          </a:p>
          <a:p>
            <a:r>
              <a:rPr lang="en-US" sz="2800" dirty="0" smtClean="0">
                <a:latin typeface="Times New Roman" pitchFamily="18" charset="0"/>
                <a:cs typeface="Times New Roman" pitchFamily="18" charset="0"/>
              </a:rPr>
              <a:t> It is an inevitable consequence of viral inhibition of host cell protein synthesis </a:t>
            </a: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Eg</a:t>
            </a:r>
            <a:r>
              <a:rPr lang="en-US" sz="2800" dirty="0" smtClean="0">
                <a:latin typeface="Times New Roman" pitchFamily="18" charset="0"/>
                <a:cs typeface="Times New Roman" pitchFamily="18" charset="0"/>
              </a:rPr>
              <a:t>. poxviruses produce a </a:t>
            </a:r>
            <a:r>
              <a:rPr lang="en-US" sz="2800" dirty="0" err="1" smtClean="0">
                <a:latin typeface="Times New Roman" pitchFamily="18" charset="0"/>
                <a:cs typeface="Times New Roman" pitchFamily="18" charset="0"/>
              </a:rPr>
              <a:t>DNAse</a:t>
            </a:r>
            <a:r>
              <a:rPr lang="en-US" sz="2800" dirty="0" smtClean="0">
                <a:latin typeface="Times New Roman" pitchFamily="18" charset="0"/>
                <a:cs typeface="Times New Roman" pitchFamily="18" charset="0"/>
              </a:rPr>
              <a:t> that degrades cellular DNA, </a:t>
            </a:r>
          </a:p>
          <a:p>
            <a:r>
              <a:rPr lang="en-US" sz="2800" dirty="0" smtClean="0">
                <a:latin typeface="Times New Roman" pitchFamily="18" charset="0"/>
                <a:cs typeface="Times New Roman" pitchFamily="18" charset="0"/>
              </a:rPr>
              <a:t> Herpes viruses specifically displace the synthesis of host cell DNA with their own synthetic processes. </a:t>
            </a:r>
            <a:endParaRPr lang="en-US" sz="28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600" b="1" dirty="0" smtClean="0">
                <a:solidFill>
                  <a:srgbClr val="FF0000"/>
                </a:solidFill>
                <a:latin typeface="Times New Roman" pitchFamily="18" charset="0"/>
                <a:cs typeface="Times New Roman" pitchFamily="18" charset="0"/>
              </a:rPr>
              <a:t>Inhibition of Host Cell RNA Transcription</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686800" cy="4953000"/>
          </a:xfrm>
        </p:spPr>
        <p:txBody>
          <a:bodyPr>
            <a:normAutofit/>
          </a:bodyPr>
          <a:lstStyle/>
          <a:p>
            <a:pPr algn="just"/>
            <a:r>
              <a:rPr lang="en-US" sz="2400" dirty="0" smtClean="0">
                <a:latin typeface="Times New Roman" pitchFamily="18" charset="0"/>
                <a:cs typeface="Times New Roman" pitchFamily="18" charset="0"/>
              </a:rPr>
              <a:t>Poxviruses, </a:t>
            </a:r>
            <a:r>
              <a:rPr lang="en-US" sz="2400" dirty="0" err="1" smtClean="0">
                <a:latin typeface="Times New Roman" pitchFamily="18" charset="0"/>
                <a:cs typeface="Times New Roman" pitchFamily="18" charset="0"/>
              </a:rPr>
              <a:t>rhabdoviruses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reoviruses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paramyxoviruses</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picornaviruses</a:t>
            </a:r>
            <a:r>
              <a:rPr lang="en-US" sz="2400" dirty="0" smtClean="0">
                <a:latin typeface="Times New Roman" pitchFamily="18" charset="0"/>
                <a:cs typeface="Times New Roman" pitchFamily="18" charset="0"/>
              </a:rPr>
              <a:t>, inhibit host cell RNA transcription. </a:t>
            </a:r>
          </a:p>
          <a:p>
            <a:pPr algn="just"/>
            <a:r>
              <a:rPr lang="en-US" sz="2400" dirty="0" smtClean="0">
                <a:latin typeface="Times New Roman" pitchFamily="18" charset="0"/>
                <a:cs typeface="Times New Roman" pitchFamily="18" charset="0"/>
              </a:rPr>
              <a:t>May be indirect consequence of viral effects on host cell protein synthesis which decrease availability of transcription factors required for RNA polymerase activity</a:t>
            </a:r>
          </a:p>
          <a:p>
            <a:pPr algn="just"/>
            <a:r>
              <a:rPr lang="en-US" sz="2400" dirty="0" smtClean="0">
                <a:latin typeface="Times New Roman" pitchFamily="18" charset="0"/>
                <a:cs typeface="Times New Roman" pitchFamily="18" charset="0"/>
              </a:rPr>
              <a:t>Viruses encode specific transcription factors for the purpose of regulating the expression of their own genes </a:t>
            </a:r>
            <a:r>
              <a:rPr lang="en-GB" sz="2400" dirty="0" smtClean="0">
                <a:latin typeface="Times New Roman" pitchFamily="18" charset="0"/>
                <a:cs typeface="Times New Roman" pitchFamily="18" charset="0"/>
              </a:rPr>
              <a:t>and, in some instances, these factors modulate the expression of cellular genes as well</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herpesviruses</a:t>
            </a:r>
            <a:r>
              <a:rPr lang="en-US" sz="2400" dirty="0" smtClean="0">
                <a:latin typeface="Times New Roman" pitchFamily="18" charset="0"/>
                <a:cs typeface="Times New Roman" pitchFamily="18" charset="0"/>
              </a:rPr>
              <a:t> encode proteins that bind directly to specific viral DNA sequences, thereby regulating the transcription of viral genes. </a:t>
            </a:r>
            <a:endParaRPr lang="en-US" sz="24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smtClean="0">
                <a:solidFill>
                  <a:srgbClr val="FF0000"/>
                </a:solidFill>
                <a:latin typeface="Times New Roman" pitchFamily="18" charset="0"/>
                <a:cs typeface="Times New Roman" pitchFamily="18" charset="0"/>
              </a:rPr>
              <a:t>Inhibition of Processing of Host Cell mRNAs</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600200"/>
            <a:ext cx="8382000" cy="5029200"/>
          </a:xfrm>
        </p:spPr>
        <p:txBody>
          <a:bodyPr>
            <a:normAutofit fontScale="92500" lnSpcReduction="10000"/>
          </a:bodyPr>
          <a:lstStyle/>
          <a:p>
            <a:r>
              <a:rPr lang="en-US" sz="2800" dirty="0" smtClean="0">
                <a:latin typeface="Times New Roman" pitchFamily="18" charset="0"/>
                <a:cs typeface="Times New Roman" pitchFamily="18" charset="0"/>
              </a:rPr>
              <a:t>Interference with the splicing of cellular primary mRNA transcripts </a:t>
            </a:r>
          </a:p>
          <a:p>
            <a:r>
              <a:rPr lang="en-US" sz="2800" dirty="0" smtClean="0">
                <a:latin typeface="Times New Roman" pitchFamily="18" charset="0"/>
                <a:cs typeface="Times New Roman" pitchFamily="18" charset="0"/>
              </a:rPr>
              <a:t>Ex. vesicular </a:t>
            </a:r>
            <a:r>
              <a:rPr lang="en-US" sz="2800" dirty="0" err="1" smtClean="0">
                <a:latin typeface="Times New Roman" pitchFamily="18" charset="0"/>
                <a:cs typeface="Times New Roman" pitchFamily="18" charset="0"/>
              </a:rPr>
              <a:t>stomatitis</a:t>
            </a:r>
            <a:r>
              <a:rPr lang="en-US" sz="2800" dirty="0" smtClean="0">
                <a:latin typeface="Times New Roman" pitchFamily="18" charset="0"/>
                <a:cs typeface="Times New Roman" pitchFamily="18" charset="0"/>
              </a:rPr>
              <a:t> viruses, influenza viruses, and </a:t>
            </a:r>
            <a:r>
              <a:rPr lang="en-US" sz="2800" dirty="0" err="1" smtClean="0">
                <a:latin typeface="Times New Roman" pitchFamily="18" charset="0"/>
                <a:cs typeface="Times New Roman" pitchFamily="18" charset="0"/>
              </a:rPr>
              <a:t>herpesviruses</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Spliceosomes</a:t>
            </a:r>
            <a:r>
              <a:rPr lang="en-US" sz="2800" dirty="0" smtClean="0">
                <a:latin typeface="Times New Roman" pitchFamily="18" charset="0"/>
                <a:cs typeface="Times New Roman" pitchFamily="18" charset="0"/>
              </a:rPr>
              <a:t> are formed, but subsequent catalytic steps are inhibited. </a:t>
            </a:r>
            <a:r>
              <a:rPr lang="en-GB" sz="2800" dirty="0" err="1" smtClean="0">
                <a:latin typeface="Times New Roman" pitchFamily="18" charset="0"/>
                <a:cs typeface="Times New Roman" pitchFamily="18" charset="0"/>
              </a:rPr>
              <a:t>Spliceosomes</a:t>
            </a:r>
            <a:r>
              <a:rPr lang="en-GB" sz="2800" dirty="0" smtClean="0">
                <a:latin typeface="Times New Roman" pitchFamily="18" charset="0"/>
                <a:cs typeface="Times New Roman" pitchFamily="18" charset="0"/>
              </a:rPr>
              <a:t> are complexes composed of small nuclear RNA (</a:t>
            </a:r>
            <a:r>
              <a:rPr lang="en-GB" sz="2800" dirty="0" err="1" smtClean="0">
                <a:latin typeface="Times New Roman" pitchFamily="18" charset="0"/>
                <a:cs typeface="Times New Roman" pitchFamily="18" charset="0"/>
              </a:rPr>
              <a:t>snRNA</a:t>
            </a:r>
            <a:r>
              <a:rPr lang="en-GB" sz="2800" dirty="0" smtClean="0">
                <a:latin typeface="Times New Roman" pitchFamily="18" charset="0"/>
                <a:cs typeface="Times New Roman" pitchFamily="18" charset="0"/>
              </a:rPr>
              <a:t>) that remove </a:t>
            </a:r>
            <a:r>
              <a:rPr lang="en-GB" sz="2800" dirty="0" err="1" smtClean="0">
                <a:latin typeface="Times New Roman" pitchFamily="18" charset="0"/>
                <a:cs typeface="Times New Roman" pitchFamily="18" charset="0"/>
              </a:rPr>
              <a:t>introns</a:t>
            </a:r>
            <a:r>
              <a:rPr lang="en-GB" sz="2800" dirty="0" smtClean="0">
                <a:latin typeface="Times New Roman" pitchFamily="18" charset="0"/>
                <a:cs typeface="Times New Roman" pitchFamily="18" charset="0"/>
              </a:rPr>
              <a:t> in protein-encoding genes (splicing)</a:t>
            </a:r>
            <a:endParaRPr lang="en-US" sz="2800" dirty="0" smtClean="0">
              <a:latin typeface="Times New Roman" pitchFamily="18" charset="0"/>
              <a:cs typeface="Times New Roman" pitchFamily="18" charset="0"/>
            </a:endParaRPr>
          </a:p>
          <a:p>
            <a:r>
              <a:rPr lang="en-US" sz="2800" dirty="0" err="1" smtClean="0">
                <a:latin typeface="Times New Roman" pitchFamily="18" charset="0"/>
                <a:cs typeface="Times New Roman" pitchFamily="18" charset="0"/>
              </a:rPr>
              <a:t>Eg</a:t>
            </a:r>
            <a:r>
              <a:rPr lang="en-US" sz="2800" dirty="0" smtClean="0">
                <a:latin typeface="Times New Roman" pitchFamily="18" charset="0"/>
                <a:cs typeface="Times New Roman" pitchFamily="18" charset="0"/>
              </a:rPr>
              <a:t>: a protein synthesized in </a:t>
            </a:r>
            <a:r>
              <a:rPr lang="en-US" sz="2800" dirty="0" err="1" smtClean="0">
                <a:latin typeface="Times New Roman" pitchFamily="18" charset="0"/>
                <a:cs typeface="Times New Roman" pitchFamily="18" charset="0"/>
              </a:rPr>
              <a:t>herpesvirus</a:t>
            </a:r>
            <a:r>
              <a:rPr lang="en-US" sz="2800" dirty="0" smtClean="0">
                <a:latin typeface="Times New Roman" pitchFamily="18" charset="0"/>
                <a:cs typeface="Times New Roman" pitchFamily="18" charset="0"/>
              </a:rPr>
              <a:t>- infected cells suppresses RNA splicing and leads to reduced amounts of cellular mRNAs and the accumulation of primary mRNA transcripts. </a:t>
            </a:r>
            <a:endParaRPr lang="en-US" sz="28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smtClean="0">
                <a:solidFill>
                  <a:srgbClr val="FF0000"/>
                </a:solidFill>
                <a:latin typeface="Times New Roman" pitchFamily="18" charset="0"/>
                <a:cs typeface="Times New Roman" pitchFamily="18" charset="0"/>
              </a:rPr>
              <a:t>Inhibition of Host Cell Protein Synthesis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19200"/>
            <a:ext cx="8763000" cy="5105400"/>
          </a:xfrm>
        </p:spPr>
        <p:txBody>
          <a:bodyPr>
            <a:normAutofit lnSpcReduction="10000"/>
          </a:bodyPr>
          <a:lstStyle/>
          <a:p>
            <a:r>
              <a:rPr lang="en-GB" sz="2400" dirty="0" smtClean="0">
                <a:latin typeface="Times New Roman" pitchFamily="18" charset="0"/>
                <a:cs typeface="Times New Roman" pitchFamily="18" charset="0"/>
              </a:rPr>
              <a:t>The shutdown of host cell protein synthesis, while viral protein synthesis continues, is a characteristic of many virus infections. </a:t>
            </a:r>
          </a:p>
          <a:p>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Picorna</a:t>
            </a:r>
            <a:r>
              <a:rPr lang="en-US" sz="2400" dirty="0" smtClean="0">
                <a:latin typeface="Times New Roman" pitchFamily="18" charset="0"/>
                <a:cs typeface="Times New Roman" pitchFamily="18" charset="0"/>
              </a:rPr>
              <a:t> virus, </a:t>
            </a:r>
            <a:r>
              <a:rPr lang="en-US" sz="2400" dirty="0" err="1" smtClean="0">
                <a:latin typeface="Times New Roman" pitchFamily="18" charset="0"/>
                <a:cs typeface="Times New Roman" pitchFamily="18" charset="0"/>
              </a:rPr>
              <a:t>togavirus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influenzavirus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rhabdovirus</a:t>
            </a:r>
            <a:r>
              <a:rPr lang="en-US" sz="2400" dirty="0" smtClean="0">
                <a:latin typeface="Times New Roman" pitchFamily="18" charset="0"/>
                <a:cs typeface="Times New Roman" pitchFamily="18" charset="0"/>
              </a:rPr>
              <a:t>, poxvirus, and </a:t>
            </a:r>
            <a:r>
              <a:rPr lang="en-US" sz="2400" dirty="0" err="1" smtClean="0">
                <a:latin typeface="Times New Roman" pitchFamily="18" charset="0"/>
                <a:cs typeface="Times New Roman" pitchFamily="18" charset="0"/>
              </a:rPr>
              <a:t>herpesvirus</a:t>
            </a:r>
            <a:r>
              <a:rPr lang="en-US" sz="2400" dirty="0" smtClean="0">
                <a:latin typeface="Times New Roman" pitchFamily="18" charset="0"/>
                <a:cs typeface="Times New Roman" pitchFamily="18" charset="0"/>
              </a:rPr>
              <a:t> infections. </a:t>
            </a:r>
          </a:p>
          <a:p>
            <a:r>
              <a:rPr lang="en-US" sz="2400" dirty="0" smtClean="0">
                <a:latin typeface="Times New Roman" pitchFamily="18" charset="0"/>
                <a:cs typeface="Times New Roman" pitchFamily="18" charset="0"/>
              </a:rPr>
              <a:t>Mechanisms : </a:t>
            </a:r>
          </a:p>
          <a:p>
            <a:r>
              <a:rPr lang="en-US" sz="2400" dirty="0" smtClean="0">
                <a:latin typeface="Times New Roman" pitchFamily="18" charset="0"/>
                <a:cs typeface="Times New Roman" pitchFamily="18" charset="0"/>
              </a:rPr>
              <a:t> viral enzymes degrade cellular mRNAs </a:t>
            </a:r>
          </a:p>
          <a:p>
            <a:r>
              <a:rPr lang="en-US" sz="2400" dirty="0" smtClean="0">
                <a:latin typeface="Times New Roman" pitchFamily="18" charset="0"/>
                <a:cs typeface="Times New Roman" pitchFamily="18" charset="0"/>
              </a:rPr>
              <a:t> Factors that bind to </a:t>
            </a:r>
            <a:r>
              <a:rPr lang="en-US" sz="2400" dirty="0" err="1" smtClean="0">
                <a:latin typeface="Times New Roman" pitchFamily="18" charset="0"/>
                <a:cs typeface="Times New Roman" pitchFamily="18" charset="0"/>
              </a:rPr>
              <a:t>ribosomes</a:t>
            </a:r>
            <a:r>
              <a:rPr lang="en-US" sz="2400" dirty="0" smtClean="0">
                <a:latin typeface="Times New Roman" pitchFamily="18" charset="0"/>
                <a:cs typeface="Times New Roman" pitchFamily="18" charset="0"/>
              </a:rPr>
              <a:t> and inhibit cellular mRNA translation </a:t>
            </a:r>
          </a:p>
          <a:p>
            <a:r>
              <a:rPr lang="en-US" sz="2400" dirty="0" smtClean="0">
                <a:latin typeface="Times New Roman" pitchFamily="18" charset="0"/>
                <a:cs typeface="Times New Roman" pitchFamily="18" charset="0"/>
              </a:rPr>
              <a:t>alteration of the intracellular environment </a:t>
            </a:r>
            <a:r>
              <a:rPr lang="en-US" sz="2400" dirty="0" err="1" smtClean="0">
                <a:latin typeface="Times New Roman" pitchFamily="18" charset="0"/>
                <a:cs typeface="Times New Roman" pitchFamily="18" charset="0"/>
              </a:rPr>
              <a:t>favouring</a:t>
            </a:r>
            <a:r>
              <a:rPr lang="en-US" sz="2400" dirty="0" smtClean="0">
                <a:latin typeface="Times New Roman" pitchFamily="18" charset="0"/>
                <a:cs typeface="Times New Roman" pitchFamily="18" charset="0"/>
              </a:rPr>
              <a:t> the translation of viral mRNAs . </a:t>
            </a:r>
          </a:p>
          <a:p>
            <a:r>
              <a:rPr lang="en-US" sz="2400" dirty="0" smtClean="0">
                <a:latin typeface="Times New Roman" pitchFamily="18" charset="0"/>
                <a:cs typeface="Times New Roman" pitchFamily="18" charset="0"/>
              </a:rPr>
              <a:t>Viral proteins may also inhibit the processing and transport of cellular proteins from the endoplasmic reticulum, and this inhibition may lead to their degradation. Ex. </a:t>
            </a:r>
            <a:r>
              <a:rPr lang="en-US" sz="2400" dirty="0" err="1" smtClean="0">
                <a:latin typeface="Times New Roman" pitchFamily="18" charset="0"/>
                <a:cs typeface="Times New Roman" pitchFamily="18" charset="0"/>
              </a:rPr>
              <a:t>lentiviruses</a:t>
            </a:r>
            <a:endParaRPr lang="en-US" sz="240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itchFamily="18" charset="0"/>
                <a:cs typeface="Times New Roman" pitchFamily="18" charset="0"/>
              </a:rPr>
              <a:t>Inviting immune cells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GB" sz="2800" dirty="0" smtClean="0">
                <a:latin typeface="Times New Roman" pitchFamily="18" charset="0"/>
                <a:cs typeface="Times New Roman" pitchFamily="18" charset="0"/>
              </a:rPr>
              <a:t>Virus infect healthy cells</a:t>
            </a:r>
          </a:p>
          <a:p>
            <a:r>
              <a:rPr lang="en-GB" sz="2800" dirty="0" smtClean="0">
                <a:latin typeface="Times New Roman" pitchFamily="18" charset="0"/>
                <a:cs typeface="Times New Roman" pitchFamily="18" charset="0"/>
              </a:rPr>
              <a:t> During replication of virus some viral protein leaks </a:t>
            </a:r>
          </a:p>
          <a:p>
            <a:r>
              <a:rPr lang="en-GB" sz="2800" dirty="0" smtClean="0">
                <a:latin typeface="Times New Roman" pitchFamily="18" charset="0"/>
                <a:cs typeface="Times New Roman" pitchFamily="18" charset="0"/>
              </a:rPr>
              <a:t>Leaked protein attach to the cell membrane </a:t>
            </a:r>
          </a:p>
          <a:p>
            <a:r>
              <a:rPr lang="en-GB" sz="2800" dirty="0" smtClean="0">
                <a:latin typeface="Times New Roman" pitchFamily="18" charset="0"/>
                <a:cs typeface="Times New Roman" pitchFamily="18" charset="0"/>
              </a:rPr>
              <a:t>Natural Killer cells detect that protein in abnormal cells </a:t>
            </a:r>
          </a:p>
          <a:p>
            <a:r>
              <a:rPr lang="en-GB" sz="2800" dirty="0" err="1" smtClean="0">
                <a:latin typeface="Times New Roman" pitchFamily="18" charset="0"/>
                <a:cs typeface="Times New Roman" pitchFamily="18" charset="0"/>
              </a:rPr>
              <a:t>Perforin</a:t>
            </a:r>
            <a:r>
              <a:rPr lang="en-GB" sz="2800" dirty="0" smtClean="0">
                <a:latin typeface="Times New Roman" pitchFamily="18" charset="0"/>
                <a:cs typeface="Times New Roman" pitchFamily="18" charset="0"/>
              </a:rPr>
              <a:t> released by killer cells and make hole in </a:t>
            </a:r>
            <a:r>
              <a:rPr lang="en-GB" sz="2800" dirty="0" err="1" smtClean="0">
                <a:latin typeface="Times New Roman" pitchFamily="18" charset="0"/>
                <a:cs typeface="Times New Roman" pitchFamily="18" charset="0"/>
              </a:rPr>
              <a:t>mb</a:t>
            </a:r>
            <a:r>
              <a:rPr lang="en-GB" sz="2800" dirty="0" smtClean="0">
                <a:latin typeface="Times New Roman" pitchFamily="18" charset="0"/>
                <a:cs typeface="Times New Roman" pitchFamily="18" charset="0"/>
              </a:rPr>
              <a:t> </a:t>
            </a:r>
          </a:p>
          <a:p>
            <a:r>
              <a:rPr lang="en-GB" sz="2800" dirty="0" smtClean="0">
                <a:latin typeface="Times New Roman" pitchFamily="18" charset="0"/>
                <a:cs typeface="Times New Roman" pitchFamily="18" charset="0"/>
              </a:rPr>
              <a:t>Cytoplasm will come out and cell dies</a:t>
            </a:r>
            <a:endParaRPr lang="en-US" sz="28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err="1" smtClean="0">
                <a:solidFill>
                  <a:srgbClr val="FF0000"/>
                </a:solidFill>
                <a:latin typeface="Times New Roman" pitchFamily="18" charset="0"/>
                <a:cs typeface="Times New Roman" pitchFamily="18" charset="0"/>
              </a:rPr>
              <a:t>Cytopathic</a:t>
            </a:r>
            <a:r>
              <a:rPr lang="en-GB" sz="3200" b="1" dirty="0" smtClean="0">
                <a:solidFill>
                  <a:srgbClr val="FF0000"/>
                </a:solidFill>
                <a:latin typeface="Times New Roman" pitchFamily="18" charset="0"/>
                <a:cs typeface="Times New Roman" pitchFamily="18" charset="0"/>
              </a:rPr>
              <a:t> Changes Involving Cell Membranes</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GB" sz="2800" dirty="0" smtClean="0">
                <a:latin typeface="Times New Roman" pitchFamily="18" charset="0"/>
                <a:cs typeface="Times New Roman" pitchFamily="18" charset="0"/>
              </a:rPr>
              <a:t>Viruses may alter plasma membrane permeability, </a:t>
            </a:r>
          </a:p>
          <a:p>
            <a:r>
              <a:rPr lang="en-GB" sz="2800" dirty="0" smtClean="0">
                <a:latin typeface="Times New Roman" pitchFamily="18" charset="0"/>
                <a:cs typeface="Times New Roman" pitchFamily="18" charset="0"/>
              </a:rPr>
              <a:t>affect ion exchange and membrane potential, </a:t>
            </a:r>
          </a:p>
          <a:p>
            <a:r>
              <a:rPr lang="en-GB" sz="2800" dirty="0" smtClean="0">
                <a:latin typeface="Times New Roman" pitchFamily="18" charset="0"/>
                <a:cs typeface="Times New Roman" pitchFamily="18" charset="0"/>
              </a:rPr>
              <a:t>induce the synthesis of new intracellular membranes, and </a:t>
            </a:r>
          </a:p>
          <a:p>
            <a:r>
              <a:rPr lang="en-GB" sz="2800" dirty="0" smtClean="0">
                <a:latin typeface="Times New Roman" pitchFamily="18" charset="0"/>
                <a:cs typeface="Times New Roman" pitchFamily="18" charset="0"/>
              </a:rPr>
              <a:t>induce the rearrangement of previously existing membranes. </a:t>
            </a:r>
          </a:p>
          <a:p>
            <a:r>
              <a:rPr lang="en-GB" sz="2800" dirty="0" smtClean="0">
                <a:latin typeface="Times New Roman" pitchFamily="18" charset="0"/>
                <a:cs typeface="Times New Roman" pitchFamily="18" charset="0"/>
              </a:rPr>
              <a:t>Enveloped viruses also direct the insertion of their surface </a:t>
            </a:r>
            <a:r>
              <a:rPr lang="en-GB" sz="2800" dirty="0" err="1" smtClean="0">
                <a:latin typeface="Times New Roman" pitchFamily="18" charset="0"/>
                <a:cs typeface="Times New Roman" pitchFamily="18" charset="0"/>
              </a:rPr>
              <a:t>glycoproteins</a:t>
            </a:r>
            <a:r>
              <a:rPr lang="en-GB" sz="2800" dirty="0" smtClean="0">
                <a:latin typeface="Times New Roman" pitchFamily="18" charset="0"/>
                <a:cs typeface="Times New Roman" pitchFamily="18" charset="0"/>
              </a:rPr>
              <a:t>, including fusion proteins, into host cell membranes as part of their budding process, often leading to membrane fusion and </a:t>
            </a:r>
            <a:r>
              <a:rPr lang="en-GB" sz="2800" dirty="0" err="1" smtClean="0">
                <a:latin typeface="Times New Roman" pitchFamily="18" charset="0"/>
                <a:cs typeface="Times New Roman" pitchFamily="18" charset="0"/>
              </a:rPr>
              <a:t>syncytium</a:t>
            </a:r>
            <a:r>
              <a:rPr lang="en-GB" sz="2800" dirty="0" smtClean="0">
                <a:latin typeface="Times New Roman" pitchFamily="18" charset="0"/>
                <a:cs typeface="Times New Roman" pitchFamily="18" charset="0"/>
              </a:rPr>
              <a:t> formation.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cs typeface="Times New Roman" pitchFamily="18" charset="0"/>
              </a:rPr>
              <a:t>Cell Membrane Fusion and </a:t>
            </a:r>
            <a:r>
              <a:rPr lang="en-US" sz="3200" b="1" dirty="0" err="1" smtClean="0">
                <a:solidFill>
                  <a:srgbClr val="FF0000"/>
                </a:solidFill>
                <a:latin typeface="Times New Roman" pitchFamily="18" charset="0"/>
                <a:cs typeface="Times New Roman" pitchFamily="18" charset="0"/>
              </a:rPr>
              <a:t>Syncytium</a:t>
            </a:r>
            <a:r>
              <a:rPr lang="en-US" sz="3200" b="1" dirty="0" smtClean="0">
                <a:solidFill>
                  <a:srgbClr val="FF0000"/>
                </a:solidFill>
                <a:latin typeface="Times New Roman" pitchFamily="18" charset="0"/>
                <a:cs typeface="Times New Roman" pitchFamily="18" charset="0"/>
              </a:rPr>
              <a:t> Formation </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458200" cy="4953000"/>
          </a:xfrm>
        </p:spPr>
        <p:txBody>
          <a:bodyPr>
            <a:normAutofit/>
          </a:bodyPr>
          <a:lstStyle/>
          <a:p>
            <a:r>
              <a:rPr lang="en-GB" sz="2400" dirty="0" smtClean="0">
                <a:latin typeface="Times New Roman" pitchFamily="18" charset="0"/>
                <a:cs typeface="Times New Roman" pitchFamily="18" charset="0"/>
              </a:rPr>
              <a:t>Infection of cell </a:t>
            </a:r>
            <a:r>
              <a:rPr lang="en-GB" sz="2400" dirty="0" err="1" smtClean="0">
                <a:latin typeface="Times New Roman" pitchFamily="18" charset="0"/>
                <a:cs typeface="Times New Roman" pitchFamily="18" charset="0"/>
              </a:rPr>
              <a:t>monolayers</a:t>
            </a:r>
            <a:r>
              <a:rPr lang="en-GB" sz="2400" dirty="0" smtClean="0">
                <a:latin typeface="Times New Roman" pitchFamily="18" charset="0"/>
                <a:cs typeface="Times New Roman" pitchFamily="18" charset="0"/>
              </a:rPr>
              <a:t> by </a:t>
            </a:r>
            <a:r>
              <a:rPr lang="en-GB" sz="2400" dirty="0" err="1" smtClean="0">
                <a:latin typeface="Times New Roman" pitchFamily="18" charset="0"/>
                <a:cs typeface="Times New Roman" pitchFamily="18" charset="0"/>
              </a:rPr>
              <a:t>lentiviruses</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paramyxoviruses</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morbilliviruses</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pneumoviruses</a:t>
            </a:r>
            <a:r>
              <a:rPr lang="en-GB" sz="2400" dirty="0" smtClean="0">
                <a:latin typeface="Times New Roman" pitchFamily="18" charset="0"/>
                <a:cs typeface="Times New Roman" pitchFamily="18" charset="0"/>
              </a:rPr>
              <a:t>, some </a:t>
            </a:r>
            <a:r>
              <a:rPr lang="en-GB" sz="2400" dirty="0" err="1" smtClean="0">
                <a:latin typeface="Times New Roman" pitchFamily="18" charset="0"/>
                <a:cs typeface="Times New Roman" pitchFamily="18" charset="0"/>
              </a:rPr>
              <a:t>herpesviruses</a:t>
            </a:r>
            <a:r>
              <a:rPr lang="en-GB" sz="2400" dirty="0" smtClean="0">
                <a:latin typeface="Times New Roman" pitchFamily="18" charset="0"/>
                <a:cs typeface="Times New Roman" pitchFamily="18" charset="0"/>
              </a:rPr>
              <a:t>, and some other viruses is the production of </a:t>
            </a:r>
            <a:r>
              <a:rPr lang="en-GB" sz="2400" b="1" dirty="0" err="1" smtClean="0">
                <a:latin typeface="Times New Roman" pitchFamily="18" charset="0"/>
                <a:cs typeface="Times New Roman" pitchFamily="18" charset="0"/>
              </a:rPr>
              <a:t>syncytia</a:t>
            </a:r>
            <a:r>
              <a:rPr lang="en-GB" sz="2400" dirty="0" smtClean="0">
                <a:latin typeface="Times New Roman" pitchFamily="18" charset="0"/>
                <a:cs typeface="Times New Roman" pitchFamily="18" charset="0"/>
              </a:rPr>
              <a:t> which result from the fusion of an infected cell with neighbouring infected or uninfected cells. </a:t>
            </a:r>
          </a:p>
          <a:p>
            <a:r>
              <a:rPr lang="en-GB" sz="2400" dirty="0" smtClean="0">
                <a:latin typeface="Times New Roman" pitchFamily="18" charset="0"/>
                <a:cs typeface="Times New Roman" pitchFamily="18" charset="0"/>
              </a:rPr>
              <a:t>Such multinucleate </a:t>
            </a:r>
            <a:r>
              <a:rPr lang="en-GB" sz="2400" dirty="0" err="1" smtClean="0">
                <a:latin typeface="Times New Roman" pitchFamily="18" charset="0"/>
                <a:cs typeface="Times New Roman" pitchFamily="18" charset="0"/>
              </a:rPr>
              <a:t>syncytia</a:t>
            </a:r>
            <a:r>
              <a:rPr lang="en-GB" sz="2400" dirty="0" smtClean="0">
                <a:latin typeface="Times New Roman" pitchFamily="18" charset="0"/>
                <a:cs typeface="Times New Roman" pitchFamily="18" charset="0"/>
              </a:rPr>
              <a:t> may also be seen in the tissues of animals infected with these viruses</a:t>
            </a:r>
          </a:p>
          <a:p>
            <a:r>
              <a:rPr lang="en-GB" sz="2400" dirty="0" smtClean="0">
                <a:latin typeface="Times New Roman" pitchFamily="18" charset="0"/>
                <a:cs typeface="Times New Roman" pitchFamily="18" charset="0"/>
              </a:rPr>
              <a:t>Such </a:t>
            </a:r>
            <a:r>
              <a:rPr lang="en-GB" sz="2400" dirty="0" err="1" smtClean="0">
                <a:latin typeface="Times New Roman" pitchFamily="18" charset="0"/>
                <a:cs typeface="Times New Roman" pitchFamily="18" charset="0"/>
              </a:rPr>
              <a:t>syncytia</a:t>
            </a:r>
            <a:r>
              <a:rPr lang="en-GB" sz="2400" dirty="0" smtClean="0">
                <a:latin typeface="Times New Roman" pitchFamily="18" charset="0"/>
                <a:cs typeface="Times New Roman" pitchFamily="18" charset="0"/>
              </a:rPr>
              <a:t> may represent an important mechanism of viral spread in tissues: fusion bridges may allow </a:t>
            </a:r>
            <a:r>
              <a:rPr lang="en-GB" sz="2400" dirty="0" err="1" smtClean="0">
                <a:latin typeface="Times New Roman" pitchFamily="18" charset="0"/>
                <a:cs typeface="Times New Roman" pitchFamily="18" charset="0"/>
              </a:rPr>
              <a:t>subviral</a:t>
            </a:r>
            <a:r>
              <a:rPr lang="en-GB" sz="2400" dirty="0" smtClean="0">
                <a:latin typeface="Times New Roman" pitchFamily="18" charset="0"/>
                <a:cs typeface="Times New Roman" pitchFamily="18" charset="0"/>
              </a:rPr>
              <a:t> entities, such as viral </a:t>
            </a:r>
            <a:r>
              <a:rPr lang="en-GB" sz="2400" dirty="0" err="1" smtClean="0">
                <a:latin typeface="Times New Roman" pitchFamily="18" charset="0"/>
                <a:cs typeface="Times New Roman" pitchFamily="18" charset="0"/>
              </a:rPr>
              <a:t>nucleocapsids</a:t>
            </a:r>
            <a:r>
              <a:rPr lang="en-GB" sz="2400" dirty="0" smtClean="0">
                <a:latin typeface="Times New Roman" pitchFamily="18" charset="0"/>
                <a:cs typeface="Times New Roman" pitchFamily="18" charset="0"/>
              </a:rPr>
              <a:t> and nucleic acids, to spread while escaping the effects of host </a:t>
            </a:r>
            <a:r>
              <a:rPr lang="en-GB" sz="2400" dirty="0" err="1" smtClean="0">
                <a:latin typeface="Times New Roman" pitchFamily="18" charset="0"/>
                <a:cs typeface="Times New Roman" pitchFamily="18" charset="0"/>
              </a:rPr>
              <a:t>defenses</a:t>
            </a:r>
            <a:r>
              <a:rPr lang="en-GB"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2" descr="Syncytium formation induced by viral infection ~ ViralZon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Syncytium formation induced by viral infection ~ ViralZon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54" name="Picture 6" descr="Syncytium formation induced by viral infection ~ ViralZone"/>
          <p:cNvPicPr>
            <a:picLocks noChangeAspect="1" noChangeArrowheads="1"/>
          </p:cNvPicPr>
          <p:nvPr/>
        </p:nvPicPr>
        <p:blipFill>
          <a:blip r:embed="rId2"/>
          <a:srcRect/>
          <a:stretch>
            <a:fillRect/>
          </a:stretch>
        </p:blipFill>
        <p:spPr bwMode="auto">
          <a:xfrm>
            <a:off x="762000" y="1371600"/>
            <a:ext cx="7543030" cy="32004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err="1" smtClean="0">
                <a:solidFill>
                  <a:srgbClr val="FF0000"/>
                </a:solidFill>
                <a:latin typeface="Times New Roman" pitchFamily="18" charset="0"/>
                <a:cs typeface="Times New Roman" pitchFamily="18" charset="0"/>
              </a:rPr>
              <a:t>Hemadsorption</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Infective cell produce some proteins which have the ability to adsorb erythrocytes phenomenon known as </a:t>
            </a:r>
            <a:r>
              <a:rPr lang="en-US" sz="2400" dirty="0" err="1" smtClean="0">
                <a:latin typeface="Times New Roman" pitchFamily="18" charset="0"/>
                <a:cs typeface="Times New Roman" pitchFamily="18" charset="0"/>
              </a:rPr>
              <a:t>Haemadsorption</a:t>
            </a:r>
            <a:r>
              <a:rPr lang="en-US" sz="2400" dirty="0" smtClean="0">
                <a:latin typeface="Times New Roman" pitchFamily="18" charset="0"/>
                <a:cs typeface="Times New Roman" pitchFamily="18" charset="0"/>
              </a:rPr>
              <a:t> . </a:t>
            </a:r>
          </a:p>
          <a:p>
            <a:r>
              <a:rPr lang="en-US" sz="2400" dirty="0" smtClean="0">
                <a:latin typeface="Times New Roman" pitchFamily="18" charset="0"/>
                <a:cs typeface="Times New Roman" pitchFamily="18" charset="0"/>
              </a:rPr>
              <a:t> Incorporation of viral glycoprotein </a:t>
            </a:r>
            <a:r>
              <a:rPr lang="en-US" sz="2400" dirty="0" err="1" smtClean="0">
                <a:latin typeface="Times New Roman" pitchFamily="18" charset="0"/>
                <a:cs typeface="Times New Roman" pitchFamily="18" charset="0"/>
              </a:rPr>
              <a:t>peplomers</a:t>
            </a:r>
            <a:r>
              <a:rPr lang="en-US" sz="2400" dirty="0" smtClean="0">
                <a:latin typeface="Times New Roman" pitchFamily="18" charset="0"/>
                <a:cs typeface="Times New Roman" pitchFamily="18" charset="0"/>
              </a:rPr>
              <a:t> into the plasma membrane of infected cells where they serve as receptors for </a:t>
            </a:r>
            <a:r>
              <a:rPr lang="en-US" sz="2400" dirty="0" err="1" smtClean="0">
                <a:latin typeface="Times New Roman" pitchFamily="18" charset="0"/>
                <a:cs typeface="Times New Roman" pitchFamily="18" charset="0"/>
              </a:rPr>
              <a:t>ligands</a:t>
            </a:r>
            <a:r>
              <a:rPr lang="en-US" sz="2400" dirty="0" smtClean="0">
                <a:latin typeface="Times New Roman" pitchFamily="18" charset="0"/>
                <a:cs typeface="Times New Roman" pitchFamily="18" charset="0"/>
              </a:rPr>
              <a:t> on the surface of erythrocytes. </a:t>
            </a:r>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orthomyxoviruses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paramyxoviruses</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togaviruses</a:t>
            </a:r>
            <a:r>
              <a:rPr lang="en-US" sz="2400" dirty="0" smtClean="0">
                <a:latin typeface="Times New Roman" pitchFamily="18" charset="0"/>
                <a:cs typeface="Times New Roman" pitchFamily="18" charset="0"/>
              </a:rPr>
              <a:t>, </a:t>
            </a:r>
          </a:p>
          <a:p>
            <a:endParaRPr lang="en-US" sz="24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err="1" smtClean="0">
                <a:solidFill>
                  <a:srgbClr val="FF0000"/>
                </a:solidFill>
                <a:latin typeface="Times New Roman" pitchFamily="18" charset="0"/>
                <a:cs typeface="Times New Roman" pitchFamily="18" charset="0"/>
              </a:rPr>
              <a:t>Haemagglutination</a:t>
            </a:r>
            <a:endParaRPr lang="en-US" sz="40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sz="2800" dirty="0" smtClean="0">
                <a:latin typeface="Times New Roman" pitchFamily="18" charset="0"/>
                <a:cs typeface="Times New Roman" pitchFamily="18" charset="0"/>
              </a:rPr>
              <a:t>Glycoprotein </a:t>
            </a:r>
            <a:r>
              <a:rPr lang="en-US" sz="2800" dirty="0" err="1" smtClean="0">
                <a:latin typeface="Times New Roman" pitchFamily="18" charset="0"/>
                <a:cs typeface="Times New Roman" pitchFamily="18" charset="0"/>
              </a:rPr>
              <a:t>peplomers</a:t>
            </a:r>
            <a:r>
              <a:rPr lang="en-US" sz="2800" dirty="0" smtClean="0">
                <a:latin typeface="Times New Roman" pitchFamily="18" charset="0"/>
                <a:cs typeface="Times New Roman" pitchFamily="18" charset="0"/>
              </a:rPr>
              <a:t> (enveloped virus) are responsible for </a:t>
            </a:r>
            <a:r>
              <a:rPr lang="en-US" sz="2800" dirty="0" err="1" smtClean="0">
                <a:latin typeface="Times New Roman" pitchFamily="18" charset="0"/>
                <a:cs typeface="Times New Roman" pitchFamily="18" charset="0"/>
              </a:rPr>
              <a:t>hemagglutination</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in vitro</a:t>
            </a:r>
            <a:r>
              <a:rPr lang="en-US" sz="2800" dirty="0" smtClean="0">
                <a:latin typeface="Times New Roman" pitchFamily="18" charset="0"/>
                <a:cs typeface="Times New Roman" pitchFamily="18" charset="0"/>
              </a:rPr>
              <a:t>, i.e., the agglutination of erythrocytes. </a:t>
            </a:r>
          </a:p>
          <a:p>
            <a:r>
              <a:rPr lang="en-US" sz="2800" dirty="0" err="1" smtClean="0">
                <a:latin typeface="Times New Roman" pitchFamily="18" charset="0"/>
                <a:cs typeface="Times New Roman" pitchFamily="18" charset="0"/>
              </a:rPr>
              <a:t>Virions</a:t>
            </a:r>
            <a:r>
              <a:rPr lang="en-US" sz="2800" dirty="0" smtClean="0">
                <a:latin typeface="Times New Roman" pitchFamily="18" charset="0"/>
                <a:cs typeface="Times New Roman" pitchFamily="18" charset="0"/>
              </a:rPr>
              <a:t> added to an erythrocyte suspension form cell-virus-cell bridges involving large numbers of erythrocytes. </a:t>
            </a:r>
          </a:p>
          <a:p>
            <a:r>
              <a:rPr lang="en-US" sz="2800" dirty="0" smtClean="0">
                <a:latin typeface="Times New Roman" pitchFamily="18" charset="0"/>
                <a:cs typeface="Times New Roman" pitchFamily="18" charset="0"/>
              </a:rPr>
              <a:t>Both phenomena are used extensively in laboratory diagnostics </a:t>
            </a: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Haemadsorption</a:t>
            </a:r>
            <a:r>
              <a:rPr lang="en-US" sz="2800" dirty="0" smtClean="0">
                <a:latin typeface="Times New Roman" pitchFamily="18" charset="0"/>
                <a:cs typeface="Times New Roman" pitchFamily="18" charset="0"/>
              </a:rPr>
              <a:t> – by Infected host cell ´ </a:t>
            </a:r>
            <a:r>
              <a:rPr lang="en-US" sz="2800" dirty="0" err="1" smtClean="0">
                <a:latin typeface="Times New Roman" pitchFamily="18" charset="0"/>
                <a:cs typeface="Times New Roman" pitchFamily="18" charset="0"/>
              </a:rPr>
              <a:t>Haemagglutination</a:t>
            </a:r>
            <a:r>
              <a:rPr lang="en-US" sz="2800" dirty="0" smtClean="0">
                <a:latin typeface="Times New Roman" pitchFamily="18" charset="0"/>
                <a:cs typeface="Times New Roman" pitchFamily="18" charset="0"/>
              </a:rPr>
              <a:t> – by virus </a:t>
            </a:r>
            <a:endParaRPr lang="en-US" sz="28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err="1" smtClean="0">
                <a:solidFill>
                  <a:srgbClr val="FF0000"/>
                </a:solidFill>
                <a:latin typeface="Times New Roman" pitchFamily="18" charset="0"/>
                <a:cs typeface="Times New Roman" pitchFamily="18" charset="0"/>
              </a:rPr>
              <a:t>Cytopathic</a:t>
            </a:r>
            <a:r>
              <a:rPr lang="en-GB" sz="3200" b="1" dirty="0" smtClean="0">
                <a:solidFill>
                  <a:srgbClr val="FF0000"/>
                </a:solidFill>
                <a:latin typeface="Times New Roman" pitchFamily="18" charset="0"/>
                <a:cs typeface="Times New Roman" pitchFamily="18" charset="0"/>
              </a:rPr>
              <a:t> Changes Involving the Cytoskeleton</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GB" sz="2400" dirty="0" smtClean="0">
                <a:latin typeface="Times New Roman" pitchFamily="18" charset="0"/>
                <a:cs typeface="Times New Roman" pitchFamily="18" charset="0"/>
              </a:rPr>
              <a:t>The cytoskeleton is responsible for the structural integrity of the cell, for the transport of organelles through the cell, and for certain cell motility activities. </a:t>
            </a:r>
          </a:p>
          <a:p>
            <a:r>
              <a:rPr lang="en-US" sz="2400" dirty="0" smtClean="0">
                <a:latin typeface="Times New Roman" pitchFamily="18" charset="0"/>
                <a:cs typeface="Times New Roman" pitchFamily="18" charset="0"/>
              </a:rPr>
              <a:t>Damage to the cytoskeleton results in changes in cell shape</a:t>
            </a:r>
          </a:p>
          <a:p>
            <a:r>
              <a:rPr lang="en-US" sz="2400" dirty="0" smtClean="0">
                <a:latin typeface="Times New Roman" pitchFamily="18" charset="0"/>
                <a:cs typeface="Times New Roman" pitchFamily="18" charset="0"/>
              </a:rPr>
              <a:t>Particular viruses are known to damage specific filament systems.</a:t>
            </a:r>
          </a:p>
          <a:p>
            <a:r>
              <a:rPr lang="en-US" sz="2400" dirty="0" smtClean="0">
                <a:latin typeface="Times New Roman" pitchFamily="18" charset="0"/>
                <a:cs typeface="Times New Roman" pitchFamily="18" charset="0"/>
              </a:rPr>
              <a:t> Canine distemper virus, vesicular </a:t>
            </a:r>
            <a:r>
              <a:rPr lang="en-US" sz="2400" dirty="0" err="1" smtClean="0">
                <a:latin typeface="Times New Roman" pitchFamily="18" charset="0"/>
                <a:cs typeface="Times New Roman" pitchFamily="18" charset="0"/>
              </a:rPr>
              <a:t>stomatitis</a:t>
            </a:r>
            <a:r>
              <a:rPr lang="en-US" sz="2400" dirty="0" smtClean="0">
                <a:latin typeface="Times New Roman" pitchFamily="18" charset="0"/>
                <a:cs typeface="Times New Roman" pitchFamily="18" charset="0"/>
              </a:rPr>
              <a:t> viruses, </a:t>
            </a:r>
            <a:r>
              <a:rPr lang="en-US" sz="2400" dirty="0" err="1" smtClean="0">
                <a:latin typeface="Times New Roman" pitchFamily="18" charset="0"/>
                <a:cs typeface="Times New Roman" pitchFamily="18" charset="0"/>
              </a:rPr>
              <a:t>vaccinia</a:t>
            </a:r>
            <a:r>
              <a:rPr lang="en-US" sz="2400" dirty="0" smtClean="0">
                <a:latin typeface="Times New Roman" pitchFamily="18" charset="0"/>
                <a:cs typeface="Times New Roman" pitchFamily="18" charset="0"/>
              </a:rPr>
              <a:t> virus                </a:t>
            </a:r>
            <a:r>
              <a:rPr lang="en-US" sz="2400" dirty="0" err="1" smtClean="0">
                <a:latin typeface="Times New Roman" pitchFamily="18" charset="0"/>
                <a:cs typeface="Times New Roman" pitchFamily="18" charset="0"/>
              </a:rPr>
              <a:t>depolymerization</a:t>
            </a:r>
            <a:r>
              <a:rPr lang="en-US" sz="2400" dirty="0" smtClean="0">
                <a:latin typeface="Times New Roman" pitchFamily="18" charset="0"/>
                <a:cs typeface="Times New Roman" pitchFamily="18" charset="0"/>
              </a:rPr>
              <a:t> of </a:t>
            </a:r>
            <a:r>
              <a:rPr lang="en-US" sz="2400" dirty="0" err="1" smtClean="0">
                <a:latin typeface="Times New Roman" pitchFamily="18" charset="0"/>
                <a:cs typeface="Times New Roman" pitchFamily="18" charset="0"/>
              </a:rPr>
              <a:t>actin</a:t>
            </a:r>
            <a:r>
              <a:rPr lang="en-US" sz="2400" dirty="0" smtClean="0">
                <a:latin typeface="Times New Roman" pitchFamily="18" charset="0"/>
                <a:cs typeface="Times New Roman" pitchFamily="18" charset="0"/>
              </a:rPr>
              <a:t>-containing  microfilaments </a:t>
            </a:r>
          </a:p>
          <a:p>
            <a:r>
              <a:rPr lang="en-US" sz="2400" dirty="0" err="1" smtClean="0">
                <a:latin typeface="Times New Roman" pitchFamily="18" charset="0"/>
                <a:cs typeface="Times New Roman" pitchFamily="18" charset="0"/>
              </a:rPr>
              <a:t>Enteroviruses</a:t>
            </a:r>
            <a:r>
              <a:rPr lang="en-US" sz="2400" dirty="0" smtClean="0">
                <a:latin typeface="Times New Roman" pitchFamily="18" charset="0"/>
                <a:cs typeface="Times New Roman" pitchFamily="18" charset="0"/>
              </a:rPr>
              <a:t> -----extensive damage to microtubules</a:t>
            </a:r>
            <a:endParaRPr lang="en-US" sz="2400" dirty="0">
              <a:latin typeface="Times New Roman" pitchFamily="18" charset="0"/>
              <a:cs typeface="Times New Roman" pitchFamily="18" charset="0"/>
            </a:endParaRPr>
          </a:p>
        </p:txBody>
      </p:sp>
      <p:cxnSp>
        <p:nvCxnSpPr>
          <p:cNvPr id="5" name="Straight Arrow Connector 4"/>
          <p:cNvCxnSpPr/>
          <p:nvPr/>
        </p:nvCxnSpPr>
        <p:spPr>
          <a:xfrm>
            <a:off x="1524000" y="4648200"/>
            <a:ext cx="10668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smtClean="0">
                <a:solidFill>
                  <a:srgbClr val="FF0000"/>
                </a:solidFill>
                <a:latin typeface="Times New Roman" pitchFamily="18" charset="0"/>
                <a:cs typeface="Times New Roman" pitchFamily="18" charset="0"/>
              </a:rPr>
              <a:t>Non-</a:t>
            </a:r>
            <a:r>
              <a:rPr lang="en-GB" sz="3200" b="1" dirty="0" err="1" smtClean="0">
                <a:solidFill>
                  <a:srgbClr val="FF0000"/>
                </a:solidFill>
                <a:latin typeface="Times New Roman" pitchFamily="18" charset="0"/>
                <a:cs typeface="Times New Roman" pitchFamily="18" charset="0"/>
              </a:rPr>
              <a:t>cytocidal</a:t>
            </a:r>
            <a:r>
              <a:rPr lang="en-GB" sz="3200" b="1" dirty="0" smtClean="0">
                <a:solidFill>
                  <a:srgbClr val="FF0000"/>
                </a:solidFill>
                <a:latin typeface="Times New Roman" pitchFamily="18" charset="0"/>
                <a:cs typeface="Times New Roman" pitchFamily="18" charset="0"/>
              </a:rPr>
              <a:t> Changes in Virus-Infected Cells </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GB" sz="2800" dirty="0" smtClean="0">
                <a:latin typeface="Times New Roman" pitchFamily="18" charset="0"/>
                <a:cs typeface="Times New Roman" pitchFamily="18" charset="0"/>
              </a:rPr>
              <a:t>Non-</a:t>
            </a:r>
            <a:r>
              <a:rPr lang="en-GB" sz="2800" dirty="0" err="1" smtClean="0">
                <a:latin typeface="Times New Roman" pitchFamily="18" charset="0"/>
                <a:cs typeface="Times New Roman" pitchFamily="18" charset="0"/>
              </a:rPr>
              <a:t>cytocidal</a:t>
            </a:r>
            <a:r>
              <a:rPr lang="en-GB" sz="2800" dirty="0" smtClean="0">
                <a:latin typeface="Times New Roman" pitchFamily="18" charset="0"/>
                <a:cs typeface="Times New Roman" pitchFamily="18" charset="0"/>
              </a:rPr>
              <a:t> viruses usually do not kill the cells in which they replicate. </a:t>
            </a:r>
          </a:p>
          <a:p>
            <a:r>
              <a:rPr lang="en-GB" sz="2800" dirty="0" smtClean="0">
                <a:latin typeface="Times New Roman" pitchFamily="18" charset="0"/>
                <a:cs typeface="Times New Roman" pitchFamily="18" charset="0"/>
              </a:rPr>
              <a:t>Infected cells even continue to grow and divide. </a:t>
            </a:r>
          </a:p>
          <a:p>
            <a:r>
              <a:rPr lang="en-GB" sz="2800" dirty="0" smtClean="0">
                <a:latin typeface="Times New Roman" pitchFamily="18" charset="0"/>
                <a:cs typeface="Times New Roman" pitchFamily="18" charset="0"/>
              </a:rPr>
              <a:t>Found in cells infected with several kinds of RNA viruses: </a:t>
            </a:r>
            <a:r>
              <a:rPr lang="en-GB" sz="2800" dirty="0" err="1" smtClean="0">
                <a:latin typeface="Times New Roman" pitchFamily="18" charset="0"/>
                <a:cs typeface="Times New Roman" pitchFamily="18" charset="0"/>
              </a:rPr>
              <a:t>pestiviruses</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arenaviruses</a:t>
            </a:r>
            <a:r>
              <a:rPr lang="en-GB" sz="2800" dirty="0" smtClean="0">
                <a:latin typeface="Times New Roman" pitchFamily="18" charset="0"/>
                <a:cs typeface="Times New Roman" pitchFamily="18" charset="0"/>
              </a:rPr>
              <a:t>, retroviruses, and some </a:t>
            </a:r>
            <a:r>
              <a:rPr lang="en-GB" sz="2800" dirty="0" err="1" smtClean="0">
                <a:latin typeface="Times New Roman" pitchFamily="18" charset="0"/>
                <a:cs typeface="Times New Roman" pitchFamily="18" charset="0"/>
              </a:rPr>
              <a:t>paramyxoviruses</a:t>
            </a:r>
            <a:r>
              <a:rPr lang="en-GB" sz="2800" dirty="0" smtClean="0">
                <a:latin typeface="Times New Roman" pitchFamily="18" charset="0"/>
                <a:cs typeface="Times New Roman" pitchFamily="18" charset="0"/>
              </a:rPr>
              <a:t>.</a:t>
            </a:r>
          </a:p>
          <a:p>
            <a:r>
              <a:rPr lang="fr-FR" sz="2800" dirty="0" smtClean="0">
                <a:latin typeface="Times New Roman" pitchFamily="18" charset="0"/>
                <a:cs typeface="Times New Roman" pitchFamily="18" charset="0"/>
              </a:rPr>
              <a:t>Persistent infection </a:t>
            </a:r>
          </a:p>
          <a:p>
            <a:r>
              <a:rPr lang="fr-FR" sz="2800" dirty="0" smtClean="0">
                <a:latin typeface="Times New Roman" pitchFamily="18" charset="0"/>
                <a:cs typeface="Times New Roman" pitchFamily="18" charset="0"/>
              </a:rPr>
              <a:t> Inclusion bodies </a:t>
            </a:r>
          </a:p>
          <a:p>
            <a:r>
              <a:rPr lang="fr-FR" sz="2800" dirty="0" smtClean="0">
                <a:latin typeface="Times New Roman" pitchFamily="18" charset="0"/>
                <a:cs typeface="Times New Roman" pitchFamily="18" charset="0"/>
              </a:rPr>
              <a:t> </a:t>
            </a:r>
            <a:r>
              <a:rPr lang="fr-FR" sz="2800" dirty="0" err="1" smtClean="0">
                <a:latin typeface="Times New Roman" pitchFamily="18" charset="0"/>
                <a:cs typeface="Times New Roman" pitchFamily="18" charset="0"/>
              </a:rPr>
              <a:t>Cell</a:t>
            </a:r>
            <a:r>
              <a:rPr lang="fr-FR" sz="2800" dirty="0" smtClean="0">
                <a:latin typeface="Times New Roman" pitchFamily="18" charset="0"/>
                <a:cs typeface="Times New Roman" pitchFamily="18" charset="0"/>
              </a:rPr>
              <a:t> transformation </a:t>
            </a:r>
            <a:endParaRPr lang="en-US" sz="2800" dirty="0">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Persistent infections</a:t>
            </a:r>
            <a:endParaRPr lang="en-US" sz="4000" b="1" dirty="0">
              <a:solidFill>
                <a:srgbClr val="FF0000"/>
              </a:solidFill>
            </a:endParaRPr>
          </a:p>
        </p:txBody>
      </p:sp>
      <p:sp>
        <p:nvSpPr>
          <p:cNvPr id="3" name="Content Placeholder 2"/>
          <p:cNvSpPr>
            <a:spLocks noGrp="1"/>
          </p:cNvSpPr>
          <p:nvPr>
            <p:ph idx="1"/>
          </p:nvPr>
        </p:nvSpPr>
        <p:spPr/>
        <p:txBody>
          <a:bodyPr>
            <a:normAutofit fontScale="92500"/>
          </a:bodyPr>
          <a:lstStyle/>
          <a:p>
            <a:r>
              <a:rPr lang="en-US" sz="2800" dirty="0" smtClean="0">
                <a:latin typeface="Times New Roman" pitchFamily="18" charset="0"/>
                <a:cs typeface="Times New Roman" pitchFamily="18" charset="0"/>
              </a:rPr>
              <a:t>Non-productive virus cell interactions</a:t>
            </a:r>
          </a:p>
          <a:p>
            <a:r>
              <a:rPr lang="en-GB" sz="2800" dirty="0" smtClean="0">
                <a:latin typeface="Times New Roman" pitchFamily="18" charset="0"/>
                <a:cs typeface="Times New Roman" pitchFamily="18" charset="0"/>
              </a:rPr>
              <a:t>The term persistent infection simply describes an infection that lasts a long time. </a:t>
            </a:r>
          </a:p>
          <a:p>
            <a:r>
              <a:rPr lang="en-GB" sz="2800" dirty="0" smtClean="0">
                <a:latin typeface="Times New Roman" pitchFamily="18" charset="0"/>
                <a:cs typeface="Times New Roman" pitchFamily="18" charset="0"/>
              </a:rPr>
              <a:t>The term latent infection describes an infection that "exists but is not exhibited," i.e., an infection in which infectious </a:t>
            </a:r>
            <a:r>
              <a:rPr lang="en-GB" sz="2800" dirty="0" err="1" smtClean="0">
                <a:latin typeface="Times New Roman" pitchFamily="18" charset="0"/>
                <a:cs typeface="Times New Roman" pitchFamily="18" charset="0"/>
              </a:rPr>
              <a:t>virions</a:t>
            </a:r>
            <a:r>
              <a:rPr lang="en-GB" sz="2800" dirty="0" smtClean="0">
                <a:latin typeface="Times New Roman" pitchFamily="18" charset="0"/>
                <a:cs typeface="Times New Roman" pitchFamily="18" charset="0"/>
              </a:rPr>
              <a:t> are not formed.</a:t>
            </a:r>
          </a:p>
          <a:p>
            <a:r>
              <a:rPr lang="en-GB" sz="2800" dirty="0" smtClean="0">
                <a:latin typeface="Times New Roman" pitchFamily="18" charset="0"/>
                <a:cs typeface="Times New Roman" pitchFamily="18" charset="0"/>
              </a:rPr>
              <a:t> In either case, the virus or its genome is maintained indefinitely in the cell, either by the integration of the viral nucleic acid into the host cell DNA or by carriage of the viral nucleic acid in the form of an </a:t>
            </a:r>
            <a:r>
              <a:rPr lang="en-GB" sz="2800" dirty="0" err="1" smtClean="0">
                <a:latin typeface="Times New Roman" pitchFamily="18" charset="0"/>
                <a:cs typeface="Times New Roman" pitchFamily="18" charset="0"/>
              </a:rPr>
              <a:t>episome</a:t>
            </a:r>
            <a:endParaRPr lang="en-US" sz="28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Inclusion bodies </a:t>
            </a:r>
            <a:endParaRPr lang="en-US" sz="4000" b="1" dirty="0">
              <a:solidFill>
                <a:srgbClr val="FF0000"/>
              </a:solidFill>
            </a:endParaRPr>
          </a:p>
        </p:txBody>
      </p:sp>
      <p:sp>
        <p:nvSpPr>
          <p:cNvPr id="3" name="Content Placeholder 2"/>
          <p:cNvSpPr>
            <a:spLocks noGrp="1"/>
          </p:cNvSpPr>
          <p:nvPr>
            <p:ph idx="1"/>
          </p:nvPr>
        </p:nvSpPr>
        <p:spPr>
          <a:xfrm>
            <a:off x="304800" y="1219200"/>
            <a:ext cx="8610600" cy="5334000"/>
          </a:xfrm>
        </p:spPr>
        <p:txBody>
          <a:bodyPr>
            <a:normAutofit/>
          </a:bodyPr>
          <a:lstStyle/>
          <a:p>
            <a:r>
              <a:rPr lang="en-GB" sz="2400" dirty="0" smtClean="0">
                <a:latin typeface="Times New Roman" pitchFamily="18" charset="0"/>
                <a:cs typeface="Times New Roman" pitchFamily="18" charset="0"/>
              </a:rPr>
              <a:t>Inclusion bodies are aggregates of virus particles or virus-induced proteins or special structures characteristic of infection or </a:t>
            </a:r>
            <a:r>
              <a:rPr lang="en-US" sz="2400" dirty="0" smtClean="0">
                <a:latin typeface="Times New Roman" pitchFamily="18" charset="0"/>
                <a:cs typeface="Times New Roman" pitchFamily="18" charset="0"/>
              </a:rPr>
              <a:t>degenerative cellular changes </a:t>
            </a:r>
            <a:r>
              <a:rPr lang="en-GB" sz="2400" dirty="0" smtClean="0">
                <a:latin typeface="Times New Roman" pitchFamily="18" charset="0"/>
                <a:cs typeface="Times New Roman" pitchFamily="18" charset="0"/>
              </a:rPr>
              <a:t>by viruses either in the cytoplasm or the nucleus. </a:t>
            </a:r>
          </a:p>
          <a:p>
            <a:r>
              <a:rPr lang="en-GB" sz="2400" dirty="0" err="1" smtClean="0">
                <a:latin typeface="Times New Roman" pitchFamily="18" charset="0"/>
                <a:cs typeface="Times New Roman" pitchFamily="18" charset="0"/>
              </a:rPr>
              <a:t>Intranuclear</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Intracytoplasmic</a:t>
            </a:r>
            <a:r>
              <a:rPr lang="en-GB" sz="2400" dirty="0" smtClean="0">
                <a:latin typeface="Times New Roman" pitchFamily="18" charset="0"/>
                <a:cs typeface="Times New Roman" pitchFamily="18" charset="0"/>
              </a:rPr>
              <a:t>, also found both </a:t>
            </a:r>
          </a:p>
          <a:p>
            <a:r>
              <a:rPr lang="en-GB" sz="2400" dirty="0" smtClean="0">
                <a:latin typeface="Times New Roman" pitchFamily="18" charset="0"/>
                <a:cs typeface="Times New Roman" pitchFamily="18" charset="0"/>
              </a:rPr>
              <a:t> single / multiple, Large/ small, round/ irregular in shape  </a:t>
            </a:r>
          </a:p>
          <a:p>
            <a:r>
              <a:rPr lang="en-GB" sz="2400" dirty="0" smtClean="0">
                <a:latin typeface="Times New Roman" pitchFamily="18" charset="0"/>
                <a:cs typeface="Times New Roman" pitchFamily="18" charset="0"/>
              </a:rPr>
              <a:t>Acidophilic (pink, stained by eosin) or basophilic (blue, stained by </a:t>
            </a:r>
            <a:r>
              <a:rPr lang="en-GB" sz="2400" dirty="0" err="1" smtClean="0">
                <a:latin typeface="Times New Roman" pitchFamily="18" charset="0"/>
                <a:cs typeface="Times New Roman" pitchFamily="18" charset="0"/>
              </a:rPr>
              <a:t>hematoxylin</a:t>
            </a:r>
            <a:r>
              <a:rPr lang="en-GB" sz="2400" dirty="0" smtClean="0">
                <a:latin typeface="Times New Roman" pitchFamily="18" charset="0"/>
                <a:cs typeface="Times New Roman" pitchFamily="18" charset="0"/>
              </a:rPr>
              <a:t>).</a:t>
            </a:r>
          </a:p>
          <a:p>
            <a:r>
              <a:rPr lang="en-US" sz="2400" dirty="0" err="1" smtClean="0">
                <a:latin typeface="Times New Roman" pitchFamily="18" charset="0"/>
                <a:cs typeface="Times New Roman" pitchFamily="18" charset="0"/>
              </a:rPr>
              <a:t>Intracytoplasmic</a:t>
            </a:r>
            <a:r>
              <a:rPr lang="en-US" sz="2400" dirty="0" smtClean="0">
                <a:latin typeface="Times New Roman" pitchFamily="18" charset="0"/>
                <a:cs typeface="Times New Roman" pitchFamily="18" charset="0"/>
              </a:rPr>
              <a:t> Inclusion bodies – Pox virus, </a:t>
            </a:r>
            <a:r>
              <a:rPr lang="en-US" sz="2400" dirty="0" err="1" smtClean="0">
                <a:latin typeface="Times New Roman" pitchFamily="18" charset="0"/>
                <a:cs typeface="Times New Roman" pitchFamily="18" charset="0"/>
              </a:rPr>
              <a:t>Reovirus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Paramyxo</a:t>
            </a:r>
            <a:r>
              <a:rPr lang="en-US" sz="2400" dirty="0" smtClean="0">
                <a:latin typeface="Times New Roman" pitchFamily="18" charset="0"/>
                <a:cs typeface="Times New Roman" pitchFamily="18" charset="0"/>
              </a:rPr>
              <a:t> virus and Rabies virus </a:t>
            </a:r>
          </a:p>
          <a:p>
            <a:r>
              <a:rPr lang="en-US" sz="2400" dirty="0" err="1" smtClean="0">
                <a:latin typeface="Times New Roman" pitchFamily="18" charset="0"/>
                <a:cs typeface="Times New Roman" pitchFamily="18" charset="0"/>
              </a:rPr>
              <a:t>Intranuclear</a:t>
            </a:r>
            <a:r>
              <a:rPr lang="en-US" sz="2400" dirty="0" smtClean="0">
                <a:latin typeface="Times New Roman" pitchFamily="18" charset="0"/>
                <a:cs typeface="Times New Roman" pitchFamily="18" charset="0"/>
              </a:rPr>
              <a:t> Inclusion bodies – Herpes virus, </a:t>
            </a:r>
            <a:r>
              <a:rPr lang="en-US" sz="2400" dirty="0" err="1" smtClean="0">
                <a:latin typeface="Times New Roman" pitchFamily="18" charset="0"/>
                <a:cs typeface="Times New Roman" pitchFamily="18" charset="0"/>
              </a:rPr>
              <a:t>Adeno</a:t>
            </a:r>
            <a:r>
              <a:rPr lang="en-US" sz="2400" dirty="0" smtClean="0">
                <a:latin typeface="Times New Roman" pitchFamily="18" charset="0"/>
                <a:cs typeface="Times New Roman" pitchFamily="18" charset="0"/>
              </a:rPr>
              <a:t> virus and </a:t>
            </a:r>
            <a:r>
              <a:rPr lang="en-US" sz="2400" dirty="0" err="1" smtClean="0">
                <a:latin typeface="Times New Roman" pitchFamily="18" charset="0"/>
                <a:cs typeface="Times New Roman" pitchFamily="18" charset="0"/>
              </a:rPr>
              <a:t>Parvo</a:t>
            </a:r>
            <a:r>
              <a:rPr lang="en-US" sz="2400" dirty="0" smtClean="0">
                <a:latin typeface="Times New Roman" pitchFamily="18" charset="0"/>
                <a:cs typeface="Times New Roman" pitchFamily="18" charset="0"/>
              </a:rPr>
              <a:t> virus </a:t>
            </a:r>
          </a:p>
          <a:p>
            <a:r>
              <a:rPr lang="en-US" sz="2400" dirty="0" smtClean="0">
                <a:latin typeface="Times New Roman" pitchFamily="18" charset="0"/>
                <a:cs typeface="Times New Roman" pitchFamily="18" charset="0"/>
              </a:rPr>
              <a:t> Both IB – Canine distemper virus and porcine </a:t>
            </a:r>
            <a:r>
              <a:rPr lang="en-US" sz="2400" dirty="0" err="1" smtClean="0">
                <a:latin typeface="Times New Roman" pitchFamily="18" charset="0"/>
                <a:cs typeface="Times New Roman" pitchFamily="18" charset="0"/>
              </a:rPr>
              <a:t>cytomegalo</a:t>
            </a:r>
            <a:r>
              <a:rPr lang="en-US" sz="2400" dirty="0" smtClean="0">
                <a:latin typeface="Times New Roman" pitchFamily="18" charset="0"/>
                <a:cs typeface="Times New Roman" pitchFamily="18" charset="0"/>
              </a:rPr>
              <a:t> virus</a:t>
            </a:r>
            <a:endParaRPr lang="en-US" sz="24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b="1" dirty="0" smtClean="0">
                <a:solidFill>
                  <a:srgbClr val="FF0000"/>
                </a:solidFill>
              </a:rPr>
              <a:t>Examples of viral inclusion bodies in animals </a:t>
            </a:r>
            <a:br>
              <a:rPr lang="en-US" sz="3600" b="1" dirty="0" smtClean="0">
                <a:solidFill>
                  <a:srgbClr val="FF0000"/>
                </a:solidFill>
              </a:rPr>
            </a:br>
            <a:endParaRPr lang="en-US" b="1" dirty="0">
              <a:solidFill>
                <a:srgbClr val="FF0000"/>
              </a:solidFill>
            </a:endParaRPr>
          </a:p>
        </p:txBody>
      </p:sp>
      <p:sp>
        <p:nvSpPr>
          <p:cNvPr id="5" name="Content Placeholder 4"/>
          <p:cNvSpPr>
            <a:spLocks noGrp="1"/>
          </p:cNvSpPr>
          <p:nvPr>
            <p:ph idx="1"/>
          </p:nvPr>
        </p:nvSpPr>
        <p:spPr>
          <a:xfrm>
            <a:off x="304800" y="762000"/>
            <a:ext cx="8382000" cy="5509200"/>
          </a:xfrm>
          <a:prstGeom prst="rect">
            <a:avLst/>
          </a:prstGeom>
        </p:spPr>
        <p:txBody>
          <a:bodyPr wrap="square">
            <a:spAutoFit/>
          </a:bodyPr>
          <a:lstStyle/>
          <a:p>
            <a:r>
              <a:rPr lang="en-US" sz="2000" b="1" dirty="0" err="1" smtClean="0">
                <a:latin typeface="Arial" pitchFamily="34" charset="0"/>
                <a:cs typeface="Arial" pitchFamily="34" charset="0"/>
              </a:rPr>
              <a:t>Cytoplasmic</a:t>
            </a:r>
            <a:r>
              <a:rPr lang="en-US" sz="2000" b="1" dirty="0" smtClean="0">
                <a:latin typeface="Arial" pitchFamily="34" charset="0"/>
                <a:cs typeface="Arial" pitchFamily="34" charset="0"/>
              </a:rPr>
              <a:t> </a:t>
            </a:r>
            <a:r>
              <a:rPr lang="en-US" sz="2000" b="1" dirty="0" err="1" smtClean="0">
                <a:latin typeface="Arial" pitchFamily="34" charset="0"/>
                <a:cs typeface="Arial" pitchFamily="34" charset="0"/>
              </a:rPr>
              <a:t>eosinophilic</a:t>
            </a:r>
            <a:r>
              <a:rPr lang="en-US" sz="2000" b="1" dirty="0" smtClean="0">
                <a:latin typeface="Arial" pitchFamily="34" charset="0"/>
                <a:cs typeface="Arial" pitchFamily="34" charset="0"/>
              </a:rPr>
              <a:t> (acidophilic)-</a:t>
            </a:r>
          </a:p>
          <a:p>
            <a:r>
              <a:rPr lang="en-US" sz="2000" dirty="0" err="1" smtClean="0">
                <a:latin typeface="Arial" pitchFamily="34" charset="0"/>
                <a:cs typeface="Arial" pitchFamily="34" charset="0"/>
              </a:rPr>
              <a:t>Downie</a:t>
            </a:r>
            <a:r>
              <a:rPr lang="en-US" sz="2000" dirty="0" smtClean="0">
                <a:latin typeface="Arial" pitchFamily="34" charset="0"/>
                <a:cs typeface="Arial" pitchFamily="34" charset="0"/>
              </a:rPr>
              <a:t> bodies in cowpox</a:t>
            </a:r>
          </a:p>
          <a:p>
            <a:r>
              <a:rPr lang="en-US" sz="2000" b="1" dirty="0" err="1" smtClean="0">
                <a:latin typeface="Arial" pitchFamily="34" charset="0"/>
                <a:cs typeface="Arial" pitchFamily="34" charset="0"/>
              </a:rPr>
              <a:t>Negri</a:t>
            </a:r>
            <a:r>
              <a:rPr lang="en-US" sz="2000" b="1" dirty="0" smtClean="0">
                <a:latin typeface="Arial" pitchFamily="34" charset="0"/>
                <a:cs typeface="Arial" pitchFamily="34" charset="0"/>
              </a:rPr>
              <a:t> bodies in rabies</a:t>
            </a:r>
          </a:p>
          <a:p>
            <a:r>
              <a:rPr lang="en-US" sz="2000" dirty="0" err="1" smtClean="0">
                <a:latin typeface="Arial" pitchFamily="34" charset="0"/>
                <a:cs typeface="Arial" pitchFamily="34" charset="0"/>
              </a:rPr>
              <a:t>Guarnieri</a:t>
            </a:r>
            <a:r>
              <a:rPr lang="en-US" sz="2000" dirty="0" smtClean="0">
                <a:latin typeface="Arial" pitchFamily="34" charset="0"/>
                <a:cs typeface="Arial" pitchFamily="34" charset="0"/>
              </a:rPr>
              <a:t> bodies in </a:t>
            </a:r>
            <a:r>
              <a:rPr lang="en-US" sz="2000" dirty="0" err="1" smtClean="0">
                <a:latin typeface="Arial" pitchFamily="34" charset="0"/>
                <a:cs typeface="Arial" pitchFamily="34" charset="0"/>
              </a:rPr>
              <a:t>vaccinia</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variola</a:t>
            </a:r>
            <a:r>
              <a:rPr lang="en-US" sz="2000" dirty="0" smtClean="0">
                <a:latin typeface="Arial" pitchFamily="34" charset="0"/>
                <a:cs typeface="Arial" pitchFamily="34" charset="0"/>
              </a:rPr>
              <a:t> (smallpox)</a:t>
            </a:r>
          </a:p>
          <a:p>
            <a:r>
              <a:rPr lang="en-US" sz="2000" dirty="0" err="1" smtClean="0">
                <a:latin typeface="Arial" pitchFamily="34" charset="0"/>
                <a:cs typeface="Arial" pitchFamily="34" charset="0"/>
              </a:rPr>
              <a:t>Paschen</a:t>
            </a:r>
            <a:r>
              <a:rPr lang="en-US" sz="2000" dirty="0" smtClean="0">
                <a:latin typeface="Arial" pitchFamily="34" charset="0"/>
                <a:cs typeface="Arial" pitchFamily="34" charset="0"/>
              </a:rPr>
              <a:t> bodies in </a:t>
            </a:r>
            <a:r>
              <a:rPr lang="en-US" sz="2000" dirty="0" err="1" smtClean="0">
                <a:latin typeface="Arial" pitchFamily="34" charset="0"/>
                <a:cs typeface="Arial" pitchFamily="34" charset="0"/>
              </a:rPr>
              <a:t>variola</a:t>
            </a:r>
            <a:r>
              <a:rPr lang="en-US" sz="2000" dirty="0" smtClean="0">
                <a:latin typeface="Arial" pitchFamily="34" charset="0"/>
                <a:cs typeface="Arial" pitchFamily="34" charset="0"/>
              </a:rPr>
              <a:t> (smallpox)</a:t>
            </a:r>
          </a:p>
          <a:p>
            <a:r>
              <a:rPr lang="en-US" sz="2000" b="1" dirty="0" smtClean="0">
                <a:latin typeface="Arial" pitchFamily="34" charset="0"/>
                <a:cs typeface="Arial" pitchFamily="34" charset="0"/>
              </a:rPr>
              <a:t>Bollinger bodies in </a:t>
            </a:r>
            <a:r>
              <a:rPr lang="en-US" sz="2000" b="1" dirty="0" err="1" smtClean="0">
                <a:latin typeface="Arial" pitchFamily="34" charset="0"/>
                <a:cs typeface="Arial" pitchFamily="34" charset="0"/>
              </a:rPr>
              <a:t>fowlpox</a:t>
            </a:r>
            <a:endParaRPr lang="en-US" sz="2000" b="1" dirty="0" smtClean="0">
              <a:latin typeface="Arial" pitchFamily="34" charset="0"/>
              <a:cs typeface="Arial" pitchFamily="34" charset="0"/>
            </a:endParaRPr>
          </a:p>
          <a:p>
            <a:endParaRPr lang="en-US" sz="2000" dirty="0" smtClean="0">
              <a:latin typeface="Arial" pitchFamily="34" charset="0"/>
              <a:cs typeface="Arial" pitchFamily="34" charset="0"/>
            </a:endParaRPr>
          </a:p>
          <a:p>
            <a:r>
              <a:rPr lang="en-US" sz="2000" b="1" dirty="0" smtClean="0">
                <a:latin typeface="Arial" pitchFamily="34" charset="0"/>
                <a:cs typeface="Arial" pitchFamily="34" charset="0"/>
              </a:rPr>
              <a:t>Nuclear </a:t>
            </a:r>
            <a:r>
              <a:rPr lang="en-US" sz="2000" b="1" dirty="0" err="1" smtClean="0">
                <a:latin typeface="Arial" pitchFamily="34" charset="0"/>
                <a:cs typeface="Arial" pitchFamily="34" charset="0"/>
              </a:rPr>
              <a:t>eosinophilic</a:t>
            </a:r>
            <a:r>
              <a:rPr lang="en-US" sz="2000" b="1" dirty="0" smtClean="0">
                <a:latin typeface="Arial" pitchFamily="34" charset="0"/>
                <a:cs typeface="Arial" pitchFamily="34" charset="0"/>
              </a:rPr>
              <a:t> (acidophilic)-</a:t>
            </a:r>
          </a:p>
          <a:p>
            <a:r>
              <a:rPr lang="en-US" sz="2000" dirty="0" err="1" smtClean="0">
                <a:latin typeface="Arial" pitchFamily="34" charset="0"/>
                <a:cs typeface="Arial" pitchFamily="34" charset="0"/>
              </a:rPr>
              <a:t>Cowdry</a:t>
            </a:r>
            <a:r>
              <a:rPr lang="en-US" sz="2000" dirty="0" smtClean="0">
                <a:latin typeface="Arial" pitchFamily="34" charset="0"/>
                <a:cs typeface="Arial" pitchFamily="34" charset="0"/>
              </a:rPr>
              <a:t> bodies type A in Herpes simplex virus and </a:t>
            </a:r>
            <a:r>
              <a:rPr lang="en-US" sz="2000" dirty="0" err="1" smtClean="0">
                <a:latin typeface="Arial" pitchFamily="34" charset="0"/>
                <a:cs typeface="Arial" pitchFamily="34" charset="0"/>
              </a:rPr>
              <a:t>Varicella</a:t>
            </a:r>
            <a:r>
              <a:rPr lang="en-US" sz="2000" dirty="0" smtClean="0">
                <a:latin typeface="Arial" pitchFamily="34" charset="0"/>
                <a:cs typeface="Arial" pitchFamily="34" charset="0"/>
              </a:rPr>
              <a:t> zoster virus</a:t>
            </a:r>
          </a:p>
          <a:p>
            <a:r>
              <a:rPr lang="en-US" sz="2000" dirty="0" smtClean="0">
                <a:latin typeface="Arial" pitchFamily="34" charset="0"/>
                <a:cs typeface="Arial" pitchFamily="34" charset="0"/>
              </a:rPr>
              <a:t>Torres bodies in yellow fever</a:t>
            </a:r>
          </a:p>
          <a:p>
            <a:r>
              <a:rPr lang="en-US" sz="2000" dirty="0" err="1" smtClean="0">
                <a:latin typeface="Arial" pitchFamily="34" charset="0"/>
                <a:cs typeface="Arial" pitchFamily="34" charset="0"/>
              </a:rPr>
              <a:t>Cowdry</a:t>
            </a:r>
            <a:r>
              <a:rPr lang="en-US" sz="2000" dirty="0" smtClean="0">
                <a:latin typeface="Arial" pitchFamily="34" charset="0"/>
                <a:cs typeface="Arial" pitchFamily="34" charset="0"/>
              </a:rPr>
              <a:t> bodies type B in polio and adenovirus</a:t>
            </a:r>
          </a:p>
          <a:p>
            <a:r>
              <a:rPr lang="en-US" sz="2000" b="1" dirty="0" smtClean="0">
                <a:latin typeface="Arial" pitchFamily="34" charset="0"/>
                <a:cs typeface="Arial" pitchFamily="34" charset="0"/>
              </a:rPr>
              <a:t>Nuclear basophilic-</a:t>
            </a:r>
          </a:p>
          <a:p>
            <a:r>
              <a:rPr lang="en-US" sz="2000" dirty="0" err="1" smtClean="0">
                <a:latin typeface="Arial" pitchFamily="34" charset="0"/>
                <a:cs typeface="Arial" pitchFamily="34" charset="0"/>
              </a:rPr>
              <a:t>Cowdry</a:t>
            </a:r>
            <a:r>
              <a:rPr lang="en-US" sz="2000" dirty="0" smtClean="0">
                <a:latin typeface="Arial" pitchFamily="34" charset="0"/>
                <a:cs typeface="Arial" pitchFamily="34" charset="0"/>
              </a:rPr>
              <a:t> bodies type B in adenovirus</a:t>
            </a:r>
          </a:p>
          <a:p>
            <a:r>
              <a:rPr lang="en-US" sz="2000" dirty="0" smtClean="0">
                <a:latin typeface="Arial" pitchFamily="34" charset="0"/>
                <a:cs typeface="Arial" pitchFamily="34" charset="0"/>
              </a:rPr>
              <a:t>"Owl's eye appearance" in cytomegalovirus</a:t>
            </a:r>
            <a:endParaRPr lang="en-US" sz="2000" dirty="0">
              <a:latin typeface="Arial" pitchFamily="34" charset="0"/>
              <a:cs typeface="Arial"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Pathology Discussion Forum - Negri body: Negri bodies are eosinophilic ,  sharply outlined, pathognomonic inclusion bodies (2–10 µm in diameter)  found in the cytoplasm of certain nerve cells containing the virus of"/>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Pathology Discussion Forum - Negri body: Negri bodies are eosinophilic ,  sharply outlined, pathognomonic inclusion bodies (2–10 µm in diameter)  found in the cytoplasm of certain nerve cells containing the virus of"/>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0" name="Picture 6" descr="No photo description available."/>
          <p:cNvPicPr>
            <a:picLocks noChangeAspect="1" noChangeArrowheads="1"/>
          </p:cNvPicPr>
          <p:nvPr/>
        </p:nvPicPr>
        <p:blipFill>
          <a:blip r:embed="rId2"/>
          <a:srcRect/>
          <a:stretch>
            <a:fillRect/>
          </a:stretch>
        </p:blipFill>
        <p:spPr bwMode="auto">
          <a:xfrm>
            <a:off x="228600" y="304800"/>
            <a:ext cx="4858601" cy="3200400"/>
          </a:xfrm>
          <a:prstGeom prst="rect">
            <a:avLst/>
          </a:prstGeom>
          <a:noFill/>
        </p:spPr>
      </p:pic>
      <p:sp>
        <p:nvSpPr>
          <p:cNvPr id="7" name="Rectangle 6"/>
          <p:cNvSpPr/>
          <p:nvPr/>
        </p:nvSpPr>
        <p:spPr>
          <a:xfrm>
            <a:off x="5562600" y="1295400"/>
            <a:ext cx="2819400" cy="523220"/>
          </a:xfrm>
          <a:prstGeom prst="rect">
            <a:avLst/>
          </a:prstGeom>
        </p:spPr>
        <p:txBody>
          <a:bodyPr wrap="square">
            <a:spAutoFit/>
          </a:bodyPr>
          <a:lstStyle/>
          <a:p>
            <a:r>
              <a:rPr lang="en-US" sz="2800" b="1" dirty="0" err="1" smtClean="0">
                <a:latin typeface="Arial" pitchFamily="34" charset="0"/>
                <a:cs typeface="Arial" pitchFamily="34" charset="0"/>
              </a:rPr>
              <a:t>Negri</a:t>
            </a:r>
            <a:r>
              <a:rPr lang="en-US" sz="2800" b="1" dirty="0" smtClean="0">
                <a:latin typeface="Arial" pitchFamily="34" charset="0"/>
                <a:cs typeface="Arial" pitchFamily="34" charset="0"/>
              </a:rPr>
              <a:t> body</a:t>
            </a:r>
            <a:endParaRPr lang="en-US" sz="2800" b="1" dirty="0">
              <a:latin typeface="Arial" pitchFamily="34" charset="0"/>
              <a:cs typeface="Arial" pitchFamily="34" charset="0"/>
            </a:endParaRPr>
          </a:p>
        </p:txBody>
      </p:sp>
      <p:sp>
        <p:nvSpPr>
          <p:cNvPr id="1032" name="AutoShape 8" descr="https://www.researchgate.net/profile/Takashi-Abe-3/publication/221919826/figure/fig3/AS:667654645899266@1536192680212/The-three-types-of-inclusion-bodies-Cowdry-Along-arrow-full-type-intermediatelength_W64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https://www.researchgate.net/profile/Takashi-Abe-3/publication/221919826/figure/fig3/AS:667654645899266@1536192680212/The-three-types-of-inclusion-bodies-Cowdry-Along-arrow-full-type-intermediatelength_W640.jpg"/>
          <p:cNvPicPr>
            <a:picLocks noChangeAspect="1" noChangeArrowheads="1"/>
          </p:cNvPicPr>
          <p:nvPr/>
        </p:nvPicPr>
        <p:blipFill>
          <a:blip r:embed="rId3"/>
          <a:srcRect/>
          <a:stretch>
            <a:fillRect/>
          </a:stretch>
        </p:blipFill>
        <p:spPr bwMode="auto">
          <a:xfrm>
            <a:off x="3505200" y="3539132"/>
            <a:ext cx="4953000" cy="3118843"/>
          </a:xfrm>
          <a:prstGeom prst="rect">
            <a:avLst/>
          </a:prstGeom>
          <a:noFill/>
        </p:spPr>
      </p:pic>
      <p:sp>
        <p:nvSpPr>
          <p:cNvPr id="10" name="Rectangle 9"/>
          <p:cNvSpPr/>
          <p:nvPr/>
        </p:nvSpPr>
        <p:spPr>
          <a:xfrm>
            <a:off x="1524000" y="4648200"/>
            <a:ext cx="1624034" cy="523220"/>
          </a:xfrm>
          <a:prstGeom prst="rect">
            <a:avLst/>
          </a:prstGeom>
        </p:spPr>
        <p:txBody>
          <a:bodyPr wrap="none">
            <a:spAutoFit/>
          </a:bodyPr>
          <a:lstStyle/>
          <a:p>
            <a:r>
              <a:rPr lang="en-US" sz="2800" b="1" dirty="0" err="1" smtClean="0"/>
              <a:t>Cowdry</a:t>
            </a:r>
            <a:r>
              <a:rPr lang="en-US" sz="2800" b="1" dirty="0" smtClean="0"/>
              <a:t> A</a:t>
            </a:r>
            <a:endParaRPr lang="en-US" sz="2800"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err="1" smtClean="0">
                <a:solidFill>
                  <a:srgbClr val="FF0000"/>
                </a:solidFill>
              </a:rPr>
              <a:t>Ultrastructural</a:t>
            </a:r>
            <a:r>
              <a:rPr lang="en-US" sz="3200" b="1" dirty="0" smtClean="0">
                <a:solidFill>
                  <a:srgbClr val="FF0000"/>
                </a:solidFill>
              </a:rPr>
              <a:t> Changes in Virus-Infected Cells </a:t>
            </a:r>
            <a:endParaRPr lang="en-US" sz="3200" b="1" dirty="0">
              <a:solidFill>
                <a:srgbClr val="FF0000"/>
              </a:solidFill>
            </a:endParaRPr>
          </a:p>
        </p:txBody>
      </p:sp>
      <p:sp>
        <p:nvSpPr>
          <p:cNvPr id="3" name="Content Placeholder 2"/>
          <p:cNvSpPr>
            <a:spLocks noGrp="1"/>
          </p:cNvSpPr>
          <p:nvPr>
            <p:ph idx="1"/>
          </p:nvPr>
        </p:nvSpPr>
        <p:spPr>
          <a:xfrm>
            <a:off x="457200" y="1371600"/>
            <a:ext cx="8229600" cy="4525963"/>
          </a:xfrm>
        </p:spPr>
        <p:txBody>
          <a:bodyPr>
            <a:normAutofit/>
          </a:bodyPr>
          <a:lstStyle/>
          <a:p>
            <a:r>
              <a:rPr lang="en-GB" sz="2400" dirty="0" smtClean="0">
                <a:latin typeface="Times New Roman" pitchFamily="18" charset="0"/>
                <a:cs typeface="Times New Roman" pitchFamily="18" charset="0"/>
              </a:rPr>
              <a:t>Specific and nonspecific changes in virus infected cells that may vary.</a:t>
            </a:r>
          </a:p>
          <a:p>
            <a:r>
              <a:rPr lang="en-GB" sz="2400" b="1" dirty="0" smtClean="0">
                <a:latin typeface="Times New Roman" pitchFamily="18" charset="0"/>
                <a:cs typeface="Times New Roman" pitchFamily="18" charset="0"/>
              </a:rPr>
              <a:t>Specific changes-</a:t>
            </a:r>
          </a:p>
          <a:p>
            <a:r>
              <a:rPr lang="en-GB" sz="2400" dirty="0" smtClean="0">
                <a:latin typeface="Times New Roman" pitchFamily="18" charset="0"/>
                <a:cs typeface="Times New Roman" pitchFamily="18" charset="0"/>
              </a:rPr>
              <a:t>Early changes in cell structure often are dominated by proliferation (herpes viruses cause increased synthesis or  reduplication, of nuclear membranes)</a:t>
            </a:r>
          </a:p>
          <a:p>
            <a:r>
              <a:rPr lang="en-GB" sz="2400" dirty="0" smtClean="0">
                <a:latin typeface="Times New Roman" pitchFamily="18" charset="0"/>
                <a:cs typeface="Times New Roman" pitchFamily="18" charset="0"/>
              </a:rPr>
              <a:t>Disruption of </a:t>
            </a:r>
            <a:r>
              <a:rPr lang="en-GB" sz="2400" dirty="0" err="1" smtClean="0">
                <a:latin typeface="Times New Roman" pitchFamily="18" charset="0"/>
                <a:cs typeface="Times New Roman" pitchFamily="18" charset="0"/>
              </a:rPr>
              <a:t>cytoskeletal</a:t>
            </a:r>
            <a:r>
              <a:rPr lang="en-GB" sz="2400" dirty="0" smtClean="0">
                <a:latin typeface="Times New Roman" pitchFamily="18" charset="0"/>
                <a:cs typeface="Times New Roman" pitchFamily="18" charset="0"/>
              </a:rPr>
              <a:t> elements, mitochondrial damage, and changes in the density of the </a:t>
            </a:r>
            <a:r>
              <a:rPr lang="en-GB" sz="2400" dirty="0" err="1" smtClean="0">
                <a:latin typeface="Times New Roman" pitchFamily="18" charset="0"/>
                <a:cs typeface="Times New Roman" pitchFamily="18" charset="0"/>
              </a:rPr>
              <a:t>cytosol</a:t>
            </a:r>
            <a:r>
              <a:rPr lang="en-GB" sz="2400" dirty="0" smtClean="0">
                <a:latin typeface="Times New Roman" pitchFamily="18" charset="0"/>
                <a:cs typeface="Times New Roman" pitchFamily="18" charset="0"/>
              </a:rPr>
              <a:t>.</a:t>
            </a:r>
          </a:p>
          <a:p>
            <a:r>
              <a:rPr lang="en-GB" sz="2400" dirty="0" smtClean="0">
                <a:latin typeface="Times New Roman" pitchFamily="18" charset="0"/>
                <a:cs typeface="Times New Roman" pitchFamily="18" charset="0"/>
              </a:rPr>
              <a:t>Many </a:t>
            </a:r>
            <a:r>
              <a:rPr lang="en-GB" sz="2400" dirty="0" err="1" smtClean="0">
                <a:latin typeface="Times New Roman" pitchFamily="18" charset="0"/>
                <a:cs typeface="Times New Roman" pitchFamily="18" charset="0"/>
              </a:rPr>
              <a:t>cytolytic</a:t>
            </a:r>
            <a:r>
              <a:rPr lang="en-GB" sz="2400" dirty="0" smtClean="0">
                <a:latin typeface="Times New Roman" pitchFamily="18" charset="0"/>
                <a:cs typeface="Times New Roman" pitchFamily="18" charset="0"/>
              </a:rPr>
              <a:t> viruses cause nuclear, organelle, and </a:t>
            </a:r>
            <a:r>
              <a:rPr lang="en-GB" sz="2400" dirty="0" err="1" smtClean="0">
                <a:latin typeface="Times New Roman" pitchFamily="18" charset="0"/>
                <a:cs typeface="Times New Roman" pitchFamily="18" charset="0"/>
              </a:rPr>
              <a:t>cytoplasmic</a:t>
            </a:r>
            <a:r>
              <a:rPr lang="en-GB" sz="2400" dirty="0" smtClean="0">
                <a:latin typeface="Times New Roman" pitchFamily="18" charset="0"/>
                <a:cs typeface="Times New Roman" pitchFamily="18" charset="0"/>
              </a:rPr>
              <a:t> rarefaction and/or condensation, with terminal loss of host cell membrane integrity.</a:t>
            </a:r>
            <a:endParaRPr lang="en-US" sz="2400"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Non-specific changes </a:t>
            </a:r>
          </a:p>
          <a:p>
            <a:r>
              <a:rPr lang="en-GB" sz="2400" dirty="0" smtClean="0">
                <a:solidFill>
                  <a:srgbClr val="FF0000"/>
                </a:solidFill>
                <a:latin typeface="Times New Roman" pitchFamily="18" charset="0"/>
                <a:cs typeface="Times New Roman" pitchFamily="18" charset="0"/>
              </a:rPr>
              <a:t>Cloudy swelling</a:t>
            </a:r>
            <a:r>
              <a:rPr lang="en-GB" sz="2400" dirty="0" smtClean="0">
                <a:latin typeface="Times New Roman" pitchFamily="18" charset="0"/>
                <a:cs typeface="Times New Roman" pitchFamily="18" charset="0"/>
              </a:rPr>
              <a:t>- a reversible pathological change associated with increasing permeability of the plasma membrane resulting in diffuse swelling of the nucleus, </a:t>
            </a:r>
            <a:r>
              <a:rPr lang="en-GB" sz="2400" dirty="0" err="1" smtClean="0">
                <a:latin typeface="Times New Roman" pitchFamily="18" charset="0"/>
                <a:cs typeface="Times New Roman" pitchFamily="18" charset="0"/>
              </a:rPr>
              <a:t>distention</a:t>
            </a:r>
            <a:r>
              <a:rPr lang="en-GB" sz="2400" dirty="0" smtClean="0">
                <a:latin typeface="Times New Roman" pitchFamily="18" charset="0"/>
                <a:cs typeface="Times New Roman" pitchFamily="18" charset="0"/>
              </a:rPr>
              <a:t> of the endoplasmic reticulum and mitochondria, and rarefaction of the cytoplasm. </a:t>
            </a:r>
          </a:p>
          <a:p>
            <a:r>
              <a:rPr lang="en-GB" sz="2400" dirty="0" smtClean="0">
                <a:latin typeface="Times New Roman" pitchFamily="18" charset="0"/>
                <a:cs typeface="Times New Roman" pitchFamily="18" charset="0"/>
              </a:rPr>
              <a:t>Cell destruction can be the consequence of further loss of osmotic integrity and leakage of </a:t>
            </a:r>
            <a:r>
              <a:rPr lang="en-GB" sz="2400" dirty="0" err="1" smtClean="0">
                <a:latin typeface="Times New Roman" pitchFamily="18" charset="0"/>
                <a:cs typeface="Times New Roman" pitchFamily="18" charset="0"/>
              </a:rPr>
              <a:t>lysosomal</a:t>
            </a:r>
            <a:r>
              <a:rPr lang="en-GB" sz="2400" dirty="0" smtClean="0">
                <a:latin typeface="Times New Roman" pitchFamily="18" charset="0"/>
                <a:cs typeface="Times New Roman" pitchFamily="18" charset="0"/>
              </a:rPr>
              <a:t> enzymes into the cytoplasm. This progression, overall, is called the common terminal pathway to cell death.</a:t>
            </a:r>
            <a:endParaRPr lang="en-US" sz="2400" dirty="0">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Virus-Induced Cell Death</a:t>
            </a:r>
            <a:endParaRPr lang="en-US" sz="4000" b="1" dirty="0">
              <a:solidFill>
                <a:srgbClr val="FF0000"/>
              </a:solidFill>
            </a:endParaRPr>
          </a:p>
        </p:txBody>
      </p:sp>
      <p:sp>
        <p:nvSpPr>
          <p:cNvPr id="3" name="Content Placeholder 2"/>
          <p:cNvSpPr>
            <a:spLocks noGrp="1"/>
          </p:cNvSpPr>
          <p:nvPr>
            <p:ph idx="1"/>
          </p:nvPr>
        </p:nvSpPr>
        <p:spPr>
          <a:xfrm>
            <a:off x="381000" y="1600200"/>
            <a:ext cx="8305800" cy="4953000"/>
          </a:xfrm>
        </p:spPr>
        <p:txBody>
          <a:bodyPr>
            <a:normAutofit/>
          </a:bodyPr>
          <a:lstStyle/>
          <a:p>
            <a:r>
              <a:rPr lang="en-GB" sz="2400" dirty="0" smtClean="0">
                <a:latin typeface="Times New Roman" pitchFamily="18" charset="0"/>
                <a:cs typeface="Times New Roman" pitchFamily="18" charset="0"/>
              </a:rPr>
              <a:t>By triggering cellular "suicide," or programmed cell death or </a:t>
            </a:r>
            <a:r>
              <a:rPr lang="en-GB" sz="2400" b="1" dirty="0" smtClean="0">
                <a:latin typeface="Times New Roman" pitchFamily="18" charset="0"/>
                <a:cs typeface="Times New Roman" pitchFamily="18" charset="0"/>
              </a:rPr>
              <a:t>apoptosis.</a:t>
            </a:r>
          </a:p>
          <a:p>
            <a:r>
              <a:rPr lang="en-GB" sz="2400" dirty="0" smtClean="0">
                <a:latin typeface="Times New Roman" pitchFamily="18" charset="0"/>
                <a:cs typeface="Times New Roman" pitchFamily="18" charset="0"/>
              </a:rPr>
              <a:t>By chromatin condensation and </a:t>
            </a:r>
            <a:r>
              <a:rPr lang="en-GB" sz="2400" dirty="0" err="1" smtClean="0">
                <a:latin typeface="Times New Roman" pitchFamily="18" charset="0"/>
                <a:cs typeface="Times New Roman" pitchFamily="18" charset="0"/>
              </a:rPr>
              <a:t>margination</a:t>
            </a:r>
            <a:r>
              <a:rPr lang="en-GB" sz="2400" dirty="0" smtClean="0">
                <a:latin typeface="Times New Roman" pitchFamily="18" charset="0"/>
                <a:cs typeface="Times New Roman" pitchFamily="18" charset="0"/>
              </a:rPr>
              <a:t> and activation of cellular </a:t>
            </a:r>
            <a:r>
              <a:rPr lang="en-GB" sz="2400" dirty="0" err="1" smtClean="0">
                <a:latin typeface="Times New Roman" pitchFamily="18" charset="0"/>
                <a:cs typeface="Times New Roman" pitchFamily="18" charset="0"/>
              </a:rPr>
              <a:t>endonuclease</a:t>
            </a:r>
            <a:r>
              <a:rPr lang="en-GB" sz="2400" dirty="0" smtClean="0">
                <a:latin typeface="Times New Roman" pitchFamily="18" charset="0"/>
                <a:cs typeface="Times New Roman" pitchFamily="18" charset="0"/>
              </a:rPr>
              <a:t> during apoptosis that cleaves cellular DNA (not seen in necrosis).</a:t>
            </a:r>
          </a:p>
          <a:p>
            <a:r>
              <a:rPr lang="en-GB" sz="2400" dirty="0" smtClean="0">
                <a:latin typeface="Times New Roman" pitchFamily="18" charset="0"/>
                <a:cs typeface="Times New Roman" pitchFamily="18" charset="0"/>
              </a:rPr>
              <a:t>Some viruses induce apoptosis by the direct action of a specific protein--adenoviruses, </a:t>
            </a:r>
            <a:r>
              <a:rPr lang="en-GB" sz="2400" dirty="0" err="1" smtClean="0">
                <a:latin typeface="Times New Roman" pitchFamily="18" charset="0"/>
                <a:cs typeface="Times New Roman" pitchFamily="18" charset="0"/>
              </a:rPr>
              <a:t>alphaviruses</a:t>
            </a:r>
            <a:r>
              <a:rPr lang="en-GB" sz="2400" dirty="0" smtClean="0">
                <a:latin typeface="Times New Roman" pitchFamily="18" charset="0"/>
                <a:cs typeface="Times New Roman" pitchFamily="18" charset="0"/>
              </a:rPr>
              <a:t>, and the </a:t>
            </a:r>
            <a:r>
              <a:rPr lang="en-GB" sz="2400" dirty="0" err="1" smtClean="0">
                <a:latin typeface="Times New Roman" pitchFamily="18" charset="0"/>
                <a:cs typeface="Times New Roman" pitchFamily="18" charset="0"/>
              </a:rPr>
              <a:t>circovirus</a:t>
            </a:r>
            <a:r>
              <a:rPr lang="en-GB" sz="2400" dirty="0" smtClean="0">
                <a:latin typeface="Times New Roman" pitchFamily="18" charset="0"/>
                <a:cs typeface="Times New Roman" pitchFamily="18" charset="0"/>
              </a:rPr>
              <a:t>, chicken </a:t>
            </a:r>
            <a:r>
              <a:rPr lang="en-GB" sz="2400" dirty="0" err="1" smtClean="0">
                <a:latin typeface="Times New Roman" pitchFamily="18" charset="0"/>
                <a:cs typeface="Times New Roman" pitchFamily="18" charset="0"/>
              </a:rPr>
              <a:t>anemia</a:t>
            </a:r>
            <a:r>
              <a:rPr lang="en-GB" sz="2400" dirty="0" smtClean="0">
                <a:latin typeface="Times New Roman" pitchFamily="18" charset="0"/>
                <a:cs typeface="Times New Roman" pitchFamily="18" charset="0"/>
              </a:rPr>
              <a:t> virus, have proteins that by themselves are sufficient to induce apoptotic cell death.</a:t>
            </a:r>
          </a:p>
          <a:p>
            <a:r>
              <a:rPr lang="en-GB" sz="2400" dirty="0" smtClean="0">
                <a:latin typeface="Times New Roman" pitchFamily="18" charset="0"/>
                <a:cs typeface="Times New Roman" pitchFamily="18" charset="0"/>
              </a:rPr>
              <a:t>Or indirectly through their effects on cellular processes.</a:t>
            </a:r>
          </a:p>
          <a:p>
            <a:r>
              <a:rPr lang="en-GB" sz="2400" dirty="0" smtClean="0">
                <a:latin typeface="Times New Roman" pitchFamily="18" charset="0"/>
                <a:cs typeface="Times New Roman" pitchFamily="18" charset="0"/>
              </a:rPr>
              <a:t>Some viruses have acquired one or more anti-apoptotic genes and gene products to prolong cell survival</a:t>
            </a:r>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943</TotalTime>
  <Words>3567</Words>
  <Application>Microsoft Office PowerPoint</Application>
  <PresentationFormat>On-screen Show (4:3)</PresentationFormat>
  <Paragraphs>278</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Viral genetics</vt:lpstr>
      <vt:lpstr>Purpose </vt:lpstr>
      <vt:lpstr>Mutations</vt:lpstr>
      <vt:lpstr>Mutagenesis</vt:lpstr>
      <vt:lpstr>Types of Mutations</vt:lpstr>
      <vt:lpstr>Phenotypic classification of mutants</vt:lpstr>
      <vt:lpstr>Genotypic Classification of Mutants</vt:lpstr>
      <vt:lpstr>Defective Interfering (DIP) particles or Mutants</vt:lpstr>
      <vt:lpstr>Antigenic shift and drift</vt:lpstr>
      <vt:lpstr>Pig serves as a "mixing vessel"</vt:lpstr>
      <vt:lpstr>Antigenic drift </vt:lpstr>
      <vt:lpstr>Slide 12</vt:lpstr>
      <vt:lpstr>Slide 13</vt:lpstr>
      <vt:lpstr>Genetic Interaction Between Viruses</vt:lpstr>
      <vt:lpstr>2. Genetic recombination</vt:lpstr>
      <vt:lpstr>Intramolecular recombination </vt:lpstr>
      <vt:lpstr>Copy-choice Recombination </vt:lpstr>
      <vt:lpstr>Genetic Reassortment</vt:lpstr>
      <vt:lpstr>Slide 19</vt:lpstr>
      <vt:lpstr>Genetic Reactivation</vt:lpstr>
      <vt:lpstr>Genotypic mixing</vt:lpstr>
      <vt:lpstr>Phenotypic mixing</vt:lpstr>
      <vt:lpstr>Slide 23</vt:lpstr>
      <vt:lpstr>VIRUS -CELL INTERACTIONS</vt:lpstr>
      <vt:lpstr>Types of Virus-Cell Interations</vt:lpstr>
      <vt:lpstr>Slide 26</vt:lpstr>
      <vt:lpstr>Cytocidal changes in virus-infected cells </vt:lpstr>
      <vt:lpstr>Mechanisms of Cell Damage</vt:lpstr>
      <vt:lpstr>Inhibition of Host Cell Nucleic Acid Synthesis</vt:lpstr>
      <vt:lpstr>Inhibition of Host Cell RNA Transcription</vt:lpstr>
      <vt:lpstr>Inhibition of Processing of Host Cell mRNAs</vt:lpstr>
      <vt:lpstr>Inhibition of Host Cell Protein Synthesis</vt:lpstr>
      <vt:lpstr>Inviting immune cells</vt:lpstr>
      <vt:lpstr>Cytopathic Changes Involving Cell Membranes</vt:lpstr>
      <vt:lpstr>Cell Membrane Fusion and Syncytium Formation </vt:lpstr>
      <vt:lpstr>Slide 36</vt:lpstr>
      <vt:lpstr>Hemadsorption</vt:lpstr>
      <vt:lpstr>Haemagglutination</vt:lpstr>
      <vt:lpstr>Cytopathic Changes Involving the Cytoskeleton</vt:lpstr>
      <vt:lpstr>Non-cytocidal Changes in Virus-Infected Cells </vt:lpstr>
      <vt:lpstr>Persistent infections</vt:lpstr>
      <vt:lpstr>Inclusion bodies </vt:lpstr>
      <vt:lpstr>Examples of viral inclusion bodies in animals  </vt:lpstr>
      <vt:lpstr>Slide 44</vt:lpstr>
      <vt:lpstr>Ultrastructural Changes in Virus-Infected Cells </vt:lpstr>
      <vt:lpstr>Slide 46</vt:lpstr>
      <vt:lpstr>Virus-Induced Cell Death</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Viral genetics</dc:title>
  <dc:creator>HP</dc:creator>
  <cp:lastModifiedBy>RATHORE</cp:lastModifiedBy>
  <cp:revision>99</cp:revision>
  <dcterms:created xsi:type="dcterms:W3CDTF">2006-08-16T00:00:00Z</dcterms:created>
  <dcterms:modified xsi:type="dcterms:W3CDTF">2023-11-28T14:58:18Z</dcterms:modified>
</cp:coreProperties>
</file>