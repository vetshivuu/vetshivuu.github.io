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3" r:id="rId4"/>
    <p:sldId id="258" r:id="rId5"/>
    <p:sldId id="259" r:id="rId6"/>
    <p:sldId id="261" r:id="rId7"/>
    <p:sldId id="260" r:id="rId8"/>
    <p:sldId id="262" r:id="rId9"/>
    <p:sldId id="263" r:id="rId10"/>
    <p:sldId id="276" r:id="rId11"/>
    <p:sldId id="277"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8" r:id="rId25"/>
    <p:sldId id="284" r:id="rId26"/>
    <p:sldId id="279" r:id="rId27"/>
    <p:sldId id="280" r:id="rId28"/>
    <p:sldId id="282" r:id="rId29"/>
    <p:sldId id="281" r:id="rId30"/>
    <p:sldId id="283" r:id="rId31"/>
    <p:sldId id="294" r:id="rId32"/>
    <p:sldId id="285" r:id="rId33"/>
    <p:sldId id="286" r:id="rId34"/>
    <p:sldId id="287" r:id="rId35"/>
    <p:sldId id="288" r:id="rId36"/>
    <p:sldId id="289" r:id="rId37"/>
    <p:sldId id="290" r:id="rId38"/>
    <p:sldId id="291" r:id="rId39"/>
    <p:sldId id="29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276" y="-2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solidFill>
                  <a:srgbClr val="7030A0"/>
                </a:solidFill>
                <a:latin typeface="Algerian" pitchFamily="82" charset="0"/>
              </a:rPr>
              <a:t>VIRAL ONCOGENESIS</a:t>
            </a:r>
            <a:endParaRPr lang="en-US" b="1" dirty="0">
              <a:solidFill>
                <a:srgbClr val="7030A0"/>
              </a:solidFill>
              <a:latin typeface="Algerian" pitchFamily="82" charset="0"/>
            </a:endParaRP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000" b="1" dirty="0" smtClean="0">
                <a:solidFill>
                  <a:srgbClr val="FF0000"/>
                </a:solidFill>
              </a:rPr>
              <a:t>TERMINOLOGY </a:t>
            </a:r>
            <a:endParaRPr lang="en-US" sz="4000" b="1" dirty="0">
              <a:solidFill>
                <a:srgbClr val="FF0000"/>
              </a:solidFill>
            </a:endParaRPr>
          </a:p>
        </p:txBody>
      </p:sp>
      <p:sp>
        <p:nvSpPr>
          <p:cNvPr id="3" name="Content Placeholder 2"/>
          <p:cNvSpPr>
            <a:spLocks noGrp="1"/>
          </p:cNvSpPr>
          <p:nvPr>
            <p:ph idx="1"/>
          </p:nvPr>
        </p:nvSpPr>
        <p:spPr>
          <a:xfrm>
            <a:off x="228600" y="990600"/>
            <a:ext cx="8763000" cy="5181600"/>
          </a:xfrm>
        </p:spPr>
        <p:txBody>
          <a:bodyPr>
            <a:normAutofit lnSpcReduction="10000"/>
          </a:bodyPr>
          <a:lstStyle/>
          <a:p>
            <a:pPr algn="just"/>
            <a:r>
              <a:rPr lang="en-US" sz="2400" b="1" dirty="0" smtClean="0">
                <a:latin typeface="Times New Roman" pitchFamily="18" charset="0"/>
                <a:cs typeface="Times New Roman" pitchFamily="18" charset="0"/>
              </a:rPr>
              <a:t>Oncology</a:t>
            </a:r>
            <a:r>
              <a:rPr lang="en-US" sz="2400" dirty="0" smtClean="0">
                <a:latin typeface="Times New Roman" pitchFamily="18" charset="0"/>
                <a:cs typeface="Times New Roman" pitchFamily="18" charset="0"/>
              </a:rPr>
              <a:t>- study of tumors or cancers.</a:t>
            </a:r>
          </a:p>
          <a:p>
            <a:pPr algn="just"/>
            <a:r>
              <a:rPr lang="en-GB" sz="2400" dirty="0" smtClean="0">
                <a:latin typeface="Times New Roman" pitchFamily="18" charset="0"/>
                <a:cs typeface="Times New Roman" pitchFamily="18" charset="0"/>
              </a:rPr>
              <a:t>A </a:t>
            </a:r>
            <a:r>
              <a:rPr lang="en-GB" sz="2400" b="1" dirty="0" err="1" smtClean="0">
                <a:latin typeface="Times New Roman" pitchFamily="18" charset="0"/>
                <a:cs typeface="Times New Roman" pitchFamily="18" charset="0"/>
              </a:rPr>
              <a:t>tumor</a:t>
            </a:r>
            <a:r>
              <a:rPr lang="en-GB" sz="2400" dirty="0" smtClean="0">
                <a:latin typeface="Times New Roman" pitchFamily="18" charset="0"/>
                <a:cs typeface="Times New Roman" pitchFamily="18" charset="0"/>
              </a:rPr>
              <a:t> is an abnormal growth or mass of tissue (also known as lump, lesion, or neoplasm). </a:t>
            </a:r>
          </a:p>
          <a:p>
            <a:pPr algn="just"/>
            <a:r>
              <a:rPr lang="en-GB" sz="2400" b="1" dirty="0" smtClean="0">
                <a:latin typeface="Times New Roman" pitchFamily="18" charset="0"/>
                <a:cs typeface="Times New Roman" pitchFamily="18" charset="0"/>
              </a:rPr>
              <a:t>Cancer </a:t>
            </a:r>
            <a:r>
              <a:rPr lang="en-GB" sz="2400" dirty="0" smtClean="0">
                <a:latin typeface="Times New Roman" pitchFamily="18" charset="0"/>
                <a:cs typeface="Times New Roman" pitchFamily="18" charset="0"/>
              </a:rPr>
              <a:t>is a group of diseases caused by the uncontrolled growth and spread of abnormal cells. </a:t>
            </a:r>
          </a:p>
          <a:p>
            <a:pPr algn="just"/>
            <a:r>
              <a:rPr lang="en-GB" sz="2400" b="1" dirty="0" err="1" smtClean="0">
                <a:solidFill>
                  <a:srgbClr val="C00000"/>
                </a:solidFill>
                <a:latin typeface="Times New Roman" pitchFamily="18" charset="0"/>
                <a:cs typeface="Times New Roman" pitchFamily="18" charset="0"/>
              </a:rPr>
              <a:t>Tumors</a:t>
            </a:r>
            <a:r>
              <a:rPr lang="en-GB" sz="2400" b="1" dirty="0" smtClean="0">
                <a:solidFill>
                  <a:srgbClr val="C00000"/>
                </a:solidFill>
                <a:latin typeface="Times New Roman" pitchFamily="18" charset="0"/>
                <a:cs typeface="Times New Roman" pitchFamily="18" charset="0"/>
              </a:rPr>
              <a:t> can be cancerous BUT not all </a:t>
            </a:r>
            <a:r>
              <a:rPr lang="en-GB" sz="2400" b="1" dirty="0" err="1" smtClean="0">
                <a:solidFill>
                  <a:srgbClr val="C00000"/>
                </a:solidFill>
                <a:latin typeface="Times New Roman" pitchFamily="18" charset="0"/>
                <a:cs typeface="Times New Roman" pitchFamily="18" charset="0"/>
              </a:rPr>
              <a:t>tumors</a:t>
            </a:r>
            <a:r>
              <a:rPr lang="en-GB" sz="2400" b="1" dirty="0" smtClean="0">
                <a:solidFill>
                  <a:srgbClr val="C00000"/>
                </a:solidFill>
                <a:latin typeface="Times New Roman" pitchFamily="18" charset="0"/>
                <a:cs typeface="Times New Roman" pitchFamily="18" charset="0"/>
              </a:rPr>
              <a:t> are cancerous</a:t>
            </a:r>
            <a:endParaRPr lang="en-US" sz="2400" b="1" dirty="0" smtClean="0">
              <a:solidFill>
                <a:srgbClr val="C00000"/>
              </a:solidFill>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Tumors can be-</a:t>
            </a:r>
          </a:p>
          <a:p>
            <a:pPr algn="just"/>
            <a:r>
              <a:rPr lang="en-US" sz="2400" b="1" dirty="0" smtClean="0">
                <a:latin typeface="Times New Roman" pitchFamily="18" charset="0"/>
                <a:cs typeface="Times New Roman" pitchFamily="18" charset="0"/>
              </a:rPr>
              <a:t>Benign tumor- </a:t>
            </a:r>
            <a:r>
              <a:rPr lang="en-US" sz="2400" dirty="0" smtClean="0">
                <a:latin typeface="Times New Roman" pitchFamily="18" charset="0"/>
                <a:cs typeface="Times New Roman" pitchFamily="18" charset="0"/>
              </a:rPr>
              <a:t>a growth produced by abnormal cell proliferation that remains localized and does not invade adjacent tissue. Non-cancerous</a:t>
            </a:r>
          </a:p>
          <a:p>
            <a:pPr algn="just"/>
            <a:r>
              <a:rPr lang="en-US" sz="2400" b="1" dirty="0" smtClean="0">
                <a:latin typeface="Times New Roman" pitchFamily="18" charset="0"/>
                <a:cs typeface="Times New Roman" pitchFamily="18" charset="0"/>
              </a:rPr>
              <a:t>Malignant tumor- </a:t>
            </a:r>
            <a:r>
              <a:rPr lang="en-US" sz="2400" dirty="0" smtClean="0">
                <a:latin typeface="Times New Roman" pitchFamily="18" charset="0"/>
                <a:cs typeface="Times New Roman" pitchFamily="18" charset="0"/>
              </a:rPr>
              <a:t>is locally invasive and may also be metastatic, i.e., spread to other parts of the body. Growth that is not encapsulated and infiltrates into surrounding tissues, replacing normal cells Malignant tumors are often referred to as </a:t>
            </a:r>
            <a:r>
              <a:rPr lang="en-US" sz="2400" b="1" dirty="0" smtClean="0">
                <a:latin typeface="Times New Roman" pitchFamily="18" charset="0"/>
                <a:cs typeface="Times New Roman" pitchFamily="18" charset="0"/>
              </a:rPr>
              <a:t>cancers</a:t>
            </a:r>
            <a:r>
              <a:rPr lang="en-US" sz="2400" dirty="0" smtClean="0">
                <a:latin typeface="Times New Roman" pitchFamily="18" charset="0"/>
                <a:cs typeface="Times New Roman"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1066800"/>
            <a:ext cx="8610600" cy="5410200"/>
          </a:xfrm>
        </p:spPr>
        <p:txBody>
          <a:bodyPr>
            <a:noAutofit/>
          </a:bodyPr>
          <a:lstStyle/>
          <a:p>
            <a:pPr algn="just"/>
            <a:r>
              <a:rPr lang="en-US" sz="2400" b="1" dirty="0" smtClean="0">
                <a:latin typeface="Times New Roman" pitchFamily="18" charset="0"/>
                <a:cs typeface="Times New Roman" pitchFamily="18" charset="0"/>
              </a:rPr>
              <a:t>Carcinomas</a:t>
            </a:r>
            <a:r>
              <a:rPr lang="en-US" sz="2400" dirty="0" smtClean="0">
                <a:latin typeface="Times New Roman" pitchFamily="18" charset="0"/>
                <a:cs typeface="Times New Roman" pitchFamily="18" charset="0"/>
              </a:rPr>
              <a:t>- Malignant tumors of epithelial cell origin </a:t>
            </a:r>
          </a:p>
          <a:p>
            <a:pPr algn="just"/>
            <a:r>
              <a:rPr lang="en-US" sz="2400" b="1" dirty="0" smtClean="0">
                <a:latin typeface="Times New Roman" pitchFamily="18" charset="0"/>
                <a:cs typeface="Times New Roman" pitchFamily="18" charset="0"/>
              </a:rPr>
              <a:t>Sarcomas</a:t>
            </a:r>
            <a:r>
              <a:rPr lang="en-US" sz="2400" dirty="0" smtClean="0">
                <a:latin typeface="Times New Roman" pitchFamily="18" charset="0"/>
                <a:cs typeface="Times New Roman" pitchFamily="18" charset="0"/>
              </a:rPr>
              <a:t>- Malignant tumors of cells of </a:t>
            </a:r>
            <a:r>
              <a:rPr lang="en-US" sz="2400" dirty="0" err="1" smtClean="0">
                <a:latin typeface="Times New Roman" pitchFamily="18" charset="0"/>
                <a:cs typeface="Times New Roman" pitchFamily="18" charset="0"/>
              </a:rPr>
              <a:t>mesenchymal</a:t>
            </a:r>
            <a:r>
              <a:rPr lang="en-US" sz="2400" dirty="0" smtClean="0">
                <a:latin typeface="Times New Roman" pitchFamily="18" charset="0"/>
                <a:cs typeface="Times New Roman" pitchFamily="18" charset="0"/>
              </a:rPr>
              <a:t> origin.</a:t>
            </a:r>
          </a:p>
          <a:p>
            <a:pPr algn="just"/>
            <a:r>
              <a:rPr lang="en-US" sz="2400" dirty="0" smtClean="0">
                <a:latin typeface="Times New Roman" pitchFamily="18" charset="0"/>
                <a:cs typeface="Times New Roman" pitchFamily="18" charset="0"/>
              </a:rPr>
              <a:t>Solid tumors arising from leukocytes are known as </a:t>
            </a:r>
            <a:r>
              <a:rPr lang="en-US" sz="2400" b="1" dirty="0" smtClean="0">
                <a:latin typeface="Times New Roman" pitchFamily="18" charset="0"/>
                <a:cs typeface="Times New Roman" pitchFamily="18" charset="0"/>
              </a:rPr>
              <a:t>lymphomas</a:t>
            </a:r>
            <a:r>
              <a:rPr lang="en-US" sz="2400" dirty="0" smtClean="0">
                <a:latin typeface="Times New Roman" pitchFamily="18" charset="0"/>
                <a:cs typeface="Times New Roman" pitchFamily="18" charset="0"/>
              </a:rPr>
              <a:t>, or if circulating cells are involved </a:t>
            </a:r>
            <a:r>
              <a:rPr lang="en-US" sz="2400" b="1" dirty="0" err="1" smtClean="0">
                <a:latin typeface="Times New Roman" pitchFamily="18" charset="0"/>
                <a:cs typeface="Times New Roman" pitchFamily="18" charset="0"/>
              </a:rPr>
              <a:t>leukemias</a:t>
            </a:r>
            <a:r>
              <a:rPr lang="en-US" sz="2400" dirty="0" smtClean="0">
                <a:latin typeface="Times New Roman" pitchFamily="18" charset="0"/>
                <a:cs typeface="Times New Roman" pitchFamily="18" charset="0"/>
              </a:rPr>
              <a:t>. Collectively, especially in veterinary medicine, lymphomas and </a:t>
            </a:r>
            <a:r>
              <a:rPr lang="en-US" sz="2400" dirty="0" err="1" smtClean="0">
                <a:latin typeface="Times New Roman" pitchFamily="18" charset="0"/>
                <a:cs typeface="Times New Roman" pitchFamily="18" charset="0"/>
              </a:rPr>
              <a:t>leukemias</a:t>
            </a:r>
            <a:r>
              <a:rPr lang="en-US" sz="2400" dirty="0" smtClean="0">
                <a:latin typeface="Times New Roman" pitchFamily="18" charset="0"/>
                <a:cs typeface="Times New Roman" pitchFamily="18" charset="0"/>
              </a:rPr>
              <a:t> are known as </a:t>
            </a:r>
            <a:r>
              <a:rPr lang="en-US" sz="2400" b="1" dirty="0" err="1" smtClean="0">
                <a:latin typeface="Times New Roman" pitchFamily="18" charset="0"/>
                <a:cs typeface="Times New Roman" pitchFamily="18" charset="0"/>
              </a:rPr>
              <a:t>leukoses</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p>
          <a:p>
            <a:pPr algn="just"/>
            <a:endParaRPr lang="en-US" sz="2400" b="1" dirty="0" smtClean="0">
              <a:latin typeface="Times New Roman" pitchFamily="18" charset="0"/>
              <a:cs typeface="Times New Roman" pitchFamily="18" charset="0"/>
            </a:endParaRPr>
          </a:p>
          <a:p>
            <a:pPr algn="just"/>
            <a:r>
              <a:rPr lang="en-US" sz="2400" b="1" dirty="0" err="1" smtClean="0">
                <a:latin typeface="Times New Roman" pitchFamily="18" charset="0"/>
                <a:cs typeface="Times New Roman" pitchFamily="18" charset="0"/>
              </a:rPr>
              <a:t>Oncogenesis</a:t>
            </a:r>
            <a:r>
              <a:rPr lang="en-US" sz="2400" dirty="0" smtClean="0">
                <a:latin typeface="Times New Roman" pitchFamily="18" charset="0"/>
                <a:cs typeface="Times New Roman" pitchFamily="18" charset="0"/>
              </a:rPr>
              <a:t>- The process </a:t>
            </a:r>
            <a:r>
              <a:rPr lang="en-GB" sz="2400" dirty="0" smtClean="0">
                <a:latin typeface="Times New Roman" pitchFamily="18" charset="0"/>
                <a:cs typeface="Times New Roman" pitchFamily="18" charset="0"/>
              </a:rPr>
              <a:t>through which healthy cells become transformed into cancer cells.</a:t>
            </a:r>
          </a:p>
          <a:p>
            <a:pPr algn="just"/>
            <a:r>
              <a:rPr lang="en-US" sz="2400" b="1" dirty="0" smtClean="0">
                <a:latin typeface="Times New Roman" pitchFamily="18" charset="0"/>
                <a:cs typeface="Times New Roman" pitchFamily="18" charset="0"/>
              </a:rPr>
              <a:t> Synonyms </a:t>
            </a:r>
            <a:r>
              <a:rPr lang="en-US" sz="2400" dirty="0" err="1" smtClean="0">
                <a:latin typeface="Times New Roman" pitchFamily="18" charset="0"/>
                <a:cs typeface="Times New Roman" pitchFamily="18" charset="0"/>
              </a:rPr>
              <a:t>tumorigenesis</a:t>
            </a:r>
            <a:r>
              <a:rPr lang="en-US" sz="2400" dirty="0" smtClean="0">
                <a:latin typeface="Times New Roman" pitchFamily="18" charset="0"/>
                <a:cs typeface="Times New Roman" pitchFamily="18" charset="0"/>
              </a:rPr>
              <a:t> and carcinogenesis.</a:t>
            </a:r>
          </a:p>
          <a:p>
            <a:pPr algn="just"/>
            <a:r>
              <a:rPr lang="en-GB" sz="2400" dirty="0" smtClean="0">
                <a:latin typeface="Times New Roman" pitchFamily="18" charset="0"/>
                <a:cs typeface="Times New Roman" pitchFamily="18" charset="0"/>
              </a:rPr>
              <a:t>It is characterized by a series of genetic and cellular changes, including </a:t>
            </a:r>
            <a:r>
              <a:rPr lang="en-GB" sz="2400" dirty="0" err="1" smtClean="0">
                <a:latin typeface="Times New Roman" pitchFamily="18" charset="0"/>
                <a:cs typeface="Times New Roman" pitchFamily="18" charset="0"/>
              </a:rPr>
              <a:t>oncogene</a:t>
            </a:r>
            <a:r>
              <a:rPr lang="en-GB" sz="2400" dirty="0" smtClean="0">
                <a:latin typeface="Times New Roman" pitchFamily="18" charset="0"/>
                <a:cs typeface="Times New Roman" pitchFamily="18" charset="0"/>
              </a:rPr>
              <a:t> activation, that lead the cell to divide in an uncontrolled manner.</a:t>
            </a:r>
            <a:endParaRPr lang="en-US" sz="2400" dirty="0" smtClean="0">
              <a:latin typeface="Times New Roman" pitchFamily="18" charset="0"/>
              <a:cs typeface="Times New Roman" pitchFamily="18" charset="0"/>
            </a:endParaRPr>
          </a:p>
          <a:p>
            <a:pPr algn="just"/>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Cell Transformation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76200" y="990600"/>
            <a:ext cx="9067800" cy="5562600"/>
          </a:xfrm>
        </p:spPr>
        <p:txBody>
          <a:bodyPr>
            <a:noAutofit/>
          </a:bodyPr>
          <a:lstStyle/>
          <a:p>
            <a:pPr algn="just"/>
            <a:r>
              <a:rPr lang="en-US" sz="2400" dirty="0" smtClean="0">
                <a:latin typeface="Times New Roman" pitchFamily="18" charset="0"/>
                <a:cs typeface="Times New Roman" pitchFamily="18" charset="0"/>
              </a:rPr>
              <a:t>The changes in the biological functions of a cell that result from </a:t>
            </a:r>
            <a:r>
              <a:rPr lang="en-US" sz="2400" b="1" dirty="0" smtClean="0">
                <a:latin typeface="Times New Roman" pitchFamily="18" charset="0"/>
                <a:cs typeface="Times New Roman" pitchFamily="18" charset="0"/>
              </a:rPr>
              <a:t>REGULATION </a:t>
            </a:r>
            <a:r>
              <a:rPr lang="en-US" sz="2400" dirty="0" smtClean="0">
                <a:latin typeface="Times New Roman" pitchFamily="18" charset="0"/>
                <a:cs typeface="Times New Roman" pitchFamily="18" charset="0"/>
              </a:rPr>
              <a:t>of the cell’s metabolism by viral genes and that confer on the infected cell certain properties characteristic of </a:t>
            </a:r>
            <a:r>
              <a:rPr lang="en-US" sz="2400" b="1" dirty="0" smtClean="0">
                <a:latin typeface="Times New Roman" pitchFamily="18" charset="0"/>
                <a:cs typeface="Times New Roman" pitchFamily="18" charset="0"/>
              </a:rPr>
              <a:t>NEOPLASIA.</a:t>
            </a:r>
          </a:p>
          <a:p>
            <a:pPr algn="just"/>
            <a:r>
              <a:rPr lang="en-US" sz="2400" dirty="0" err="1" smtClean="0">
                <a:latin typeface="Times New Roman" pitchFamily="18" charset="0"/>
                <a:cs typeface="Times New Roman" pitchFamily="18" charset="0"/>
              </a:rPr>
              <a:t>Oncogenic</a:t>
            </a:r>
            <a:r>
              <a:rPr lang="en-US" sz="2400" dirty="0" smtClean="0">
                <a:latin typeface="Times New Roman" pitchFamily="18" charset="0"/>
                <a:cs typeface="Times New Roman" pitchFamily="18" charset="0"/>
              </a:rPr>
              <a:t> virus- has the ability to induce cell transformation and to form tumors.</a:t>
            </a:r>
          </a:p>
          <a:p>
            <a:pPr algn="just"/>
            <a:r>
              <a:rPr lang="en-US" sz="2400" dirty="0" smtClean="0">
                <a:solidFill>
                  <a:srgbClr val="FF0000"/>
                </a:solidFill>
                <a:latin typeface="Times New Roman" pitchFamily="18" charset="0"/>
                <a:cs typeface="Times New Roman" pitchFamily="18" charset="0"/>
              </a:rPr>
              <a:t>Transformation by DNA viruses is always nonproductive </a:t>
            </a:r>
            <a:r>
              <a:rPr lang="en-US" sz="2400" dirty="0" smtClean="0">
                <a:latin typeface="Times New Roman" pitchFamily="18" charset="0"/>
                <a:cs typeface="Times New Roman" pitchFamily="18" charset="0"/>
              </a:rPr>
              <a:t>(i.e., the transformed cells do not yield infectious progeny virus); </a:t>
            </a:r>
          </a:p>
          <a:p>
            <a:pPr algn="just"/>
            <a:r>
              <a:rPr lang="en-US" sz="2400" dirty="0" smtClean="0">
                <a:solidFill>
                  <a:srgbClr val="FF0000"/>
                </a:solidFill>
                <a:latin typeface="Times New Roman" pitchFamily="18" charset="0"/>
                <a:cs typeface="Times New Roman" pitchFamily="18" charset="0"/>
              </a:rPr>
              <a:t>Transformation by retroviruses, on the other hand, is usually productive</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Viral (or </a:t>
            </a:r>
            <a:r>
              <a:rPr lang="en-US" sz="2400" dirty="0" err="1" smtClean="0">
                <a:latin typeface="Times New Roman" pitchFamily="18" charset="0"/>
                <a:cs typeface="Times New Roman" pitchFamily="18" charset="0"/>
              </a:rPr>
              <a:t>proviral</a:t>
            </a:r>
            <a:r>
              <a:rPr lang="en-US" sz="2400" dirty="0" smtClean="0">
                <a:latin typeface="Times New Roman" pitchFamily="18" charset="0"/>
                <a:cs typeface="Times New Roman" pitchFamily="18" charset="0"/>
              </a:rPr>
              <a:t>) DNA in transformed cells is integrated into the cell DNA, except in the case of </a:t>
            </a:r>
            <a:r>
              <a:rPr lang="en-US" sz="2400" dirty="0" err="1" smtClean="0">
                <a:latin typeface="Times New Roman" pitchFamily="18" charset="0"/>
                <a:cs typeface="Times New Roman" pitchFamily="18" charset="0"/>
              </a:rPr>
              <a:t>papillomavirus</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herpesvirus</a:t>
            </a:r>
            <a:r>
              <a:rPr lang="en-US" sz="2400" dirty="0" smtClean="0">
                <a:latin typeface="Times New Roman" pitchFamily="18" charset="0"/>
                <a:cs typeface="Times New Roman" pitchFamily="18" charset="0"/>
              </a:rPr>
              <a:t> DNAs, which remain </a:t>
            </a:r>
            <a:r>
              <a:rPr lang="en-US" sz="2400" dirty="0" err="1" smtClean="0">
                <a:latin typeface="Times New Roman" pitchFamily="18" charset="0"/>
                <a:cs typeface="Times New Roman" pitchFamily="18" charset="0"/>
              </a:rPr>
              <a:t>episomal</a:t>
            </a:r>
            <a:r>
              <a:rPr lang="en-US" sz="2400" dirty="0" smtClean="0">
                <a:latin typeface="Times New Roman" pitchFamily="18" charset="0"/>
                <a:cs typeface="Times New Roman" pitchFamily="18" charset="0"/>
              </a:rPr>
              <a:t>.</a:t>
            </a: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600" b="1" dirty="0" smtClean="0">
                <a:solidFill>
                  <a:srgbClr val="FF0000"/>
                </a:solidFill>
              </a:rPr>
              <a:t>Properties of Transformed Cells</a:t>
            </a:r>
            <a:endParaRPr lang="en-US" sz="3600" b="1" dirty="0">
              <a:solidFill>
                <a:srgbClr val="FF0000"/>
              </a:solidFill>
            </a:endParaRPr>
          </a:p>
        </p:txBody>
      </p:sp>
      <p:sp>
        <p:nvSpPr>
          <p:cNvPr id="3" name="Content Placeholder 2"/>
          <p:cNvSpPr>
            <a:spLocks noGrp="1"/>
          </p:cNvSpPr>
          <p:nvPr>
            <p:ph idx="1"/>
          </p:nvPr>
        </p:nvSpPr>
        <p:spPr>
          <a:xfrm>
            <a:off x="228600" y="990600"/>
            <a:ext cx="8686800" cy="5715000"/>
          </a:xfrm>
        </p:spPr>
        <p:txBody>
          <a:bodyPr>
            <a:normAutofit lnSpcReduction="10000"/>
          </a:bodyPr>
          <a:lstStyle/>
          <a:p>
            <a:pPr algn="just"/>
            <a:r>
              <a:rPr lang="en-US" sz="2400" dirty="0" smtClean="0">
                <a:latin typeface="Times New Roman" pitchFamily="18" charset="0"/>
                <a:cs typeface="Times New Roman" pitchFamily="18" charset="0"/>
              </a:rPr>
              <a:t>Loss of growth control (loss of contact inhibition in cultured cells)</a:t>
            </a:r>
          </a:p>
          <a:p>
            <a:pPr algn="just"/>
            <a:r>
              <a:rPr lang="en-US" sz="2400" dirty="0" smtClean="0">
                <a:latin typeface="Times New Roman" pitchFamily="18" charset="0"/>
                <a:cs typeface="Times New Roman" pitchFamily="18" charset="0"/>
              </a:rPr>
              <a:t>Cell morphology changes</a:t>
            </a:r>
          </a:p>
          <a:p>
            <a:pPr algn="just"/>
            <a:r>
              <a:rPr lang="en-US" sz="2400" dirty="0" smtClean="0">
                <a:latin typeface="Times New Roman" pitchFamily="18" charset="0"/>
                <a:cs typeface="Times New Roman" pitchFamily="18" charset="0"/>
              </a:rPr>
              <a:t>Altered cell metabolism and membrane changes</a:t>
            </a:r>
          </a:p>
          <a:p>
            <a:pPr algn="just"/>
            <a:r>
              <a:rPr lang="en-US" sz="2400" dirty="0" smtClean="0">
                <a:latin typeface="Times New Roman" pitchFamily="18" charset="0"/>
                <a:cs typeface="Times New Roman" pitchFamily="18" charset="0"/>
              </a:rPr>
              <a:t>Transformed cells frequently exhibit chromosomal aberrations</a:t>
            </a:r>
          </a:p>
          <a:p>
            <a:pPr algn="just"/>
            <a:r>
              <a:rPr lang="en-US" sz="2400" dirty="0" smtClean="0">
                <a:latin typeface="Times New Roman" pitchFamily="18" charset="0"/>
                <a:cs typeface="Times New Roman" pitchFamily="18" charset="0"/>
              </a:rPr>
              <a:t>Capacity to grow in suspension or in semisolid agar (anchorage independence).</a:t>
            </a:r>
          </a:p>
          <a:p>
            <a:pPr algn="just"/>
            <a:r>
              <a:rPr lang="en-US" sz="2400" dirty="0" smtClean="0">
                <a:latin typeface="Times New Roman" pitchFamily="18" charset="0"/>
                <a:cs typeface="Times New Roman" pitchFamily="18" charset="0"/>
              </a:rPr>
              <a:t>Tumor formation when transformed cells injected into suitable animal.</a:t>
            </a:r>
          </a:p>
          <a:p>
            <a:pPr algn="just"/>
            <a:r>
              <a:rPr lang="en-US" sz="2400" dirty="0" smtClean="0">
                <a:latin typeface="Times New Roman" pitchFamily="18" charset="0"/>
                <a:cs typeface="Times New Roman" pitchFamily="18" charset="0"/>
              </a:rPr>
              <a:t>Capacity to produce malignant </a:t>
            </a:r>
            <a:r>
              <a:rPr lang="en-US" sz="2400" dirty="0" err="1" smtClean="0">
                <a:latin typeface="Times New Roman" pitchFamily="18" charset="0"/>
                <a:cs typeface="Times New Roman" pitchFamily="18" charset="0"/>
              </a:rPr>
              <a:t>neoplasms</a:t>
            </a:r>
            <a:r>
              <a:rPr lang="en-US" sz="2400" dirty="0" smtClean="0">
                <a:latin typeface="Times New Roman" pitchFamily="18" charset="0"/>
                <a:cs typeface="Times New Roman" pitchFamily="18" charset="0"/>
              </a:rPr>
              <a:t> when inoculated into </a:t>
            </a:r>
            <a:r>
              <a:rPr lang="en-US" sz="2400" dirty="0" err="1" smtClean="0">
                <a:latin typeface="Times New Roman" pitchFamily="18" charset="0"/>
                <a:cs typeface="Times New Roman" pitchFamily="18" charset="0"/>
              </a:rPr>
              <a:t>isologous</a:t>
            </a:r>
            <a:r>
              <a:rPr lang="en-US" sz="2400" dirty="0" smtClean="0">
                <a:latin typeface="Times New Roman" pitchFamily="18" charset="0"/>
                <a:cs typeface="Times New Roman" pitchFamily="18" charset="0"/>
              </a:rPr>
              <a:t> or severely </a:t>
            </a:r>
            <a:r>
              <a:rPr lang="en-US" sz="2400" dirty="0" err="1" smtClean="0">
                <a:latin typeface="Times New Roman" pitchFamily="18" charset="0"/>
                <a:cs typeface="Times New Roman" pitchFamily="18" charset="0"/>
              </a:rPr>
              <a:t>immunosuppressed</a:t>
            </a:r>
            <a:r>
              <a:rPr lang="en-US" sz="2400" dirty="0" smtClean="0">
                <a:latin typeface="Times New Roman" pitchFamily="18" charset="0"/>
                <a:cs typeface="Times New Roman" pitchFamily="18" charset="0"/>
              </a:rPr>
              <a:t> animals.</a:t>
            </a:r>
          </a:p>
          <a:p>
            <a:pPr algn="just"/>
            <a:r>
              <a:rPr lang="en-US" sz="2400" b="1" dirty="0" smtClean="0">
                <a:latin typeface="Times New Roman" pitchFamily="18" charset="0"/>
                <a:cs typeface="Times New Roman" pitchFamily="18" charset="0"/>
              </a:rPr>
              <a:t>Tumor-specific antigens (TSA), </a:t>
            </a:r>
            <a:r>
              <a:rPr lang="en-US" sz="2400" dirty="0" smtClean="0">
                <a:latin typeface="Times New Roman" pitchFamily="18" charset="0"/>
                <a:cs typeface="Times New Roman" pitchFamily="18" charset="0"/>
              </a:rPr>
              <a:t>found on cancer cells only, not on healthy cells.</a:t>
            </a:r>
          </a:p>
          <a:p>
            <a:pPr algn="just"/>
            <a:r>
              <a:rPr lang="en-US" sz="2400" b="1" dirty="0" smtClean="0">
                <a:latin typeface="Times New Roman" pitchFamily="18" charset="0"/>
                <a:cs typeface="Times New Roman" pitchFamily="18" charset="0"/>
              </a:rPr>
              <a:t>Tumor-associated antigens (TAA), </a:t>
            </a:r>
            <a:r>
              <a:rPr lang="en-US" sz="2400" dirty="0" smtClean="0">
                <a:latin typeface="Times New Roman" pitchFamily="18" charset="0"/>
                <a:cs typeface="Times New Roman" pitchFamily="18" charset="0"/>
              </a:rPr>
              <a:t>which have elevated levels on tumor cells, but are also expressed at lower levels on healthy cells. Self expressed antigens by tumor cells </a:t>
            </a:r>
          </a:p>
          <a:p>
            <a:pPr algn="just"/>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a:t>
            </a:r>
            <a:endParaRPr lang="en-US" dirty="0"/>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1911</a:t>
            </a:r>
            <a:r>
              <a:rPr lang="en-US" sz="2400" dirty="0" smtClean="0">
                <a:latin typeface="Times New Roman" pitchFamily="18" charset="0"/>
                <a:cs typeface="Times New Roman" pitchFamily="18" charset="0"/>
              </a:rPr>
              <a:t>: </a:t>
            </a:r>
            <a:r>
              <a:rPr lang="en-US" sz="2400" b="1" dirty="0" smtClean="0">
                <a:solidFill>
                  <a:schemeClr val="accent2">
                    <a:lumMod val="75000"/>
                  </a:schemeClr>
                </a:solidFill>
                <a:latin typeface="Times New Roman" pitchFamily="18" charset="0"/>
                <a:cs typeface="Times New Roman" pitchFamily="18" charset="0"/>
              </a:rPr>
              <a:t>Francis Peyton Rous</a:t>
            </a:r>
            <a:r>
              <a:rPr lang="en-US" sz="2400" dirty="0" smtClean="0">
                <a:latin typeface="Times New Roman" pitchFamily="18" charset="0"/>
                <a:cs typeface="Times New Roman" pitchFamily="18" charset="0"/>
              </a:rPr>
              <a:t> (1879-1970) demonstrated that a virus (Rous sarcoma virus) can cause cancer in chickens (Nobel Prize, 1966) . He was the </a:t>
            </a:r>
            <a:r>
              <a:rPr lang="en-US" sz="2400" dirty="0" smtClean="0">
                <a:solidFill>
                  <a:srgbClr val="FF0000"/>
                </a:solidFill>
                <a:latin typeface="Times New Roman" pitchFamily="18" charset="0"/>
                <a:cs typeface="Times New Roman" pitchFamily="18" charset="0"/>
              </a:rPr>
              <a:t>first person to show that a virus could cause cancer.</a:t>
            </a:r>
            <a:r>
              <a:rPr lang="en-US" sz="2400" dirty="0" smtClean="0">
                <a:latin typeface="Times New Roman" pitchFamily="18" charset="0"/>
                <a:cs typeface="Times New Roman" pitchFamily="18" charset="0"/>
              </a:rPr>
              <a:t> It was later called Rous sarcoma virus 1.</a:t>
            </a: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1976</a:t>
            </a:r>
            <a:r>
              <a:rPr lang="en-US" sz="2400" dirty="0" smtClean="0">
                <a:latin typeface="Times New Roman" pitchFamily="18" charset="0"/>
                <a:cs typeface="Times New Roman" pitchFamily="18" charset="0"/>
              </a:rPr>
              <a:t>- J. Michael Bishop and H. Varmus identified the </a:t>
            </a:r>
            <a:r>
              <a:rPr lang="en-US" sz="2400" b="1" dirty="0" err="1" smtClean="0">
                <a:latin typeface="Times New Roman" pitchFamily="18" charset="0"/>
                <a:cs typeface="Times New Roman" pitchFamily="18" charset="0"/>
              </a:rPr>
              <a:t>oncogene</a:t>
            </a:r>
            <a:r>
              <a:rPr lang="en-US" sz="2400" dirty="0" smtClean="0">
                <a:latin typeface="Times New Roman" pitchFamily="18" charset="0"/>
                <a:cs typeface="Times New Roman" pitchFamily="18" charset="0"/>
              </a:rPr>
              <a:t> (v-SRC)  carried by Rous sarcoma virus.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Nobel Prize to both in 1989 for this discovery </a:t>
            </a: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Mechanisms of </a:t>
            </a:r>
            <a:r>
              <a:rPr lang="en-US" sz="3600" b="1" dirty="0" err="1" smtClean="0">
                <a:solidFill>
                  <a:srgbClr val="FF0000"/>
                </a:solidFill>
              </a:rPr>
              <a:t>Oncogenesis</a:t>
            </a:r>
            <a:endParaRPr lang="en-US" sz="3600" dirty="0">
              <a:solidFill>
                <a:srgbClr val="FF0000"/>
              </a:solidFill>
            </a:endParaRPr>
          </a:p>
        </p:txBody>
      </p:sp>
      <p:sp>
        <p:nvSpPr>
          <p:cNvPr id="3" name="Content Placeholder 2"/>
          <p:cNvSpPr>
            <a:spLocks noGrp="1"/>
          </p:cNvSpPr>
          <p:nvPr>
            <p:ph idx="1"/>
          </p:nvPr>
        </p:nvSpPr>
        <p:spPr/>
        <p:txBody>
          <a:bodyPr>
            <a:normAutofit/>
          </a:bodyPr>
          <a:lstStyle/>
          <a:p>
            <a:pPr>
              <a:buNone/>
            </a:pP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Activation of cellular proto-</a:t>
            </a:r>
            <a:r>
              <a:rPr lang="en-US" b="1" dirty="0" err="1" smtClean="0">
                <a:latin typeface="Times New Roman" pitchFamily="18" charset="0"/>
                <a:cs typeface="Times New Roman" pitchFamily="18" charset="0"/>
              </a:rPr>
              <a:t>oncogenes</a:t>
            </a:r>
            <a:r>
              <a:rPr lang="en-US" b="1" dirty="0" smtClean="0">
                <a:latin typeface="Times New Roman" pitchFamily="18" charset="0"/>
                <a:cs typeface="Times New Roman" pitchFamily="18" charset="0"/>
              </a:rPr>
              <a:t> or cellular </a:t>
            </a:r>
            <a:r>
              <a:rPr lang="en-US" b="1" dirty="0" err="1" smtClean="0">
                <a:latin typeface="Times New Roman" pitchFamily="18" charset="0"/>
                <a:cs typeface="Times New Roman" pitchFamily="18" charset="0"/>
              </a:rPr>
              <a:t>oncogenes</a:t>
            </a:r>
            <a:r>
              <a:rPr lang="en-US" b="1" dirty="0" smtClean="0">
                <a:latin typeface="Times New Roman" pitchFamily="18" charset="0"/>
                <a:cs typeface="Times New Roman" pitchFamily="18" charset="0"/>
              </a:rPr>
              <a:t> (c-</a:t>
            </a:r>
            <a:r>
              <a:rPr lang="en-US" b="1" dirty="0" err="1" smtClean="0">
                <a:latin typeface="Times New Roman" pitchFamily="18" charset="0"/>
                <a:cs typeface="Times New Roman" pitchFamily="18" charset="0"/>
              </a:rPr>
              <a:t>onc</a:t>
            </a:r>
            <a:r>
              <a:rPr lang="en-US" b="1" dirty="0" smtClean="0">
                <a:latin typeface="Times New Roman" pitchFamily="18" charset="0"/>
                <a:cs typeface="Times New Roman" pitchFamily="18" charset="0"/>
              </a:rPr>
              <a:t>)</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Presence of viral </a:t>
            </a:r>
            <a:r>
              <a:rPr lang="en-US" b="1" dirty="0" err="1" smtClean="0">
                <a:latin typeface="Times New Roman" pitchFamily="18" charset="0"/>
                <a:cs typeface="Times New Roman" pitchFamily="18" charset="0"/>
              </a:rPr>
              <a:t>oncogene</a:t>
            </a:r>
            <a:r>
              <a:rPr lang="en-US" b="1" dirty="0" smtClean="0">
                <a:latin typeface="Times New Roman" pitchFamily="18" charset="0"/>
                <a:cs typeface="Times New Roman" pitchFamily="18" charset="0"/>
              </a:rPr>
              <a:t> (v-</a:t>
            </a:r>
            <a:r>
              <a:rPr lang="en-US" b="1" dirty="0" err="1" smtClean="0">
                <a:latin typeface="Times New Roman" pitchFamily="18" charset="0"/>
                <a:cs typeface="Times New Roman" pitchFamily="18" charset="0"/>
              </a:rPr>
              <a:t>onc</a:t>
            </a:r>
            <a:r>
              <a:rPr lang="en-US" b="1" dirty="0" smtClean="0">
                <a:latin typeface="Times New Roman" pitchFamily="18" charset="0"/>
                <a:cs typeface="Times New Roman" pitchFamily="18" charset="0"/>
              </a:rPr>
              <a:t>)</a:t>
            </a: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Inactivation of tumor suppressor genes</a:t>
            </a: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600" b="1" dirty="0" smtClean="0">
                <a:solidFill>
                  <a:srgbClr val="FF0000"/>
                </a:solidFill>
              </a:rPr>
              <a:t>Proto-</a:t>
            </a:r>
            <a:r>
              <a:rPr lang="en-US" sz="3600" b="1" dirty="0" err="1" smtClean="0">
                <a:solidFill>
                  <a:srgbClr val="FF0000"/>
                </a:solidFill>
              </a:rPr>
              <a:t>oncogenes</a:t>
            </a:r>
            <a:endParaRPr lang="en-US" sz="3600" b="1" dirty="0">
              <a:solidFill>
                <a:srgbClr val="FF0000"/>
              </a:solidFill>
            </a:endParaRPr>
          </a:p>
        </p:txBody>
      </p:sp>
      <p:sp>
        <p:nvSpPr>
          <p:cNvPr id="3" name="Content Placeholder 2"/>
          <p:cNvSpPr>
            <a:spLocks noGrp="1"/>
          </p:cNvSpPr>
          <p:nvPr>
            <p:ph idx="1"/>
          </p:nvPr>
        </p:nvSpPr>
        <p:spPr>
          <a:xfrm>
            <a:off x="0" y="914400"/>
            <a:ext cx="9144000" cy="4525963"/>
          </a:xfrm>
        </p:spPr>
        <p:txBody>
          <a:bodyPr>
            <a:noAutofit/>
          </a:bodyPr>
          <a:lstStyle/>
          <a:p>
            <a:pPr algn="just"/>
            <a:r>
              <a:rPr lang="en-US" sz="2400" dirty="0" smtClean="0">
                <a:latin typeface="Times New Roman" pitchFamily="18" charset="0"/>
                <a:cs typeface="Times New Roman" pitchFamily="18" charset="0"/>
              </a:rPr>
              <a:t>Normal cellular proteins found in all cells, involved in control of cell growth, division, and differentiation. </a:t>
            </a:r>
          </a:p>
          <a:p>
            <a:pPr algn="just"/>
            <a:r>
              <a:rPr lang="en-US" sz="2400" dirty="0" smtClean="0">
                <a:latin typeface="Times New Roman" pitchFamily="18" charset="0"/>
                <a:cs typeface="Times New Roman" pitchFamily="18" charset="0"/>
              </a:rPr>
              <a:t>Highly regulated proteins.</a:t>
            </a:r>
          </a:p>
          <a:p>
            <a:pPr algn="just"/>
            <a:r>
              <a:rPr lang="en-US" sz="2400" dirty="0" smtClean="0">
                <a:latin typeface="Times New Roman" pitchFamily="18" charset="0"/>
                <a:cs typeface="Times New Roman" pitchFamily="18" charset="0"/>
              </a:rPr>
              <a:t>Abbreviated as c-ONCS,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c-MYC, c-MOS, c-RAS.</a:t>
            </a:r>
          </a:p>
          <a:p>
            <a:pPr algn="just"/>
            <a:r>
              <a:rPr lang="en-US" sz="2400" dirty="0" smtClean="0">
                <a:latin typeface="Times New Roman" pitchFamily="18" charset="0"/>
                <a:cs typeface="Times New Roman" pitchFamily="18" charset="0"/>
              </a:rPr>
              <a:t>Certain retroviruses isolated from tumors carry altered copies of c-ONCS abbreviated as v-ONCS,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v-MYC, v‐MOS, v-RAS. </a:t>
            </a:r>
          </a:p>
          <a:p>
            <a:pPr algn="just"/>
            <a:r>
              <a:rPr lang="en-US" sz="2400" dirty="0" smtClean="0">
                <a:latin typeface="Times New Roman" pitchFamily="18" charset="0"/>
                <a:cs typeface="Times New Roman" pitchFamily="18" charset="0"/>
              </a:rPr>
              <a:t>Proto-</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are partially or even completely silenced after cellular differentiation is complete. </a:t>
            </a:r>
          </a:p>
          <a:p>
            <a:pPr algn="just"/>
            <a:r>
              <a:rPr lang="en-US" sz="2400" dirty="0" smtClean="0">
                <a:latin typeface="Times New Roman" pitchFamily="18" charset="0"/>
                <a:cs typeface="Times New Roman" pitchFamily="18" charset="0"/>
              </a:rPr>
              <a:t>When they suffer alterations (e.g., amplification, mutations or epigenetic modifications), which are able to completely reactivate them, </a:t>
            </a:r>
            <a:r>
              <a:rPr lang="en-US" sz="2400" b="1" dirty="0" smtClean="0">
                <a:latin typeface="Times New Roman" pitchFamily="18" charset="0"/>
                <a:cs typeface="Times New Roman" pitchFamily="18" charset="0"/>
              </a:rPr>
              <a:t>the proto-</a:t>
            </a:r>
            <a:r>
              <a:rPr lang="en-US" sz="2400" b="1" dirty="0" err="1" smtClean="0">
                <a:latin typeface="Times New Roman" pitchFamily="18" charset="0"/>
                <a:cs typeface="Times New Roman" pitchFamily="18" charset="0"/>
              </a:rPr>
              <a:t>oncogenes</a:t>
            </a:r>
            <a:r>
              <a:rPr lang="en-US" sz="2400" b="1" dirty="0" smtClean="0">
                <a:latin typeface="Times New Roman" pitchFamily="18" charset="0"/>
                <a:cs typeface="Times New Roman" pitchFamily="18" charset="0"/>
              </a:rPr>
              <a:t> become </a:t>
            </a:r>
            <a:r>
              <a:rPr lang="en-US" sz="2400" b="1" dirty="0" err="1" smtClean="0">
                <a:latin typeface="Times New Roman" pitchFamily="18" charset="0"/>
                <a:cs typeface="Times New Roman" pitchFamily="18" charset="0"/>
              </a:rPr>
              <a:t>oncogenes</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and, if </a:t>
            </a:r>
            <a:r>
              <a:rPr lang="en-US" sz="2400" dirty="0" err="1" smtClean="0">
                <a:latin typeface="Times New Roman" pitchFamily="18" charset="0"/>
                <a:cs typeface="Times New Roman" pitchFamily="18" charset="0"/>
              </a:rPr>
              <a:t>overexpressed</a:t>
            </a:r>
            <a:r>
              <a:rPr lang="en-US" sz="2400" dirty="0" smtClean="0">
                <a:latin typeface="Times New Roman" pitchFamily="18" charset="0"/>
                <a:cs typeface="Times New Roman" pitchFamily="18" charset="0"/>
              </a:rPr>
              <a:t>, they lead to abnormal cell proliferation, dedifferentiation, and immortality, turning them to malignant </a:t>
            </a:r>
            <a:r>
              <a:rPr lang="en-US" sz="2400" dirty="0" err="1" smtClean="0">
                <a:latin typeface="Times New Roman" pitchFamily="18" charset="0"/>
                <a:cs typeface="Times New Roman" pitchFamily="18" charset="0"/>
              </a:rPr>
              <a:t>tumoral</a:t>
            </a:r>
            <a:r>
              <a:rPr lang="en-US" sz="2400" dirty="0" smtClean="0">
                <a:latin typeface="Times New Roman" pitchFamily="18" charset="0"/>
                <a:cs typeface="Times New Roman" pitchFamily="18" charset="0"/>
              </a:rPr>
              <a:t> cells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FF0000"/>
                </a:solidFill>
              </a:rPr>
              <a:t>Classes of proto-</a:t>
            </a:r>
            <a:r>
              <a:rPr lang="en-US" sz="3600" b="1" dirty="0" err="1" smtClean="0">
                <a:solidFill>
                  <a:srgbClr val="FF0000"/>
                </a:solidFill>
              </a:rPr>
              <a:t>oncogenes</a:t>
            </a:r>
            <a:r>
              <a:rPr lang="en-US" sz="3600" b="1" dirty="0" smtClean="0">
                <a:solidFill>
                  <a:srgbClr val="FF0000"/>
                </a:solidFill>
              </a:rPr>
              <a:t/>
            </a:r>
            <a:br>
              <a:rPr lang="en-US" sz="3600" b="1" dirty="0" smtClean="0">
                <a:solidFill>
                  <a:srgbClr val="FF0000"/>
                </a:solidFill>
              </a:rPr>
            </a:br>
            <a:endParaRPr lang="en-US" sz="3600" b="1" dirty="0">
              <a:solidFill>
                <a:srgbClr val="FF0000"/>
              </a:solidFill>
            </a:endParaRPr>
          </a:p>
        </p:txBody>
      </p:sp>
      <p:sp>
        <p:nvSpPr>
          <p:cNvPr id="3" name="Content Placeholder 2"/>
          <p:cNvSpPr>
            <a:spLocks noGrp="1"/>
          </p:cNvSpPr>
          <p:nvPr>
            <p:ph idx="1"/>
          </p:nvPr>
        </p:nvSpPr>
        <p:spPr>
          <a:xfrm>
            <a:off x="228600" y="1447800"/>
            <a:ext cx="8458200" cy="4724400"/>
          </a:xfrm>
        </p:spPr>
        <p:txBody>
          <a:bodyPr>
            <a:normAutofit/>
          </a:bodyPr>
          <a:lstStyle/>
          <a:p>
            <a:r>
              <a:rPr lang="en-US" sz="2400" dirty="0" smtClean="0">
                <a:latin typeface="Times New Roman" pitchFamily="18" charset="0"/>
                <a:cs typeface="Times New Roman" pitchFamily="18" charset="0"/>
              </a:rPr>
              <a:t>The proteins c-</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encode, called </a:t>
            </a:r>
            <a:r>
              <a:rPr lang="en-US" sz="2400" b="1" dirty="0" err="1" smtClean="0">
                <a:latin typeface="Times New Roman" pitchFamily="18" charset="0"/>
                <a:cs typeface="Times New Roman" pitchFamily="18" charset="0"/>
              </a:rPr>
              <a:t>oncoproteins</a:t>
            </a:r>
            <a:r>
              <a:rPr lang="en-US" sz="2400" dirty="0" smtClean="0">
                <a:latin typeface="Times New Roman" pitchFamily="18" charset="0"/>
                <a:cs typeface="Times New Roman" pitchFamily="18" charset="0"/>
              </a:rPr>
              <a:t>, act in five major ways- </a:t>
            </a:r>
          </a:p>
          <a:p>
            <a:pPr>
              <a:buNone/>
            </a:pPr>
            <a:r>
              <a:rPr lang="en-US" sz="2400" dirty="0" smtClean="0">
                <a:latin typeface="Times New Roman" pitchFamily="18" charset="0"/>
                <a:cs typeface="Times New Roman" pitchFamily="18" charset="0"/>
              </a:rPr>
              <a:t>(1) </a:t>
            </a:r>
            <a:r>
              <a:rPr lang="en-US" sz="2400" b="1" dirty="0" smtClean="0">
                <a:latin typeface="Times New Roman" pitchFamily="18" charset="0"/>
                <a:cs typeface="Times New Roman" pitchFamily="18" charset="0"/>
              </a:rPr>
              <a:t>Extracellular growth factors</a:t>
            </a:r>
            <a:r>
              <a:rPr lang="en-US" sz="2400" dirty="0" smtClean="0">
                <a:latin typeface="Times New Roman" pitchFamily="18" charset="0"/>
                <a:cs typeface="Times New Roman" pitchFamily="18" charset="0"/>
              </a:rPr>
              <a:t>- homologues of normal growth factors</a:t>
            </a:r>
          </a:p>
          <a:p>
            <a:pPr>
              <a:buNone/>
            </a:pPr>
            <a:r>
              <a:rPr lang="en-US" sz="2400" dirty="0" smtClean="0">
                <a:latin typeface="Times New Roman" pitchFamily="18" charset="0"/>
                <a:cs typeface="Times New Roman" pitchFamily="18" charset="0"/>
              </a:rPr>
              <a:t> (2) </a:t>
            </a:r>
            <a:r>
              <a:rPr lang="en-US" sz="2400" b="1" dirty="0" smtClean="0">
                <a:latin typeface="Times New Roman" pitchFamily="18" charset="0"/>
                <a:cs typeface="Times New Roman" pitchFamily="18" charset="0"/>
              </a:rPr>
              <a:t>Growth factor receptors- </a:t>
            </a:r>
            <a:r>
              <a:rPr lang="en-US" sz="2400" dirty="0" smtClean="0">
                <a:latin typeface="Times New Roman" pitchFamily="18" charset="0"/>
                <a:cs typeface="Times New Roman" pitchFamily="18" charset="0"/>
              </a:rPr>
              <a:t>Membrane proteins that capture extracellular signals stimulating cell growth. </a:t>
            </a:r>
          </a:p>
          <a:p>
            <a:pPr>
              <a:buNone/>
            </a:pPr>
            <a:r>
              <a:rPr lang="en-US" sz="2400" dirty="0" smtClean="0">
                <a:latin typeface="Times New Roman" pitchFamily="18" charset="0"/>
                <a:cs typeface="Times New Roman" pitchFamily="18" charset="0"/>
              </a:rPr>
              <a:t>(3) </a:t>
            </a:r>
            <a:r>
              <a:rPr lang="en-US" sz="2400" b="1" dirty="0" smtClean="0">
                <a:latin typeface="Times New Roman" pitchFamily="18" charset="0"/>
                <a:cs typeface="Times New Roman" pitchFamily="18" charset="0"/>
              </a:rPr>
              <a:t>Intracellular signal transducers- </a:t>
            </a:r>
            <a:r>
              <a:rPr lang="en-US" sz="2400" dirty="0" smtClean="0">
                <a:latin typeface="Times New Roman" pitchFamily="18" charset="0"/>
                <a:cs typeface="Times New Roman" pitchFamily="18" charset="0"/>
              </a:rPr>
              <a:t>Transmit signal initiated by growth factor binding to receptors.</a:t>
            </a:r>
          </a:p>
          <a:p>
            <a:pPr>
              <a:buNone/>
            </a:pPr>
            <a:r>
              <a:rPr lang="en-US" sz="2400" dirty="0" smtClean="0">
                <a:latin typeface="Times New Roman" pitchFamily="18" charset="0"/>
                <a:cs typeface="Times New Roman" pitchFamily="18" charset="0"/>
              </a:rPr>
              <a:t>(4) </a:t>
            </a:r>
            <a:r>
              <a:rPr lang="en-US" sz="2400" b="1" dirty="0" smtClean="0">
                <a:latin typeface="Times New Roman" pitchFamily="18" charset="0"/>
                <a:cs typeface="Times New Roman" pitchFamily="18" charset="0"/>
              </a:rPr>
              <a:t>Nuclear transcription factors- </a:t>
            </a:r>
            <a:r>
              <a:rPr lang="en-US" sz="2400" dirty="0" smtClean="0">
                <a:latin typeface="Times New Roman" pitchFamily="18" charset="0"/>
                <a:cs typeface="Times New Roman" pitchFamily="18" charset="0"/>
              </a:rPr>
              <a:t>regulate gene expression</a:t>
            </a:r>
          </a:p>
          <a:p>
            <a:pPr>
              <a:buNone/>
            </a:pPr>
            <a:r>
              <a:rPr lang="en-US" sz="2400" dirty="0" smtClean="0">
                <a:latin typeface="Times New Roman" pitchFamily="18" charset="0"/>
                <a:cs typeface="Times New Roman" pitchFamily="18" charset="0"/>
              </a:rPr>
              <a:t>(5) </a:t>
            </a:r>
            <a:r>
              <a:rPr lang="en-US" sz="2400" b="1" dirty="0" smtClean="0">
                <a:latin typeface="Times New Roman" pitchFamily="18" charset="0"/>
                <a:cs typeface="Times New Roman" pitchFamily="18" charset="0"/>
              </a:rPr>
              <a:t>Cell cycle control proteins- </a:t>
            </a:r>
            <a:r>
              <a:rPr lang="en-US" sz="2400" dirty="0" smtClean="0">
                <a:latin typeface="Times New Roman" pitchFamily="18" charset="0"/>
                <a:cs typeface="Times New Roman" pitchFamily="18" charset="0"/>
              </a:rPr>
              <a:t>negative regulators of cell growth</a:t>
            </a:r>
          </a:p>
          <a:p>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b="1" dirty="0" smtClean="0">
                <a:solidFill>
                  <a:srgbClr val="FF0000"/>
                </a:solidFill>
              </a:rPr>
              <a:t>Activation of Cellular </a:t>
            </a:r>
            <a:r>
              <a:rPr lang="en-US" sz="3600" b="1" dirty="0" err="1" smtClean="0">
                <a:solidFill>
                  <a:srgbClr val="FF0000"/>
                </a:solidFill>
              </a:rPr>
              <a:t>Oncogenes</a:t>
            </a:r>
            <a:r>
              <a:rPr lang="en-US" sz="3600" b="1" dirty="0" smtClean="0">
                <a:solidFill>
                  <a:srgbClr val="FF0000"/>
                </a:solidFill>
              </a:rPr>
              <a:t> </a:t>
            </a:r>
            <a:endParaRPr lang="en-US" sz="3600" b="1" dirty="0">
              <a:solidFill>
                <a:srgbClr val="FF0000"/>
              </a:solidFill>
            </a:endParaRPr>
          </a:p>
        </p:txBody>
      </p:sp>
      <p:sp>
        <p:nvSpPr>
          <p:cNvPr id="5" name="Content Placeholder 4"/>
          <p:cNvSpPr>
            <a:spLocks noGrp="1"/>
          </p:cNvSpPr>
          <p:nvPr>
            <p:ph idx="1"/>
          </p:nvPr>
        </p:nvSpPr>
        <p:spPr>
          <a:xfrm>
            <a:off x="152400" y="1447800"/>
            <a:ext cx="8991600" cy="4724400"/>
          </a:xfrm>
        </p:spPr>
        <p:txBody>
          <a:bodyPr>
            <a:normAutofit lnSpcReduction="10000"/>
          </a:bodyPr>
          <a:lstStyle/>
          <a:p>
            <a:r>
              <a:rPr lang="en-US" sz="2400" dirty="0" smtClean="0">
                <a:latin typeface="Times New Roman" pitchFamily="18" charset="0"/>
                <a:cs typeface="Times New Roman" pitchFamily="18" charset="0"/>
              </a:rPr>
              <a:t>Abnormal c-</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 expression </a:t>
            </a:r>
            <a:r>
              <a:rPr lang="en-GB" sz="2400" dirty="0" smtClean="0">
                <a:latin typeface="Times New Roman" pitchFamily="18" charset="0"/>
                <a:cs typeface="Times New Roman" pitchFamily="18" charset="0"/>
              </a:rPr>
              <a:t>may be responsible for some </a:t>
            </a:r>
            <a:r>
              <a:rPr lang="en-GB" sz="2400" dirty="0" err="1" smtClean="0">
                <a:latin typeface="Times New Roman" pitchFamily="18" charset="0"/>
                <a:cs typeface="Times New Roman" pitchFamily="18" charset="0"/>
              </a:rPr>
              <a:t>oncogenic</a:t>
            </a:r>
            <a:r>
              <a:rPr lang="en-GB" sz="2400" dirty="0" smtClean="0">
                <a:latin typeface="Times New Roman" pitchFamily="18" charset="0"/>
                <a:cs typeface="Times New Roman" pitchFamily="18" charset="0"/>
              </a:rPr>
              <a:t> transformations. </a:t>
            </a:r>
          </a:p>
          <a:p>
            <a:pPr marL="457200" indent="-457200">
              <a:buAutoNum type="arabicPeriod"/>
            </a:pPr>
            <a:r>
              <a:rPr lang="en-GB" sz="2400" b="1" dirty="0" err="1" smtClean="0">
                <a:latin typeface="Times New Roman" pitchFamily="18" charset="0"/>
                <a:cs typeface="Times New Roman" pitchFamily="18" charset="0"/>
              </a:rPr>
              <a:t>Insertional</a:t>
            </a:r>
            <a:r>
              <a:rPr lang="en-GB" sz="2400" b="1" dirty="0" smtClean="0">
                <a:latin typeface="Times New Roman" pitchFamily="18" charset="0"/>
                <a:cs typeface="Times New Roman" pitchFamily="18" charset="0"/>
              </a:rPr>
              <a:t> mutagenesis- </a:t>
            </a:r>
            <a:r>
              <a:rPr lang="en-GB" sz="2400" dirty="0" smtClean="0">
                <a:latin typeface="Times New Roman" pitchFamily="18" charset="0"/>
                <a:cs typeface="Times New Roman" pitchFamily="18" charset="0"/>
              </a:rPr>
              <a:t>The presence upstream from a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of an integrated provirus which lacks the v-</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with its strong promoter and enhancer elements, may amplify the expression of the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greatly.</a:t>
            </a:r>
          </a:p>
          <a:p>
            <a:pPr marL="457200" indent="-457200">
              <a:buNone/>
            </a:pPr>
            <a:r>
              <a:rPr lang="en-GB" sz="2400" dirty="0" err="1" smtClean="0">
                <a:latin typeface="Times New Roman" pitchFamily="18" charset="0"/>
                <a:cs typeface="Times New Roman" pitchFamily="18" charset="0"/>
              </a:rPr>
              <a:t>Eg</a:t>
            </a:r>
            <a:r>
              <a:rPr lang="en-GB" sz="2400" dirty="0" smtClean="0">
                <a:latin typeface="Times New Roman" pitchFamily="18" charset="0"/>
                <a:cs typeface="Times New Roman" pitchFamily="18" charset="0"/>
              </a:rPr>
              <a:t>. Integrated avian </a:t>
            </a:r>
            <a:r>
              <a:rPr lang="en-GB" sz="2400" dirty="0" err="1" smtClean="0">
                <a:latin typeface="Times New Roman" pitchFamily="18" charset="0"/>
                <a:cs typeface="Times New Roman" pitchFamily="18" charset="0"/>
              </a:rPr>
              <a:t>leukosis</a:t>
            </a:r>
            <a:r>
              <a:rPr lang="en-GB" sz="2400" dirty="0" smtClean="0">
                <a:latin typeface="Times New Roman" pitchFamily="18" charset="0"/>
                <a:cs typeface="Times New Roman" pitchFamily="18" charset="0"/>
              </a:rPr>
              <a:t> provirus increases the synthesis of the normal c-</a:t>
            </a:r>
            <a:r>
              <a:rPr lang="en-GB" sz="2400" dirty="0" err="1" smtClean="0">
                <a:latin typeface="Times New Roman" pitchFamily="18" charset="0"/>
                <a:cs typeface="Times New Roman" pitchFamily="18" charset="0"/>
              </a:rPr>
              <a:t>myc</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oncogene</a:t>
            </a:r>
            <a:r>
              <a:rPr lang="en-GB" sz="2400" dirty="0" smtClean="0">
                <a:latin typeface="Times New Roman" pitchFamily="18" charset="0"/>
                <a:cs typeface="Times New Roman" pitchFamily="18" charset="0"/>
              </a:rPr>
              <a:t> product 30- to 100-fold.</a:t>
            </a:r>
          </a:p>
          <a:p>
            <a:pPr marL="457200" indent="-457200">
              <a:buNone/>
            </a:pPr>
            <a:endParaRPr lang="en-GB" sz="2400" b="1" dirty="0" smtClean="0">
              <a:latin typeface="Times New Roman" pitchFamily="18" charset="0"/>
              <a:cs typeface="Times New Roman" pitchFamily="18" charset="0"/>
            </a:endParaRPr>
          </a:p>
          <a:p>
            <a:pPr marL="457200" indent="-457200">
              <a:buNone/>
            </a:pPr>
            <a:r>
              <a:rPr lang="en-GB" sz="2400" b="1" dirty="0" smtClean="0">
                <a:latin typeface="Times New Roman" pitchFamily="18" charset="0"/>
                <a:cs typeface="Times New Roman" pitchFamily="18" charset="0"/>
              </a:rPr>
              <a:t>2. Transposition or translocation- </a:t>
            </a:r>
            <a:r>
              <a:rPr lang="en-GB" sz="2400" dirty="0" smtClean="0">
                <a:latin typeface="Times New Roman" pitchFamily="18" charset="0"/>
                <a:cs typeface="Times New Roman" pitchFamily="18" charset="0"/>
              </a:rPr>
              <a:t>Transposition of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genes may result in their enhanced expression by bringing them under the control of strong promoter and enhancer elements.</a:t>
            </a: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 y="381000"/>
            <a:ext cx="8763000" cy="5791200"/>
          </a:xfrm>
        </p:spPr>
        <p:txBody>
          <a:bodyPr>
            <a:noAutofit/>
          </a:bodyPr>
          <a:lstStyle/>
          <a:p>
            <a:pPr algn="just">
              <a:buNone/>
            </a:pPr>
            <a:r>
              <a:rPr lang="en-US" sz="2400" b="1" dirty="0" smtClean="0">
                <a:latin typeface="Times New Roman" pitchFamily="18" charset="0"/>
                <a:cs typeface="Times New Roman" pitchFamily="18" charset="0"/>
              </a:rPr>
              <a:t>3. Gene Amplification- </a:t>
            </a:r>
            <a:r>
              <a:rPr lang="en-GB" sz="2400" dirty="0" smtClean="0">
                <a:latin typeface="Times New Roman" pitchFamily="18" charset="0"/>
                <a:cs typeface="Times New Roman" pitchFamily="18" charset="0"/>
              </a:rPr>
              <a:t>The increase in gene copy number leads to a corresponding increase in the amount of </a:t>
            </a:r>
            <a:r>
              <a:rPr lang="en-GB" sz="2400" dirty="0" err="1" smtClean="0">
                <a:latin typeface="Times New Roman" pitchFamily="18" charset="0"/>
                <a:cs typeface="Times New Roman" pitchFamily="18" charset="0"/>
              </a:rPr>
              <a:t>oncogene</a:t>
            </a:r>
            <a:r>
              <a:rPr lang="en-GB" sz="2400" dirty="0" smtClean="0">
                <a:latin typeface="Times New Roman" pitchFamily="18" charset="0"/>
                <a:cs typeface="Times New Roman" pitchFamily="18" charset="0"/>
              </a:rPr>
              <a:t> product, thus producing cancer. </a:t>
            </a:r>
          </a:p>
          <a:p>
            <a:pPr algn="just">
              <a:buNone/>
            </a:pPr>
            <a:r>
              <a:rPr lang="en-GB" sz="2400" dirty="0" err="1" smtClean="0">
                <a:latin typeface="Times New Roman" pitchFamily="18" charset="0"/>
                <a:cs typeface="Times New Roman" pitchFamily="18" charset="0"/>
              </a:rPr>
              <a:t>Eg</a:t>
            </a:r>
            <a:r>
              <a:rPr lang="en-GB" sz="2400" dirty="0" smtClean="0">
                <a:latin typeface="Times New Roman" pitchFamily="18" charset="0"/>
                <a:cs typeface="Times New Roman" pitchFamily="18" charset="0"/>
              </a:rPr>
              <a:t>. Amplification of </a:t>
            </a:r>
            <a:r>
              <a:rPr lang="en-GB" sz="2400" i="1" dirty="0" smtClean="0">
                <a:latin typeface="Times New Roman" pitchFamily="18" charset="0"/>
                <a:cs typeface="Times New Roman" pitchFamily="18" charset="0"/>
              </a:rPr>
              <a:t>c-</a:t>
            </a:r>
            <a:r>
              <a:rPr lang="en-GB" sz="2400" i="1" dirty="0" err="1" smtClean="0">
                <a:latin typeface="Times New Roman" pitchFamily="18" charset="0"/>
                <a:cs typeface="Times New Roman" pitchFamily="18" charset="0"/>
              </a:rPr>
              <a:t>ras</a:t>
            </a:r>
            <a:r>
              <a:rPr lang="en-GB" sz="2400" dirty="0" smtClean="0">
                <a:latin typeface="Times New Roman" pitchFamily="18" charset="0"/>
                <a:cs typeface="Times New Roman" pitchFamily="18" charset="0"/>
              </a:rPr>
              <a:t> and </a:t>
            </a:r>
            <a:r>
              <a:rPr lang="en-GB" sz="2400" i="1" dirty="0" smtClean="0">
                <a:latin typeface="Times New Roman" pitchFamily="18" charset="0"/>
                <a:cs typeface="Times New Roman" pitchFamily="18" charset="0"/>
              </a:rPr>
              <a:t>c-</a:t>
            </a:r>
            <a:r>
              <a:rPr lang="en-GB" sz="2400" i="1" dirty="0" err="1" smtClean="0">
                <a:latin typeface="Times New Roman" pitchFamily="18" charset="0"/>
                <a:cs typeface="Times New Roman" pitchFamily="18" charset="0"/>
              </a:rPr>
              <a:t>myc</a:t>
            </a:r>
            <a:r>
              <a:rPr lang="en-GB" sz="2400" dirty="0" smtClean="0">
                <a:latin typeface="Times New Roman" pitchFamily="18" charset="0"/>
                <a:cs typeface="Times New Roman" pitchFamily="18" charset="0"/>
              </a:rPr>
              <a:t> genes in human </a:t>
            </a:r>
            <a:r>
              <a:rPr lang="en-GB" sz="2400" dirty="0" err="1" smtClean="0">
                <a:latin typeface="Times New Roman" pitchFamily="18" charset="0"/>
                <a:cs typeface="Times New Roman" pitchFamily="18" charset="0"/>
              </a:rPr>
              <a:t>tumors</a:t>
            </a:r>
            <a:r>
              <a:rPr lang="en-GB" sz="2400" dirty="0" smtClean="0">
                <a:latin typeface="Times New Roman" pitchFamily="18" charset="0"/>
                <a:cs typeface="Times New Roman" pitchFamily="18" charset="0"/>
              </a:rPr>
              <a:t>.</a:t>
            </a:r>
          </a:p>
          <a:p>
            <a:pPr algn="just">
              <a:buNone/>
            </a:pPr>
            <a:endParaRPr lang="en-GB" sz="2400" b="1" dirty="0" smtClean="0">
              <a:latin typeface="Times New Roman" pitchFamily="18" charset="0"/>
              <a:cs typeface="Times New Roman" pitchFamily="18" charset="0"/>
            </a:endParaRPr>
          </a:p>
          <a:p>
            <a:pPr algn="just">
              <a:buNone/>
            </a:pPr>
            <a:r>
              <a:rPr lang="en-GB" sz="2400" b="1" dirty="0" smtClean="0">
                <a:latin typeface="Times New Roman" pitchFamily="18" charset="0"/>
                <a:cs typeface="Times New Roman" pitchFamily="18" charset="0"/>
              </a:rPr>
              <a:t>4. Mutation- </a:t>
            </a:r>
            <a:r>
              <a:rPr lang="en-GB" sz="2400" dirty="0" smtClean="0">
                <a:latin typeface="Times New Roman" pitchFamily="18" charset="0"/>
                <a:cs typeface="Times New Roman" pitchFamily="18" charset="0"/>
              </a:rPr>
              <a:t>Mutation in a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e.g., c-</a:t>
            </a:r>
            <a:r>
              <a:rPr lang="en-GB" sz="2400" dirty="0" err="1" smtClean="0">
                <a:latin typeface="Times New Roman" pitchFamily="18" charset="0"/>
                <a:cs typeface="Times New Roman" pitchFamily="18" charset="0"/>
              </a:rPr>
              <a:t>ras</a:t>
            </a:r>
            <a:r>
              <a:rPr lang="en-GB" sz="2400" dirty="0" smtClean="0">
                <a:latin typeface="Times New Roman" pitchFamily="18" charset="0"/>
                <a:cs typeface="Times New Roman" pitchFamily="18" charset="0"/>
              </a:rPr>
              <a:t>, may alter the function of the corresponding </a:t>
            </a:r>
            <a:r>
              <a:rPr lang="en-GB" sz="2400" dirty="0" err="1" smtClean="0">
                <a:latin typeface="Times New Roman" pitchFamily="18" charset="0"/>
                <a:cs typeface="Times New Roman" pitchFamily="18" charset="0"/>
              </a:rPr>
              <a:t>oncoprotein</a:t>
            </a:r>
            <a:r>
              <a:rPr lang="en-GB" sz="2400" dirty="0" smtClean="0">
                <a:latin typeface="Times New Roman" pitchFamily="18" charset="0"/>
                <a:cs typeface="Times New Roman" pitchFamily="18" charset="0"/>
              </a:rPr>
              <a:t>. Such mutations can occur either in situ as a result of chemical or physical mutagenesis or in the course of recombination with integrated retroviral DNA.</a:t>
            </a:r>
          </a:p>
          <a:p>
            <a:pPr algn="just">
              <a:buNone/>
            </a:pPr>
            <a:r>
              <a:rPr lang="en-GB" sz="2400" dirty="0" smtClean="0">
                <a:latin typeface="Times New Roman" pitchFamily="18" charset="0"/>
                <a:cs typeface="Times New Roman" pitchFamily="18" charset="0"/>
              </a:rPr>
              <a:t>Given the high error rate of reverse transcription, v-</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homologues of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genes will always carry mutations and the strongly promoted production of the viral </a:t>
            </a:r>
            <a:r>
              <a:rPr lang="en-GB" sz="2400" dirty="0" err="1" smtClean="0">
                <a:latin typeface="Times New Roman" pitchFamily="18" charset="0"/>
                <a:cs typeface="Times New Roman" pitchFamily="18" charset="0"/>
              </a:rPr>
              <a:t>oncoprotein</a:t>
            </a:r>
            <a:r>
              <a:rPr lang="en-GB" sz="2400" dirty="0" smtClean="0">
                <a:latin typeface="Times New Roman" pitchFamily="18" charset="0"/>
                <a:cs typeface="Times New Roman" pitchFamily="18" charset="0"/>
              </a:rPr>
              <a:t> will readily exceed that of the normal cellular </a:t>
            </a:r>
            <a:r>
              <a:rPr lang="en-GB" sz="2400" dirty="0" err="1" smtClean="0">
                <a:latin typeface="Times New Roman" pitchFamily="18" charset="0"/>
                <a:cs typeface="Times New Roman" pitchFamily="18" charset="0"/>
              </a:rPr>
              <a:t>oncoprotein</a:t>
            </a:r>
            <a:r>
              <a:rPr lang="en-GB" sz="2400" dirty="0" smtClean="0">
                <a:latin typeface="Times New Roman" pitchFamily="18" charset="0"/>
                <a:cs typeface="Times New Roman" pitchFamily="18" charset="0"/>
              </a:rPr>
              <a:t> resulting in uncontrolled cell growth.</a:t>
            </a:r>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981200" y="1828800"/>
            <a:ext cx="6821715" cy="3581400"/>
          </a:xfrm>
          <a:prstGeom prst="rect">
            <a:avLst/>
          </a:prstGeom>
          <a:noFill/>
          <a:ln w="9525">
            <a:noFill/>
            <a:miter lim="800000"/>
            <a:headEnd/>
            <a:tailEnd/>
          </a:ln>
          <a:effectLst/>
        </p:spPr>
      </p:pic>
      <p:sp>
        <p:nvSpPr>
          <p:cNvPr id="5" name="Rectangle 4"/>
          <p:cNvSpPr/>
          <p:nvPr/>
        </p:nvSpPr>
        <p:spPr>
          <a:xfrm>
            <a:off x="152400" y="1600200"/>
            <a:ext cx="1905000" cy="1631216"/>
          </a:xfrm>
          <a:prstGeom prst="rect">
            <a:avLst/>
          </a:prstGeom>
        </p:spPr>
        <p:txBody>
          <a:bodyPr wrap="square">
            <a:spAutoFit/>
          </a:bodyPr>
          <a:lstStyle/>
          <a:p>
            <a:r>
              <a:rPr lang="en-US" sz="2000" b="1" dirty="0" smtClean="0">
                <a:latin typeface="Times New Roman" pitchFamily="18" charset="0"/>
                <a:cs typeface="Times New Roman" pitchFamily="18" charset="0"/>
              </a:rPr>
              <a:t>-mutation</a:t>
            </a:r>
          </a:p>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amplification</a:t>
            </a:r>
          </a:p>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translocation</a:t>
            </a:r>
          </a:p>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insertion of viral genome</a:t>
            </a:r>
            <a:endParaRPr lang="en-US" sz="2000" dirty="0">
              <a:latin typeface="Times New Roman" pitchFamily="18" charset="0"/>
              <a:cs typeface="Times New Roman" pitchFamily="18" charset="0"/>
            </a:endParaRPr>
          </a:p>
        </p:txBody>
      </p:sp>
      <p:sp>
        <p:nvSpPr>
          <p:cNvPr id="6" name="Rectangle 5"/>
          <p:cNvSpPr/>
          <p:nvPr/>
        </p:nvSpPr>
        <p:spPr>
          <a:xfrm>
            <a:off x="2438400" y="381000"/>
            <a:ext cx="5419048" cy="584775"/>
          </a:xfrm>
          <a:prstGeom prst="rect">
            <a:avLst/>
          </a:prstGeom>
        </p:spPr>
        <p:txBody>
          <a:bodyPr wrap="none">
            <a:spAutoFit/>
          </a:bodyPr>
          <a:lstStyle/>
          <a:p>
            <a:r>
              <a:rPr lang="en-US" sz="3200" b="1" dirty="0" smtClean="0">
                <a:solidFill>
                  <a:srgbClr val="7030A0"/>
                </a:solidFill>
                <a:latin typeface="Times New Roman" pitchFamily="18" charset="0"/>
                <a:cs typeface="Times New Roman" pitchFamily="18" charset="0"/>
              </a:rPr>
              <a:t>Activation of proto-</a:t>
            </a:r>
            <a:r>
              <a:rPr lang="en-US" sz="3200" b="1" dirty="0" err="1" smtClean="0">
                <a:solidFill>
                  <a:srgbClr val="7030A0"/>
                </a:solidFill>
                <a:latin typeface="Times New Roman" pitchFamily="18" charset="0"/>
                <a:cs typeface="Times New Roman" pitchFamily="18" charset="0"/>
              </a:rPr>
              <a:t>oncogenes</a:t>
            </a:r>
            <a:endParaRPr lang="en-US" sz="3200" dirty="0">
              <a:solidFill>
                <a:srgbClr val="7030A0"/>
              </a:solidFill>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0000"/>
                </a:solidFill>
              </a:rPr>
              <a:t>Tumor Suppressor Genes and Cell</a:t>
            </a:r>
            <a:br>
              <a:rPr lang="en-US" sz="2800" b="1" dirty="0" smtClean="0">
                <a:solidFill>
                  <a:srgbClr val="FF0000"/>
                </a:solidFill>
              </a:rPr>
            </a:br>
            <a:r>
              <a:rPr lang="en-US" sz="2800" b="1" dirty="0" smtClean="0">
                <a:solidFill>
                  <a:srgbClr val="FF0000"/>
                </a:solidFill>
              </a:rPr>
              <a:t>Cycle Control Proteins</a:t>
            </a:r>
            <a:endParaRPr lang="en-US" sz="28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Their protein products are involved in negative regulation of the cell cycle in that they hold the cell at the G1 phase (</a:t>
            </a:r>
            <a:r>
              <a:rPr lang="en-US" sz="2400" b="1" dirty="0" err="1" smtClean="0">
                <a:latin typeface="Times New Roman" pitchFamily="18" charset="0"/>
                <a:cs typeface="Times New Roman" pitchFamily="18" charset="0"/>
              </a:rPr>
              <a:t>antioncogenes</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This regulatory role may be ablated by mutations in tumor suppressor genes or by the binding of other </a:t>
            </a:r>
            <a:r>
              <a:rPr lang="en-US" sz="2400" dirty="0" err="1" smtClean="0">
                <a:latin typeface="Times New Roman" pitchFamily="18" charset="0"/>
                <a:cs typeface="Times New Roman" pitchFamily="18" charset="0"/>
              </a:rPr>
              <a:t>oncoproteins</a:t>
            </a:r>
            <a:r>
              <a:rPr lang="en-US" sz="2400" dirty="0" smtClean="0">
                <a:latin typeface="Times New Roman" pitchFamily="18" charset="0"/>
                <a:cs typeface="Times New Roman" pitchFamily="18" charset="0"/>
              </a:rPr>
              <a:t> to these genes.</a:t>
            </a:r>
          </a:p>
          <a:p>
            <a:r>
              <a:rPr lang="en-US" sz="2400" dirty="0" smtClean="0">
                <a:solidFill>
                  <a:srgbClr val="FF0000"/>
                </a:solidFill>
                <a:latin typeface="Times New Roman" pitchFamily="18" charset="0"/>
                <a:cs typeface="Times New Roman" pitchFamily="18" charset="0"/>
              </a:rPr>
              <a:t>Retinoblastoma (</a:t>
            </a:r>
            <a:r>
              <a:rPr lang="en-US" sz="2400" dirty="0" err="1" smtClean="0">
                <a:solidFill>
                  <a:srgbClr val="FF0000"/>
                </a:solidFill>
                <a:latin typeface="Times New Roman" pitchFamily="18" charset="0"/>
                <a:cs typeface="Times New Roman" pitchFamily="18" charset="0"/>
              </a:rPr>
              <a:t>Rb</a:t>
            </a:r>
            <a:r>
              <a:rPr lang="en-US" sz="2400" dirty="0" smtClean="0">
                <a:solidFill>
                  <a:srgbClr val="FF0000"/>
                </a:solidFill>
                <a:latin typeface="Times New Roman" pitchFamily="18" charset="0"/>
                <a:cs typeface="Times New Roman" pitchFamily="18" charset="0"/>
              </a:rPr>
              <a:t>) and p53 </a:t>
            </a:r>
            <a:r>
              <a:rPr lang="en-US" sz="2400" dirty="0" smtClean="0">
                <a:latin typeface="Times New Roman" pitchFamily="18" charset="0"/>
                <a:cs typeface="Times New Roman" pitchFamily="18" charset="0"/>
              </a:rPr>
              <a:t>tumor suppressor proteins each block the progression of the cell cycle at G1. </a:t>
            </a:r>
          </a:p>
          <a:p>
            <a:r>
              <a:rPr lang="en-US" sz="2400" dirty="0" smtClean="0">
                <a:latin typeface="Times New Roman" pitchFamily="18" charset="0"/>
                <a:cs typeface="Times New Roman" pitchFamily="18" charset="0"/>
              </a:rPr>
              <a:t>The p53 protein prevents propagation of genetically damaged cells and also plays a role in triggering apoptosis.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2400" y="304800"/>
            <a:ext cx="4038600" cy="5445678"/>
          </a:xfrm>
          <a:prstGeom prst="rect">
            <a:avLst/>
          </a:prstGeom>
          <a:noFill/>
          <a:ln w="9525">
            <a:noFill/>
            <a:miter lim="800000"/>
            <a:headEnd/>
            <a:tailEnd/>
          </a:ln>
          <a:effectLst/>
        </p:spPr>
      </p:pic>
      <p:pic>
        <p:nvPicPr>
          <p:cNvPr id="2052" name="Picture 4" descr="10.4B: Tumor Suppressor Genes - Biology LibreTexts"/>
          <p:cNvPicPr>
            <a:picLocks noChangeAspect="1" noChangeArrowheads="1"/>
          </p:cNvPicPr>
          <p:nvPr/>
        </p:nvPicPr>
        <p:blipFill>
          <a:blip r:embed="rId3"/>
          <a:srcRect/>
          <a:stretch>
            <a:fillRect/>
          </a:stretch>
        </p:blipFill>
        <p:spPr bwMode="auto">
          <a:xfrm>
            <a:off x="2362200" y="762000"/>
            <a:ext cx="6477000" cy="534352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p:cNvPicPr>
            <a:picLocks noChangeAspect="1" noChangeArrowheads="1"/>
          </p:cNvPicPr>
          <p:nvPr/>
        </p:nvPicPr>
        <p:blipFill>
          <a:blip r:embed="rId2"/>
          <a:srcRect/>
          <a:stretch>
            <a:fillRect/>
          </a:stretch>
        </p:blipFill>
        <p:spPr bwMode="auto">
          <a:xfrm>
            <a:off x="2286000" y="1371600"/>
            <a:ext cx="6735225" cy="4191000"/>
          </a:xfrm>
          <a:prstGeom prst="rect">
            <a:avLst/>
          </a:prstGeom>
          <a:noFill/>
          <a:ln w="9525">
            <a:noFill/>
            <a:miter lim="800000"/>
            <a:headEnd/>
            <a:tailEnd/>
          </a:ln>
          <a:effectLst/>
        </p:spPr>
      </p:pic>
      <p:sp>
        <p:nvSpPr>
          <p:cNvPr id="3" name="Rectangle 2"/>
          <p:cNvSpPr/>
          <p:nvPr/>
        </p:nvSpPr>
        <p:spPr>
          <a:xfrm>
            <a:off x="2209800" y="304800"/>
            <a:ext cx="6150851" cy="523220"/>
          </a:xfrm>
          <a:prstGeom prst="rect">
            <a:avLst/>
          </a:prstGeom>
        </p:spPr>
        <p:txBody>
          <a:bodyPr wrap="none">
            <a:spAutoFit/>
          </a:bodyPr>
          <a:lstStyle/>
          <a:p>
            <a:r>
              <a:rPr lang="en-US" sz="2800" b="1" dirty="0" smtClean="0">
                <a:solidFill>
                  <a:srgbClr val="7030A0"/>
                </a:solidFill>
                <a:latin typeface="Times New Roman" pitchFamily="18" charset="0"/>
                <a:cs typeface="Times New Roman" pitchFamily="18" charset="0"/>
              </a:rPr>
              <a:t>Inactivation of tumor suppressor genes</a:t>
            </a:r>
            <a:endParaRPr lang="en-US" sz="2800" dirty="0">
              <a:solidFill>
                <a:srgbClr val="7030A0"/>
              </a:solidFill>
              <a:latin typeface="Times New Roman" pitchFamily="18" charset="0"/>
              <a:cs typeface="Times New Roman" pitchFamily="18" charset="0"/>
            </a:endParaRPr>
          </a:p>
        </p:txBody>
      </p:sp>
      <p:sp>
        <p:nvSpPr>
          <p:cNvPr id="4" name="Rectangle 3"/>
          <p:cNvSpPr/>
          <p:nvPr/>
        </p:nvSpPr>
        <p:spPr>
          <a:xfrm>
            <a:off x="228600" y="2362200"/>
            <a:ext cx="2514600" cy="1015663"/>
          </a:xfrm>
          <a:prstGeom prst="rect">
            <a:avLst/>
          </a:prstGeom>
        </p:spPr>
        <p:txBody>
          <a:bodyPr wrap="square">
            <a:spAutoFit/>
          </a:bodyPr>
          <a:lstStyle/>
          <a:p>
            <a:r>
              <a:rPr lang="en-US" sz="2000" b="1" dirty="0" smtClean="0">
                <a:latin typeface="Times New Roman" pitchFamily="18" charset="0"/>
                <a:cs typeface="Times New Roman" pitchFamily="18" charset="0"/>
              </a:rPr>
              <a:t>-mutation</a:t>
            </a:r>
          </a:p>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viral </a:t>
            </a:r>
            <a:r>
              <a:rPr lang="en-US" sz="2000" b="1" dirty="0" err="1" smtClean="0">
                <a:latin typeface="Times New Roman" pitchFamily="18" charset="0"/>
                <a:cs typeface="Times New Roman" pitchFamily="18" charset="0"/>
              </a:rPr>
              <a:t>oncoproteins</a:t>
            </a:r>
            <a:endParaRPr lang="en-US" sz="2000" b="1"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viral degradation</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a:t>
            </a:r>
            <a:r>
              <a:rPr lang="en-US" sz="4000" b="1" dirty="0" err="1" smtClean="0">
                <a:solidFill>
                  <a:srgbClr val="FF0000"/>
                </a:solidFill>
              </a:rPr>
              <a:t>onc</a:t>
            </a:r>
            <a:r>
              <a:rPr lang="en-US" sz="4000" b="1" dirty="0" smtClean="0">
                <a:solidFill>
                  <a:srgbClr val="FF0000"/>
                </a:solidFill>
              </a:rPr>
              <a:t> genes</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The genes in the viral genome that change host cell proliferation control, lead to the synthesis of new proteins, and are responsible for transformation characteristics are called viral </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Retroviral 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 are not necessary for replication but play role in cellular transformation.</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Proto-</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(c-</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 are the cellular counterparts of 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a:t>
            </a:r>
            <a:r>
              <a:rPr lang="en-US" sz="4000" b="1" dirty="0" err="1" smtClean="0">
                <a:solidFill>
                  <a:srgbClr val="FF0000"/>
                </a:solidFill>
              </a:rPr>
              <a:t>onc</a:t>
            </a:r>
            <a:r>
              <a:rPr lang="en-US" sz="4000" b="1" dirty="0" smtClean="0">
                <a:solidFill>
                  <a:srgbClr val="FF0000"/>
                </a:solidFill>
              </a:rPr>
              <a:t> genes</a:t>
            </a:r>
            <a:endParaRPr lang="en-US" sz="4000" b="1" dirty="0">
              <a:solidFill>
                <a:srgbClr val="FF0000"/>
              </a:solidFill>
            </a:endParaRPr>
          </a:p>
        </p:txBody>
      </p:sp>
      <p:sp>
        <p:nvSpPr>
          <p:cNvPr id="3" name="Content Placeholder 2"/>
          <p:cNvSpPr>
            <a:spLocks noGrp="1"/>
          </p:cNvSpPr>
          <p:nvPr>
            <p:ph idx="1"/>
          </p:nvPr>
        </p:nvSpPr>
        <p:spPr>
          <a:xfrm>
            <a:off x="228600" y="1600200"/>
            <a:ext cx="8458200" cy="4525963"/>
          </a:xfrm>
        </p:spPr>
        <p:txBody>
          <a:bodyPr>
            <a:normAutofit lnSpcReduction="10000"/>
          </a:bodyPr>
          <a:lstStyle/>
          <a:p>
            <a:pPr algn="just"/>
            <a:r>
              <a:rPr lang="en-US" sz="2400" dirty="0" smtClean="0">
                <a:latin typeface="Times New Roman" pitchFamily="18" charset="0"/>
                <a:cs typeface="Times New Roman" pitchFamily="18" charset="0"/>
              </a:rPr>
              <a:t>The cellular </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or proto-</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have multiple </a:t>
            </a:r>
            <a:r>
              <a:rPr lang="en-US" sz="2400" dirty="0" err="1" smtClean="0">
                <a:latin typeface="Times New Roman" pitchFamily="18" charset="0"/>
                <a:cs typeface="Times New Roman" pitchFamily="18" charset="0"/>
              </a:rPr>
              <a:t>exons</a:t>
            </a:r>
            <a:r>
              <a:rPr lang="en-US" sz="2400" dirty="0" smtClean="0">
                <a:latin typeface="Times New Roman" pitchFamily="18" charset="0"/>
                <a:cs typeface="Times New Roman" pitchFamily="18" charset="0"/>
              </a:rPr>
              <a:t> separated by </a:t>
            </a:r>
            <a:r>
              <a:rPr lang="en-US" sz="2400" dirty="0" err="1" smtClean="0">
                <a:latin typeface="Times New Roman" pitchFamily="18" charset="0"/>
                <a:cs typeface="Times New Roman" pitchFamily="18" charset="0"/>
              </a:rPr>
              <a:t>introns</a:t>
            </a:r>
            <a:r>
              <a:rPr lang="en-US" sz="2400" dirty="0" smtClean="0">
                <a:latin typeface="Times New Roman" pitchFamily="18" charset="0"/>
                <a:cs typeface="Times New Roman" pitchFamily="18" charset="0"/>
              </a:rPr>
              <a:t>, where­as the viral </a:t>
            </a:r>
            <a:r>
              <a:rPr lang="en-US" sz="2400" dirty="0" err="1" smtClean="0">
                <a:latin typeface="Times New Roman" pitchFamily="18" charset="0"/>
                <a:cs typeface="Times New Roman" pitchFamily="18" charset="0"/>
              </a:rPr>
              <a:t>oncogenes</a:t>
            </a:r>
            <a:r>
              <a:rPr lang="en-US" sz="2400" dirty="0" smtClean="0">
                <a:latin typeface="Times New Roman" pitchFamily="18" charset="0"/>
                <a:cs typeface="Times New Roman" pitchFamily="18" charset="0"/>
              </a:rPr>
              <a:t> are single </a:t>
            </a:r>
            <a:r>
              <a:rPr lang="en-US" sz="2400" dirty="0" err="1" smtClean="0">
                <a:latin typeface="Times New Roman" pitchFamily="18" charset="0"/>
                <a:cs typeface="Times New Roman" pitchFamily="18" charset="0"/>
              </a:rPr>
              <a:t>exons</a:t>
            </a:r>
            <a:r>
              <a:rPr lang="en-US" sz="2400" dirty="0" smtClean="0">
                <a:latin typeface="Times New Roman" pitchFamily="18" charset="0"/>
                <a:cs typeface="Times New Roman" pitchFamily="18" charset="0"/>
              </a:rPr>
              <a:t>.</a:t>
            </a:r>
          </a:p>
          <a:p>
            <a:pPr algn="just"/>
            <a:r>
              <a:rPr lang="en-US" sz="2400" b="1" dirty="0" smtClean="0">
                <a:latin typeface="Times New Roman" pitchFamily="18" charset="0"/>
                <a:cs typeface="Times New Roman" pitchFamily="18" charset="0"/>
              </a:rPr>
              <a:t>v-</a:t>
            </a:r>
            <a:r>
              <a:rPr lang="en-US" sz="2400" b="1" dirty="0" err="1" smtClean="0">
                <a:latin typeface="Times New Roman" pitchFamily="18" charset="0"/>
                <a:cs typeface="Times New Roman" pitchFamily="18" charset="0"/>
              </a:rPr>
              <a:t>onc</a:t>
            </a:r>
            <a:r>
              <a:rPr lang="en-US" sz="2400" b="1" dirty="0" smtClean="0">
                <a:latin typeface="Times New Roman" pitchFamily="18" charset="0"/>
                <a:cs typeface="Times New Roman" pitchFamily="18" charset="0"/>
              </a:rPr>
              <a:t> genes are under the control of the viral long terminal repeats ( LTRs ) </a:t>
            </a:r>
            <a:r>
              <a:rPr lang="en-US" sz="2400" dirty="0" smtClean="0">
                <a:latin typeface="Times New Roman" pitchFamily="18" charset="0"/>
                <a:cs typeface="Times New Roman" pitchFamily="18" charset="0"/>
              </a:rPr>
              <a:t>, which are not only strong promoters but are also influenced by cellular regulatory factors. </a:t>
            </a:r>
          </a:p>
          <a:p>
            <a:pPr algn="just"/>
            <a:r>
              <a:rPr lang="en-US" sz="2400" dirty="0" smtClean="0">
                <a:latin typeface="Times New Roman" pitchFamily="18" charset="0"/>
                <a:cs typeface="Times New Roman" pitchFamily="18" charset="0"/>
              </a:rPr>
              <a:t>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 may be joined to other viral genes in such a way that their functions are modified.</a:t>
            </a:r>
          </a:p>
          <a:p>
            <a:pPr algn="just"/>
            <a:r>
              <a:rPr lang="en-US" sz="2400" dirty="0" smtClean="0">
                <a:latin typeface="Times New Roman" pitchFamily="18" charset="0"/>
                <a:cs typeface="Times New Roman" pitchFamily="18" charset="0"/>
              </a:rPr>
              <a:t>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genes may undergo mutations (deletions and rearrangements) that alter the structure of their protein products; such changes can interfere with normal protein-protein interactions leading to escape from normal regulation.</a:t>
            </a:r>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Classification of viral </a:t>
            </a:r>
            <a:r>
              <a:rPr lang="en-US" sz="4000" b="1" dirty="0" err="1" smtClean="0">
                <a:solidFill>
                  <a:srgbClr val="FF0000"/>
                </a:solidFill>
              </a:rPr>
              <a:t>oncogenes</a:t>
            </a:r>
            <a:endParaRPr lang="en-US" sz="4000" b="1" dirty="0">
              <a:solidFill>
                <a:srgbClr val="FF0000"/>
              </a:solidFill>
            </a:endParaRPr>
          </a:p>
        </p:txBody>
      </p:sp>
      <p:sp>
        <p:nvSpPr>
          <p:cNvPr id="3" name="Content Placeholder 2"/>
          <p:cNvSpPr>
            <a:spLocks noGrp="1"/>
          </p:cNvSpPr>
          <p:nvPr>
            <p:ph idx="1"/>
          </p:nvPr>
        </p:nvSpPr>
        <p:spPr>
          <a:xfrm>
            <a:off x="457200" y="1600200"/>
            <a:ext cx="8458200" cy="4876800"/>
          </a:xfrm>
        </p:spPr>
        <p:txBody>
          <a:bodyPr>
            <a:normAutofit/>
          </a:bodyPr>
          <a:lstStyle/>
          <a:p>
            <a:pPr algn="just"/>
            <a:r>
              <a:rPr lang="en-US" sz="2400" b="1" dirty="0" smtClean="0">
                <a:latin typeface="Times New Roman" pitchFamily="18" charset="0"/>
                <a:cs typeface="Times New Roman" pitchFamily="18" charset="0"/>
              </a:rPr>
              <a:t>1.Growth factors-</a:t>
            </a:r>
            <a:r>
              <a:rPr lang="en-US" sz="2400" dirty="0" smtClean="0">
                <a:latin typeface="Times New Roman" pitchFamily="18" charset="0"/>
                <a:cs typeface="Times New Roman" pitchFamily="18" charset="0"/>
              </a:rPr>
              <a:t>Growth factors are secreted polypeptides that stimulate the proliferation of target cells and have extracellular signal functions. Target cells must have a specific receptor to be able to respond to a specific type of growth factor.</a:t>
            </a:r>
            <a:r>
              <a:rPr lang="en-US" sz="2400" b="1" dirty="0" smtClean="0">
                <a:latin typeface="Times New Roman" pitchFamily="18" charset="0"/>
                <a:cs typeface="Times New Roman" pitchFamily="18" charset="0"/>
              </a:rPr>
              <a:t> </a:t>
            </a:r>
          </a:p>
          <a:p>
            <a:pPr algn="just"/>
            <a:endParaRPr lang="en-US" sz="2400" b="1" dirty="0" smtClean="0">
              <a:latin typeface="Times New Roman" pitchFamily="18" charset="0"/>
              <a:cs typeface="Times New Roman" pitchFamily="18" charset="0"/>
            </a:endParaRPr>
          </a:p>
          <a:p>
            <a:pPr algn="just">
              <a:buNone/>
            </a:pPr>
            <a:r>
              <a:rPr lang="en-US" sz="2400" b="1" dirty="0" err="1" smtClean="0">
                <a:latin typeface="Times New Roman" pitchFamily="18" charset="0"/>
                <a:cs typeface="Times New Roman" pitchFamily="18" charset="0"/>
              </a:rPr>
              <a:t>Eg</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v-sis </a:t>
            </a:r>
            <a:r>
              <a:rPr lang="en-US" sz="2400" b="1" dirty="0" err="1" smtClean="0">
                <a:latin typeface="Times New Roman" pitchFamily="18" charset="0"/>
                <a:cs typeface="Times New Roman" pitchFamily="18" charset="0"/>
              </a:rPr>
              <a:t>oncogene</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 its cellular homolog c-sis encode chain B of platelet-derived growth factor (PDGF). Cells transformed by v-sis produce a platelet-derived growth factor-related molecule which is able to stimulate the platelet-derived growth factor receptor in an </a:t>
            </a:r>
            <a:r>
              <a:rPr lang="en-US" sz="2400" dirty="0" err="1" smtClean="0">
                <a:latin typeface="Times New Roman" pitchFamily="18" charset="0"/>
                <a:cs typeface="Times New Roman" pitchFamily="18" charset="0"/>
              </a:rPr>
              <a:t>autocrine</a:t>
            </a:r>
            <a:r>
              <a:rPr lang="en-US" sz="2400" dirty="0" smtClean="0">
                <a:latin typeface="Times New Roman" pitchFamily="18" charset="0"/>
                <a:cs typeface="Times New Roman" pitchFamily="18" charset="0"/>
              </a:rPr>
              <a:t> fashion.</a:t>
            </a:r>
            <a:r>
              <a:rPr lang="en-US" sz="2400" dirty="0" smtClean="0">
                <a:solidFill>
                  <a:srgbClr val="FF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Incessant expression of the sis gene product (PDGF-β) leads to significant </a:t>
            </a:r>
            <a:r>
              <a:rPr lang="en-US" sz="2400" dirty="0" err="1" smtClean="0">
                <a:latin typeface="Times New Roman" pitchFamily="18" charset="0"/>
                <a:cs typeface="Times New Roman" pitchFamily="18" charset="0"/>
              </a:rPr>
              <a:t>neoplastic</a:t>
            </a:r>
            <a:r>
              <a:rPr lang="en-US" sz="2400" dirty="0" smtClean="0">
                <a:latin typeface="Times New Roman" pitchFamily="18" charset="0"/>
                <a:cs typeface="Times New Roman" pitchFamily="18" charset="0"/>
              </a:rPr>
              <a:t> transformation in </a:t>
            </a:r>
            <a:r>
              <a:rPr lang="en-US" sz="2400" b="1" dirty="0" smtClean="0">
                <a:latin typeface="Times New Roman" pitchFamily="18" charset="0"/>
                <a:cs typeface="Times New Roman" pitchFamily="18" charset="0"/>
              </a:rPr>
              <a:t>fibroblasts.</a:t>
            </a:r>
            <a:endParaRPr lang="en-US" sz="2400" b="1"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latin typeface="Times New Roman" pitchFamily="18" charset="0"/>
                <a:cs typeface="Times New Roman" pitchFamily="18" charset="0"/>
              </a:rPr>
              <a:t>2. Growth factor receptors and hormone receptors-</a:t>
            </a:r>
            <a:br>
              <a:rPr lang="en-US" sz="3100" b="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304800" y="1143000"/>
            <a:ext cx="8686800" cy="5334000"/>
          </a:xfrm>
        </p:spPr>
        <p:txBody>
          <a:bodyPr>
            <a:normAutofit/>
          </a:bodyPr>
          <a:lstStyle/>
          <a:p>
            <a:r>
              <a:rPr lang="en-US" sz="2400" b="1" dirty="0" smtClean="0">
                <a:latin typeface="Times New Roman" pitchFamily="18" charset="0"/>
                <a:cs typeface="Times New Roman" pitchFamily="18" charset="0"/>
              </a:rPr>
              <a:t>v-</a:t>
            </a:r>
            <a:r>
              <a:rPr lang="en-US" sz="2400" b="1" dirty="0" err="1" smtClean="0">
                <a:latin typeface="Times New Roman" pitchFamily="18" charset="0"/>
                <a:cs typeface="Times New Roman" pitchFamily="18" charset="0"/>
              </a:rPr>
              <a:t>erbB</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oncogene</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product is a modified epidermal growth factor (EGF) receptor that retains tyrosine </a:t>
            </a:r>
            <a:r>
              <a:rPr lang="en-US" sz="2400" dirty="0" err="1" smtClean="0">
                <a:latin typeface="Times New Roman" pitchFamily="18" charset="0"/>
                <a:cs typeface="Times New Roman" pitchFamily="18" charset="0"/>
              </a:rPr>
              <a:t>kinase</a:t>
            </a:r>
            <a:r>
              <a:rPr lang="en-US" sz="2400" dirty="0" smtClean="0">
                <a:latin typeface="Times New Roman" pitchFamily="18" charset="0"/>
                <a:cs typeface="Times New Roman" pitchFamily="18" charset="0"/>
              </a:rPr>
              <a:t> activity. In normal cells this </a:t>
            </a:r>
            <a:r>
              <a:rPr lang="en-US" sz="2400" dirty="0" err="1" smtClean="0">
                <a:latin typeface="Times New Roman" pitchFamily="18" charset="0"/>
                <a:cs typeface="Times New Roman" pitchFamily="18" charset="0"/>
              </a:rPr>
              <a:t>kinase</a:t>
            </a:r>
            <a:r>
              <a:rPr lang="en-US" sz="2400" dirty="0" smtClean="0">
                <a:latin typeface="Times New Roman" pitchFamily="18" charset="0"/>
                <a:cs typeface="Times New Roman" pitchFamily="18" charset="0"/>
              </a:rPr>
              <a:t> becomes activated only after the binding of circulating epidermal growth factor to the receptor. </a:t>
            </a:r>
          </a:p>
          <a:p>
            <a:r>
              <a:rPr lang="en-US" sz="2400" dirty="0" smtClean="0">
                <a:latin typeface="Times New Roman" pitchFamily="18" charset="0"/>
                <a:cs typeface="Times New Roman" pitchFamily="18" charset="0"/>
              </a:rPr>
              <a:t>However, in the presence of the </a:t>
            </a:r>
            <a:r>
              <a:rPr lang="en-US" sz="2400" b="1" dirty="0" smtClean="0">
                <a:latin typeface="Times New Roman" pitchFamily="18" charset="0"/>
                <a:cs typeface="Times New Roman" pitchFamily="18" charset="0"/>
              </a:rPr>
              <a:t>v-</a:t>
            </a:r>
            <a:r>
              <a:rPr lang="en-US" sz="2400" b="1" dirty="0" err="1" smtClean="0">
                <a:latin typeface="Times New Roman" pitchFamily="18" charset="0"/>
                <a:cs typeface="Times New Roman" pitchFamily="18" charset="0"/>
              </a:rPr>
              <a:t>erbB</a:t>
            </a:r>
            <a:r>
              <a:rPr lang="en-US" sz="2400" dirty="0" smtClean="0">
                <a:latin typeface="Times New Roman" pitchFamily="18" charset="0"/>
                <a:cs typeface="Times New Roman" pitchFamily="18" charset="0"/>
              </a:rPr>
              <a:t> gene product, </a:t>
            </a:r>
            <a:r>
              <a:rPr lang="en-US" sz="2400" dirty="0" err="1" smtClean="0">
                <a:latin typeface="Times New Roman" pitchFamily="18" charset="0"/>
                <a:cs typeface="Times New Roman" pitchFamily="18" charset="0"/>
              </a:rPr>
              <a:t>ErbB</a:t>
            </a:r>
            <a:r>
              <a:rPr lang="en-US" sz="2400" dirty="0" smtClean="0">
                <a:latin typeface="Times New Roman" pitchFamily="18" charset="0"/>
                <a:cs typeface="Times New Roman" pitchFamily="18" charset="0"/>
              </a:rPr>
              <a:t>, the enzyme is activated permanently, </a:t>
            </a:r>
            <a:r>
              <a:rPr lang="en-US" sz="2400" dirty="0" err="1" smtClean="0">
                <a:latin typeface="Times New Roman" pitchFamily="18" charset="0"/>
                <a:cs typeface="Times New Roman" pitchFamily="18" charset="0"/>
              </a:rPr>
              <a:t>phosphorylating</a:t>
            </a:r>
            <a:r>
              <a:rPr lang="en-US" sz="2400" dirty="0" smtClean="0">
                <a:latin typeface="Times New Roman" pitchFamily="18" charset="0"/>
                <a:cs typeface="Times New Roman" pitchFamily="18" charset="0"/>
              </a:rPr>
              <a:t> any </a:t>
            </a:r>
            <a:r>
              <a:rPr lang="en-US" sz="2400" dirty="0" err="1" smtClean="0">
                <a:latin typeface="Times New Roman" pitchFamily="18" charset="0"/>
                <a:cs typeface="Times New Roman" pitchFamily="18" charset="0"/>
              </a:rPr>
              <a:t>intracytoplasmic</a:t>
            </a:r>
            <a:r>
              <a:rPr lang="en-US" sz="2400" dirty="0" smtClean="0">
                <a:latin typeface="Times New Roman" pitchFamily="18" charset="0"/>
                <a:cs typeface="Times New Roman" pitchFamily="18" charset="0"/>
              </a:rPr>
              <a:t> protein in its vicinity, thereby initiating a cascade of events culminating in the transmission of  conflicting signals to the nucleus. In some cells this results in uncontrolled growth.</a:t>
            </a:r>
          </a:p>
          <a:p>
            <a:r>
              <a:rPr lang="en-GB" sz="2400" dirty="0" smtClean="0">
                <a:latin typeface="Times New Roman" pitchFamily="18" charset="0"/>
                <a:cs typeface="Times New Roman" pitchFamily="18" charset="0"/>
              </a:rPr>
              <a:t>The product of the </a:t>
            </a:r>
            <a:r>
              <a:rPr lang="en-GB" sz="2400" b="1" dirty="0" smtClean="0">
                <a:latin typeface="Times New Roman" pitchFamily="18" charset="0"/>
                <a:cs typeface="Times New Roman" pitchFamily="18" charset="0"/>
              </a:rPr>
              <a:t>v-</a:t>
            </a:r>
            <a:r>
              <a:rPr lang="en-GB" sz="2400" b="1" dirty="0" err="1" smtClean="0">
                <a:latin typeface="Times New Roman" pitchFamily="18" charset="0"/>
                <a:cs typeface="Times New Roman" pitchFamily="18" charset="0"/>
              </a:rPr>
              <a:t>erbA</a:t>
            </a:r>
            <a:r>
              <a:rPr lang="en-GB" sz="2400" b="1" dirty="0" smtClean="0">
                <a:latin typeface="Times New Roman" pitchFamily="18" charset="0"/>
                <a:cs typeface="Times New Roman" pitchFamily="18" charset="0"/>
              </a:rPr>
              <a:t> </a:t>
            </a:r>
            <a:r>
              <a:rPr lang="en-GB" sz="2400" dirty="0" smtClean="0">
                <a:latin typeface="Times New Roman" pitchFamily="18" charset="0"/>
                <a:cs typeface="Times New Roman" pitchFamily="18" charset="0"/>
              </a:rPr>
              <a:t>gene mimics the intracellular receptor for thyroid hormone. This </a:t>
            </a:r>
            <a:r>
              <a:rPr lang="en-GB" sz="2400" dirty="0" err="1" smtClean="0">
                <a:latin typeface="Times New Roman" pitchFamily="18" charset="0"/>
                <a:cs typeface="Times New Roman" pitchFamily="18" charset="0"/>
              </a:rPr>
              <a:t>oncoprotein</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ErbA</a:t>
            </a:r>
            <a:r>
              <a:rPr lang="en-GB" sz="2400" dirty="0" smtClean="0">
                <a:latin typeface="Times New Roman" pitchFamily="18" charset="0"/>
                <a:cs typeface="Times New Roman" pitchFamily="18" charset="0"/>
              </a:rPr>
              <a:t>, competes with the natural receptor for the hormone, causing uncontrolled growth.</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3. Intracellular Signal Transducers </a:t>
            </a:r>
            <a:endParaRPr lang="en-US" sz="3200" b="1" dirty="0"/>
          </a:p>
        </p:txBody>
      </p:sp>
      <p:sp>
        <p:nvSpPr>
          <p:cNvPr id="3" name="Content Placeholder 2"/>
          <p:cNvSpPr>
            <a:spLocks noGrp="1"/>
          </p:cNvSpPr>
          <p:nvPr>
            <p:ph idx="1"/>
          </p:nvPr>
        </p:nvSpPr>
        <p:spPr>
          <a:xfrm>
            <a:off x="152400" y="1600200"/>
            <a:ext cx="8534400" cy="5257800"/>
          </a:xfrm>
        </p:spPr>
        <p:txBody>
          <a:bodyPr>
            <a:normAutofit lnSpcReduction="10000"/>
          </a:bodyPr>
          <a:lstStyle/>
          <a:p>
            <a:r>
              <a:rPr lang="en-GB" sz="2400" dirty="0" err="1" smtClean="0">
                <a:latin typeface="Times New Roman" pitchFamily="18" charset="0"/>
                <a:cs typeface="Times New Roman" pitchFamily="18" charset="0"/>
              </a:rPr>
              <a:t>Mitogenic</a:t>
            </a:r>
            <a:r>
              <a:rPr lang="en-GB" sz="2400" dirty="0" smtClean="0">
                <a:latin typeface="Times New Roman" pitchFamily="18" charset="0"/>
                <a:cs typeface="Times New Roman" pitchFamily="18" charset="0"/>
              </a:rPr>
              <a:t> signals are transmitted from growth factor receptors on the cell surface to the cell nucleus through a series of interconnected complex processes called the signal transduction path. </a:t>
            </a:r>
          </a:p>
          <a:p>
            <a:r>
              <a:rPr lang="en-GB" sz="2400" dirty="0" smtClean="0">
                <a:latin typeface="Times New Roman" pitchFamily="18" charset="0"/>
                <a:cs typeface="Times New Roman" pitchFamily="18" charset="0"/>
              </a:rPr>
              <a:t>This regulator information is completed with the gradual </a:t>
            </a:r>
            <a:r>
              <a:rPr lang="en-GB" sz="2400" dirty="0" err="1" smtClean="0">
                <a:latin typeface="Times New Roman" pitchFamily="18" charset="0"/>
                <a:cs typeface="Times New Roman" pitchFamily="18" charset="0"/>
              </a:rPr>
              <a:t>phosphorylation</a:t>
            </a:r>
            <a:r>
              <a:rPr lang="en-GB" sz="2400" dirty="0" smtClean="0">
                <a:latin typeface="Times New Roman" pitchFamily="18" charset="0"/>
                <a:cs typeface="Times New Roman" pitchFamily="18" charset="0"/>
              </a:rPr>
              <a:t> of proteins that interact with each other in the </a:t>
            </a:r>
            <a:r>
              <a:rPr lang="en-GB" sz="2400" dirty="0" err="1" smtClean="0">
                <a:latin typeface="Times New Roman" pitchFamily="18" charset="0"/>
                <a:cs typeface="Times New Roman" pitchFamily="18" charset="0"/>
              </a:rPr>
              <a:t>cytosol</a:t>
            </a:r>
            <a:r>
              <a:rPr lang="en-GB" sz="2400" dirty="0" smtClean="0">
                <a:latin typeface="Times New Roman" pitchFamily="18" charset="0"/>
                <a:cs typeface="Times New Roman" pitchFamily="18" charset="0"/>
              </a:rPr>
              <a:t>.</a:t>
            </a:r>
          </a:p>
          <a:p>
            <a:r>
              <a:rPr lang="en-GB" sz="2400" dirty="0" smtClean="0">
                <a:latin typeface="Times New Roman" pitchFamily="18" charset="0"/>
                <a:cs typeface="Times New Roman" pitchFamily="18" charset="0"/>
              </a:rPr>
              <a:t>The ultimate recipients of the propagated signal are transcription factors that up-regulate specific sets of genes and start a cascade of synthesis that leads to cell growth. </a:t>
            </a:r>
          </a:p>
          <a:p>
            <a:r>
              <a:rPr lang="en-GB" sz="2400" dirty="0" smtClean="0">
                <a:latin typeface="Times New Roman" pitchFamily="18" charset="0"/>
                <a:cs typeface="Times New Roman" pitchFamily="18" charset="0"/>
              </a:rPr>
              <a:t>v-</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genes that act as signal transducers are </a:t>
            </a:r>
            <a:r>
              <a:rPr lang="en-GB" sz="2400" b="1" dirty="0" smtClean="0">
                <a:latin typeface="Times New Roman" pitchFamily="18" charset="0"/>
                <a:cs typeface="Times New Roman" pitchFamily="18" charset="0"/>
              </a:rPr>
              <a:t>Ha-</a:t>
            </a:r>
            <a:r>
              <a:rPr lang="en-GB" sz="2400" b="1" dirty="0" err="1" smtClean="0">
                <a:latin typeface="Times New Roman" pitchFamily="18" charset="0"/>
                <a:cs typeface="Times New Roman" pitchFamily="18" charset="0"/>
              </a:rPr>
              <a:t>ras</a:t>
            </a:r>
            <a:r>
              <a:rPr lang="en-GB" sz="2400" b="1" dirty="0" smtClean="0">
                <a:latin typeface="Times New Roman" pitchFamily="18" charset="0"/>
                <a:cs typeface="Times New Roman" pitchFamily="18" charset="0"/>
              </a:rPr>
              <a:t> and </a:t>
            </a:r>
            <a:r>
              <a:rPr lang="en-GB" sz="2400" b="1" dirty="0" smtClean="0">
                <a:latin typeface="Times New Roman" pitchFamily="18" charset="0"/>
                <a:cs typeface="Times New Roman" pitchFamily="18" charset="0"/>
              </a:rPr>
              <a:t>K-</a:t>
            </a:r>
            <a:r>
              <a:rPr lang="en-GB" sz="2400" b="1" dirty="0" err="1" smtClean="0">
                <a:latin typeface="Times New Roman" pitchFamily="18" charset="0"/>
                <a:cs typeface="Times New Roman" pitchFamily="18" charset="0"/>
              </a:rPr>
              <a:t>ras</a:t>
            </a:r>
            <a:endParaRPr lang="en-GB" sz="2400" b="1"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Signal transducers are transformed into </a:t>
            </a:r>
            <a:r>
              <a:rPr lang="en-GB" sz="2400" dirty="0" err="1" smtClean="0">
                <a:latin typeface="Times New Roman" pitchFamily="18" charset="0"/>
                <a:cs typeface="Times New Roman" pitchFamily="18" charset="0"/>
              </a:rPr>
              <a:t>oncogenes</a:t>
            </a:r>
            <a:r>
              <a:rPr lang="en-GB" sz="2400" dirty="0" smtClean="0">
                <a:latin typeface="Times New Roman" pitchFamily="18" charset="0"/>
                <a:cs typeface="Times New Roman" pitchFamily="18" charset="0"/>
              </a:rPr>
              <a:t> by mutations that lead to irregular activities, frequently causing uncontrollable cellular proliferation.</a:t>
            </a:r>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4. Transcription factors</a:t>
            </a:r>
            <a:endParaRPr lang="en-US" sz="3600" b="1" dirty="0"/>
          </a:p>
        </p:txBody>
      </p:sp>
      <p:sp>
        <p:nvSpPr>
          <p:cNvPr id="3" name="Content Placeholder 2"/>
          <p:cNvSpPr>
            <a:spLocks noGrp="1"/>
          </p:cNvSpPr>
          <p:nvPr>
            <p:ph idx="1"/>
          </p:nvPr>
        </p:nvSpPr>
        <p:spPr>
          <a:xfrm>
            <a:off x="304800" y="1600200"/>
            <a:ext cx="8382000" cy="4876800"/>
          </a:xfrm>
        </p:spPr>
        <p:txBody>
          <a:bodyPr>
            <a:normAutofit/>
          </a:bodyPr>
          <a:lstStyle/>
          <a:p>
            <a:r>
              <a:rPr lang="en-GB" sz="2400" dirty="0" smtClean="0">
                <a:latin typeface="Times New Roman" pitchFamily="18" charset="0"/>
                <a:cs typeface="Times New Roman" pitchFamily="18" charset="0"/>
              </a:rPr>
              <a:t>Transcription factors are nuclear proteins which regulate the expression of target genes or gene families. </a:t>
            </a:r>
          </a:p>
          <a:p>
            <a:r>
              <a:rPr lang="en-GB" sz="2400" dirty="0" smtClean="0">
                <a:latin typeface="Times New Roman" pitchFamily="18" charset="0"/>
                <a:cs typeface="Times New Roman" pitchFamily="18" charset="0"/>
              </a:rPr>
              <a:t>Transcriptional regulation is induced by the binding of protein to specific DNA sequences or DNA structural motifs that are located above the target genes.</a:t>
            </a:r>
          </a:p>
          <a:p>
            <a:r>
              <a:rPr lang="en-GB" sz="2400" dirty="0" smtClean="0">
                <a:latin typeface="Times New Roman" pitchFamily="18" charset="0"/>
                <a:cs typeface="Times New Roman" pitchFamily="18" charset="0"/>
              </a:rPr>
              <a:t>Transcription factors are the final step of the signal transducer process that changes extracellular signals into modulated changes in gene expression.</a:t>
            </a:r>
          </a:p>
          <a:p>
            <a:r>
              <a:rPr lang="en-GB" sz="2400" dirty="0" smtClean="0">
                <a:latin typeface="Times New Roman" pitchFamily="18" charset="0"/>
                <a:cs typeface="Times New Roman" pitchFamily="18" charset="0"/>
              </a:rPr>
              <a:t>Many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genes are transcription factors and they were discovered by studies on retroviruses that have homology with proto-</a:t>
            </a:r>
            <a:r>
              <a:rPr lang="en-GB" sz="2400" dirty="0" err="1" smtClean="0">
                <a:latin typeface="Times New Roman" pitchFamily="18" charset="0"/>
                <a:cs typeface="Times New Roman" pitchFamily="18" charset="0"/>
              </a:rPr>
              <a:t>oncogenes</a:t>
            </a:r>
            <a:r>
              <a:rPr lang="en-GB" sz="2400" dirty="0" smtClean="0">
                <a:latin typeface="Times New Roman" pitchFamily="18" charset="0"/>
                <a:cs typeface="Times New Roman" pitchFamily="18" charset="0"/>
              </a:rPr>
              <a:t>. Some examples of these factors are </a:t>
            </a:r>
            <a:r>
              <a:rPr lang="en-GB" sz="2400" b="1" dirty="0" err="1" smtClean="0">
                <a:latin typeface="Times New Roman" pitchFamily="18" charset="0"/>
                <a:cs typeface="Times New Roman" pitchFamily="18" charset="0"/>
              </a:rPr>
              <a:t>erb</a:t>
            </a:r>
            <a:r>
              <a:rPr lang="en-GB" sz="2400" b="1" dirty="0" smtClean="0">
                <a:latin typeface="Times New Roman" pitchFamily="18" charset="0"/>
                <a:cs typeface="Times New Roman" pitchFamily="18" charset="0"/>
              </a:rPr>
              <a:t> A, </a:t>
            </a:r>
            <a:r>
              <a:rPr lang="en-GB" sz="2400" b="1" dirty="0" err="1" smtClean="0">
                <a:latin typeface="Times New Roman" pitchFamily="18" charset="0"/>
                <a:cs typeface="Times New Roman" pitchFamily="18" charset="0"/>
              </a:rPr>
              <a:t>ets</a:t>
            </a:r>
            <a:r>
              <a:rPr lang="en-GB" sz="2400" b="1" dirty="0" smtClean="0">
                <a:latin typeface="Times New Roman" pitchFamily="18" charset="0"/>
                <a:cs typeface="Times New Roman" pitchFamily="18" charset="0"/>
              </a:rPr>
              <a:t>, </a:t>
            </a:r>
            <a:r>
              <a:rPr lang="en-GB" sz="2400" b="1" dirty="0" err="1" smtClean="0">
                <a:latin typeface="Times New Roman" pitchFamily="18" charset="0"/>
                <a:cs typeface="Times New Roman" pitchFamily="18" charset="0"/>
              </a:rPr>
              <a:t>fos</a:t>
            </a:r>
            <a:r>
              <a:rPr lang="en-GB" sz="2400" b="1" dirty="0" smtClean="0">
                <a:latin typeface="Times New Roman" pitchFamily="18" charset="0"/>
                <a:cs typeface="Times New Roman" pitchFamily="18" charset="0"/>
              </a:rPr>
              <a:t>, </a:t>
            </a:r>
            <a:r>
              <a:rPr lang="en-GB" sz="2400" b="1" dirty="0" err="1" smtClean="0">
                <a:latin typeface="Times New Roman" pitchFamily="18" charset="0"/>
                <a:cs typeface="Times New Roman" pitchFamily="18" charset="0"/>
              </a:rPr>
              <a:t>jun</a:t>
            </a:r>
            <a:r>
              <a:rPr lang="en-GB" sz="2400" b="1" dirty="0" smtClean="0">
                <a:latin typeface="Times New Roman" pitchFamily="18" charset="0"/>
                <a:cs typeface="Times New Roman" pitchFamily="18" charset="0"/>
              </a:rPr>
              <a:t>, </a:t>
            </a:r>
            <a:r>
              <a:rPr lang="en-GB" sz="2400" b="1" dirty="0" err="1" smtClean="0">
                <a:latin typeface="Times New Roman" pitchFamily="18" charset="0"/>
                <a:cs typeface="Times New Roman" pitchFamily="18" charset="0"/>
              </a:rPr>
              <a:t>myb</a:t>
            </a:r>
            <a:r>
              <a:rPr lang="en-GB" sz="2400" b="1" dirty="0" smtClean="0">
                <a:latin typeface="Times New Roman" pitchFamily="18" charset="0"/>
                <a:cs typeface="Times New Roman" pitchFamily="18" charset="0"/>
              </a:rPr>
              <a:t>, and c-myc. </a:t>
            </a:r>
            <a:endParaRPr lang="en-US" sz="2400" b="1"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81000" y="609600"/>
            <a:ext cx="8299588" cy="51054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Tumor induction by retroviruses</a:t>
            </a:r>
            <a:endParaRPr lang="en-US" sz="3600"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sz="2800" dirty="0" smtClean="0">
                <a:latin typeface="Times New Roman" pitchFamily="18" charset="0"/>
                <a:cs typeface="Times New Roman" pitchFamily="18" charset="0"/>
              </a:rPr>
              <a:t>Replication competent </a:t>
            </a:r>
          </a:p>
          <a:p>
            <a:r>
              <a:rPr lang="en-US" sz="2800" dirty="0" smtClean="0">
                <a:latin typeface="Times New Roman" pitchFamily="18" charset="0"/>
                <a:cs typeface="Times New Roman" pitchFamily="18" charset="0"/>
              </a:rPr>
              <a:t>Replication defective </a:t>
            </a:r>
          </a:p>
          <a:p>
            <a:r>
              <a:rPr lang="en-US" sz="2800" dirty="0" smtClean="0">
                <a:latin typeface="Times New Roman" pitchFamily="18" charset="0"/>
                <a:cs typeface="Times New Roman" pitchFamily="18" charset="0"/>
              </a:rPr>
              <a:t>Endogenous retroviruses </a:t>
            </a:r>
          </a:p>
          <a:p>
            <a:r>
              <a:rPr lang="en-US" sz="2800" dirty="0" smtClean="0">
                <a:latin typeface="Times New Roman" pitchFamily="18" charset="0"/>
                <a:cs typeface="Times New Roman" pitchFamily="18" charset="0"/>
              </a:rPr>
              <a:t>Exogenous Retroviruses (</a:t>
            </a:r>
            <a:r>
              <a:rPr lang="en-GB" sz="2800" dirty="0" smtClean="0">
                <a:latin typeface="Times New Roman" pitchFamily="18" charset="0"/>
                <a:cs typeface="Times New Roman" pitchFamily="18" charset="0"/>
              </a:rPr>
              <a:t>rapidly </a:t>
            </a:r>
            <a:r>
              <a:rPr lang="en-GB" sz="2800" dirty="0" smtClean="0">
                <a:latin typeface="Times New Roman" pitchFamily="18" charset="0"/>
                <a:cs typeface="Times New Roman" pitchFamily="18" charset="0"/>
              </a:rPr>
              <a:t>transforming or trans-activating </a:t>
            </a:r>
            <a:r>
              <a:rPr lang="en-GB" sz="2800" dirty="0" smtClean="0">
                <a:latin typeface="Times New Roman" pitchFamily="18" charset="0"/>
                <a:cs typeface="Times New Roman" pitchFamily="18" charset="0"/>
              </a:rPr>
              <a:t>and slowly transforming or </a:t>
            </a:r>
            <a:r>
              <a:rPr lang="en-GB" sz="2800" dirty="0" err="1" smtClean="0">
                <a:latin typeface="Times New Roman" pitchFamily="18" charset="0"/>
                <a:cs typeface="Times New Roman" pitchFamily="18" charset="0"/>
              </a:rPr>
              <a:t>cis</a:t>
            </a:r>
            <a:r>
              <a:rPr lang="en-GB" sz="2800" dirty="0" smtClean="0">
                <a:latin typeface="Times New Roman" pitchFamily="18" charset="0"/>
                <a:cs typeface="Times New Roman" pitchFamily="18" charset="0"/>
              </a:rPr>
              <a:t>- activating viruses)</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Retroviral </a:t>
            </a:r>
            <a:r>
              <a:rPr lang="en-GB" sz="2800" dirty="0" err="1" smtClean="0">
                <a:latin typeface="Times New Roman" pitchFamily="18" charset="0"/>
                <a:cs typeface="Times New Roman" pitchFamily="18" charset="0"/>
              </a:rPr>
              <a:t>oncogenes</a:t>
            </a:r>
            <a:r>
              <a:rPr lang="en-GB" sz="2800" dirty="0" smtClean="0">
                <a:latin typeface="Times New Roman" pitchFamily="18" charset="0"/>
                <a:cs typeface="Times New Roman" pitchFamily="18" charset="0"/>
              </a:rPr>
              <a:t> have very recently been derived from the host, most likely from the species from which the virus was isolated.</a:t>
            </a:r>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Autofit/>
          </a:bodyPr>
          <a:lstStyle/>
          <a:p>
            <a:r>
              <a:rPr lang="en-US" sz="3200" b="1" dirty="0" smtClean="0">
                <a:solidFill>
                  <a:srgbClr val="FF0000"/>
                </a:solidFill>
              </a:rPr>
              <a:t>Replication-Competent and Replication-</a:t>
            </a:r>
            <a:br>
              <a:rPr lang="en-US" sz="3200" b="1" dirty="0" smtClean="0">
                <a:solidFill>
                  <a:srgbClr val="FF0000"/>
                </a:solidFill>
              </a:rPr>
            </a:br>
            <a:r>
              <a:rPr lang="en-US" sz="3200" b="1" dirty="0" smtClean="0">
                <a:solidFill>
                  <a:srgbClr val="FF0000"/>
                </a:solidFill>
              </a:rPr>
              <a:t>Defective Retroviruses</a:t>
            </a:r>
            <a:endParaRPr lang="en-US" sz="3200" dirty="0">
              <a:solidFill>
                <a:srgbClr val="FF0000"/>
              </a:solidFill>
            </a:endParaRPr>
          </a:p>
        </p:txBody>
      </p:sp>
      <p:sp>
        <p:nvSpPr>
          <p:cNvPr id="3" name="Content Placeholder 2"/>
          <p:cNvSpPr>
            <a:spLocks noGrp="1"/>
          </p:cNvSpPr>
          <p:nvPr>
            <p:ph idx="4294967295"/>
          </p:nvPr>
        </p:nvSpPr>
        <p:spPr>
          <a:xfrm>
            <a:off x="152400" y="1981200"/>
            <a:ext cx="8229600" cy="4525963"/>
          </a:xfrm>
        </p:spPr>
        <p:txBody>
          <a:bodyPr>
            <a:normAutofit/>
          </a:bodyPr>
          <a:lstStyle/>
          <a:p>
            <a:r>
              <a:rPr lang="en-US" sz="2400" dirty="0" smtClean="0">
                <a:latin typeface="Times New Roman" pitchFamily="18" charset="0"/>
                <a:cs typeface="Times New Roman" pitchFamily="18" charset="0"/>
              </a:rPr>
              <a:t>The genome of a typical replication-competent </a:t>
            </a:r>
            <a:r>
              <a:rPr lang="en-US" sz="2400" b="1" dirty="0" smtClean="0">
                <a:latin typeface="Times New Roman" pitchFamily="18" charset="0"/>
                <a:cs typeface="Times New Roman" pitchFamily="18" charset="0"/>
              </a:rPr>
              <a:t>slowly transforming retrovirus</a:t>
            </a:r>
            <a:r>
              <a:rPr lang="en-US" sz="2400" dirty="0" smtClean="0">
                <a:latin typeface="Times New Roman" pitchFamily="18" charset="0"/>
                <a:cs typeface="Times New Roman" pitchFamily="18" charset="0"/>
              </a:rPr>
              <a:t> consists of two identical copies of a positive sense, single-stranded RNA molecule, each of which has three genes:</a:t>
            </a:r>
          </a:p>
          <a:p>
            <a:r>
              <a:rPr lang="en-US" sz="2400" dirty="0" smtClean="0">
                <a:latin typeface="Times New Roman" pitchFamily="18" charset="0"/>
                <a:cs typeface="Times New Roman" pitchFamily="18" charset="0"/>
              </a:rPr>
              <a:t> </a:t>
            </a:r>
            <a:r>
              <a:rPr lang="en-US" sz="2400" b="1" i="1" dirty="0" smtClean="0">
                <a:solidFill>
                  <a:srgbClr val="FF0000"/>
                </a:solidFill>
                <a:latin typeface="Times New Roman" pitchFamily="18" charset="0"/>
                <a:cs typeface="Times New Roman" pitchFamily="18" charset="0"/>
              </a:rPr>
              <a:t>gag</a:t>
            </a:r>
            <a:r>
              <a:rPr lang="en-US" sz="2400" i="1" dirty="0" smtClean="0">
                <a:solidFill>
                  <a:srgbClr val="FF0000"/>
                </a:solidFill>
                <a:latin typeface="Times New Roman" pitchFamily="18" charset="0"/>
                <a:cs typeface="Times New Roman" pitchFamily="18" charset="0"/>
              </a:rPr>
              <a:t>,</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encoding core proteins</a:t>
            </a:r>
            <a:r>
              <a:rPr lang="en-US" sz="2400" i="1" dirty="0" smtClean="0">
                <a:latin typeface="Times New Roman" pitchFamily="18" charset="0"/>
                <a:cs typeface="Times New Roman" pitchFamily="18" charset="0"/>
              </a:rPr>
              <a:t> </a:t>
            </a:r>
          </a:p>
          <a:p>
            <a:r>
              <a:rPr lang="en-US" sz="2400" b="1" i="1" dirty="0" err="1" smtClean="0">
                <a:solidFill>
                  <a:srgbClr val="FF0000"/>
                </a:solidFill>
                <a:latin typeface="Times New Roman" pitchFamily="18" charset="0"/>
                <a:cs typeface="Times New Roman" pitchFamily="18" charset="0"/>
              </a:rPr>
              <a:t>pol</a:t>
            </a:r>
            <a:r>
              <a:rPr lang="en-US" sz="2400" b="1" i="1" dirty="0" smtClean="0">
                <a:solidFill>
                  <a:srgbClr val="FF0000"/>
                </a:solidFill>
                <a:latin typeface="Times New Roman" pitchFamily="18" charset="0"/>
                <a:cs typeface="Times New Roman" pitchFamily="18" charset="0"/>
              </a:rPr>
              <a:t>,</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encoding the reverse transcriptase, </a:t>
            </a:r>
            <a:r>
              <a:rPr lang="en-US" sz="2400" dirty="0" err="1" smtClean="0">
                <a:latin typeface="Times New Roman" pitchFamily="18" charset="0"/>
                <a:cs typeface="Times New Roman" pitchFamily="18" charset="0"/>
              </a:rPr>
              <a:t>integrase</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RNase</a:t>
            </a:r>
            <a:r>
              <a:rPr lang="en-US" sz="2400" dirty="0" smtClean="0">
                <a:latin typeface="Times New Roman" pitchFamily="18" charset="0"/>
                <a:cs typeface="Times New Roman" pitchFamily="18" charset="0"/>
              </a:rPr>
              <a:t> H, </a:t>
            </a:r>
            <a:endParaRPr lang="en-US" sz="2400" dirty="0" smtClean="0">
              <a:latin typeface="Times New Roman" pitchFamily="18" charset="0"/>
              <a:cs typeface="Times New Roman" pitchFamily="18" charset="0"/>
            </a:endParaRPr>
          </a:p>
          <a:p>
            <a:r>
              <a:rPr lang="en-US" sz="2400" b="1" i="1" dirty="0" smtClean="0">
                <a:solidFill>
                  <a:srgbClr val="FF0000"/>
                </a:solidFill>
                <a:latin typeface="Times New Roman" pitchFamily="18" charset="0"/>
                <a:cs typeface="Times New Roman" pitchFamily="18" charset="0"/>
              </a:rPr>
              <a:t>pro</a:t>
            </a:r>
            <a:r>
              <a:rPr lang="en-US" sz="2400" b="1" i="1" dirty="0" smtClean="0">
                <a:solidFill>
                  <a:srgbClr val="FF0000"/>
                </a:solidFill>
                <a:latin typeface="Times New Roman" pitchFamily="18" charset="0"/>
                <a:cs typeface="Times New Roman" pitchFamily="18" charset="0"/>
              </a:rPr>
              <a:t> –</a:t>
            </a:r>
            <a:r>
              <a:rPr lang="en-US" sz="2400" i="1" dirty="0" smtClean="0">
                <a:latin typeface="Times New Roman" pitchFamily="18" charset="0"/>
                <a:cs typeface="Times New Roman" pitchFamily="18" charset="0"/>
              </a:rPr>
              <a:t>protease </a:t>
            </a:r>
            <a:r>
              <a:rPr lang="en-US" sz="2400" dirty="0" smtClean="0">
                <a:latin typeface="Times New Roman" pitchFamily="18" charset="0"/>
                <a:cs typeface="Times New Roman" pitchFamily="18" charset="0"/>
              </a:rPr>
              <a:t>gene</a:t>
            </a:r>
            <a:endParaRPr lang="en-US" sz="2400" dirty="0" smtClean="0">
              <a:solidFill>
                <a:srgbClr val="FF0000"/>
              </a:solidFill>
              <a:latin typeface="Times New Roman" pitchFamily="18" charset="0"/>
              <a:cs typeface="Times New Roman" pitchFamily="18" charset="0"/>
            </a:endParaRPr>
          </a:p>
          <a:p>
            <a:r>
              <a:rPr lang="en-US" sz="2400" b="1" i="1" dirty="0" err="1" smtClean="0">
                <a:solidFill>
                  <a:srgbClr val="FF0000"/>
                </a:solidFill>
                <a:latin typeface="Times New Roman" pitchFamily="18" charset="0"/>
                <a:cs typeface="Times New Roman" pitchFamily="18" charset="0"/>
              </a:rPr>
              <a:t>Env</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encoding</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envelope </a:t>
            </a:r>
            <a:r>
              <a:rPr lang="en-US" sz="2400" dirty="0" err="1" smtClean="0">
                <a:latin typeface="Times New Roman" pitchFamily="18" charset="0"/>
                <a:cs typeface="Times New Roman" pitchFamily="18" charset="0"/>
              </a:rPr>
              <a:t>glycoproteins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Retroviral Vector | Gene Therapy Review"/>
          <p:cNvPicPr>
            <a:picLocks noChangeAspect="1" noChangeArrowheads="1"/>
          </p:cNvPicPr>
          <p:nvPr/>
        </p:nvPicPr>
        <p:blipFill>
          <a:blip r:embed="rId2"/>
          <a:srcRect/>
          <a:stretch>
            <a:fillRect/>
          </a:stretch>
        </p:blipFill>
        <p:spPr bwMode="auto">
          <a:xfrm>
            <a:off x="381000" y="1143000"/>
            <a:ext cx="7517694" cy="35052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304800"/>
            <a:ext cx="8763000" cy="4953000"/>
          </a:xfrm>
        </p:spPr>
        <p:txBody>
          <a:bodyPr>
            <a:noAutofit/>
          </a:bodyPr>
          <a:lstStyle/>
          <a:p>
            <a:pPr algn="just"/>
            <a:r>
              <a:rPr lang="en-US" sz="2400" dirty="0" smtClean="0">
                <a:latin typeface="Times New Roman" pitchFamily="18" charset="0"/>
                <a:cs typeface="Times New Roman" pitchFamily="18" charset="0"/>
              </a:rPr>
              <a:t>It has a cap at the 5′ end and a poly(A) tail at the 3′ end. </a:t>
            </a:r>
          </a:p>
          <a:p>
            <a:pPr algn="just"/>
            <a:r>
              <a:rPr lang="en-US" sz="2400" dirty="0" smtClean="0">
                <a:latin typeface="Times New Roman" pitchFamily="18" charset="0"/>
                <a:cs typeface="Times New Roman" pitchFamily="18" charset="0"/>
              </a:rPr>
              <a:t>The RNA </a:t>
            </a:r>
            <a:r>
              <a:rPr lang="en-US" sz="2400" dirty="0" smtClean="0">
                <a:latin typeface="Times New Roman" pitchFamily="18" charset="0"/>
                <a:cs typeface="Times New Roman" pitchFamily="18" charset="0"/>
              </a:rPr>
              <a:t>genome </a:t>
            </a:r>
            <a:r>
              <a:rPr lang="en-US" sz="2400" dirty="0" smtClean="0">
                <a:latin typeface="Times New Roman" pitchFamily="18" charset="0"/>
                <a:cs typeface="Times New Roman" pitchFamily="18" charset="0"/>
              </a:rPr>
              <a:t>has </a:t>
            </a:r>
            <a:r>
              <a:rPr lang="en-US" sz="2400" b="1" dirty="0" smtClean="0">
                <a:latin typeface="Times New Roman" pitchFamily="18" charset="0"/>
                <a:cs typeface="Times New Roman" pitchFamily="18" charset="0"/>
              </a:rPr>
              <a:t>terminal non-coding regions</a:t>
            </a:r>
            <a:r>
              <a:rPr lang="en-US" sz="2400" dirty="0" smtClean="0">
                <a:latin typeface="Times New Roman" pitchFamily="18" charset="0"/>
                <a:cs typeface="Times New Roman" pitchFamily="18" charset="0"/>
              </a:rPr>
              <a:t>, which are important in replication, and </a:t>
            </a:r>
            <a:r>
              <a:rPr lang="en-US" sz="2400" b="1" dirty="0" smtClean="0">
                <a:latin typeface="Times New Roman" pitchFamily="18" charset="0"/>
                <a:cs typeface="Times New Roman" pitchFamily="18" charset="0"/>
              </a:rPr>
              <a:t>internal regions </a:t>
            </a:r>
            <a:r>
              <a:rPr lang="en-US" sz="2400" dirty="0" smtClean="0">
                <a:latin typeface="Times New Roman" pitchFamily="18" charset="0"/>
                <a:cs typeface="Times New Roman" pitchFamily="18" charset="0"/>
              </a:rPr>
              <a:t>that encode </a:t>
            </a:r>
            <a:r>
              <a:rPr lang="en-US" sz="2400" dirty="0" err="1" smtClean="0">
                <a:latin typeface="Times New Roman" pitchFamily="18" charset="0"/>
                <a:cs typeface="Times New Roman" pitchFamily="18" charset="0"/>
              </a:rPr>
              <a:t>virion</a:t>
            </a:r>
            <a:r>
              <a:rPr lang="en-US" sz="2400" dirty="0" smtClean="0">
                <a:latin typeface="Times New Roman" pitchFamily="18" charset="0"/>
                <a:cs typeface="Times New Roman" pitchFamily="18" charset="0"/>
              </a:rPr>
              <a:t> proteins for gene expression.</a:t>
            </a:r>
          </a:p>
          <a:p>
            <a:pPr algn="just"/>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5′ end </a:t>
            </a:r>
            <a:r>
              <a:rPr lang="en-US" sz="2400" dirty="0" smtClean="0">
                <a:latin typeface="Times New Roman" pitchFamily="18" charset="0"/>
                <a:cs typeface="Times New Roman" pitchFamily="18" charset="0"/>
              </a:rPr>
              <a:t>includes four regions, which are R, U5, PBS, and L.</a:t>
            </a:r>
          </a:p>
          <a:p>
            <a:pPr algn="just">
              <a:buNone/>
            </a:pPr>
            <a:r>
              <a:rPr lang="en-US" sz="2400" dirty="0" smtClean="0">
                <a:latin typeface="Times New Roman" pitchFamily="18" charset="0"/>
                <a:cs typeface="Times New Roman" pitchFamily="18" charset="0"/>
              </a:rPr>
              <a:t>The R region is a short repeated sequence at each end of the genome during the reverse transcription in order to ensure correct end-to-end transfer in growing chain.</a:t>
            </a:r>
          </a:p>
          <a:p>
            <a:pPr algn="just">
              <a:buNone/>
            </a:pPr>
            <a:r>
              <a:rPr lang="en-US" sz="2400" dirty="0" smtClean="0">
                <a:latin typeface="Times New Roman" pitchFamily="18" charset="0"/>
                <a:cs typeface="Times New Roman" pitchFamily="18" charset="0"/>
              </a:rPr>
              <a:t>U5 is a short unique sequence between R and PBS.</a:t>
            </a:r>
          </a:p>
          <a:p>
            <a:pPr algn="just">
              <a:buNone/>
            </a:pPr>
            <a:r>
              <a:rPr lang="en-US" sz="2400" dirty="0" smtClean="0">
                <a:latin typeface="Times New Roman" pitchFamily="18" charset="0"/>
                <a:cs typeface="Times New Roman" pitchFamily="18" charset="0"/>
              </a:rPr>
              <a:t>PBS (primer binding site) consists of 18 bases complementary to 3′ end of the </a:t>
            </a:r>
            <a:r>
              <a:rPr lang="en-US" sz="2400" dirty="0" err="1" smtClean="0">
                <a:latin typeface="Times New Roman" pitchFamily="18" charset="0"/>
                <a:cs typeface="Times New Roman" pitchFamily="18" charset="0"/>
              </a:rPr>
              <a:t>tRNA</a:t>
            </a:r>
            <a:r>
              <a:rPr lang="en-US" sz="2400" dirty="0" smtClean="0">
                <a:latin typeface="Times New Roman" pitchFamily="18" charset="0"/>
                <a:cs typeface="Times New Roman" pitchFamily="18" charset="0"/>
              </a:rPr>
              <a:t> primer, which supplies an ‘OH group to initiate reverse transcription.</a:t>
            </a:r>
          </a:p>
          <a:p>
            <a:pPr algn="just">
              <a:buNone/>
            </a:pPr>
            <a:r>
              <a:rPr lang="en-US" sz="2400" dirty="0" smtClean="0">
                <a:latin typeface="Times New Roman" pitchFamily="18" charset="0"/>
                <a:cs typeface="Times New Roman" pitchFamily="18" charset="0"/>
              </a:rPr>
              <a:t>The L region is an </a:t>
            </a:r>
            <a:r>
              <a:rPr lang="en-US" sz="2400" dirty="0" smtClean="0">
                <a:latin typeface="Times New Roman" pitchFamily="18" charset="0"/>
                <a:cs typeface="Times New Roman" pitchFamily="18" charset="0"/>
              </a:rPr>
              <a:t>un-translated </a:t>
            </a:r>
            <a:r>
              <a:rPr lang="en-US" sz="2400" dirty="0" smtClean="0">
                <a:latin typeface="Times New Roman" pitchFamily="18" charset="0"/>
                <a:cs typeface="Times New Roman" pitchFamily="18" charset="0"/>
              </a:rPr>
              <a:t>leader region that give the signal for packaging of </a:t>
            </a:r>
            <a:r>
              <a:rPr lang="en-US" sz="2400" dirty="0" smtClean="0">
                <a:latin typeface="Times New Roman" pitchFamily="18" charset="0"/>
                <a:cs typeface="Times New Roman" pitchFamily="18" charset="0"/>
              </a:rPr>
              <a:t>genomic </a:t>
            </a:r>
            <a:r>
              <a:rPr lang="en-US" sz="2400" dirty="0" smtClean="0">
                <a:latin typeface="Times New Roman" pitchFamily="18" charset="0"/>
                <a:cs typeface="Times New Roman" pitchFamily="18" charset="0"/>
              </a:rPr>
              <a:t>RNA.</a:t>
            </a:r>
          </a:p>
          <a:p>
            <a:pPr algn="just">
              <a:buNone/>
            </a:pPr>
            <a:endParaRPr lang="en-US"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457200"/>
            <a:ext cx="8229600" cy="4525963"/>
          </a:xfrm>
        </p:spPr>
        <p:txBody>
          <a:bodyPr>
            <a:noAutofit/>
          </a:bodyPr>
          <a:lstStyle/>
          <a:p>
            <a:pPr algn="just"/>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3′ end </a:t>
            </a:r>
            <a:r>
              <a:rPr lang="en-US" sz="2400" dirty="0" smtClean="0">
                <a:latin typeface="Times New Roman" pitchFamily="18" charset="0"/>
                <a:cs typeface="Times New Roman" pitchFamily="18" charset="0"/>
              </a:rPr>
              <a:t>includes 3 regions, which are PPT (</a:t>
            </a:r>
            <a:r>
              <a:rPr lang="en-US" sz="2400" dirty="0" err="1" smtClean="0">
                <a:latin typeface="Times New Roman" pitchFamily="18" charset="0"/>
                <a:cs typeface="Times New Roman" pitchFamily="18" charset="0"/>
              </a:rPr>
              <a:t>polypurine</a:t>
            </a:r>
            <a:r>
              <a:rPr lang="en-US" sz="2400" dirty="0" smtClean="0">
                <a:latin typeface="Times New Roman" pitchFamily="18" charset="0"/>
                <a:cs typeface="Times New Roman" pitchFamily="18" charset="0"/>
              </a:rPr>
              <a:t> tract), U3, and R.</a:t>
            </a:r>
          </a:p>
          <a:p>
            <a:pPr algn="just">
              <a:buNone/>
            </a:pPr>
            <a:r>
              <a:rPr lang="en-US" sz="2400" dirty="0" smtClean="0">
                <a:latin typeface="Times New Roman" pitchFamily="18" charset="0"/>
                <a:cs typeface="Times New Roman" pitchFamily="18" charset="0"/>
              </a:rPr>
              <a:t>PPT (or PP), </a:t>
            </a:r>
            <a:r>
              <a:rPr lang="en-US" sz="2400" dirty="0" err="1" smtClean="0">
                <a:latin typeface="Times New Roman" pitchFamily="18" charset="0"/>
                <a:cs typeface="Times New Roman" pitchFamily="18" charset="0"/>
              </a:rPr>
              <a:t>polypurine</a:t>
            </a:r>
            <a:r>
              <a:rPr lang="en-US" sz="2400" dirty="0" smtClean="0">
                <a:latin typeface="Times New Roman" pitchFamily="18" charset="0"/>
                <a:cs typeface="Times New Roman" pitchFamily="18" charset="0"/>
              </a:rPr>
              <a:t> tract is the primer for plus-strand DNA synthesis during reverse transcription.</a:t>
            </a:r>
          </a:p>
          <a:p>
            <a:pPr algn="just">
              <a:buNone/>
            </a:pPr>
            <a:r>
              <a:rPr lang="en-US" sz="2400" dirty="0" smtClean="0">
                <a:latin typeface="Times New Roman" pitchFamily="18" charset="0"/>
                <a:cs typeface="Times New Roman" pitchFamily="18" charset="0"/>
              </a:rPr>
              <a:t>U3 is a sequence between PPT and R, which has signal that provirus can use in transcription.</a:t>
            </a:r>
          </a:p>
          <a:p>
            <a:pPr algn="just">
              <a:buNone/>
            </a:pPr>
            <a:r>
              <a:rPr lang="en-US" sz="2400" dirty="0" smtClean="0">
                <a:latin typeface="Times New Roman" pitchFamily="18" charset="0"/>
                <a:cs typeface="Times New Roman" pitchFamily="18" charset="0"/>
              </a:rPr>
              <a:t>R is the terminal repeated sequence at 3′ end, the same as the R (i.e., repeat </a:t>
            </a:r>
            <a:r>
              <a:rPr lang="en-US" sz="2400" dirty="0" smtClean="0">
                <a:latin typeface="Times New Roman" pitchFamily="18" charset="0"/>
                <a:cs typeface="Times New Roman" pitchFamily="18" charset="0"/>
              </a:rPr>
              <a:t>region) </a:t>
            </a:r>
            <a:r>
              <a:rPr lang="en-US" sz="2400" dirty="0" smtClean="0">
                <a:latin typeface="Times New Roman" pitchFamily="18" charset="0"/>
                <a:cs typeface="Times New Roman" pitchFamily="18" charset="0"/>
              </a:rPr>
              <a:t>of the 5′ </a:t>
            </a:r>
            <a:r>
              <a:rPr lang="en-US" sz="2400" dirty="0" smtClean="0">
                <a:latin typeface="Times New Roman" pitchFamily="18" charset="0"/>
                <a:cs typeface="Times New Roman" pitchFamily="18" charset="0"/>
              </a:rPr>
              <a:t>end.</a:t>
            </a:r>
            <a:endParaRPr lang="en-US" sz="2400" dirty="0" smtClean="0">
              <a:latin typeface="Times New Roman" pitchFamily="18" charset="0"/>
              <a:cs typeface="Times New Roman" pitchFamily="18" charset="0"/>
            </a:endParaRPr>
          </a:p>
          <a:p>
            <a:pPr algn="just">
              <a:buNone/>
            </a:pPr>
            <a:endParaRPr lang="en-US" sz="2400" b="1" dirty="0" smtClean="0">
              <a:latin typeface="Times New Roman" pitchFamily="18" charset="0"/>
              <a:cs typeface="Times New Roman" pitchFamily="18" charset="0"/>
            </a:endParaRPr>
          </a:p>
          <a:p>
            <a:pPr algn="just"/>
            <a:r>
              <a:rPr lang="en-US" sz="2400" b="1" dirty="0" smtClean="0">
                <a:solidFill>
                  <a:srgbClr val="FF0000"/>
                </a:solidFill>
                <a:latin typeface="Times New Roman" pitchFamily="18" charset="0"/>
                <a:cs typeface="Times New Roman" pitchFamily="18" charset="0"/>
              </a:rPr>
              <a:t>Replication defective retrovirus- </a:t>
            </a:r>
            <a:r>
              <a:rPr lang="en-US" sz="2400" dirty="0" smtClean="0">
                <a:latin typeface="Times New Roman" pitchFamily="18" charset="0"/>
                <a:cs typeface="Times New Roman" pitchFamily="18" charset="0"/>
              </a:rPr>
              <a:t>v-</a:t>
            </a:r>
            <a:r>
              <a:rPr lang="en-US" sz="2400" dirty="0" err="1" smtClean="0">
                <a:latin typeface="Times New Roman" pitchFamily="18" charset="0"/>
                <a:cs typeface="Times New Roman" pitchFamily="18" charset="0"/>
              </a:rPr>
              <a:t>onc</a:t>
            </a:r>
            <a:r>
              <a:rPr lang="en-US" sz="2400" dirty="0" smtClean="0">
                <a:latin typeface="Times New Roman" pitchFamily="18" charset="0"/>
                <a:cs typeface="Times New Roman" pitchFamily="18" charset="0"/>
              </a:rPr>
              <a:t> gene is usually incorporated into the viral RNA in place of part of one or more normal viral genes. </a:t>
            </a:r>
          </a:p>
          <a:p>
            <a:pPr algn="just"/>
            <a:r>
              <a:rPr lang="en-US" sz="2400" dirty="0" smtClean="0">
                <a:latin typeface="Times New Roman" pitchFamily="18" charset="0"/>
                <a:cs typeface="Times New Roman" pitchFamily="18" charset="0"/>
              </a:rPr>
              <a:t>These viruses are usually defective, i.e., they are dependent on non defective helper retroviruses for their replication. </a:t>
            </a:r>
          </a:p>
          <a:p>
            <a:pPr algn="just"/>
            <a:r>
              <a:rPr lang="en-US" sz="2400" dirty="0" smtClean="0">
                <a:latin typeface="Times New Roman" pitchFamily="18" charset="0"/>
                <a:cs typeface="Times New Roman" pitchFamily="18" charset="0"/>
              </a:rPr>
              <a:t>They are </a:t>
            </a:r>
            <a:r>
              <a:rPr lang="en-US" sz="2400" b="1" dirty="0" smtClean="0">
                <a:latin typeface="Times New Roman" pitchFamily="18" charset="0"/>
                <a:cs typeface="Times New Roman" pitchFamily="18" charset="0"/>
              </a:rPr>
              <a:t>rapidly transforming retrovirus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microbiologybook.org/lecture/images/onco2.jpg"/>
          <p:cNvPicPr>
            <a:picLocks noChangeAspect="1" noChangeArrowheads="1"/>
          </p:cNvPicPr>
          <p:nvPr/>
        </p:nvPicPr>
        <p:blipFill>
          <a:blip r:embed="rId2"/>
          <a:srcRect/>
          <a:stretch>
            <a:fillRect/>
          </a:stretch>
        </p:blipFill>
        <p:spPr bwMode="auto">
          <a:xfrm>
            <a:off x="1295400" y="381000"/>
            <a:ext cx="6781800" cy="4238626"/>
          </a:xfrm>
          <a:prstGeom prst="rect">
            <a:avLst/>
          </a:prstGeom>
          <a:noFill/>
        </p:spPr>
      </p:pic>
      <p:sp>
        <p:nvSpPr>
          <p:cNvPr id="3" name="Rectangle 2"/>
          <p:cNvSpPr/>
          <p:nvPr/>
        </p:nvSpPr>
        <p:spPr>
          <a:xfrm>
            <a:off x="381000" y="5257801"/>
            <a:ext cx="8382000" cy="830997"/>
          </a:xfrm>
          <a:prstGeom prst="rect">
            <a:avLst/>
          </a:prstGeom>
        </p:spPr>
        <p:txBody>
          <a:bodyPr wrap="square">
            <a:spAutoFit/>
          </a:bodyPr>
          <a:lstStyle/>
          <a:p>
            <a:r>
              <a:rPr lang="en-GB" sz="2400" b="1" dirty="0" smtClean="0">
                <a:latin typeface="Times New Roman" pitchFamily="18" charset="0"/>
                <a:cs typeface="Times New Roman" pitchFamily="18" charset="0"/>
              </a:rPr>
              <a:t>Rous sarcoma virus is replication competent and rapidly </a:t>
            </a:r>
            <a:r>
              <a:rPr lang="en-GB" sz="2400" b="1" dirty="0" err="1" smtClean="0">
                <a:latin typeface="Times New Roman" pitchFamily="18" charset="0"/>
                <a:cs typeface="Times New Roman" pitchFamily="18" charset="0"/>
              </a:rPr>
              <a:t>oncogenic</a:t>
            </a:r>
            <a:endParaRPr lang="en-US" sz="2400" b="1"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www.microbiologybook.org/lecture/images/onco3.jpg"/>
          <p:cNvPicPr>
            <a:picLocks noChangeAspect="1" noChangeArrowheads="1"/>
          </p:cNvPicPr>
          <p:nvPr/>
        </p:nvPicPr>
        <p:blipFill>
          <a:blip r:embed="rId2"/>
          <a:srcRect/>
          <a:stretch>
            <a:fillRect/>
          </a:stretch>
        </p:blipFill>
        <p:spPr bwMode="auto">
          <a:xfrm>
            <a:off x="762000" y="533400"/>
            <a:ext cx="7161195" cy="47244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990600"/>
            <a:ext cx="8382000" cy="5486400"/>
          </a:xfrm>
        </p:spPr>
        <p:txBody>
          <a:bodyPr>
            <a:normAutofit/>
          </a:bodyPr>
          <a:lstStyle/>
          <a:p>
            <a:pPr algn="just"/>
            <a:r>
              <a:rPr lang="en-GB" sz="2400" dirty="0" smtClean="0">
                <a:latin typeface="Times New Roman" pitchFamily="18" charset="0"/>
                <a:cs typeface="Times New Roman" pitchFamily="18" charset="0"/>
              </a:rPr>
              <a:t>In </a:t>
            </a:r>
            <a:r>
              <a:rPr lang="en-GB" sz="2400" dirty="0" smtClean="0">
                <a:latin typeface="Times New Roman" pitchFamily="18" charset="0"/>
                <a:cs typeface="Times New Roman" pitchFamily="18" charset="0"/>
              </a:rPr>
              <a:t>the</a:t>
            </a:r>
            <a:r>
              <a:rPr lang="en-GB" sz="2400" b="1" dirty="0" smtClean="0">
                <a:latin typeface="Times New Roman" pitchFamily="18" charset="0"/>
                <a:cs typeface="Times New Roman" pitchFamily="18" charset="0"/>
              </a:rPr>
              <a:t> integrated </a:t>
            </a:r>
            <a:r>
              <a:rPr lang="en-GB" sz="2400" dirty="0" smtClean="0">
                <a:latin typeface="Times New Roman" pitchFamily="18" charset="0"/>
                <a:cs typeface="Times New Roman" pitchFamily="18" charset="0"/>
              </a:rPr>
              <a:t>form, the </a:t>
            </a:r>
            <a:r>
              <a:rPr lang="en-GB" sz="2400" b="1" dirty="0" smtClean="0">
                <a:latin typeface="Times New Roman" pitchFamily="18" charset="0"/>
                <a:cs typeface="Times New Roman" pitchFamily="18" charset="0"/>
              </a:rPr>
              <a:t>provirus</a:t>
            </a:r>
            <a:r>
              <a:rPr lang="en-GB" sz="2400" dirty="0" smtClean="0">
                <a:latin typeface="Times New Roman" pitchFamily="18" charset="0"/>
                <a:cs typeface="Times New Roman" pitchFamily="18" charset="0"/>
              </a:rPr>
              <a:t> is more complicated. </a:t>
            </a:r>
          </a:p>
          <a:p>
            <a:pPr algn="just"/>
            <a:r>
              <a:rPr lang="en-GB" sz="2400" dirty="0" smtClean="0">
                <a:latin typeface="Times New Roman" pitchFamily="18" charset="0"/>
                <a:cs typeface="Times New Roman" pitchFamily="18" charset="0"/>
              </a:rPr>
              <a:t>Part of the 3' unique region (called U3) of the RNA genome has been copied and transposed to the opposite end of the genome. </a:t>
            </a:r>
          </a:p>
          <a:p>
            <a:pPr algn="just"/>
            <a:r>
              <a:rPr lang="en-GB" sz="2400" dirty="0" smtClean="0">
                <a:latin typeface="Times New Roman" pitchFamily="18" charset="0"/>
                <a:cs typeface="Times New Roman" pitchFamily="18" charset="0"/>
              </a:rPr>
              <a:t>Conversely, part of the 5' end of the unique region (called U5) has been copied and transposed to the other end.</a:t>
            </a:r>
          </a:p>
          <a:p>
            <a:pPr algn="just"/>
            <a:r>
              <a:rPr lang="en-GB" sz="2400" dirty="0" smtClean="0">
                <a:latin typeface="Times New Roman" pitchFamily="18" charset="0"/>
                <a:cs typeface="Times New Roman" pitchFamily="18" charset="0"/>
              </a:rPr>
              <a:t>The </a:t>
            </a:r>
            <a:r>
              <a:rPr lang="en-GB" sz="2400" b="1" dirty="0" smtClean="0">
                <a:latin typeface="Times New Roman" pitchFamily="18" charset="0"/>
                <a:cs typeface="Times New Roman" pitchFamily="18" charset="0"/>
              </a:rPr>
              <a:t>U3-R-U5 regions </a:t>
            </a:r>
            <a:r>
              <a:rPr lang="en-GB" sz="2400" dirty="0" smtClean="0">
                <a:latin typeface="Times New Roman" pitchFamily="18" charset="0"/>
                <a:cs typeface="Times New Roman" pitchFamily="18" charset="0"/>
              </a:rPr>
              <a:t>are known as </a:t>
            </a:r>
            <a:r>
              <a:rPr lang="en-GB" sz="2400" b="1" dirty="0" smtClean="0">
                <a:latin typeface="Times New Roman" pitchFamily="18" charset="0"/>
                <a:cs typeface="Times New Roman" pitchFamily="18" charset="0"/>
              </a:rPr>
              <a:t>long terminal repeats or LTRs</a:t>
            </a:r>
            <a:r>
              <a:rPr lang="en-GB" sz="2400" dirty="0" smtClean="0">
                <a:latin typeface="Times New Roman" pitchFamily="18" charset="0"/>
                <a:cs typeface="Times New Roman" pitchFamily="18" charset="0"/>
              </a:rPr>
              <a:t>. </a:t>
            </a:r>
          </a:p>
          <a:p>
            <a:pPr algn="just"/>
            <a:r>
              <a:rPr lang="en-GB" sz="2400" dirty="0" smtClean="0">
                <a:latin typeface="Times New Roman" pitchFamily="18" charset="0"/>
                <a:cs typeface="Times New Roman" pitchFamily="18" charset="0"/>
              </a:rPr>
              <a:t>The U3 region contains all of the </a:t>
            </a:r>
            <a:r>
              <a:rPr lang="en-GB" sz="2400" b="1" dirty="0" err="1" smtClean="0">
                <a:latin typeface="Times New Roman" pitchFamily="18" charset="0"/>
                <a:cs typeface="Times New Roman" pitchFamily="18" charset="0"/>
              </a:rPr>
              <a:t>promotor</a:t>
            </a:r>
            <a:r>
              <a:rPr lang="en-GB" sz="2400" dirty="0" smtClean="0">
                <a:latin typeface="Times New Roman" pitchFamily="18" charset="0"/>
                <a:cs typeface="Times New Roman" pitchFamily="18" charset="0"/>
              </a:rPr>
              <a:t> information that is necessary to start RNA transcription at the </a:t>
            </a:r>
            <a:r>
              <a:rPr lang="en-GB" sz="2400" b="1" dirty="0" smtClean="0">
                <a:latin typeface="Times New Roman" pitchFamily="18" charset="0"/>
                <a:cs typeface="Times New Roman" pitchFamily="18" charset="0"/>
              </a:rPr>
              <a:t>beginning of the R (repeat) region </a:t>
            </a:r>
            <a:r>
              <a:rPr lang="en-GB" sz="2400" dirty="0" smtClean="0">
                <a:latin typeface="Times New Roman" pitchFamily="18" charset="0"/>
                <a:cs typeface="Times New Roman" pitchFamily="18" charset="0"/>
              </a:rPr>
              <a:t>while the U5 region contains all of the information necessary to </a:t>
            </a:r>
            <a:r>
              <a:rPr lang="en-GB" sz="2400" b="1" dirty="0" smtClean="0">
                <a:latin typeface="Times New Roman" pitchFamily="18" charset="0"/>
                <a:cs typeface="Times New Roman" pitchFamily="18" charset="0"/>
              </a:rPr>
              <a:t>terminate</a:t>
            </a:r>
            <a:r>
              <a:rPr lang="en-GB" sz="2400" dirty="0" smtClean="0">
                <a:latin typeface="Times New Roman" pitchFamily="18" charset="0"/>
                <a:cs typeface="Times New Roman" pitchFamily="18" charset="0"/>
              </a:rPr>
              <a:t> after the other R repeat.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0"/>
            <a:ext cx="8382000" cy="4154984"/>
          </a:xfrm>
          <a:prstGeom prst="rect">
            <a:avLst/>
          </a:prstGeom>
        </p:spPr>
        <p:txBody>
          <a:bodyPr wrap="square">
            <a:spAutoFit/>
          </a:bodyPr>
          <a:lstStyle/>
          <a:p>
            <a:pPr algn="just">
              <a:buFont typeface="Arial" pitchFamily="34" charset="0"/>
              <a:buChar char="•"/>
            </a:pPr>
            <a:r>
              <a:rPr lang="en-GB" sz="2400" dirty="0" smtClean="0">
                <a:latin typeface="Times New Roman" pitchFamily="18" charset="0"/>
                <a:cs typeface="Times New Roman" pitchFamily="18" charset="0"/>
              </a:rPr>
              <a:t>In addition, the LTRs contain information that enhances the degree of transcription of the three retroviral genes (</a:t>
            </a:r>
            <a:r>
              <a:rPr lang="en-GB" sz="2400" b="1" dirty="0" smtClean="0">
                <a:latin typeface="Times New Roman" pitchFamily="18" charset="0"/>
                <a:cs typeface="Times New Roman" pitchFamily="18" charset="0"/>
              </a:rPr>
              <a:t>enhancer regions</a:t>
            </a:r>
            <a:r>
              <a:rPr lang="en-GB" sz="2400" dirty="0" smtClean="0">
                <a:latin typeface="Times New Roman" pitchFamily="18" charset="0"/>
                <a:cs typeface="Times New Roman" pitchFamily="18" charset="0"/>
              </a:rPr>
              <a:t>). </a:t>
            </a:r>
          </a:p>
          <a:p>
            <a:pPr algn="just">
              <a:buFont typeface="Arial" pitchFamily="34" charset="0"/>
              <a:buChar char="•"/>
            </a:pPr>
            <a:endParaRPr lang="en-GB" sz="2400" dirty="0" smtClean="0">
              <a:latin typeface="Times New Roman" pitchFamily="18" charset="0"/>
              <a:cs typeface="Times New Roman" pitchFamily="18" charset="0"/>
            </a:endParaRPr>
          </a:p>
          <a:p>
            <a:pPr algn="just">
              <a:buFont typeface="Arial" pitchFamily="34" charset="0"/>
              <a:buChar char="•"/>
            </a:pPr>
            <a:r>
              <a:rPr lang="en-GB" sz="2400" dirty="0" smtClean="0">
                <a:latin typeface="Times New Roman" pitchFamily="18" charset="0"/>
                <a:cs typeface="Times New Roman" pitchFamily="18" charset="0"/>
              </a:rPr>
              <a:t>These enhancers can be up or downstream from the protein-encoding part of  the  genes.</a:t>
            </a:r>
          </a:p>
          <a:p>
            <a:pPr algn="just">
              <a:buFont typeface="Arial" pitchFamily="34" charset="0"/>
              <a:buChar char="•"/>
            </a:pPr>
            <a:endParaRPr lang="en-GB" sz="2400" dirty="0" smtClean="0">
              <a:latin typeface="Times New Roman" pitchFamily="18" charset="0"/>
              <a:cs typeface="Times New Roman" pitchFamily="18" charset="0"/>
            </a:endParaRPr>
          </a:p>
          <a:p>
            <a:pPr algn="just">
              <a:buFont typeface="Arial" pitchFamily="34" charset="0"/>
              <a:buChar char="•"/>
            </a:pPr>
            <a:r>
              <a:rPr lang="en-GB" sz="2400" dirty="0" smtClean="0">
                <a:latin typeface="Times New Roman" pitchFamily="18" charset="0"/>
                <a:cs typeface="Times New Roman" pitchFamily="18" charset="0"/>
              </a:rPr>
              <a:t>The expression of mRNA from the provirus is under the control of the viral transcriptional regulatory sequences, which include promoter and enhancer elements that are located in the long terminal repeats.</a:t>
            </a:r>
            <a:endParaRPr lang="en-US" sz="24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https://www.microbiologybook.org/lecture/dnacr.gif"/>
          <p:cNvPicPr>
            <a:picLocks noChangeAspect="1" noChangeArrowheads="1"/>
          </p:cNvPicPr>
          <p:nvPr/>
        </p:nvPicPr>
        <p:blipFill>
          <a:blip r:embed="rId2"/>
          <a:srcRect/>
          <a:stretch>
            <a:fillRect/>
          </a:stretch>
        </p:blipFill>
        <p:spPr bwMode="auto">
          <a:xfrm>
            <a:off x="914400" y="3352800"/>
            <a:ext cx="6764867" cy="2590800"/>
          </a:xfrm>
          <a:prstGeom prst="rect">
            <a:avLst/>
          </a:prstGeom>
          <a:noFill/>
        </p:spPr>
      </p:pic>
      <p:pic>
        <p:nvPicPr>
          <p:cNvPr id="3" name="Picture 2" descr="https://www.microbiologybook.org/lecture/rnacr.gif"/>
          <p:cNvPicPr>
            <a:picLocks noChangeAspect="1" noChangeArrowheads="1"/>
          </p:cNvPicPr>
          <p:nvPr/>
        </p:nvPicPr>
        <p:blipFill>
          <a:blip r:embed="rId3"/>
          <a:srcRect/>
          <a:stretch>
            <a:fillRect/>
          </a:stretch>
        </p:blipFill>
        <p:spPr bwMode="auto">
          <a:xfrm>
            <a:off x="381000" y="457200"/>
            <a:ext cx="7682878" cy="2057400"/>
          </a:xfrm>
          <a:prstGeom prst="rect">
            <a:avLst/>
          </a:prstGeom>
          <a:noFill/>
        </p:spPr>
      </p:pic>
      <p:sp>
        <p:nvSpPr>
          <p:cNvPr id="4" name="Rectangle 3"/>
          <p:cNvSpPr/>
          <p:nvPr/>
        </p:nvSpPr>
        <p:spPr>
          <a:xfrm>
            <a:off x="1219200" y="2514600"/>
            <a:ext cx="6629400" cy="400110"/>
          </a:xfrm>
          <a:prstGeom prst="rect">
            <a:avLst/>
          </a:prstGeom>
        </p:spPr>
        <p:txBody>
          <a:bodyPr wrap="square">
            <a:spAutoFit/>
          </a:bodyPr>
          <a:lstStyle/>
          <a:p>
            <a:r>
              <a:rPr lang="en-GB" sz="2000" b="1" dirty="0" smtClean="0"/>
              <a:t>The structure of the RNA genome of the mature retrovirus</a:t>
            </a:r>
            <a:endParaRPr lang="en-US" sz="2000" b="1" dirty="0"/>
          </a:p>
        </p:txBody>
      </p:sp>
      <p:sp>
        <p:nvSpPr>
          <p:cNvPr id="5" name="Rectangle 4"/>
          <p:cNvSpPr/>
          <p:nvPr/>
        </p:nvSpPr>
        <p:spPr>
          <a:xfrm>
            <a:off x="990600" y="5867400"/>
            <a:ext cx="7162800" cy="400110"/>
          </a:xfrm>
          <a:prstGeom prst="rect">
            <a:avLst/>
          </a:prstGeom>
        </p:spPr>
        <p:txBody>
          <a:bodyPr wrap="square">
            <a:spAutoFit/>
          </a:bodyPr>
          <a:lstStyle/>
          <a:p>
            <a:r>
              <a:rPr lang="en-GB" sz="2000" b="1" dirty="0" smtClean="0"/>
              <a:t>The genome structure of the DNA </a:t>
            </a:r>
            <a:r>
              <a:rPr lang="en-GB" sz="2000" b="1" dirty="0" err="1" smtClean="0"/>
              <a:t>proviral</a:t>
            </a:r>
            <a:r>
              <a:rPr lang="en-GB" sz="2000" b="1" dirty="0" smtClean="0"/>
              <a:t> form of a retrovirus</a:t>
            </a:r>
            <a:endParaRPr lang="en-US" sz="20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Endogenous and </a:t>
            </a:r>
            <a:r>
              <a:rPr lang="en-US" sz="3600" b="1" smtClean="0">
                <a:solidFill>
                  <a:srgbClr val="FF0000"/>
                </a:solidFill>
              </a:rPr>
              <a:t>exogenous Retroviruses</a:t>
            </a:r>
            <a:endParaRPr lang="en-US" sz="3600" b="1" dirty="0">
              <a:solidFill>
                <a:srgbClr val="FF0000"/>
              </a:solidFill>
            </a:endParaRPr>
          </a:p>
        </p:txBody>
      </p:sp>
      <p:sp>
        <p:nvSpPr>
          <p:cNvPr id="3" name="Content Placeholder 2"/>
          <p:cNvSpPr>
            <a:spLocks noGrp="1"/>
          </p:cNvSpPr>
          <p:nvPr>
            <p:ph idx="1"/>
          </p:nvPr>
        </p:nvSpPr>
        <p:spPr>
          <a:xfrm>
            <a:off x="152400" y="1295400"/>
            <a:ext cx="8763000" cy="4525963"/>
          </a:xfrm>
        </p:spPr>
        <p:txBody>
          <a:bodyPr>
            <a:noAutofit/>
          </a:bodyPr>
          <a:lstStyle/>
          <a:p>
            <a:pPr algn="just"/>
            <a:r>
              <a:rPr lang="en-GB" sz="2400" dirty="0" smtClean="0">
                <a:latin typeface="Times New Roman" pitchFamily="18" charset="0"/>
                <a:cs typeface="Times New Roman" pitchFamily="18" charset="0"/>
              </a:rPr>
              <a:t>A complete DNA copy of the genome (known as the provirus) of one, or sometimes more than one, retrovirus may be </a:t>
            </a:r>
            <a:r>
              <a:rPr lang="en-GB" sz="2400" b="1" dirty="0" smtClean="0">
                <a:latin typeface="Times New Roman" pitchFamily="18" charset="0"/>
                <a:cs typeface="Times New Roman" pitchFamily="18" charset="0"/>
              </a:rPr>
              <a:t>transmitted in the germ line DNA from parent to progeny</a:t>
            </a:r>
            <a:r>
              <a:rPr lang="en-GB" sz="2400" dirty="0" smtClean="0">
                <a:latin typeface="Times New Roman" pitchFamily="18" charset="0"/>
                <a:cs typeface="Times New Roman" pitchFamily="18" charset="0"/>
              </a:rPr>
              <a:t> (i.e., via ova or sperm) and may thus be perpetuated in every cell of every individual of certain vertebrate species. </a:t>
            </a:r>
          </a:p>
          <a:p>
            <a:pPr algn="just"/>
            <a:r>
              <a:rPr lang="en-GB" sz="2400" dirty="0" smtClean="0">
                <a:latin typeface="Times New Roman" pitchFamily="18" charset="0"/>
                <a:cs typeface="Times New Roman" pitchFamily="18" charset="0"/>
              </a:rPr>
              <a:t>Such </a:t>
            </a:r>
            <a:r>
              <a:rPr lang="en-GB" sz="2400" dirty="0" err="1" smtClean="0">
                <a:latin typeface="Times New Roman" pitchFamily="18" charset="0"/>
                <a:cs typeface="Times New Roman" pitchFamily="18" charset="0"/>
              </a:rPr>
              <a:t>proviral</a:t>
            </a:r>
            <a:r>
              <a:rPr lang="en-GB" sz="2400" dirty="0" smtClean="0">
                <a:latin typeface="Times New Roman" pitchFamily="18" charset="0"/>
                <a:cs typeface="Times New Roman" pitchFamily="18" charset="0"/>
              </a:rPr>
              <a:t> genomes are under the control of cellular regulatory genes and are normally completely silent in normal animals. Such retroviruses are said to be </a:t>
            </a:r>
            <a:r>
              <a:rPr lang="en-GB" sz="2400" b="1" dirty="0" smtClean="0">
                <a:latin typeface="Times New Roman" pitchFamily="18" charset="0"/>
                <a:cs typeface="Times New Roman" pitchFamily="18" charset="0"/>
              </a:rPr>
              <a:t>endogenous</a:t>
            </a:r>
            <a:r>
              <a:rPr lang="en-GB" sz="2400" dirty="0" smtClean="0">
                <a:latin typeface="Times New Roman" pitchFamily="18" charset="0"/>
                <a:cs typeface="Times New Roman" pitchFamily="18" charset="0"/>
              </a:rPr>
              <a:t>. </a:t>
            </a:r>
          </a:p>
          <a:p>
            <a:pPr algn="just"/>
            <a:r>
              <a:rPr lang="en-GB" sz="2400" dirty="0" smtClean="0">
                <a:latin typeface="Times New Roman" pitchFamily="18" charset="0"/>
                <a:cs typeface="Times New Roman" pitchFamily="18" charset="0"/>
              </a:rPr>
              <a:t>Expression of such </a:t>
            </a:r>
            <a:r>
              <a:rPr lang="en-GB" sz="2400" dirty="0" err="1" smtClean="0">
                <a:latin typeface="Times New Roman" pitchFamily="18" charset="0"/>
                <a:cs typeface="Times New Roman" pitchFamily="18" charset="0"/>
              </a:rPr>
              <a:t>proviruses</a:t>
            </a:r>
            <a:r>
              <a:rPr lang="en-GB" sz="2400" dirty="0" smtClean="0">
                <a:latin typeface="Times New Roman" pitchFamily="18" charset="0"/>
                <a:cs typeface="Times New Roman" pitchFamily="18" charset="0"/>
              </a:rPr>
              <a:t> can be induced by various factors such as irradiation and exposure to mutagenic or carcinogenic chemicals or hormonal or immunological stimuli, so that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may be produced in some circumstances with some viruses</a:t>
            </a:r>
            <a:endParaRPr lang="en-US" sz="24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2400" b="1" dirty="0" smtClean="0">
                <a:latin typeface="Times New Roman" pitchFamily="18" charset="0"/>
                <a:cs typeface="Times New Roman" pitchFamily="18" charset="0"/>
              </a:rPr>
              <a:t>Exogenous retroviruses </a:t>
            </a:r>
            <a:r>
              <a:rPr lang="en-GB" sz="2400" dirty="0" smtClean="0">
                <a:latin typeface="Times New Roman" pitchFamily="18" charset="0"/>
                <a:cs typeface="Times New Roman" pitchFamily="18" charset="0"/>
              </a:rPr>
              <a:t>behave as more typical infectious agents, spreading horizontally to contacts. </a:t>
            </a:r>
          </a:p>
          <a:p>
            <a:r>
              <a:rPr lang="en-GB" sz="2400" dirty="0" smtClean="0">
                <a:latin typeface="Times New Roman" pitchFamily="18" charset="0"/>
                <a:cs typeface="Times New Roman" pitchFamily="18" charset="0"/>
              </a:rPr>
              <a:t>Most endogenous retroviruses never produce disease, cannot transform cultured cells, and contain no </a:t>
            </a:r>
            <a:r>
              <a:rPr lang="en-GB" sz="2400" dirty="0" err="1" smtClean="0">
                <a:latin typeface="Times New Roman" pitchFamily="18" charset="0"/>
                <a:cs typeface="Times New Roman" pitchFamily="18" charset="0"/>
              </a:rPr>
              <a:t>oncogene</a:t>
            </a:r>
            <a:r>
              <a:rPr lang="en-GB" sz="2400" dirty="0" smtClean="0">
                <a:latin typeface="Times New Roman" pitchFamily="18" charset="0"/>
                <a:cs typeface="Times New Roman" pitchFamily="18" charset="0"/>
              </a:rPr>
              <a:t> in their genome. </a:t>
            </a:r>
          </a:p>
          <a:p>
            <a:r>
              <a:rPr lang="en-GB" sz="2400" dirty="0" smtClean="0">
                <a:latin typeface="Times New Roman" pitchFamily="18" charset="0"/>
                <a:cs typeface="Times New Roman" pitchFamily="18" charset="0"/>
              </a:rPr>
              <a:t>Most exogenous retroviruses, however, are </a:t>
            </a:r>
            <a:r>
              <a:rPr lang="en-GB" sz="2400" dirty="0" err="1" smtClean="0">
                <a:latin typeface="Times New Roman" pitchFamily="18" charset="0"/>
                <a:cs typeface="Times New Roman" pitchFamily="18" charset="0"/>
              </a:rPr>
              <a:t>oncogenic</a:t>
            </a:r>
            <a:r>
              <a:rPr lang="en-GB" sz="2400" dirty="0" smtClean="0">
                <a:latin typeface="Times New Roman" pitchFamily="18" charset="0"/>
                <a:cs typeface="Times New Roman" pitchFamily="18" charset="0"/>
              </a:rPr>
              <a:t>; some characteristically induce </a:t>
            </a:r>
            <a:r>
              <a:rPr lang="en-GB" sz="2400" dirty="0" err="1" smtClean="0">
                <a:latin typeface="Times New Roman" pitchFamily="18" charset="0"/>
                <a:cs typeface="Times New Roman" pitchFamily="18" charset="0"/>
              </a:rPr>
              <a:t>leukemias</a:t>
            </a:r>
            <a:r>
              <a:rPr lang="en-GB" sz="2400" dirty="0" smtClean="0">
                <a:latin typeface="Times New Roman" pitchFamily="18" charset="0"/>
                <a:cs typeface="Times New Roman" pitchFamily="18" charset="0"/>
              </a:rPr>
              <a:t> or lymphomas, others sarcomas, and yet others carcinomas, usually displaying a predilection for a particular target cell. </a:t>
            </a:r>
            <a:endParaRPr lang="en-US" sz="24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685800"/>
            <a:ext cx="8229600" cy="4525963"/>
          </a:xfrm>
        </p:spPr>
        <p:txBody>
          <a:bodyPr/>
          <a:lstStyle/>
          <a:p>
            <a:pPr algn="ctr"/>
            <a:r>
              <a:rPr lang="en-US" dirty="0" smtClean="0">
                <a:latin typeface="Times New Roman" pitchFamily="18" charset="0"/>
                <a:cs typeface="Times New Roman" pitchFamily="18" charset="0"/>
              </a:rPr>
              <a:t>Exogenous retroviruses </a:t>
            </a:r>
            <a:endParaRPr lang="en-US" dirty="0">
              <a:latin typeface="Times New Roman" pitchFamily="18" charset="0"/>
              <a:cs typeface="Times New Roman" pitchFamily="18" charset="0"/>
            </a:endParaRPr>
          </a:p>
        </p:txBody>
      </p:sp>
      <p:sp>
        <p:nvSpPr>
          <p:cNvPr id="5" name="Rectangle 4"/>
          <p:cNvSpPr/>
          <p:nvPr/>
        </p:nvSpPr>
        <p:spPr>
          <a:xfrm>
            <a:off x="1295400" y="2667000"/>
            <a:ext cx="2971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Rapidly </a:t>
            </a:r>
            <a:r>
              <a:rPr lang="en-US" sz="2400" dirty="0" err="1" smtClean="0"/>
              <a:t>oncogenic</a:t>
            </a:r>
            <a:r>
              <a:rPr lang="en-US" sz="2400" dirty="0" smtClean="0"/>
              <a:t> or </a:t>
            </a:r>
            <a:r>
              <a:rPr lang="en-US" sz="2400" dirty="0" err="1" smtClean="0"/>
              <a:t>transducing</a:t>
            </a:r>
            <a:r>
              <a:rPr lang="en-US" sz="2400" dirty="0" smtClean="0"/>
              <a:t> </a:t>
            </a:r>
            <a:endParaRPr lang="en-US" sz="2400" dirty="0"/>
          </a:p>
        </p:txBody>
      </p:sp>
      <p:sp>
        <p:nvSpPr>
          <p:cNvPr id="6" name="Rectangle 5"/>
          <p:cNvSpPr/>
          <p:nvPr/>
        </p:nvSpPr>
        <p:spPr>
          <a:xfrm>
            <a:off x="5257800" y="2667000"/>
            <a:ext cx="31242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Slowly </a:t>
            </a:r>
            <a:r>
              <a:rPr lang="en-US" sz="2400" dirty="0" err="1" smtClean="0"/>
              <a:t>oncogenic</a:t>
            </a:r>
            <a:r>
              <a:rPr lang="en-US" sz="2400" dirty="0" smtClean="0"/>
              <a:t> or </a:t>
            </a:r>
            <a:r>
              <a:rPr lang="en-US" sz="2400" dirty="0" err="1" smtClean="0"/>
              <a:t>cis</a:t>
            </a:r>
            <a:r>
              <a:rPr lang="en-US" sz="2400" dirty="0" smtClean="0"/>
              <a:t>-activating</a:t>
            </a:r>
            <a:endParaRPr lang="en-US" sz="2400" dirty="0"/>
          </a:p>
        </p:txBody>
      </p:sp>
      <p:sp>
        <p:nvSpPr>
          <p:cNvPr id="7" name="Rectangle 6"/>
          <p:cNvSpPr/>
          <p:nvPr/>
        </p:nvSpPr>
        <p:spPr>
          <a:xfrm>
            <a:off x="1600200" y="4191000"/>
            <a:ext cx="2590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Carry v-</a:t>
            </a:r>
            <a:r>
              <a:rPr lang="en-US" sz="2400" dirty="0" err="1" smtClean="0"/>
              <a:t>onc</a:t>
            </a:r>
            <a:r>
              <a:rPr lang="en-US" sz="2400" dirty="0" smtClean="0"/>
              <a:t> gene</a:t>
            </a:r>
            <a:endParaRPr lang="en-US" sz="2400" dirty="0"/>
          </a:p>
        </p:txBody>
      </p:sp>
      <p:sp>
        <p:nvSpPr>
          <p:cNvPr id="8" name="Rectangle 7"/>
          <p:cNvSpPr/>
          <p:nvPr/>
        </p:nvSpPr>
        <p:spPr>
          <a:xfrm>
            <a:off x="5562600" y="4267200"/>
            <a:ext cx="2667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No v-</a:t>
            </a:r>
            <a:r>
              <a:rPr lang="en-US" sz="2400" dirty="0" err="1" smtClean="0"/>
              <a:t>onc</a:t>
            </a:r>
            <a:r>
              <a:rPr lang="en-US" sz="2400" dirty="0" smtClean="0"/>
              <a:t> gene</a:t>
            </a:r>
            <a:endParaRPr lang="en-US" sz="2400" dirty="0"/>
          </a:p>
        </p:txBody>
      </p:sp>
      <p:sp>
        <p:nvSpPr>
          <p:cNvPr id="9" name="Down Arrow 8"/>
          <p:cNvSpPr/>
          <p:nvPr/>
        </p:nvSpPr>
        <p:spPr>
          <a:xfrm>
            <a:off x="3200400" y="1524000"/>
            <a:ext cx="533400" cy="1066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Down Arrow 9"/>
          <p:cNvSpPr/>
          <p:nvPr/>
        </p:nvSpPr>
        <p:spPr>
          <a:xfrm>
            <a:off x="6019800" y="1524000"/>
            <a:ext cx="533400" cy="1066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Down Arrow 10"/>
          <p:cNvSpPr/>
          <p:nvPr/>
        </p:nvSpPr>
        <p:spPr>
          <a:xfrm>
            <a:off x="3124200" y="3657600"/>
            <a:ext cx="533400" cy="5334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Down Arrow 11"/>
          <p:cNvSpPr/>
          <p:nvPr/>
        </p:nvSpPr>
        <p:spPr>
          <a:xfrm>
            <a:off x="6553200" y="3810000"/>
            <a:ext cx="533400" cy="4572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Rectangle 12"/>
          <p:cNvSpPr/>
          <p:nvPr/>
        </p:nvSpPr>
        <p:spPr>
          <a:xfrm>
            <a:off x="1447800" y="5334000"/>
            <a:ext cx="25908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Rous sarcoma virus</a:t>
            </a:r>
            <a:endParaRPr lang="en-US" sz="2400" dirty="0"/>
          </a:p>
        </p:txBody>
      </p:sp>
      <p:sp>
        <p:nvSpPr>
          <p:cNvPr id="14" name="Rectangle 13"/>
          <p:cNvSpPr/>
          <p:nvPr/>
        </p:nvSpPr>
        <p:spPr>
          <a:xfrm>
            <a:off x="5638800" y="5486400"/>
            <a:ext cx="2667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Avian </a:t>
            </a:r>
            <a:r>
              <a:rPr lang="en-US" sz="2400" dirty="0" err="1" smtClean="0"/>
              <a:t>leukosis</a:t>
            </a:r>
            <a:r>
              <a:rPr lang="en-US" sz="2400" dirty="0" smtClean="0"/>
              <a:t> virus</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2292" y="990600"/>
            <a:ext cx="9109416" cy="4572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smtClean="0">
                <a:solidFill>
                  <a:srgbClr val="FF0000"/>
                </a:solidFill>
              </a:rPr>
              <a:t>Mechanisms of </a:t>
            </a:r>
            <a:r>
              <a:rPr lang="en-GB" sz="3200" b="1" dirty="0" err="1" smtClean="0">
                <a:solidFill>
                  <a:srgbClr val="FF0000"/>
                </a:solidFill>
              </a:rPr>
              <a:t>Tumor</a:t>
            </a:r>
            <a:r>
              <a:rPr lang="en-GB" sz="3200" b="1" dirty="0" smtClean="0">
                <a:solidFill>
                  <a:srgbClr val="FF0000"/>
                </a:solidFill>
              </a:rPr>
              <a:t> Induction by Retroviruses</a:t>
            </a:r>
            <a:endParaRPr lang="en-US" sz="3200" b="1" dirty="0">
              <a:solidFill>
                <a:srgbClr val="FF0000"/>
              </a:solidFill>
            </a:endParaRPr>
          </a:p>
        </p:txBody>
      </p:sp>
      <p:sp>
        <p:nvSpPr>
          <p:cNvPr id="3" name="Content Placeholder 2"/>
          <p:cNvSpPr>
            <a:spLocks noGrp="1"/>
          </p:cNvSpPr>
          <p:nvPr>
            <p:ph idx="1"/>
          </p:nvPr>
        </p:nvSpPr>
        <p:spPr>
          <a:xfrm>
            <a:off x="152400" y="1600200"/>
            <a:ext cx="8839200" cy="4800600"/>
          </a:xfrm>
        </p:spPr>
        <p:txBody>
          <a:bodyPr>
            <a:normAutofit fontScale="92500"/>
          </a:bodyPr>
          <a:lstStyle/>
          <a:p>
            <a:pPr marL="514350" indent="-514350">
              <a:buAutoNum type="arabicParenBoth"/>
            </a:pPr>
            <a:r>
              <a:rPr lang="en-GB" sz="2400" b="1" dirty="0" err="1" smtClean="0">
                <a:latin typeface="Times New Roman" pitchFamily="18" charset="0"/>
                <a:cs typeface="Times New Roman" pitchFamily="18" charset="0"/>
              </a:rPr>
              <a:t>Transducing</a:t>
            </a:r>
            <a:r>
              <a:rPr lang="en-GB" sz="2400" b="1" dirty="0" smtClean="0">
                <a:latin typeface="Times New Roman" pitchFamily="18" charset="0"/>
                <a:cs typeface="Times New Roman" pitchFamily="18" charset="0"/>
              </a:rPr>
              <a:t> retroviruses </a:t>
            </a:r>
            <a:r>
              <a:rPr lang="en-GB" sz="2400" dirty="0" smtClean="0">
                <a:latin typeface="Times New Roman" pitchFamily="18" charset="0"/>
                <a:cs typeface="Times New Roman" pitchFamily="18" charset="0"/>
              </a:rPr>
              <a:t>introduce a v-</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into the chromosome of the cell. Are replication defective transform cells rapidly both in vitro and in vivo. </a:t>
            </a:r>
          </a:p>
          <a:p>
            <a:pPr marL="514350" indent="-514350">
              <a:buAutoNum type="arabicParenBoth"/>
            </a:pPr>
            <a:r>
              <a:rPr lang="en-GB" sz="2400" b="1" dirty="0" err="1" smtClean="0">
                <a:latin typeface="Times New Roman" pitchFamily="18" charset="0"/>
                <a:cs typeface="Times New Roman" pitchFamily="18" charset="0"/>
              </a:rPr>
              <a:t>cis</a:t>
            </a:r>
            <a:r>
              <a:rPr lang="en-GB" sz="2400" b="1" dirty="0" smtClean="0">
                <a:latin typeface="Times New Roman" pitchFamily="18" charset="0"/>
                <a:cs typeface="Times New Roman" pitchFamily="18" charset="0"/>
              </a:rPr>
              <a:t>-activating retroviruses</a:t>
            </a:r>
            <a:r>
              <a:rPr lang="en-GB" sz="2400" dirty="0" smtClean="0">
                <a:latin typeface="Times New Roman" pitchFamily="18" charset="0"/>
                <a:cs typeface="Times New Roman" pitchFamily="18" charset="0"/>
              </a:rPr>
              <a:t>, which lack a v-</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transform cells by becoming integrated in the host cell DNA close to a c-</a:t>
            </a:r>
            <a:r>
              <a:rPr lang="en-GB" sz="2400" dirty="0" err="1" smtClean="0">
                <a:latin typeface="Times New Roman" pitchFamily="18" charset="0"/>
                <a:cs typeface="Times New Roman" pitchFamily="18" charset="0"/>
              </a:rPr>
              <a:t>onc</a:t>
            </a:r>
            <a:r>
              <a:rPr lang="en-GB" sz="2400" dirty="0" smtClean="0">
                <a:latin typeface="Times New Roman" pitchFamily="18" charset="0"/>
                <a:cs typeface="Times New Roman" pitchFamily="18" charset="0"/>
              </a:rPr>
              <a:t> gene and thus usurping normal cellular regulation of this gene. Are replication competent, induce </a:t>
            </a:r>
            <a:r>
              <a:rPr lang="en-GB" sz="2400" dirty="0" err="1" smtClean="0">
                <a:latin typeface="Times New Roman" pitchFamily="18" charset="0"/>
                <a:cs typeface="Times New Roman" pitchFamily="18" charset="0"/>
              </a:rPr>
              <a:t>tumors</a:t>
            </a:r>
            <a:r>
              <a:rPr lang="en-GB" sz="2400" dirty="0" smtClean="0">
                <a:latin typeface="Times New Roman" pitchFamily="18" charset="0"/>
                <a:cs typeface="Times New Roman" pitchFamily="18" charset="0"/>
              </a:rPr>
              <a:t> more slowly, and do not transform cells in culture, </a:t>
            </a:r>
          </a:p>
          <a:p>
            <a:pPr marL="514350" indent="-514350">
              <a:buAutoNum type="arabicParenBoth"/>
            </a:pPr>
            <a:r>
              <a:rPr lang="en-GB" sz="2400" b="1" dirty="0" smtClean="0">
                <a:latin typeface="Times New Roman" pitchFamily="18" charset="0"/>
                <a:cs typeface="Times New Roman" pitchFamily="18" charset="0"/>
              </a:rPr>
              <a:t>trans-activating retroviruses </a:t>
            </a:r>
            <a:r>
              <a:rPr lang="en-GB" sz="2400" dirty="0" smtClean="0">
                <a:latin typeface="Times New Roman" pitchFamily="18" charset="0"/>
                <a:cs typeface="Times New Roman" pitchFamily="18" charset="0"/>
              </a:rPr>
              <a:t>contain a gene that codes for a regulatory protein that may either increase transcription from the viral long terminal repeat or interfere with the transcriptional control of specific cellular genes. Either have no </a:t>
            </a:r>
            <a:r>
              <a:rPr lang="en-GB" sz="2400" dirty="0" err="1" smtClean="0">
                <a:latin typeface="Times New Roman" pitchFamily="18" charset="0"/>
                <a:cs typeface="Times New Roman" pitchFamily="18" charset="0"/>
              </a:rPr>
              <a:t>oncogenic</a:t>
            </a:r>
            <a:r>
              <a:rPr lang="en-GB" sz="2400" dirty="0" smtClean="0">
                <a:latin typeface="Times New Roman" pitchFamily="18" charset="0"/>
                <a:cs typeface="Times New Roman" pitchFamily="18" charset="0"/>
              </a:rPr>
              <a:t> activity or induce </a:t>
            </a:r>
            <a:r>
              <a:rPr lang="en-GB" sz="2400" dirty="0" err="1" smtClean="0">
                <a:latin typeface="Times New Roman" pitchFamily="18" charset="0"/>
                <a:cs typeface="Times New Roman" pitchFamily="18" charset="0"/>
              </a:rPr>
              <a:t>tumors</a:t>
            </a:r>
            <a:r>
              <a:rPr lang="en-GB" sz="2400" dirty="0" smtClean="0">
                <a:latin typeface="Times New Roman" pitchFamily="18" charset="0"/>
                <a:cs typeface="Times New Roman" pitchFamily="18" charset="0"/>
              </a:rPr>
              <a:t> very late by affecting cellular transcription</a:t>
            </a:r>
          </a:p>
          <a:p>
            <a:pPr marL="514350" indent="-514350">
              <a:buAutoNum type="arabicParenBoth"/>
            </a:pPr>
            <a:endParaRPr lang="en-US"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err="1" smtClean="0">
                <a:solidFill>
                  <a:srgbClr val="FF0000"/>
                </a:solidFill>
              </a:rPr>
              <a:t>Tumor</a:t>
            </a:r>
            <a:r>
              <a:rPr lang="en-GB" sz="3600" b="1" dirty="0" smtClean="0">
                <a:solidFill>
                  <a:srgbClr val="FF0000"/>
                </a:solidFill>
              </a:rPr>
              <a:t> Induction by DNA Viruses</a:t>
            </a:r>
            <a:endParaRPr lang="en-US" sz="3600" b="1" dirty="0">
              <a:solidFill>
                <a:srgbClr val="FF0000"/>
              </a:solidFill>
            </a:endParaRPr>
          </a:p>
        </p:txBody>
      </p:sp>
      <p:sp>
        <p:nvSpPr>
          <p:cNvPr id="3" name="Content Placeholder 2"/>
          <p:cNvSpPr>
            <a:spLocks noGrp="1"/>
          </p:cNvSpPr>
          <p:nvPr>
            <p:ph idx="1"/>
          </p:nvPr>
        </p:nvSpPr>
        <p:spPr>
          <a:xfrm>
            <a:off x="152400" y="1600200"/>
            <a:ext cx="8534400" cy="4525963"/>
          </a:xfrm>
        </p:spPr>
        <p:txBody>
          <a:bodyPr>
            <a:normAutofit lnSpcReduction="10000"/>
          </a:bodyPr>
          <a:lstStyle/>
          <a:p>
            <a:pPr algn="just"/>
            <a:r>
              <a:rPr lang="en-GB" sz="2400" dirty="0" smtClean="0">
                <a:latin typeface="Times New Roman" pitchFamily="18" charset="0"/>
                <a:cs typeface="Times New Roman" pitchFamily="18" charset="0"/>
              </a:rPr>
              <a:t>DNA </a:t>
            </a:r>
            <a:r>
              <a:rPr lang="en-GB" sz="2400" dirty="0" err="1" smtClean="0">
                <a:latin typeface="Times New Roman" pitchFamily="18" charset="0"/>
                <a:cs typeface="Times New Roman" pitchFamily="18" charset="0"/>
              </a:rPr>
              <a:t>tumor</a:t>
            </a:r>
            <a:r>
              <a:rPr lang="en-GB" sz="2400" dirty="0" smtClean="0">
                <a:latin typeface="Times New Roman" pitchFamily="18" charset="0"/>
                <a:cs typeface="Times New Roman" pitchFamily="18" charset="0"/>
              </a:rPr>
              <a:t> viruses interact with cells in one of two ways: </a:t>
            </a:r>
          </a:p>
          <a:p>
            <a:pPr algn="just"/>
            <a:r>
              <a:rPr lang="en-GB" sz="2400" dirty="0" smtClean="0">
                <a:latin typeface="Times New Roman" pitchFamily="18" charset="0"/>
                <a:cs typeface="Times New Roman" pitchFamily="18" charset="0"/>
              </a:rPr>
              <a:t>(1) </a:t>
            </a:r>
            <a:r>
              <a:rPr lang="en-GB" sz="2400" b="1" dirty="0" smtClean="0">
                <a:latin typeface="Times New Roman" pitchFamily="18" charset="0"/>
                <a:cs typeface="Times New Roman" pitchFamily="18" charset="0"/>
              </a:rPr>
              <a:t>productive infection</a:t>
            </a:r>
            <a:r>
              <a:rPr lang="en-GB" sz="2400" dirty="0" smtClean="0">
                <a:latin typeface="Times New Roman" pitchFamily="18" charset="0"/>
                <a:cs typeface="Times New Roman" pitchFamily="18" charset="0"/>
              </a:rPr>
              <a:t>, in which the virus completes its replication cycle, resulting in cell </a:t>
            </a:r>
            <a:r>
              <a:rPr lang="en-GB" sz="2400" dirty="0" err="1" smtClean="0">
                <a:latin typeface="Times New Roman" pitchFamily="18" charset="0"/>
                <a:cs typeface="Times New Roman" pitchFamily="18" charset="0"/>
              </a:rPr>
              <a:t>lysis</a:t>
            </a:r>
            <a:r>
              <a:rPr lang="en-GB" sz="2400" dirty="0" smtClean="0">
                <a:latin typeface="Times New Roman" pitchFamily="18" charset="0"/>
                <a:cs typeface="Times New Roman" pitchFamily="18" charset="0"/>
              </a:rPr>
              <a:t>, or</a:t>
            </a:r>
          </a:p>
          <a:p>
            <a:pPr algn="just"/>
            <a:r>
              <a:rPr lang="en-GB" sz="2400" dirty="0" smtClean="0">
                <a:latin typeface="Times New Roman" pitchFamily="18" charset="0"/>
                <a:cs typeface="Times New Roman" pitchFamily="18" charset="0"/>
              </a:rPr>
              <a:t> (2) </a:t>
            </a:r>
            <a:r>
              <a:rPr lang="en-GB" sz="2400" b="1" dirty="0" smtClean="0">
                <a:latin typeface="Times New Roman" pitchFamily="18" charset="0"/>
                <a:cs typeface="Times New Roman" pitchFamily="18" charset="0"/>
              </a:rPr>
              <a:t>non-productive infection</a:t>
            </a:r>
            <a:r>
              <a:rPr lang="en-GB" sz="2400" dirty="0" smtClean="0">
                <a:latin typeface="Times New Roman" pitchFamily="18" charset="0"/>
                <a:cs typeface="Times New Roman" pitchFamily="18" charset="0"/>
              </a:rPr>
              <a:t>, in which the virus transforms the cell without completing its replication cycle. During such non-productive infection, the viral genome or a truncated version of it is integrated into the cellular DNA or, alternatively, the complete genome persists as an autonomously replicating plasmid (</a:t>
            </a:r>
            <a:r>
              <a:rPr lang="en-GB" sz="2400" b="1" dirty="0" err="1" smtClean="0">
                <a:latin typeface="Times New Roman" pitchFamily="18" charset="0"/>
                <a:cs typeface="Times New Roman" pitchFamily="18" charset="0"/>
              </a:rPr>
              <a:t>episome</a:t>
            </a:r>
            <a:r>
              <a:rPr lang="en-GB" sz="2400" dirty="0" smtClean="0">
                <a:latin typeface="Times New Roman" pitchFamily="18" charset="0"/>
                <a:cs typeface="Times New Roman" pitchFamily="18" charset="0"/>
              </a:rPr>
              <a:t>). The genome continues to express early gene functions.</a:t>
            </a:r>
          </a:p>
          <a:p>
            <a:pPr algn="just"/>
            <a:r>
              <a:rPr lang="en-GB" sz="2400" dirty="0" err="1" smtClean="0">
                <a:latin typeface="Times New Roman" pitchFamily="18" charset="0"/>
                <a:cs typeface="Times New Roman" pitchFamily="18" charset="0"/>
              </a:rPr>
              <a:t>Eg</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polyoma</a:t>
            </a:r>
            <a:r>
              <a:rPr lang="en-GB" sz="2400" dirty="0" smtClean="0">
                <a:latin typeface="Times New Roman" pitchFamily="18" charset="0"/>
                <a:cs typeface="Times New Roman" pitchFamily="18" charset="0"/>
              </a:rPr>
              <a:t> viruses, </a:t>
            </a:r>
            <a:r>
              <a:rPr lang="en-GB" sz="2400" dirty="0" err="1" smtClean="0">
                <a:latin typeface="Times New Roman" pitchFamily="18" charset="0"/>
                <a:cs typeface="Times New Roman" pitchFamily="18" charset="0"/>
              </a:rPr>
              <a:t>papilloma</a:t>
            </a:r>
            <a:r>
              <a:rPr lang="en-GB" sz="2400" dirty="0" smtClean="0">
                <a:latin typeface="Times New Roman" pitchFamily="18" charset="0"/>
                <a:cs typeface="Times New Roman" pitchFamily="18" charset="0"/>
              </a:rPr>
              <a:t> viruses, Herpes virus, </a:t>
            </a:r>
            <a:r>
              <a:rPr lang="en-GB" sz="2400" dirty="0" err="1" smtClean="0">
                <a:latin typeface="Times New Roman" pitchFamily="18" charset="0"/>
                <a:cs typeface="Times New Roman" pitchFamily="18" charset="0"/>
              </a:rPr>
              <a:t>Hepadna</a:t>
            </a:r>
            <a:r>
              <a:rPr lang="en-GB" sz="2400" dirty="0" smtClean="0">
                <a:latin typeface="Times New Roman" pitchFamily="18" charset="0"/>
                <a:cs typeface="Times New Roman" pitchFamily="18" charset="0"/>
              </a:rPr>
              <a:t> viruses, and adenoviruses</a:t>
            </a:r>
            <a:endParaRPr lang="en-US" sz="24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914400"/>
            <a:ext cx="8382000" cy="4525963"/>
          </a:xfrm>
        </p:spPr>
        <p:txBody>
          <a:bodyPr>
            <a:normAutofit/>
          </a:bodyPr>
          <a:lstStyle/>
          <a:p>
            <a:pPr algn="just"/>
            <a:r>
              <a:rPr lang="en-GB" sz="2400" dirty="0" smtClean="0">
                <a:latin typeface="Times New Roman" pitchFamily="18" charset="0"/>
                <a:cs typeface="Times New Roman" pitchFamily="18" charset="0"/>
              </a:rPr>
              <a:t>DNA virus </a:t>
            </a:r>
            <a:r>
              <a:rPr lang="en-GB" sz="2400" dirty="0" err="1" smtClean="0">
                <a:latin typeface="Times New Roman" pitchFamily="18" charset="0"/>
                <a:cs typeface="Times New Roman" pitchFamily="18" charset="0"/>
              </a:rPr>
              <a:t>oncogenes</a:t>
            </a:r>
            <a:r>
              <a:rPr lang="en-GB" sz="2400" dirty="0" smtClean="0">
                <a:latin typeface="Times New Roman" pitchFamily="18" charset="0"/>
                <a:cs typeface="Times New Roman" pitchFamily="18" charset="0"/>
              </a:rPr>
              <a:t> act primarily in the nucleus, where they alter patterns of gene expression and regulation of cell growth. </a:t>
            </a:r>
          </a:p>
          <a:p>
            <a:pPr algn="just"/>
            <a:r>
              <a:rPr lang="en-GB" sz="2400" dirty="0" smtClean="0">
                <a:latin typeface="Times New Roman" pitchFamily="18" charset="0"/>
                <a:cs typeface="Times New Roman" pitchFamily="18" charset="0"/>
              </a:rPr>
              <a:t>In every case the relevant genes encode </a:t>
            </a:r>
            <a:r>
              <a:rPr lang="en-GB" sz="2400" b="1" dirty="0" smtClean="0">
                <a:latin typeface="Times New Roman" pitchFamily="18" charset="0"/>
                <a:cs typeface="Times New Roman" pitchFamily="18" charset="0"/>
              </a:rPr>
              <a:t>early proteins </a:t>
            </a:r>
            <a:r>
              <a:rPr lang="en-GB" sz="2400" dirty="0" smtClean="0">
                <a:latin typeface="Times New Roman" pitchFamily="18" charset="0"/>
                <a:cs typeface="Times New Roman" pitchFamily="18" charset="0"/>
              </a:rPr>
              <a:t>having a dual role in viral replication and cell transformation. </a:t>
            </a:r>
          </a:p>
          <a:p>
            <a:pPr algn="just"/>
            <a:r>
              <a:rPr lang="en-GB" sz="2400" dirty="0" smtClean="0">
                <a:latin typeface="Times New Roman" pitchFamily="18" charset="0"/>
                <a:cs typeface="Times New Roman" pitchFamily="18" charset="0"/>
              </a:rPr>
              <a:t>With a few possible exceptions, the </a:t>
            </a:r>
            <a:r>
              <a:rPr lang="en-GB" sz="2400" b="1" dirty="0" err="1" smtClean="0">
                <a:latin typeface="Times New Roman" pitchFamily="18" charset="0"/>
                <a:cs typeface="Times New Roman" pitchFamily="18" charset="0"/>
              </a:rPr>
              <a:t>oncogenes</a:t>
            </a:r>
            <a:r>
              <a:rPr lang="en-GB" sz="2400" b="1" dirty="0" smtClean="0">
                <a:latin typeface="Times New Roman" pitchFamily="18" charset="0"/>
                <a:cs typeface="Times New Roman" pitchFamily="18" charset="0"/>
              </a:rPr>
              <a:t> of DNA viruses have no homologue or direct ancestors (c-</a:t>
            </a:r>
            <a:r>
              <a:rPr lang="en-GB" sz="2400" b="1" dirty="0" err="1" smtClean="0">
                <a:latin typeface="Times New Roman" pitchFamily="18" charset="0"/>
                <a:cs typeface="Times New Roman" pitchFamily="18" charset="0"/>
              </a:rPr>
              <a:t>onc</a:t>
            </a:r>
            <a:r>
              <a:rPr lang="en-GB" sz="2400" b="1" dirty="0" smtClean="0">
                <a:latin typeface="Times New Roman" pitchFamily="18" charset="0"/>
                <a:cs typeface="Times New Roman" pitchFamily="18" charset="0"/>
              </a:rPr>
              <a:t> genes) among cellular genes of the host.</a:t>
            </a:r>
          </a:p>
          <a:p>
            <a:pPr algn="just"/>
            <a:r>
              <a:rPr lang="en-GB" sz="2400" dirty="0" smtClean="0">
                <a:latin typeface="Times New Roman" pitchFamily="18" charset="0"/>
                <a:cs typeface="Times New Roman" pitchFamily="18" charset="0"/>
              </a:rPr>
              <a:t>The protein products of DNA virus </a:t>
            </a:r>
            <a:r>
              <a:rPr lang="en-GB" sz="2400" dirty="0" err="1" smtClean="0">
                <a:latin typeface="Times New Roman" pitchFamily="18" charset="0"/>
                <a:cs typeface="Times New Roman" pitchFamily="18" charset="0"/>
              </a:rPr>
              <a:t>oncogenes</a:t>
            </a:r>
            <a:r>
              <a:rPr lang="en-GB" sz="2400" dirty="0" smtClean="0">
                <a:latin typeface="Times New Roman" pitchFamily="18" charset="0"/>
                <a:cs typeface="Times New Roman" pitchFamily="18" charset="0"/>
              </a:rPr>
              <a:t> are multifunctional, with particular functions that mimic functions of normal cellular proteins.</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1364</TotalTime>
  <Words>2655</Words>
  <Application>Microsoft Office PowerPoint</Application>
  <PresentationFormat>On-screen Show (4:3)</PresentationFormat>
  <Paragraphs>182</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VIRAL ONCOGENESIS</vt:lpstr>
      <vt:lpstr>TERMINOLOGY </vt:lpstr>
      <vt:lpstr>Slide 3</vt:lpstr>
      <vt:lpstr>Cell Transformation</vt:lpstr>
      <vt:lpstr>Properties of Transformed Cells</vt:lpstr>
      <vt:lpstr>Discovery </vt:lpstr>
      <vt:lpstr>Mechanisms of Oncogenesis</vt:lpstr>
      <vt:lpstr>Proto-oncogenes</vt:lpstr>
      <vt:lpstr>Classes of proto-oncogenes </vt:lpstr>
      <vt:lpstr>Activation of Cellular Oncogenes </vt:lpstr>
      <vt:lpstr>Slide 11</vt:lpstr>
      <vt:lpstr>Slide 12</vt:lpstr>
      <vt:lpstr>Tumor Suppressor Genes and Cell Cycle Control Proteins</vt:lpstr>
      <vt:lpstr>Slide 14</vt:lpstr>
      <vt:lpstr>Slide 15</vt:lpstr>
      <vt:lpstr>v-onc genes</vt:lpstr>
      <vt:lpstr>v-onc genes</vt:lpstr>
      <vt:lpstr>Classification of viral oncogenes</vt:lpstr>
      <vt:lpstr>2. Growth factor receptors and hormone receptors- </vt:lpstr>
      <vt:lpstr>3. Intracellular Signal Transducers </vt:lpstr>
      <vt:lpstr>4. Transcription factors</vt:lpstr>
      <vt:lpstr>Slide 22</vt:lpstr>
      <vt:lpstr>Tumor induction by retroviruses</vt:lpstr>
      <vt:lpstr>Replication-Competent and Replication- Defective Retroviruses</vt:lpstr>
      <vt:lpstr>Slide 25</vt:lpstr>
      <vt:lpstr>Slide 26</vt:lpstr>
      <vt:lpstr>Slide 27</vt:lpstr>
      <vt:lpstr>Slide 28</vt:lpstr>
      <vt:lpstr>Slide 29</vt:lpstr>
      <vt:lpstr>Slide 30</vt:lpstr>
      <vt:lpstr>Slide 31</vt:lpstr>
      <vt:lpstr>Slide 32</vt:lpstr>
      <vt:lpstr>Endogenous and exogenous Retroviruses</vt:lpstr>
      <vt:lpstr>Slide 34</vt:lpstr>
      <vt:lpstr>Slide 35</vt:lpstr>
      <vt:lpstr>Slide 36</vt:lpstr>
      <vt:lpstr>Mechanisms of Tumor Induction by Retroviruses</vt:lpstr>
      <vt:lpstr>Tumor Induction by DNA Viruses</vt:lpstr>
      <vt:lpstr>Slide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VIRAL ONCOGENESIS</dc:title>
  <dc:creator>HP</dc:creator>
  <cp:lastModifiedBy>RATHORE</cp:lastModifiedBy>
  <cp:revision>127</cp:revision>
  <dcterms:created xsi:type="dcterms:W3CDTF">2006-08-16T00:00:00Z</dcterms:created>
  <dcterms:modified xsi:type="dcterms:W3CDTF">2025-01-09T05:49:22Z</dcterms:modified>
</cp:coreProperties>
</file>