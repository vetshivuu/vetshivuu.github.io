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1" r:id="rId9"/>
    <p:sldId id="262" r:id="rId10"/>
    <p:sldId id="266" r:id="rId11"/>
    <p:sldId id="267" r:id="rId12"/>
    <p:sldId id="271" r:id="rId13"/>
    <p:sldId id="268" r:id="rId14"/>
    <p:sldId id="269" r:id="rId15"/>
    <p:sldId id="270" r:id="rId16"/>
    <p:sldId id="263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394DDE2-ECFB-4C3A-97A2-0FF38F59790B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A3C86E8-739F-4776-9C32-38C72446E5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aspergillosis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Bincy</a:t>
            </a:r>
            <a:r>
              <a:rPr lang="en-US" dirty="0" smtClean="0"/>
              <a:t> Joseph</a:t>
            </a:r>
          </a:p>
          <a:p>
            <a:r>
              <a:rPr lang="en-US" dirty="0" smtClean="0"/>
              <a:t>Assistant professor</a:t>
            </a:r>
          </a:p>
          <a:p>
            <a:r>
              <a:rPr lang="en-US" dirty="0" smtClean="0"/>
              <a:t>PGIVER, </a:t>
            </a:r>
            <a:r>
              <a:rPr lang="en-US" dirty="0" err="1" smtClean="0"/>
              <a:t>Jaipur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err="1" smtClean="0"/>
              <a:t>Aspergillus</a:t>
            </a:r>
            <a:r>
              <a:rPr lang="en-US" i="1" dirty="0" smtClean="0"/>
              <a:t> </a:t>
            </a:r>
            <a:r>
              <a:rPr lang="en-US" i="1" dirty="0" err="1" smtClean="0"/>
              <a:t>fumigatus</a:t>
            </a:r>
            <a:endParaRPr lang="en-US" i="1" dirty="0" smtClean="0"/>
          </a:p>
          <a:p>
            <a:r>
              <a:rPr lang="en-US" i="1" dirty="0" err="1" smtClean="0"/>
              <a:t>Aspergillus</a:t>
            </a:r>
            <a:r>
              <a:rPr lang="en-US" i="1" dirty="0" smtClean="0"/>
              <a:t> </a:t>
            </a:r>
            <a:r>
              <a:rPr lang="en-US" i="1" dirty="0" err="1" smtClean="0"/>
              <a:t>flavus</a:t>
            </a:r>
            <a:endParaRPr lang="en-US" i="1" dirty="0" smtClean="0"/>
          </a:p>
          <a:p>
            <a:r>
              <a:rPr lang="en-US" i="1" dirty="0" err="1" smtClean="0"/>
              <a:t>Aspergillus</a:t>
            </a:r>
            <a:r>
              <a:rPr lang="en-US" i="1" dirty="0" smtClean="0"/>
              <a:t> </a:t>
            </a:r>
            <a:r>
              <a:rPr lang="en-US" i="1" dirty="0" err="1" smtClean="0"/>
              <a:t>niger</a:t>
            </a:r>
            <a:endParaRPr lang="en-US" i="1" dirty="0" smtClean="0"/>
          </a:p>
          <a:p>
            <a:r>
              <a:rPr lang="en-US" i="1" dirty="0" err="1" smtClean="0"/>
              <a:t>Aspergillus</a:t>
            </a:r>
            <a:r>
              <a:rPr lang="en-US" i="1" dirty="0" smtClean="0"/>
              <a:t> </a:t>
            </a:r>
            <a:r>
              <a:rPr lang="en-US" i="1" dirty="0" err="1" smtClean="0"/>
              <a:t>terreus</a:t>
            </a:r>
            <a:endParaRPr lang="en-US" i="1" dirty="0" smtClean="0"/>
          </a:p>
          <a:p>
            <a:r>
              <a:rPr lang="en-US" i="1" dirty="0" err="1" smtClean="0"/>
              <a:t>Aspergillus</a:t>
            </a:r>
            <a:r>
              <a:rPr lang="en-US" i="1" dirty="0" smtClean="0"/>
              <a:t> </a:t>
            </a:r>
            <a:r>
              <a:rPr lang="en-US" i="1" dirty="0" err="1" smtClean="0"/>
              <a:t>nidulans</a:t>
            </a:r>
            <a:endParaRPr lang="en-US" i="1" dirty="0" smtClean="0"/>
          </a:p>
          <a:p>
            <a:r>
              <a:rPr lang="en-US" dirty="0" smtClean="0"/>
              <a:t>It is a primary disease of respiratory system</a:t>
            </a:r>
          </a:p>
          <a:p>
            <a:r>
              <a:rPr lang="en-US" dirty="0" err="1" smtClean="0"/>
              <a:t>Haematogenous</a:t>
            </a:r>
            <a:r>
              <a:rPr lang="en-US" dirty="0" smtClean="0"/>
              <a:t> dissemination to other organs occur, occasionally eye skin and </a:t>
            </a:r>
            <a:r>
              <a:rPr lang="en-US" dirty="0" err="1" smtClean="0"/>
              <a:t>meninges</a:t>
            </a:r>
            <a:r>
              <a:rPr lang="en-US" dirty="0" smtClean="0"/>
              <a:t> involved</a:t>
            </a:r>
          </a:p>
          <a:p>
            <a:r>
              <a:rPr lang="en-US" dirty="0" smtClean="0"/>
              <a:t>Occur more </a:t>
            </a:r>
            <a:r>
              <a:rPr lang="en-US" dirty="0" smtClean="0"/>
              <a:t>frequently </a:t>
            </a:r>
            <a:r>
              <a:rPr lang="en-US" dirty="0" smtClean="0"/>
              <a:t>in avian sp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In equine important cause of abortion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 smtClean="0"/>
              <a:t>ovine pulmonary disease</a:t>
            </a:r>
          </a:p>
          <a:p>
            <a:r>
              <a:rPr lang="en-US" dirty="0" smtClean="0"/>
              <a:t>In bovine pneumonia, abortion and mastitis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dog nasal </a:t>
            </a:r>
            <a:r>
              <a:rPr lang="en-US" dirty="0" err="1" smtClean="0"/>
              <a:t>aspergillosis</a:t>
            </a:r>
            <a:endParaRPr lang="en-US" dirty="0" smtClean="0"/>
          </a:p>
          <a:p>
            <a:r>
              <a:rPr lang="en-US" dirty="0" smtClean="0"/>
              <a:t> In cat intestinal and pulmonary </a:t>
            </a:r>
            <a:r>
              <a:rPr lang="en-US" dirty="0" err="1" smtClean="0"/>
              <a:t>aspergillosis</a:t>
            </a:r>
            <a:endParaRPr lang="en-US" dirty="0" smtClean="0"/>
          </a:p>
          <a:p>
            <a:r>
              <a:rPr lang="en-US" dirty="0" smtClean="0"/>
              <a:t>In avian occur in two </a:t>
            </a:r>
            <a:r>
              <a:rPr lang="en-US" dirty="0" smtClean="0"/>
              <a:t>form acute </a:t>
            </a:r>
            <a:r>
              <a:rPr lang="en-US" dirty="0" smtClean="0"/>
              <a:t>form seen in young birds with high mortality and morbidity</a:t>
            </a:r>
          </a:p>
          <a:p>
            <a:r>
              <a:rPr lang="en-US" dirty="0" err="1" smtClean="0"/>
              <a:t>Aspergillosis</a:t>
            </a:r>
            <a:r>
              <a:rPr lang="en-US" dirty="0" smtClean="0"/>
              <a:t> in young birds leads to brooder </a:t>
            </a:r>
            <a:r>
              <a:rPr lang="en-US" dirty="0" err="1" smtClean="0"/>
              <a:t>pneumoniae</a:t>
            </a:r>
            <a:r>
              <a:rPr lang="en-US" dirty="0" smtClean="0"/>
              <a:t> ( </a:t>
            </a:r>
            <a:r>
              <a:rPr lang="en-US" i="1" dirty="0" err="1" smtClean="0">
                <a:solidFill>
                  <a:srgbClr val="FF0000"/>
                </a:solidFill>
              </a:rPr>
              <a:t>Aspergillus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fumigatus</a:t>
            </a:r>
            <a:r>
              <a:rPr lang="en-US" i="1" dirty="0" smtClean="0">
                <a:solidFill>
                  <a:srgbClr val="FF0000"/>
                </a:solidFill>
              </a:rPr>
              <a:t>)</a:t>
            </a:r>
            <a:endParaRPr lang="en-US" dirty="0" smtClean="0"/>
          </a:p>
          <a:p>
            <a:r>
              <a:rPr lang="en-US" dirty="0" smtClean="0"/>
              <a:t>The important species </a:t>
            </a:r>
            <a:r>
              <a:rPr lang="en-US" dirty="0" err="1" smtClean="0"/>
              <a:t>responsoble</a:t>
            </a:r>
            <a:r>
              <a:rPr lang="en-US" dirty="0" smtClean="0"/>
              <a:t> for tissue invasion in animals is: </a:t>
            </a:r>
            <a:r>
              <a:rPr lang="en-US" i="1" dirty="0" err="1" smtClean="0">
                <a:solidFill>
                  <a:srgbClr val="FF0000"/>
                </a:solidFill>
              </a:rPr>
              <a:t>Aspergillus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fumigatus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i="1" dirty="0" err="1" smtClean="0">
                <a:solidFill>
                  <a:srgbClr val="FF0000"/>
                </a:solidFill>
              </a:rPr>
              <a:t>Aspergillus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flavus</a:t>
            </a:r>
            <a:r>
              <a:rPr lang="en-US" i="1" dirty="0" smtClean="0">
                <a:solidFill>
                  <a:srgbClr val="FF0000"/>
                </a:solidFill>
              </a:rPr>
              <a:t> produce </a:t>
            </a:r>
            <a:r>
              <a:rPr lang="en-US" i="1" dirty="0" err="1" smtClean="0">
                <a:solidFill>
                  <a:srgbClr val="FF0000"/>
                </a:solidFill>
              </a:rPr>
              <a:t>aflatoxin</a:t>
            </a: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57300" y="1524000"/>
            <a:ext cx="586740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5257800"/>
            <a:ext cx="809548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 err="1" smtClean="0"/>
              <a:t>phialides</a:t>
            </a:r>
            <a:r>
              <a:rPr lang="en-US" dirty="0" smtClean="0"/>
              <a:t> of </a:t>
            </a:r>
            <a:r>
              <a:rPr lang="en-US" i="1" dirty="0" smtClean="0"/>
              <a:t>A. </a:t>
            </a:r>
            <a:r>
              <a:rPr lang="en-US" i="1" dirty="0" err="1" smtClean="0"/>
              <a:t>fumigatus</a:t>
            </a:r>
            <a:r>
              <a:rPr lang="en-US" i="1" dirty="0" smtClean="0"/>
              <a:t> </a:t>
            </a:r>
            <a:r>
              <a:rPr lang="en-US" dirty="0" smtClean="0"/>
              <a:t>(A) are borne directly on the vesicle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uniseriate</a:t>
            </a:r>
            <a:r>
              <a:rPr lang="en-US" dirty="0" smtClean="0"/>
              <a:t>) whereas those of </a:t>
            </a:r>
            <a:r>
              <a:rPr lang="en-US" i="1" dirty="0" smtClean="0"/>
              <a:t>A. </a:t>
            </a:r>
            <a:r>
              <a:rPr lang="en-US" i="1" dirty="0" err="1" smtClean="0"/>
              <a:t>niger</a:t>
            </a:r>
            <a:r>
              <a:rPr lang="en-US" i="1" dirty="0" smtClean="0"/>
              <a:t> </a:t>
            </a:r>
            <a:r>
              <a:rPr lang="en-US" dirty="0" smtClean="0"/>
              <a:t>(B) are borne on </a:t>
            </a:r>
            <a:r>
              <a:rPr lang="en-US" dirty="0" err="1" smtClean="0"/>
              <a:t>metulae</a:t>
            </a:r>
            <a:r>
              <a:rPr lang="en-US" dirty="0" smtClean="0"/>
              <a:t> (</a:t>
            </a:r>
            <a:r>
              <a:rPr lang="en-US" dirty="0" err="1" smtClean="0"/>
              <a:t>biseriate</a:t>
            </a:r>
            <a:r>
              <a:rPr lang="en-US" dirty="0" smtClean="0"/>
              <a:t>)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Symptoms of </a:t>
            </a:r>
            <a:r>
              <a:rPr lang="en-US" dirty="0" err="1" smtClean="0"/>
              <a:t>aspergillosis</a:t>
            </a:r>
            <a:r>
              <a:rPr lang="en-US" dirty="0" smtClean="0"/>
              <a:t> in birds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young birds important symptoms are anorexia, convulsions, gasping and death.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 smtClean="0"/>
              <a:t>fungus can </a:t>
            </a:r>
            <a:r>
              <a:rPr lang="en-US" dirty="0" smtClean="0"/>
              <a:t>occasionally invade </a:t>
            </a:r>
            <a:r>
              <a:rPr lang="en-US" dirty="0" smtClean="0"/>
              <a:t>brain and CNS involvement cause paralysis, unilateral </a:t>
            </a:r>
            <a:r>
              <a:rPr lang="en-US" dirty="0" err="1" smtClean="0"/>
              <a:t>occular</a:t>
            </a:r>
            <a:r>
              <a:rPr lang="en-US" dirty="0" smtClean="0"/>
              <a:t> infection can also occur</a:t>
            </a:r>
          </a:p>
          <a:p>
            <a:r>
              <a:rPr lang="en-US" dirty="0" smtClean="0"/>
              <a:t> </a:t>
            </a:r>
            <a:r>
              <a:rPr lang="en-US" dirty="0" smtClean="0"/>
              <a:t>Birds </a:t>
            </a:r>
            <a:r>
              <a:rPr lang="en-US" dirty="0" smtClean="0"/>
              <a:t>fail to grow and keep affected eyes closed </a:t>
            </a:r>
            <a:r>
              <a:rPr lang="en-US" dirty="0" smtClean="0"/>
              <a:t>and later develop cheesy </a:t>
            </a:r>
            <a:r>
              <a:rPr lang="en-US" dirty="0" err="1" smtClean="0"/>
              <a:t>exudate</a:t>
            </a:r>
            <a:r>
              <a:rPr lang="en-US" dirty="0" smtClean="0"/>
              <a:t> in </a:t>
            </a:r>
            <a:r>
              <a:rPr lang="en-US" dirty="0" err="1" smtClean="0"/>
              <a:t>conjuctival</a:t>
            </a:r>
            <a:r>
              <a:rPr lang="en-US" dirty="0" smtClean="0"/>
              <a:t> sac. </a:t>
            </a:r>
          </a:p>
          <a:p>
            <a:r>
              <a:rPr lang="en-US" dirty="0" smtClean="0"/>
              <a:t>In adult birds mortality less than 5% and symptoms are anorexia, coughing, gasping and rapid loss of body weight.</a:t>
            </a:r>
          </a:p>
          <a:p>
            <a:r>
              <a:rPr lang="en-US" dirty="0" smtClean="0"/>
              <a:t>Death by asphyxia due to blockage of trachea by </a:t>
            </a:r>
            <a:r>
              <a:rPr lang="en-US" dirty="0" err="1" smtClean="0"/>
              <a:t>exudate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signs in animals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Clinical signs in domestic and pet animals often resemble </a:t>
            </a:r>
            <a:r>
              <a:rPr lang="en-US" dirty="0" err="1" smtClean="0"/>
              <a:t>pneumoniae</a:t>
            </a:r>
            <a:endParaRPr lang="en-US" dirty="0" smtClean="0"/>
          </a:p>
          <a:p>
            <a:r>
              <a:rPr lang="en-US" dirty="0" smtClean="0"/>
              <a:t>Symptoms are increased temperature, </a:t>
            </a:r>
            <a:r>
              <a:rPr lang="en-US" dirty="0" err="1" smtClean="0"/>
              <a:t>mucopurulent</a:t>
            </a:r>
            <a:r>
              <a:rPr lang="en-US" dirty="0" smtClean="0"/>
              <a:t> nasal discharge and </a:t>
            </a:r>
            <a:r>
              <a:rPr lang="en-US" dirty="0" err="1" smtClean="0"/>
              <a:t>conjuctivitis</a:t>
            </a:r>
            <a:r>
              <a:rPr lang="en-US" dirty="0" smtClean="0"/>
              <a:t>.</a:t>
            </a:r>
          </a:p>
          <a:p>
            <a:r>
              <a:rPr lang="en-US" dirty="0" smtClean="0"/>
              <a:t>Bovine </a:t>
            </a:r>
            <a:r>
              <a:rPr lang="en-US" dirty="0" err="1" smtClean="0"/>
              <a:t>mycotic</a:t>
            </a:r>
            <a:r>
              <a:rPr lang="en-US" dirty="0" smtClean="0"/>
              <a:t> abortion due to </a:t>
            </a:r>
            <a:r>
              <a:rPr lang="en-US" dirty="0" err="1" smtClean="0"/>
              <a:t>aspergillosis</a:t>
            </a:r>
            <a:r>
              <a:rPr lang="en-US" dirty="0" smtClean="0"/>
              <a:t> at 3-8 months of pregnancy</a:t>
            </a:r>
          </a:p>
          <a:p>
            <a:r>
              <a:rPr lang="en-US" dirty="0" smtClean="0"/>
              <a:t>In 60% of cases ROP (</a:t>
            </a:r>
            <a:r>
              <a:rPr lang="en-US" dirty="0" err="1" smtClean="0"/>
              <a:t>retension</a:t>
            </a:r>
            <a:r>
              <a:rPr lang="en-US" dirty="0" smtClean="0"/>
              <a:t> of </a:t>
            </a:r>
            <a:r>
              <a:rPr lang="en-US" dirty="0" smtClean="0"/>
              <a:t>placenta) </a:t>
            </a:r>
            <a:r>
              <a:rPr lang="en-US" dirty="0" err="1" smtClean="0"/>
              <a:t>intercotyloedonary</a:t>
            </a:r>
            <a:r>
              <a:rPr lang="en-US" dirty="0" smtClean="0"/>
              <a:t> area thickened and leathery and the cotyledons are </a:t>
            </a:r>
            <a:r>
              <a:rPr lang="en-US" dirty="0" smtClean="0"/>
              <a:t>necrotic</a:t>
            </a:r>
          </a:p>
          <a:p>
            <a:r>
              <a:rPr lang="en-US" dirty="0" smtClean="0"/>
              <a:t>Guttural pouch mycoses in horses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Gross lesions in birds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Greenish yellow </a:t>
            </a:r>
            <a:r>
              <a:rPr lang="en-US" dirty="0" err="1" smtClean="0"/>
              <a:t>caseous</a:t>
            </a:r>
            <a:r>
              <a:rPr lang="en-US" dirty="0" smtClean="0"/>
              <a:t> </a:t>
            </a:r>
            <a:r>
              <a:rPr lang="en-US" dirty="0" err="1" smtClean="0"/>
              <a:t>exudate</a:t>
            </a:r>
            <a:r>
              <a:rPr lang="en-US" dirty="0" smtClean="0"/>
              <a:t> in lung and air sac</a:t>
            </a:r>
          </a:p>
          <a:p>
            <a:r>
              <a:rPr lang="en-US" dirty="0" smtClean="0"/>
              <a:t>Air sac are thickened, besides raised nodules are seen in air sac and lungs</a:t>
            </a:r>
          </a:p>
          <a:p>
            <a:r>
              <a:rPr lang="en-US" dirty="0" smtClean="0"/>
              <a:t>Raised nodules are yellowish and yellowish white with necrotic centre</a:t>
            </a:r>
          </a:p>
          <a:p>
            <a:r>
              <a:rPr lang="en-US" dirty="0" smtClean="0"/>
              <a:t>Such nodules are known as button ulcer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Certain specific condition such as guttural pouch mycoses may suggest involvement of </a:t>
            </a:r>
            <a:r>
              <a:rPr lang="en-US" dirty="0" err="1" smtClean="0"/>
              <a:t>aspergillus</a:t>
            </a:r>
            <a:r>
              <a:rPr lang="en-US" dirty="0" smtClean="0"/>
              <a:t> sp.</a:t>
            </a:r>
          </a:p>
          <a:p>
            <a:r>
              <a:rPr lang="en-US" dirty="0" smtClean="0"/>
              <a:t>For confirmation, tissue invasion by fungi may be demonstrated and </a:t>
            </a:r>
            <a:r>
              <a:rPr lang="en-US" dirty="0" err="1" smtClean="0"/>
              <a:t>spergillus</a:t>
            </a:r>
            <a:r>
              <a:rPr lang="en-US" dirty="0" smtClean="0"/>
              <a:t> species may be isolated</a:t>
            </a:r>
          </a:p>
          <a:p>
            <a:r>
              <a:rPr lang="en-US" dirty="0" smtClean="0"/>
              <a:t>Tissue sections are stained by periodic acid </a:t>
            </a:r>
            <a:r>
              <a:rPr lang="en-US" dirty="0" err="1" smtClean="0"/>
              <a:t>schiff</a:t>
            </a:r>
            <a:r>
              <a:rPr lang="en-US" dirty="0" smtClean="0"/>
              <a:t> method</a:t>
            </a:r>
          </a:p>
          <a:p>
            <a:r>
              <a:rPr lang="en-US" dirty="0" smtClean="0"/>
              <a:t>Small scrapings of tissues from air passage are examine in 10% KOH. This will demonstrate </a:t>
            </a:r>
            <a:r>
              <a:rPr lang="en-US" dirty="0" err="1" smtClean="0"/>
              <a:t>septate</a:t>
            </a:r>
            <a:r>
              <a:rPr lang="en-US" dirty="0" smtClean="0"/>
              <a:t> </a:t>
            </a:r>
            <a:r>
              <a:rPr lang="en-US" dirty="0" err="1" smtClean="0"/>
              <a:t>hyphae</a:t>
            </a:r>
            <a:r>
              <a:rPr lang="en-US" dirty="0" smtClean="0"/>
              <a:t>, </a:t>
            </a:r>
            <a:r>
              <a:rPr lang="en-US" dirty="0" err="1" smtClean="0"/>
              <a:t>conidiophore</a:t>
            </a:r>
            <a:r>
              <a:rPr lang="en-US" dirty="0" smtClean="0"/>
              <a:t>, vesicle, </a:t>
            </a:r>
            <a:r>
              <a:rPr lang="en-US" dirty="0" err="1" smtClean="0"/>
              <a:t>sterigmata</a:t>
            </a:r>
            <a:r>
              <a:rPr lang="en-US" dirty="0" smtClean="0"/>
              <a:t> and </a:t>
            </a:r>
            <a:r>
              <a:rPr lang="en-US" dirty="0" err="1" smtClean="0"/>
              <a:t>conidiospore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Isolation of fungus on SDA/ blood agar without </a:t>
            </a:r>
            <a:r>
              <a:rPr lang="en-US" dirty="0" err="1" smtClean="0"/>
              <a:t>cycloheximide</a:t>
            </a:r>
            <a:r>
              <a:rPr lang="en-US" dirty="0" smtClean="0"/>
              <a:t> because the organism are sensitive to heat.</a:t>
            </a:r>
          </a:p>
          <a:p>
            <a:r>
              <a:rPr lang="en-US" dirty="0" smtClean="0"/>
              <a:t>Identification by colony appearance and microscopic morphology</a:t>
            </a:r>
          </a:p>
          <a:p>
            <a:r>
              <a:rPr lang="en-US" dirty="0" smtClean="0"/>
              <a:t>Serological test as agar gel </a:t>
            </a:r>
            <a:r>
              <a:rPr lang="en-US" dirty="0" err="1" smtClean="0"/>
              <a:t>immunodiffusion</a:t>
            </a:r>
            <a:r>
              <a:rPr lang="en-US" dirty="0" smtClean="0"/>
              <a:t>, ELISA and counter </a:t>
            </a:r>
            <a:r>
              <a:rPr lang="en-US" dirty="0" err="1" smtClean="0"/>
              <a:t>immunoelectrophoresis</a:t>
            </a:r>
            <a:endParaRPr lang="en-US" dirty="0" smtClean="0"/>
          </a:p>
          <a:p>
            <a:r>
              <a:rPr lang="en-US" dirty="0" smtClean="0"/>
              <a:t>PCR to demonstrate the organism in clinical specimens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Treatment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Nystatin</a:t>
            </a:r>
            <a:r>
              <a:rPr lang="en-US" dirty="0" smtClean="0"/>
              <a:t>, </a:t>
            </a:r>
            <a:r>
              <a:rPr lang="en-US" dirty="0" err="1" smtClean="0"/>
              <a:t>Amphotericin</a:t>
            </a:r>
            <a:r>
              <a:rPr lang="en-US" dirty="0" smtClean="0"/>
              <a:t> B and </a:t>
            </a:r>
            <a:r>
              <a:rPr lang="en-US" dirty="0" err="1" smtClean="0"/>
              <a:t>Ketoconazole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Candida </a:t>
            </a:r>
            <a:r>
              <a:rPr lang="en-US" dirty="0" err="1" smtClean="0"/>
              <a:t>albicans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 smtClean="0"/>
              <a:t>Candida </a:t>
            </a:r>
            <a:r>
              <a:rPr lang="en-US" i="1" dirty="0" err="1" smtClean="0"/>
              <a:t>albicans</a:t>
            </a:r>
            <a:r>
              <a:rPr lang="en-US" i="1" dirty="0" smtClean="0"/>
              <a:t> </a:t>
            </a:r>
            <a:r>
              <a:rPr lang="en-US" dirty="0" smtClean="0"/>
              <a:t>is the species most often</a:t>
            </a:r>
            <a:br>
              <a:rPr lang="en-US" dirty="0" smtClean="0"/>
            </a:br>
            <a:r>
              <a:rPr lang="en-US" dirty="0" smtClean="0"/>
              <a:t>implicated in animal </a:t>
            </a:r>
            <a:r>
              <a:rPr lang="en-US" dirty="0" smtClean="0"/>
              <a:t>disease.</a:t>
            </a:r>
          </a:p>
          <a:p>
            <a:r>
              <a:rPr lang="en-US" dirty="0" smtClean="0"/>
              <a:t>It </a:t>
            </a:r>
            <a:r>
              <a:rPr lang="en-US" dirty="0" smtClean="0"/>
              <a:t>grows aerobically at 37°C on a wide range of media </a:t>
            </a:r>
            <a:r>
              <a:rPr lang="en-US" dirty="0" smtClean="0"/>
              <a:t>including </a:t>
            </a:r>
            <a:r>
              <a:rPr lang="en-US" dirty="0" err="1" smtClean="0"/>
              <a:t>Sabouraud</a:t>
            </a:r>
            <a:r>
              <a:rPr lang="en-US" dirty="0" smtClean="0"/>
              <a:t> </a:t>
            </a:r>
            <a:r>
              <a:rPr lang="en-US" dirty="0" smtClean="0"/>
              <a:t>dextrose </a:t>
            </a:r>
            <a:r>
              <a:rPr lang="en-US" dirty="0" smtClean="0"/>
              <a:t>agar </a:t>
            </a:r>
          </a:p>
          <a:p>
            <a:r>
              <a:rPr lang="en-US" dirty="0" smtClean="0"/>
              <a:t>Colonies </a:t>
            </a:r>
            <a:r>
              <a:rPr lang="en-US" dirty="0" smtClean="0"/>
              <a:t>are composed of budding oval cells </a:t>
            </a:r>
            <a:endParaRPr lang="en-US" dirty="0" smtClean="0"/>
          </a:p>
          <a:p>
            <a:r>
              <a:rPr lang="en-US" dirty="0" smtClean="0"/>
              <a:t>In animal </a:t>
            </a:r>
            <a:r>
              <a:rPr lang="en-US" dirty="0" smtClean="0"/>
              <a:t>tissues, </a:t>
            </a:r>
            <a:r>
              <a:rPr lang="en-US" i="1" dirty="0" smtClean="0"/>
              <a:t>C. </a:t>
            </a:r>
            <a:r>
              <a:rPr lang="en-US" i="1" dirty="0" err="1" smtClean="0"/>
              <a:t>albicans</a:t>
            </a:r>
            <a:r>
              <a:rPr lang="en-US" i="1" dirty="0" smtClean="0"/>
              <a:t> </a:t>
            </a:r>
            <a:r>
              <a:rPr lang="en-US" dirty="0" smtClean="0"/>
              <a:t>may exhibit polymorphism in the form of </a:t>
            </a:r>
            <a:r>
              <a:rPr lang="en-US" dirty="0" err="1" smtClean="0"/>
              <a:t>pseudohyphae</a:t>
            </a:r>
            <a:r>
              <a:rPr lang="en-US" dirty="0" smtClean="0"/>
              <a:t> or </a:t>
            </a:r>
            <a:r>
              <a:rPr lang="en-US" dirty="0" err="1" smtClean="0"/>
              <a:t>hyphae</a:t>
            </a:r>
            <a:r>
              <a:rPr lang="en-US" dirty="0" smtClean="0"/>
              <a:t> </a:t>
            </a:r>
          </a:p>
          <a:p>
            <a:r>
              <a:rPr lang="en-US" dirty="0" smtClean="0"/>
              <a:t> </a:t>
            </a:r>
            <a:r>
              <a:rPr lang="en-US" dirty="0" smtClean="0"/>
              <a:t>On certain media</a:t>
            </a:r>
            <a:r>
              <a:rPr lang="en-US" dirty="0" smtClean="0"/>
              <a:t>, (Corn meal agar) </a:t>
            </a:r>
            <a:r>
              <a:rPr lang="en-US" dirty="0" smtClean="0"/>
              <a:t>it characteristically produces thick-walled resting cells known </a:t>
            </a:r>
            <a:r>
              <a:rPr lang="en-US" dirty="0" smtClean="0"/>
              <a:t>as </a:t>
            </a:r>
            <a:r>
              <a:rPr lang="en-US" dirty="0" err="1" smtClean="0"/>
              <a:t>chlamydospores</a:t>
            </a:r>
            <a:r>
              <a:rPr lang="en-US" dirty="0" smtClean="0"/>
              <a:t> (</a:t>
            </a:r>
            <a:r>
              <a:rPr lang="en-US" dirty="0" err="1" smtClean="0"/>
              <a:t>chlamydoconidia</a:t>
            </a:r>
            <a:r>
              <a:rPr lang="en-US" dirty="0" smtClean="0"/>
              <a:t>).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9712" y="2765425"/>
            <a:ext cx="53625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151507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Three forms of the polymorphic yeast </a:t>
            </a:r>
            <a:r>
              <a:rPr lang="en-US" i="1" dirty="0" smtClean="0"/>
              <a:t>Candida </a:t>
            </a:r>
            <a:r>
              <a:rPr lang="en-US" i="1" dirty="0" err="1" smtClean="0"/>
              <a:t>albicans</a:t>
            </a:r>
            <a:r>
              <a:rPr lang="en-US" i="1" dirty="0" smtClean="0"/>
              <a:t>:</a:t>
            </a:r>
          </a:p>
          <a:p>
            <a:r>
              <a:rPr lang="en-US" i="1" dirty="0" smtClean="0"/>
              <a:t> </a:t>
            </a:r>
            <a:r>
              <a:rPr lang="en-US" dirty="0" smtClean="0"/>
              <a:t>budding yeast cell (A</a:t>
            </a:r>
            <a:r>
              <a:rPr lang="en-US" dirty="0" smtClean="0"/>
              <a:t>); </a:t>
            </a:r>
            <a:r>
              <a:rPr lang="en-US" dirty="0" err="1" smtClean="0"/>
              <a:t>pseudohypha</a:t>
            </a:r>
            <a:r>
              <a:rPr lang="en-US" dirty="0" smtClean="0"/>
              <a:t> </a:t>
            </a:r>
            <a:r>
              <a:rPr lang="en-US" dirty="0" smtClean="0"/>
              <a:t>(B); true </a:t>
            </a:r>
            <a:r>
              <a:rPr lang="en-US" dirty="0" err="1" smtClean="0"/>
              <a:t>septate</a:t>
            </a:r>
            <a:r>
              <a:rPr lang="en-US" dirty="0" smtClean="0"/>
              <a:t> </a:t>
            </a:r>
            <a:r>
              <a:rPr lang="en-US" dirty="0" err="1" smtClean="0"/>
              <a:t>hypha</a:t>
            </a:r>
            <a:r>
              <a:rPr lang="en-US" dirty="0" smtClean="0"/>
              <a:t> (C).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Thick-walled resting cells of </a:t>
            </a:r>
            <a:r>
              <a:rPr lang="en-US" i="1" dirty="0" smtClean="0"/>
              <a:t>Candida </a:t>
            </a:r>
            <a:r>
              <a:rPr lang="en-US" i="1" dirty="0" err="1" smtClean="0"/>
              <a:t>albicans</a:t>
            </a:r>
            <a:r>
              <a:rPr lang="en-US" dirty="0" smtClean="0"/>
              <a:t>, called </a:t>
            </a:r>
            <a:r>
              <a:rPr lang="en-US" dirty="0" err="1" smtClean="0"/>
              <a:t>chlamydospores</a:t>
            </a:r>
            <a:r>
              <a:rPr lang="en-US" dirty="0" smtClean="0"/>
              <a:t> (</a:t>
            </a:r>
            <a:r>
              <a:rPr lang="en-US" dirty="0" err="1" smtClean="0"/>
              <a:t>chlamydoconidia</a:t>
            </a:r>
            <a:r>
              <a:rPr lang="en-US" dirty="0" smtClean="0"/>
              <a:t>). These resting cells are formed from </a:t>
            </a:r>
            <a:r>
              <a:rPr lang="en-US" dirty="0" err="1" smtClean="0"/>
              <a:t>pseudohyphae</a:t>
            </a:r>
            <a:r>
              <a:rPr lang="en-US" dirty="0" smtClean="0"/>
              <a:t> when submerged colonies </a:t>
            </a:r>
            <a:r>
              <a:rPr lang="en-US" dirty="0" smtClean="0"/>
              <a:t>grow in </a:t>
            </a:r>
            <a:r>
              <a:rPr lang="en-US" dirty="0" smtClean="0"/>
              <a:t>cornmeal agar. The smaller cells are </a:t>
            </a:r>
            <a:r>
              <a:rPr lang="en-US" dirty="0" err="1" smtClean="0"/>
              <a:t>blastoconidia</a:t>
            </a:r>
            <a:r>
              <a:rPr lang="en-US" dirty="0" smtClean="0"/>
              <a:t> 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Germ tubes form within 2 hours when cells of </a:t>
            </a:r>
            <a:r>
              <a:rPr lang="en-US" i="1" dirty="0" smtClean="0"/>
              <a:t>Candida </a:t>
            </a:r>
            <a:r>
              <a:rPr lang="en-US" i="1" dirty="0" err="1" smtClean="0"/>
              <a:t>albicans</a:t>
            </a:r>
            <a:r>
              <a:rPr lang="en-US" i="1" dirty="0" smtClean="0"/>
              <a:t> </a:t>
            </a:r>
            <a:r>
              <a:rPr lang="en-US" dirty="0" smtClean="0"/>
              <a:t>are incubated in serum at</a:t>
            </a:r>
            <a:br>
              <a:rPr lang="en-US" dirty="0" smtClean="0"/>
            </a:br>
            <a:r>
              <a:rPr lang="en-US" dirty="0" smtClean="0"/>
              <a:t>37°C.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0188" y="3019889"/>
            <a:ext cx="2005012" cy="1537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95688" y="5353050"/>
            <a:ext cx="195262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conditions 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t="7148" b="4364"/>
          <a:stretch>
            <a:fillRect/>
          </a:stretch>
        </p:blipFill>
        <p:spPr bwMode="auto">
          <a:xfrm>
            <a:off x="685801" y="1689688"/>
            <a:ext cx="6324600" cy="463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Suitable specimens for culture and </a:t>
            </a:r>
            <a:r>
              <a:rPr lang="en-US" dirty="0" smtClean="0"/>
              <a:t> </a:t>
            </a:r>
            <a:r>
              <a:rPr lang="en-US" dirty="0" err="1" smtClean="0"/>
              <a:t>istopathology</a:t>
            </a:r>
            <a:r>
              <a:rPr lang="en-US" dirty="0" smtClean="0"/>
              <a:t> </a:t>
            </a:r>
            <a:r>
              <a:rPr lang="en-US" dirty="0" smtClean="0"/>
              <a:t>include biopsy or post-mortem tissue samples</a:t>
            </a:r>
            <a:br>
              <a:rPr lang="en-US" dirty="0" smtClean="0"/>
            </a:br>
            <a:r>
              <a:rPr lang="en-US" dirty="0" smtClean="0"/>
              <a:t>and milk samples. </a:t>
            </a:r>
            <a:endParaRPr lang="en-US" dirty="0" smtClean="0"/>
          </a:p>
          <a:p>
            <a:r>
              <a:rPr lang="en-US" dirty="0" smtClean="0"/>
              <a:t>Tissue sections, stained by PAS or </a:t>
            </a:r>
            <a:r>
              <a:rPr lang="en-US" dirty="0" err="1" smtClean="0"/>
              <a:t>methenamine</a:t>
            </a:r>
            <a:r>
              <a:rPr lang="en-US" dirty="0" smtClean="0"/>
              <a:t> silver methods, may reveal budding yeast cells</a:t>
            </a:r>
            <a:br>
              <a:rPr lang="en-US" dirty="0" smtClean="0"/>
            </a:br>
            <a:r>
              <a:rPr lang="en-US" dirty="0" smtClean="0"/>
              <a:t>or </a:t>
            </a:r>
            <a:r>
              <a:rPr lang="en-US" dirty="0" err="1" smtClean="0"/>
              <a:t>hyphae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Culture is carried out aerobically at 37°C for 2 to 5 days on </a:t>
            </a:r>
            <a:r>
              <a:rPr lang="en-US" dirty="0" err="1" smtClean="0"/>
              <a:t>Sabouraud</a:t>
            </a:r>
            <a:r>
              <a:rPr lang="en-US" dirty="0" smtClean="0"/>
              <a:t> dextrose agar, with or</a:t>
            </a:r>
            <a:br>
              <a:rPr lang="en-US" dirty="0" smtClean="0"/>
            </a:br>
            <a:r>
              <a:rPr lang="en-US" dirty="0" smtClean="0"/>
              <a:t>without </a:t>
            </a:r>
            <a:r>
              <a:rPr lang="en-US" dirty="0" err="1" smtClean="0"/>
              <a:t>cycloheximide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Identification criteria for isolates:</a:t>
            </a:r>
            <a:br>
              <a:rPr lang="en-US" dirty="0" smtClean="0"/>
            </a:br>
            <a:r>
              <a:rPr lang="en-US" dirty="0" smtClean="0"/>
              <a:t>– Characteristic colonies yielding budding yeast cells.</a:t>
            </a:r>
            <a:br>
              <a:rPr lang="en-US" dirty="0" smtClean="0"/>
            </a:br>
            <a:r>
              <a:rPr lang="en-US" dirty="0" smtClean="0"/>
              <a:t>– Growth on media containing </a:t>
            </a:r>
            <a:r>
              <a:rPr lang="en-US" dirty="0" err="1" smtClean="0"/>
              <a:t>cycloheximide</a:t>
            </a:r>
            <a:r>
              <a:rPr lang="en-US" dirty="0" smtClean="0"/>
              <a:t> (specific for </a:t>
            </a:r>
            <a:r>
              <a:rPr lang="en-US" i="1" dirty="0" smtClean="0"/>
              <a:t>C. </a:t>
            </a:r>
            <a:r>
              <a:rPr lang="en-US" i="1" dirty="0" err="1" smtClean="0"/>
              <a:t>albicans</a:t>
            </a:r>
            <a:r>
              <a:rPr lang="en-US" dirty="0" smtClean="0"/>
              <a:t>).</a:t>
            </a:r>
            <a:br>
              <a:rPr lang="en-US" dirty="0" smtClean="0"/>
            </a:br>
            <a:r>
              <a:rPr lang="en-US" dirty="0" smtClean="0"/>
              <a:t>– Colonial appearance on </a:t>
            </a:r>
            <a:r>
              <a:rPr lang="en-US" dirty="0" err="1" smtClean="0"/>
              <a:t>CHROMagar</a:t>
            </a:r>
            <a:r>
              <a:rPr lang="en-US" dirty="0" smtClean="0"/>
              <a:t> Candida.</a:t>
            </a:r>
            <a:br>
              <a:rPr lang="en-US" dirty="0" smtClean="0"/>
            </a:br>
            <a:r>
              <a:rPr lang="en-US" dirty="0" smtClean="0"/>
              <a:t>– Biochemical profile.</a:t>
            </a:r>
            <a:br>
              <a:rPr lang="en-US" dirty="0" smtClean="0"/>
            </a:br>
            <a:r>
              <a:rPr lang="en-US" dirty="0" smtClean="0"/>
              <a:t>– </a:t>
            </a:r>
            <a:r>
              <a:rPr lang="en-US" dirty="0" err="1" smtClean="0"/>
              <a:t>Chlamydospore</a:t>
            </a:r>
            <a:r>
              <a:rPr lang="en-US" dirty="0" smtClean="0"/>
              <a:t> and germ tube production (specific for </a:t>
            </a:r>
            <a:r>
              <a:rPr lang="en-US" i="1" dirty="0" smtClean="0"/>
              <a:t>C. </a:t>
            </a:r>
            <a:r>
              <a:rPr lang="en-US" i="1" dirty="0" err="1" smtClean="0"/>
              <a:t>albicans</a:t>
            </a:r>
            <a:r>
              <a:rPr lang="en-US" dirty="0" smtClean="0"/>
              <a:t>). </a:t>
            </a:r>
            <a:endParaRPr lang="en-US" dirty="0" smtClean="0"/>
          </a:p>
          <a:p>
            <a:r>
              <a:rPr lang="en-US" dirty="0" smtClean="0"/>
              <a:t>Molecular techniques have been used for the identification of </a:t>
            </a:r>
            <a:r>
              <a:rPr lang="en-US" i="1" dirty="0" smtClean="0"/>
              <a:t>Candida </a:t>
            </a:r>
            <a:r>
              <a:rPr lang="en-US" dirty="0" smtClean="0"/>
              <a:t>species in </a:t>
            </a:r>
            <a:r>
              <a:rPr lang="en-US" dirty="0" err="1" smtClean="0"/>
              <a:t>clinicaleterinary</a:t>
            </a:r>
            <a:r>
              <a:rPr lang="en-US" dirty="0" smtClean="0"/>
              <a:t> </a:t>
            </a:r>
            <a:r>
              <a:rPr lang="en-US" dirty="0" smtClean="0"/>
              <a:t>samples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mycotoxins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Mycotoxins</a:t>
            </a:r>
            <a:r>
              <a:rPr lang="en-US" dirty="0" smtClean="0"/>
              <a:t>, secondary metabolites of certain fungal species, are produced when </a:t>
            </a:r>
            <a:r>
              <a:rPr lang="en-US" dirty="0" err="1" smtClean="0"/>
              <a:t>toxigenic</a:t>
            </a:r>
            <a:r>
              <a:rPr lang="en-US" dirty="0" smtClean="0"/>
              <a:t> strains </a:t>
            </a:r>
            <a:r>
              <a:rPr lang="en-US" dirty="0" smtClean="0"/>
              <a:t>of these </a:t>
            </a:r>
            <a:r>
              <a:rPr lang="en-US" dirty="0" smtClean="0"/>
              <a:t>organisms grow under defined conditions on crops, pasture or stored </a:t>
            </a:r>
            <a:r>
              <a:rPr lang="en-US" dirty="0" smtClean="0"/>
              <a:t>feed</a:t>
            </a:r>
          </a:p>
          <a:p>
            <a:r>
              <a:rPr lang="en-US" dirty="0" smtClean="0"/>
              <a:t> </a:t>
            </a:r>
            <a:r>
              <a:rPr lang="en-US" dirty="0" smtClean="0"/>
              <a:t>The acute or </a:t>
            </a:r>
            <a:r>
              <a:rPr lang="en-US" dirty="0" smtClean="0"/>
              <a:t>chronic intoxication </a:t>
            </a:r>
            <a:r>
              <a:rPr lang="en-US" dirty="0" smtClean="0"/>
              <a:t>following ingestion of contaminated plant material is termed </a:t>
            </a:r>
            <a:r>
              <a:rPr lang="en-US" dirty="0" err="1" smtClean="0"/>
              <a:t>mycotoxicosis</a:t>
            </a:r>
            <a:endParaRPr lang="en-US" dirty="0" smtClean="0"/>
          </a:p>
          <a:p>
            <a:r>
              <a:rPr lang="en-US" dirty="0" smtClean="0"/>
              <a:t>Many of these fungi belong to the genera</a:t>
            </a:r>
            <a:br>
              <a:rPr lang="en-US" dirty="0" smtClean="0"/>
            </a:br>
            <a:r>
              <a:rPr lang="en-US" i="1" dirty="0" err="1" smtClean="0"/>
              <a:t>Penicillium</a:t>
            </a:r>
            <a:r>
              <a:rPr lang="en-US" i="1" dirty="0" smtClean="0"/>
              <a:t>, </a:t>
            </a:r>
            <a:r>
              <a:rPr lang="en-US" i="1" dirty="0" err="1" smtClean="0"/>
              <a:t>Aspergillus</a:t>
            </a:r>
            <a:r>
              <a:rPr lang="en-US" i="1" dirty="0" smtClean="0"/>
              <a:t>, </a:t>
            </a:r>
            <a:r>
              <a:rPr lang="en-US" i="1" dirty="0" err="1" smtClean="0"/>
              <a:t>Fusarium</a:t>
            </a:r>
            <a:r>
              <a:rPr lang="en-US" i="1" dirty="0" smtClean="0"/>
              <a:t> and </a:t>
            </a:r>
            <a:r>
              <a:rPr lang="en-US" i="1" dirty="0" err="1" smtClean="0"/>
              <a:t>Claviceps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Mycotoxins</a:t>
            </a:r>
            <a:r>
              <a:rPr lang="en-US" dirty="0" smtClean="0"/>
              <a:t>, a diverse group of heat-stable, low molecular weight compounds, are </a:t>
            </a:r>
            <a:r>
              <a:rPr lang="en-US" dirty="0" smtClean="0"/>
              <a:t>non-antigenic</a:t>
            </a:r>
          </a:p>
          <a:p>
            <a:r>
              <a:rPr lang="en-US" dirty="0" smtClean="0"/>
              <a:t>Ingestion </a:t>
            </a:r>
            <a:r>
              <a:rPr lang="en-US" dirty="0" smtClean="0"/>
              <a:t>of contaminated plant material or contaminated crops may induce a characteristic disease </a:t>
            </a:r>
            <a:r>
              <a:rPr lang="en-US" dirty="0" smtClean="0"/>
              <a:t>process</a:t>
            </a:r>
          </a:p>
          <a:p>
            <a:r>
              <a:rPr lang="en-US" dirty="0" smtClean="0"/>
              <a:t>Susceptibility </a:t>
            </a:r>
            <a:r>
              <a:rPr lang="en-US" dirty="0" smtClean="0"/>
              <a:t>can vary with species, age and </a:t>
            </a:r>
            <a:r>
              <a:rPr lang="en-US" dirty="0" smtClean="0"/>
              <a:t>sex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effects of </a:t>
            </a:r>
            <a:r>
              <a:rPr lang="en-US" dirty="0" err="1" smtClean="0"/>
              <a:t>mycotoxins</a:t>
            </a:r>
            <a:r>
              <a:rPr lang="en-US" dirty="0" smtClean="0"/>
              <a:t> </a:t>
            </a:r>
            <a:r>
              <a:rPr lang="en-US" dirty="0" smtClean="0"/>
              <a:t>include </a:t>
            </a:r>
            <a:r>
              <a:rPr lang="en-US" dirty="0" err="1" smtClean="0"/>
              <a:t>immunosuppression</a:t>
            </a:r>
            <a:r>
              <a:rPr lang="en-US" dirty="0" smtClean="0"/>
              <a:t>, </a:t>
            </a:r>
            <a:r>
              <a:rPr lang="en-US" dirty="0" err="1" smtClean="0"/>
              <a:t>teratogenesis</a:t>
            </a:r>
            <a:r>
              <a:rPr lang="en-US" dirty="0" smtClean="0"/>
              <a:t> or </a:t>
            </a:r>
            <a:r>
              <a:rPr lang="en-US" dirty="0" smtClean="0"/>
              <a:t>carcinogenesis</a:t>
            </a:r>
          </a:p>
          <a:p>
            <a:r>
              <a:rPr lang="en-US" dirty="0" smtClean="0"/>
              <a:t>Diseases </a:t>
            </a:r>
            <a:r>
              <a:rPr lang="en-US" dirty="0" smtClean="0"/>
              <a:t>caused by </a:t>
            </a:r>
            <a:r>
              <a:rPr lang="en-US" dirty="0" err="1" smtClean="0"/>
              <a:t>mycotoxins</a:t>
            </a:r>
            <a:r>
              <a:rPr lang="en-US" dirty="0" smtClean="0"/>
              <a:t> (</a:t>
            </a:r>
            <a:r>
              <a:rPr lang="en-US" dirty="0" err="1" smtClean="0"/>
              <a:t>mycotoxicoses</a:t>
            </a:r>
            <a:r>
              <a:rPr lang="en-US" dirty="0" smtClean="0"/>
              <a:t>) are non-contagious, tend to be sporadic, seasonal and</a:t>
            </a:r>
            <a:br>
              <a:rPr lang="en-US" dirty="0" smtClean="0"/>
            </a:br>
            <a:r>
              <a:rPr lang="en-US" dirty="0" smtClean="0"/>
              <a:t>associated with certain batches of </a:t>
            </a:r>
            <a:r>
              <a:rPr lang="en-US" dirty="0" smtClean="0"/>
              <a:t>feed</a:t>
            </a:r>
          </a:p>
          <a:p>
            <a:r>
              <a:rPr lang="en-US" dirty="0" smtClean="0"/>
              <a:t>Diagnosis </a:t>
            </a:r>
            <a:r>
              <a:rPr lang="en-US" dirty="0" smtClean="0"/>
              <a:t>is based on clinical presentation and on demonstration of significant levels of a specific </a:t>
            </a:r>
            <a:r>
              <a:rPr lang="en-US" dirty="0" err="1" smtClean="0"/>
              <a:t>mycotoxin</a:t>
            </a:r>
            <a:r>
              <a:rPr lang="en-US" dirty="0" smtClean="0"/>
              <a:t> </a:t>
            </a:r>
            <a:r>
              <a:rPr lang="en-US" dirty="0" smtClean="0"/>
              <a:t>in feed </a:t>
            </a:r>
            <a:r>
              <a:rPr lang="en-US" dirty="0" smtClean="0"/>
              <a:t>or in animal tissues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</a:t>
            </a:r>
            <a:r>
              <a:rPr lang="en-US" dirty="0" err="1" smtClean="0"/>
              <a:t>mycotoxin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Low molecular weight, heat-stable </a:t>
            </a:r>
            <a:r>
              <a:rPr lang="en-US" dirty="0" smtClean="0"/>
              <a:t>substances</a:t>
            </a:r>
          </a:p>
          <a:p>
            <a:r>
              <a:rPr lang="en-US" dirty="0" smtClean="0"/>
              <a:t>Unlike </a:t>
            </a:r>
            <a:r>
              <a:rPr lang="en-US" dirty="0" smtClean="0"/>
              <a:t>many bacterial toxins, non-antigenic; exposure does not induce a protective immune </a:t>
            </a:r>
            <a:r>
              <a:rPr lang="en-US" dirty="0" smtClean="0"/>
              <a:t>response</a:t>
            </a:r>
          </a:p>
          <a:p>
            <a:r>
              <a:rPr lang="en-US" dirty="0" smtClean="0"/>
              <a:t>Many </a:t>
            </a:r>
            <a:r>
              <a:rPr lang="en-US" dirty="0" smtClean="0"/>
              <a:t>are active at low dietary </a:t>
            </a:r>
            <a:r>
              <a:rPr lang="en-US" dirty="0" smtClean="0"/>
              <a:t>levels</a:t>
            </a:r>
          </a:p>
          <a:p>
            <a:r>
              <a:rPr lang="en-US" dirty="0" smtClean="0"/>
              <a:t>Specific </a:t>
            </a:r>
            <a:r>
              <a:rPr lang="en-US" dirty="0" smtClean="0"/>
              <a:t>target organs or tissues </a:t>
            </a:r>
            <a:r>
              <a:rPr lang="en-US" dirty="0" smtClean="0"/>
              <a:t>affected</a:t>
            </a:r>
          </a:p>
          <a:p>
            <a:r>
              <a:rPr lang="en-US" dirty="0" smtClean="0"/>
              <a:t>Toxic </a:t>
            </a:r>
            <a:r>
              <a:rPr lang="en-US" dirty="0" smtClean="0"/>
              <a:t>effects include </a:t>
            </a:r>
            <a:r>
              <a:rPr lang="en-US" dirty="0" err="1" smtClean="0"/>
              <a:t>immunosuppression</a:t>
            </a:r>
            <a:r>
              <a:rPr lang="en-US" dirty="0" smtClean="0"/>
              <a:t>, mutagenesis, </a:t>
            </a:r>
            <a:r>
              <a:rPr lang="en-US" dirty="0" err="1" smtClean="0"/>
              <a:t>teratogenesis</a:t>
            </a:r>
            <a:r>
              <a:rPr lang="en-US" dirty="0" smtClean="0"/>
              <a:t> and </a:t>
            </a:r>
            <a:r>
              <a:rPr lang="en-US" dirty="0" smtClean="0"/>
              <a:t>carcinogenesis</a:t>
            </a:r>
          </a:p>
          <a:p>
            <a:r>
              <a:rPr lang="en-US" dirty="0" smtClean="0"/>
              <a:t>Accumulation </a:t>
            </a:r>
            <a:r>
              <a:rPr lang="en-US" dirty="0" smtClean="0"/>
              <a:t>in tissues of food-producing animals or excretion in milk may result in human exposure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Epidemiological  clinical features of </a:t>
            </a:r>
            <a:r>
              <a:rPr lang="en-US" dirty="0" err="1" smtClean="0"/>
              <a:t>mycotoxicoses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Outbreaks usually seasonal and </a:t>
            </a:r>
            <a:r>
              <a:rPr lang="en-US" dirty="0" smtClean="0"/>
              <a:t>sporadic</a:t>
            </a:r>
          </a:p>
          <a:p>
            <a:r>
              <a:rPr lang="en-US" dirty="0" smtClean="0"/>
              <a:t>No </a:t>
            </a:r>
            <a:r>
              <a:rPr lang="en-US" dirty="0" smtClean="0"/>
              <a:t>evidence of lateral spread to in-contact </a:t>
            </a:r>
            <a:r>
              <a:rPr lang="en-US" dirty="0" smtClean="0"/>
              <a:t>animals</a:t>
            </a:r>
          </a:p>
          <a:p>
            <a:r>
              <a:rPr lang="en-US" dirty="0" smtClean="0"/>
              <a:t>Certain </a:t>
            </a:r>
            <a:r>
              <a:rPr lang="en-US" dirty="0" smtClean="0"/>
              <a:t>types of pasture or stored feed may be </a:t>
            </a:r>
            <a:r>
              <a:rPr lang="en-US" dirty="0" smtClean="0"/>
              <a:t>involved</a:t>
            </a:r>
          </a:p>
          <a:p>
            <a:r>
              <a:rPr lang="en-US" dirty="0" smtClean="0"/>
              <a:t>Clinical </a:t>
            </a:r>
            <a:r>
              <a:rPr lang="en-US" dirty="0" smtClean="0"/>
              <a:t>presentation is usually </a:t>
            </a:r>
            <a:r>
              <a:rPr lang="en-US" dirty="0" smtClean="0"/>
              <a:t>ill-defined</a:t>
            </a:r>
          </a:p>
          <a:p>
            <a:r>
              <a:rPr lang="en-US" dirty="0" smtClean="0"/>
              <a:t>Increased </a:t>
            </a:r>
            <a:r>
              <a:rPr lang="en-US" dirty="0" smtClean="0"/>
              <a:t>susceptibility to infectious disease may be </a:t>
            </a:r>
            <a:r>
              <a:rPr lang="en-US" dirty="0" smtClean="0"/>
              <a:t>evident</a:t>
            </a:r>
          </a:p>
          <a:p>
            <a:r>
              <a:rPr lang="en-US" dirty="0" smtClean="0"/>
              <a:t>Severity </a:t>
            </a:r>
            <a:r>
              <a:rPr lang="en-US" dirty="0" smtClean="0"/>
              <a:t>of clinical signs is influenced by the amount of </a:t>
            </a:r>
            <a:r>
              <a:rPr lang="en-US" dirty="0" err="1" smtClean="0"/>
              <a:t>mycotoxin</a:t>
            </a:r>
            <a:r>
              <a:rPr lang="en-US" dirty="0" smtClean="0"/>
              <a:t> ingested; recovery is related to duration of</a:t>
            </a:r>
            <a:br>
              <a:rPr lang="en-US" dirty="0" smtClean="0"/>
            </a:br>
            <a:r>
              <a:rPr lang="en-US" dirty="0" smtClean="0"/>
              <a:t>exposure</a:t>
            </a:r>
          </a:p>
          <a:p>
            <a:r>
              <a:rPr lang="en-US" dirty="0" smtClean="0"/>
              <a:t>Occurrence </a:t>
            </a:r>
            <a:r>
              <a:rPr lang="en-US" dirty="0" smtClean="0"/>
              <a:t>of vaccination failure may be </a:t>
            </a:r>
            <a:r>
              <a:rPr lang="en-US" dirty="0" smtClean="0"/>
              <a:t>increased</a:t>
            </a:r>
          </a:p>
          <a:p>
            <a:r>
              <a:rPr lang="en-US" dirty="0" smtClean="0"/>
              <a:t>Antimicrobial </a:t>
            </a:r>
            <a:r>
              <a:rPr lang="en-US" dirty="0" smtClean="0"/>
              <a:t>medication is </a:t>
            </a:r>
            <a:r>
              <a:rPr lang="en-US" dirty="0" smtClean="0"/>
              <a:t>ineffective</a:t>
            </a:r>
          </a:p>
          <a:p>
            <a:r>
              <a:rPr lang="en-US" dirty="0" smtClean="0"/>
              <a:t>Confirmation </a:t>
            </a:r>
            <a:r>
              <a:rPr lang="en-US" dirty="0" smtClean="0"/>
              <a:t>requires demonstration of significant levels of </a:t>
            </a:r>
            <a:r>
              <a:rPr lang="en-US" dirty="0" err="1" smtClean="0"/>
              <a:t>mycotoxin</a:t>
            </a:r>
            <a:r>
              <a:rPr lang="en-US" dirty="0" smtClean="0"/>
              <a:t> in feed or in tissues from affected animals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aflatoxicosis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Fungi associated with the production of </a:t>
            </a:r>
            <a:r>
              <a:rPr lang="en-US" dirty="0" err="1" smtClean="0"/>
              <a:t>aflatoxins</a:t>
            </a:r>
            <a:r>
              <a:rPr lang="en-US" dirty="0" smtClean="0"/>
              <a:t>, the </a:t>
            </a:r>
            <a:r>
              <a:rPr lang="en-US" dirty="0" err="1" smtClean="0"/>
              <a:t>mycotoxins</a:t>
            </a:r>
            <a:r>
              <a:rPr lang="en-US" dirty="0" smtClean="0"/>
              <a:t> which cause </a:t>
            </a:r>
            <a:r>
              <a:rPr lang="en-US" dirty="0" err="1" smtClean="0"/>
              <a:t>aflatoxicosis</a:t>
            </a:r>
            <a:r>
              <a:rPr lang="en-US" dirty="0" smtClean="0"/>
              <a:t>, </a:t>
            </a:r>
            <a:r>
              <a:rPr lang="en-US" dirty="0" smtClean="0"/>
              <a:t>include </a:t>
            </a:r>
            <a:r>
              <a:rPr lang="en-US" i="1" dirty="0" err="1" smtClean="0"/>
              <a:t>Aspergillus</a:t>
            </a:r>
            <a:r>
              <a:rPr lang="en-US" i="1" dirty="0" smtClean="0"/>
              <a:t> </a:t>
            </a:r>
            <a:r>
              <a:rPr lang="en-US" i="1" dirty="0" err="1" smtClean="0"/>
              <a:t>flavus</a:t>
            </a:r>
            <a:r>
              <a:rPr lang="en-US" i="1" dirty="0" smtClean="0"/>
              <a:t>, A. </a:t>
            </a:r>
            <a:r>
              <a:rPr lang="en-US" i="1" dirty="0" err="1" smtClean="0"/>
              <a:t>parasiticus</a:t>
            </a:r>
            <a:r>
              <a:rPr lang="en-US" i="1" dirty="0" smtClean="0"/>
              <a:t> </a:t>
            </a:r>
            <a:r>
              <a:rPr lang="en-US" dirty="0" smtClean="0"/>
              <a:t>and </a:t>
            </a:r>
            <a:r>
              <a:rPr lang="en-US" i="1" dirty="0" smtClean="0"/>
              <a:t>A. </a:t>
            </a:r>
            <a:r>
              <a:rPr lang="en-US" i="1" dirty="0" err="1" smtClean="0"/>
              <a:t>nominus</a:t>
            </a:r>
            <a:endParaRPr lang="en-US" i="1" dirty="0" smtClean="0"/>
          </a:p>
          <a:p>
            <a:r>
              <a:rPr lang="en-US" dirty="0" err="1" smtClean="0"/>
              <a:t>difuranocoumarins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Although four prominent </a:t>
            </a:r>
            <a:r>
              <a:rPr lang="en-US" dirty="0" err="1" smtClean="0"/>
              <a:t>aflatoxins</a:t>
            </a:r>
            <a:r>
              <a:rPr lang="en-US" dirty="0" smtClean="0"/>
              <a:t>, namely B1, B2, G1 and G2, </a:t>
            </a:r>
            <a:endParaRPr lang="en-US" dirty="0" smtClean="0"/>
          </a:p>
          <a:p>
            <a:r>
              <a:rPr lang="en-US" dirty="0" err="1" smtClean="0"/>
              <a:t>Aflatoxin</a:t>
            </a:r>
            <a:r>
              <a:rPr lang="en-US" dirty="0" smtClean="0"/>
              <a:t> </a:t>
            </a:r>
            <a:r>
              <a:rPr lang="en-US" dirty="0" smtClean="0"/>
              <a:t>B1, which is the </a:t>
            </a:r>
            <a:r>
              <a:rPr lang="en-US" dirty="0" err="1" smtClean="0"/>
              <a:t>mycotoxin</a:t>
            </a:r>
            <a:r>
              <a:rPr lang="en-US" dirty="0" smtClean="0"/>
              <a:t> most often</a:t>
            </a:r>
            <a:br>
              <a:rPr lang="en-US" dirty="0" smtClean="0"/>
            </a:br>
            <a:r>
              <a:rPr lang="en-US" dirty="0" smtClean="0"/>
              <a:t>encountered in disease </a:t>
            </a:r>
            <a:r>
              <a:rPr lang="en-US" dirty="0" smtClean="0"/>
              <a:t>outbreaks</a:t>
            </a:r>
          </a:p>
          <a:p>
            <a:r>
              <a:rPr lang="en-US" dirty="0" smtClean="0"/>
              <a:t>The liver is the principal </a:t>
            </a:r>
            <a:r>
              <a:rPr lang="en-US" dirty="0" smtClean="0"/>
              <a:t>organ affected </a:t>
            </a:r>
            <a:r>
              <a:rPr lang="en-US" dirty="0" smtClean="0"/>
              <a:t>by </a:t>
            </a:r>
            <a:r>
              <a:rPr lang="en-US" dirty="0" err="1" smtClean="0"/>
              <a:t>aflatoxins</a:t>
            </a:r>
            <a:r>
              <a:rPr lang="en-US" dirty="0" smtClean="0"/>
              <a:t>, resulting in </a:t>
            </a:r>
            <a:r>
              <a:rPr lang="en-US" dirty="0" err="1" smtClean="0"/>
              <a:t>hepatocellular</a:t>
            </a:r>
            <a:r>
              <a:rPr lang="en-US" dirty="0" smtClean="0"/>
              <a:t> necrosis and impaired liver function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In cattle</a:t>
            </a:r>
            <a:r>
              <a:rPr lang="en-US" dirty="0" smtClean="0"/>
              <a:t>, </a:t>
            </a:r>
            <a:r>
              <a:rPr lang="en-US" dirty="0" err="1" smtClean="0"/>
              <a:t>aflatoxin</a:t>
            </a:r>
            <a:r>
              <a:rPr lang="en-US" dirty="0" smtClean="0"/>
              <a:t> </a:t>
            </a:r>
            <a:r>
              <a:rPr lang="en-US" dirty="0" smtClean="0"/>
              <a:t>B1, which escapes rumen degradation, is converted into a </a:t>
            </a:r>
            <a:r>
              <a:rPr lang="en-US" dirty="0" err="1" smtClean="0"/>
              <a:t>hydroxylated</a:t>
            </a:r>
            <a:r>
              <a:rPr lang="en-US" dirty="0" smtClean="0"/>
              <a:t> form called </a:t>
            </a:r>
            <a:r>
              <a:rPr lang="en-US" dirty="0" err="1" smtClean="0"/>
              <a:t>aflatoxin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M1, which is excreted in milk </a:t>
            </a:r>
            <a:endParaRPr lang="en-US" dirty="0" smtClean="0"/>
          </a:p>
          <a:p>
            <a:r>
              <a:rPr lang="en-US" dirty="0" smtClean="0"/>
              <a:t> The </a:t>
            </a:r>
            <a:r>
              <a:rPr lang="en-US" dirty="0" smtClean="0"/>
              <a:t>toxic effects include reduced protein synthesis, carcinogenesis,</a:t>
            </a:r>
            <a:br>
              <a:rPr lang="en-US" dirty="0" smtClean="0"/>
            </a:br>
            <a:r>
              <a:rPr lang="en-US" dirty="0" err="1" smtClean="0"/>
              <a:t>teratogenesis</a:t>
            </a:r>
            <a:r>
              <a:rPr lang="en-US" dirty="0" smtClean="0"/>
              <a:t> and </a:t>
            </a:r>
            <a:r>
              <a:rPr lang="en-US" dirty="0" err="1" smtClean="0"/>
              <a:t>aplasia</a:t>
            </a:r>
            <a:r>
              <a:rPr lang="en-US" dirty="0" smtClean="0"/>
              <a:t> of the </a:t>
            </a:r>
            <a:r>
              <a:rPr lang="en-US" dirty="0" err="1" smtClean="0"/>
              <a:t>thymic</a:t>
            </a:r>
            <a:r>
              <a:rPr lang="en-US" dirty="0" smtClean="0"/>
              <a:t> cortex leading to depressed cell-mediated immunity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Ducklings, turkey </a:t>
            </a:r>
            <a:r>
              <a:rPr lang="en-US" dirty="0" err="1" smtClean="0"/>
              <a:t>poults</a:t>
            </a:r>
            <a:r>
              <a:rPr lang="en-US" dirty="0" smtClean="0"/>
              <a:t>, calves,</a:t>
            </a:r>
            <a:br>
              <a:rPr lang="en-US" dirty="0" smtClean="0"/>
            </a:br>
            <a:r>
              <a:rPr lang="en-US" dirty="0" smtClean="0"/>
              <a:t>pigs and dogs are sensitive to toxic effects, whereas sheep and adult cattle are more resistant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Aflatoxicosis</a:t>
            </a:r>
            <a:r>
              <a:rPr lang="en-US" dirty="0" smtClean="0"/>
              <a:t> </a:t>
            </a:r>
            <a:r>
              <a:rPr lang="en-US" dirty="0" smtClean="0"/>
              <a:t>is uncommon in horses and goats </a:t>
            </a:r>
            <a:endParaRPr lang="en-US" dirty="0" smtClean="0"/>
          </a:p>
          <a:p>
            <a:r>
              <a:rPr lang="en-US" dirty="0" smtClean="0"/>
              <a:t>Acute </a:t>
            </a:r>
            <a:r>
              <a:rPr lang="en-US" dirty="0" err="1" smtClean="0"/>
              <a:t>aflatoxicosis</a:t>
            </a:r>
            <a:r>
              <a:rPr lang="en-US" dirty="0" smtClean="0"/>
              <a:t> has been recorded in birds</a:t>
            </a:r>
            <a:br>
              <a:rPr lang="en-US" dirty="0" smtClean="0"/>
            </a:br>
            <a:r>
              <a:rPr lang="en-US" dirty="0" smtClean="0"/>
              <a:t>and cattle. </a:t>
            </a:r>
            <a:endParaRPr lang="en-US" dirty="0" smtClean="0"/>
          </a:p>
          <a:p>
            <a:r>
              <a:rPr lang="en-US" dirty="0" smtClean="0"/>
              <a:t>Ataxia</a:t>
            </a:r>
            <a:r>
              <a:rPr lang="en-US" dirty="0" smtClean="0"/>
              <a:t>, </a:t>
            </a:r>
            <a:r>
              <a:rPr lang="en-US" dirty="0" err="1" smtClean="0"/>
              <a:t>opisthotonos</a:t>
            </a:r>
            <a:r>
              <a:rPr lang="en-US" dirty="0" smtClean="0"/>
              <a:t> and sudden death are features of the acute disease in ducklings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Hepatopathy</a:t>
            </a:r>
            <a:r>
              <a:rPr lang="en-US" dirty="0" smtClean="0"/>
              <a:t> </a:t>
            </a:r>
            <a:r>
              <a:rPr lang="en-US" dirty="0" smtClean="0"/>
              <a:t>is a common finding and, in birds more than 3 weeks old, subcutaneous </a:t>
            </a:r>
            <a:r>
              <a:rPr lang="en-US" dirty="0" err="1" smtClean="0"/>
              <a:t>haemorrhages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may be evident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Haemorrhagic</a:t>
            </a:r>
            <a:r>
              <a:rPr lang="en-US" dirty="0" smtClean="0"/>
              <a:t> diathesis, probably related to </a:t>
            </a:r>
            <a:r>
              <a:rPr lang="en-US" dirty="0" err="1" smtClean="0"/>
              <a:t>hepatopathy</a:t>
            </a:r>
            <a:r>
              <a:rPr lang="en-US" dirty="0" smtClean="0"/>
              <a:t>, is a characteristic of acute</a:t>
            </a:r>
            <a:br>
              <a:rPr lang="en-US" dirty="0" smtClean="0"/>
            </a:br>
            <a:r>
              <a:rPr lang="en-US" dirty="0" smtClean="0"/>
              <a:t>toxicity in chickens and turkeys.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Acute </a:t>
            </a:r>
            <a:r>
              <a:rPr lang="en-US" dirty="0" err="1" smtClean="0"/>
              <a:t>aflatoxicosis</a:t>
            </a:r>
            <a:r>
              <a:rPr lang="en-US" dirty="0" smtClean="0"/>
              <a:t> </a:t>
            </a:r>
            <a:r>
              <a:rPr lang="en-US" dirty="0" smtClean="0"/>
              <a:t>in cattle may rapidly result in death </a:t>
            </a:r>
          </a:p>
          <a:p>
            <a:r>
              <a:rPr lang="en-US" dirty="0" smtClean="0"/>
              <a:t>In </a:t>
            </a:r>
            <a:r>
              <a:rPr lang="en-US" dirty="0" smtClean="0"/>
              <a:t>affected calves, blindness</a:t>
            </a:r>
            <a:r>
              <a:rPr lang="en-US" dirty="0" smtClean="0"/>
              <a:t>, circling</a:t>
            </a:r>
            <a:r>
              <a:rPr lang="en-US" dirty="0" smtClean="0"/>
              <a:t>, </a:t>
            </a:r>
            <a:r>
              <a:rPr lang="en-US" dirty="0" err="1" smtClean="0"/>
              <a:t>tenesmus</a:t>
            </a:r>
            <a:r>
              <a:rPr lang="en-US" dirty="0" smtClean="0"/>
              <a:t>, </a:t>
            </a:r>
            <a:r>
              <a:rPr lang="en-US" dirty="0" err="1" smtClean="0"/>
              <a:t>diarrhoea</a:t>
            </a:r>
            <a:r>
              <a:rPr lang="en-US" dirty="0" smtClean="0"/>
              <a:t> and convulsions have been recorded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 smtClean="0"/>
              <a:t>Low levels of </a:t>
            </a:r>
            <a:r>
              <a:rPr lang="en-US" dirty="0" err="1" smtClean="0"/>
              <a:t>aflatoxins</a:t>
            </a:r>
            <a:r>
              <a:rPr lang="en-US" dirty="0" smtClean="0"/>
              <a:t> fed </a:t>
            </a:r>
            <a:r>
              <a:rPr lang="en-US" dirty="0" smtClean="0"/>
              <a:t>to young </a:t>
            </a:r>
            <a:r>
              <a:rPr lang="en-US" dirty="0" smtClean="0"/>
              <a:t>pigs depressed their cell-mediated and </a:t>
            </a:r>
            <a:r>
              <a:rPr lang="en-US" dirty="0" err="1" smtClean="0"/>
              <a:t>humoral</a:t>
            </a:r>
            <a:r>
              <a:rPr lang="en-US" dirty="0" smtClean="0"/>
              <a:t> immune responses and increased their</a:t>
            </a:r>
            <a:br>
              <a:rPr lang="en-US" dirty="0" smtClean="0"/>
            </a:br>
            <a:r>
              <a:rPr lang="en-US" dirty="0" smtClean="0"/>
              <a:t>susceptibility to infectious agents. </a:t>
            </a:r>
            <a:endParaRPr lang="en-US" dirty="0" smtClean="0"/>
          </a:p>
          <a:p>
            <a:r>
              <a:rPr lang="en-US" dirty="0" smtClean="0"/>
              <a:t>Clinical </a:t>
            </a:r>
            <a:r>
              <a:rPr lang="en-US" dirty="0" smtClean="0"/>
              <a:t>signs of </a:t>
            </a:r>
            <a:r>
              <a:rPr lang="en-US" dirty="0" err="1" smtClean="0"/>
              <a:t>aflatoxicosis</a:t>
            </a:r>
            <a:r>
              <a:rPr lang="en-US" dirty="0" smtClean="0"/>
              <a:t> in dogs include depression, anorexia</a:t>
            </a:r>
            <a:r>
              <a:rPr lang="en-US" dirty="0" smtClean="0"/>
              <a:t>, vomiting</a:t>
            </a:r>
            <a:r>
              <a:rPr lang="en-US" dirty="0" smtClean="0"/>
              <a:t>, </a:t>
            </a:r>
            <a:r>
              <a:rPr lang="en-US" dirty="0" err="1" smtClean="0"/>
              <a:t>diarrhoea</a:t>
            </a:r>
            <a:r>
              <a:rPr lang="en-US" dirty="0" smtClean="0"/>
              <a:t>, jaundice and </a:t>
            </a:r>
            <a:r>
              <a:rPr lang="en-US" dirty="0" err="1" smtClean="0"/>
              <a:t>epistaxis</a:t>
            </a:r>
            <a:r>
              <a:rPr lang="en-US" dirty="0" smtClean="0"/>
              <a:t>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Except </a:t>
            </a:r>
            <a:r>
              <a:rPr lang="en-US" dirty="0" smtClean="0"/>
              <a:t>in outbreaks of acute disease, clinical signs are vague. </a:t>
            </a:r>
            <a:endParaRPr lang="en-US" dirty="0" smtClean="0"/>
          </a:p>
          <a:p>
            <a:r>
              <a:rPr lang="en-US" dirty="0" err="1" smtClean="0"/>
              <a:t>Aflatoxin</a:t>
            </a:r>
            <a:r>
              <a:rPr lang="en-US" dirty="0" smtClean="0"/>
              <a:t> may be demonstrated in tissues</a:t>
            </a:r>
            <a:br>
              <a:rPr lang="en-US" dirty="0" smtClean="0"/>
            </a:br>
            <a:r>
              <a:rPr lang="en-US" dirty="0" smtClean="0"/>
              <a:t>obtained at post-mortem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Procedures for </a:t>
            </a:r>
            <a:r>
              <a:rPr lang="en-US" dirty="0" err="1" smtClean="0"/>
              <a:t>aflatoxin</a:t>
            </a:r>
            <a:r>
              <a:rPr lang="en-US" dirty="0" smtClean="0"/>
              <a:t> detection in feed and tissues include:</a:t>
            </a:r>
            <a:br>
              <a:rPr lang="en-US" dirty="0" smtClean="0"/>
            </a:br>
            <a:r>
              <a:rPr lang="en-US" dirty="0" smtClean="0"/>
              <a:t>– </a:t>
            </a:r>
            <a:r>
              <a:rPr lang="en-US" dirty="0" err="1" smtClean="0"/>
              <a:t>Immunoaffinity</a:t>
            </a:r>
            <a:r>
              <a:rPr lang="en-US" dirty="0" smtClean="0"/>
              <a:t> columns which are sometimes used for sample purification to improve</a:t>
            </a:r>
            <a:br>
              <a:rPr lang="en-US" dirty="0" smtClean="0"/>
            </a:br>
            <a:r>
              <a:rPr lang="en-US" dirty="0" smtClean="0"/>
              <a:t>sensitivity.</a:t>
            </a:r>
            <a:br>
              <a:rPr lang="en-US" dirty="0" smtClean="0"/>
            </a:br>
            <a:r>
              <a:rPr lang="en-US" dirty="0" smtClean="0"/>
              <a:t>– Thin-layer chromatography. Chromatograms are examined under UV light for the four main</a:t>
            </a:r>
            <a:br>
              <a:rPr lang="en-US" dirty="0" smtClean="0"/>
            </a:br>
            <a:r>
              <a:rPr lang="en-US" dirty="0" smtClean="0"/>
              <a:t>toxins on the basis of position and fluorescence. The fluorescence of </a:t>
            </a:r>
            <a:r>
              <a:rPr lang="en-US" dirty="0" err="1" smtClean="0"/>
              <a:t>aflatoxins</a:t>
            </a:r>
            <a:r>
              <a:rPr lang="en-US" dirty="0" smtClean="0"/>
              <a:t> B1 and B2 is blue</a:t>
            </a:r>
            <a:br>
              <a:rPr lang="en-US" dirty="0" smtClean="0"/>
            </a:br>
            <a:r>
              <a:rPr lang="en-US" dirty="0" smtClean="0"/>
              <a:t>and with G1 and G2 it is green.</a:t>
            </a:r>
            <a:br>
              <a:rPr lang="en-US" dirty="0" smtClean="0"/>
            </a:br>
            <a:r>
              <a:rPr lang="en-US" dirty="0" smtClean="0"/>
              <a:t>– High-performance liquid chromatography.</a:t>
            </a:r>
            <a:br>
              <a:rPr lang="en-US" dirty="0" smtClean="0"/>
            </a:br>
            <a:r>
              <a:rPr lang="en-US" dirty="0" smtClean="0"/>
              <a:t>– Ultra-performance liquid chromatography combined with mass spectrometry.</a:t>
            </a:r>
            <a:br>
              <a:rPr lang="en-US" dirty="0" smtClean="0"/>
            </a:br>
            <a:r>
              <a:rPr lang="en-US" dirty="0" smtClean="0"/>
              <a:t>– Immunoassay techniques such as ELISA and radioimmunoassay procedures.</a:t>
            </a:r>
            <a:br>
              <a:rPr lang="en-US" dirty="0" smtClean="0"/>
            </a:br>
            <a:r>
              <a:rPr lang="en-US" dirty="0" smtClean="0"/>
              <a:t>– Biological assays such as bile duct proliferation in ducklings, chick embryo bioassays, brine</a:t>
            </a:r>
            <a:br>
              <a:rPr lang="en-US" dirty="0" smtClean="0"/>
            </a:br>
            <a:r>
              <a:rPr lang="en-US" dirty="0" smtClean="0"/>
              <a:t>shrimp larvae tests and trout embryo bioassays.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Prevention and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growth of fungal contaminants on stored feed should be limited by appropriate </a:t>
            </a:r>
            <a:r>
              <a:rPr lang="en-US" dirty="0" smtClean="0"/>
              <a:t>measures following </a:t>
            </a:r>
            <a:r>
              <a:rPr lang="en-US" dirty="0" smtClean="0"/>
              <a:t>harvesting and during storage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Batches </a:t>
            </a:r>
            <a:r>
              <a:rPr lang="en-US" dirty="0" smtClean="0"/>
              <a:t>of food for human and animal consumption may be monitored for </a:t>
            </a:r>
            <a:r>
              <a:rPr lang="en-US" dirty="0" err="1" smtClean="0"/>
              <a:t>aflatoxin</a:t>
            </a:r>
            <a:r>
              <a:rPr lang="en-US" dirty="0" smtClean="0"/>
              <a:t> contamination.</a:t>
            </a:r>
          </a:p>
          <a:p>
            <a:r>
              <a:rPr lang="en-US" dirty="0" smtClean="0"/>
              <a:t>Treatment </a:t>
            </a:r>
            <a:r>
              <a:rPr lang="en-US" dirty="0" smtClean="0"/>
              <a:t>with ammonia gas at high temperature and pressure has been used to </a:t>
            </a:r>
            <a:r>
              <a:rPr lang="en-US" dirty="0" smtClean="0"/>
              <a:t>detoxify contaminated </a:t>
            </a:r>
            <a:r>
              <a:rPr lang="en-US" dirty="0" smtClean="0"/>
              <a:t>batches of feed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Aflatoxins</a:t>
            </a:r>
            <a:r>
              <a:rPr lang="en-US" dirty="0" smtClean="0"/>
              <a:t> </a:t>
            </a:r>
            <a:r>
              <a:rPr lang="en-US" dirty="0" smtClean="0"/>
              <a:t>B1 and G1 are rapidly degraded by 2% ozone but </a:t>
            </a:r>
            <a:r>
              <a:rPr lang="en-US" dirty="0" err="1" smtClean="0"/>
              <a:t>aflatoxins</a:t>
            </a:r>
            <a:r>
              <a:rPr lang="en-US" dirty="0" smtClean="0"/>
              <a:t> B2 and G2 are </a:t>
            </a:r>
            <a:r>
              <a:rPr lang="en-US" dirty="0" smtClean="0"/>
              <a:t>more resistant </a:t>
            </a:r>
            <a:r>
              <a:rPr lang="en-US" dirty="0" smtClean="0"/>
              <a:t>and require treatment with 20% ozone for rapid degradation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Addition </a:t>
            </a:r>
            <a:r>
              <a:rPr lang="en-US" dirty="0" smtClean="0"/>
              <a:t>of hydrated sodium calcium </a:t>
            </a:r>
            <a:r>
              <a:rPr lang="en-US" dirty="0" err="1" smtClean="0"/>
              <a:t>aluminosilicate</a:t>
            </a:r>
            <a:r>
              <a:rPr lang="en-US" dirty="0" smtClean="0"/>
              <a:t> to feed is reported to reduce </a:t>
            </a:r>
            <a:r>
              <a:rPr lang="en-US" dirty="0" err="1" smtClean="0"/>
              <a:t>aflatoxin</a:t>
            </a:r>
            <a:r>
              <a:rPr lang="en-US" dirty="0" smtClean="0"/>
              <a:t> toxicity </a:t>
            </a:r>
          </a:p>
          <a:p>
            <a:r>
              <a:rPr lang="en-US" dirty="0" err="1" smtClean="0"/>
              <a:t>Glucomannan</a:t>
            </a:r>
            <a:r>
              <a:rPr lang="en-US" dirty="0" smtClean="0"/>
              <a:t>-containing </a:t>
            </a:r>
            <a:r>
              <a:rPr lang="en-US" dirty="0" smtClean="0"/>
              <a:t>polymers extracted from yeast cell walls have a </a:t>
            </a:r>
            <a:r>
              <a:rPr lang="en-US" smtClean="0"/>
              <a:t>high </a:t>
            </a:r>
            <a:r>
              <a:rPr lang="en-US" smtClean="0"/>
              <a:t>adsorptive capacity </a:t>
            </a:r>
            <a:r>
              <a:rPr lang="en-US" dirty="0" smtClean="0"/>
              <a:t>for binding different </a:t>
            </a:r>
            <a:r>
              <a:rPr lang="en-US" dirty="0" err="1" smtClean="0"/>
              <a:t>mycotoxins</a:t>
            </a:r>
            <a:r>
              <a:rPr lang="en-US" dirty="0" smtClean="0"/>
              <a:t> including </a:t>
            </a:r>
            <a:r>
              <a:rPr lang="en-US" dirty="0" err="1" smtClean="0"/>
              <a:t>aflatoxin</a:t>
            </a:r>
            <a:r>
              <a:rPr lang="en-US" dirty="0" smtClean="0"/>
              <a:t> B1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126</TotalTime>
  <Words>1033</Words>
  <Application>Microsoft Office PowerPoint</Application>
  <PresentationFormat>On-screen Show (4:3)</PresentationFormat>
  <Paragraphs>127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Oriel</vt:lpstr>
      <vt:lpstr>aspergillosis</vt:lpstr>
      <vt:lpstr>Slide 2</vt:lpstr>
      <vt:lpstr>Slide 3</vt:lpstr>
      <vt:lpstr>Slide 4</vt:lpstr>
      <vt:lpstr>Symptoms of aspergillosis in birds</vt:lpstr>
      <vt:lpstr>Clinical signs in animals</vt:lpstr>
      <vt:lpstr>Gross lesions in birds</vt:lpstr>
      <vt:lpstr>diagnosis</vt:lpstr>
      <vt:lpstr>Slide 9</vt:lpstr>
      <vt:lpstr>Treatment </vt:lpstr>
      <vt:lpstr>Candida albicans</vt:lpstr>
      <vt:lpstr>Slide 12</vt:lpstr>
      <vt:lpstr>Slide 13</vt:lpstr>
      <vt:lpstr>Clinical conditions </vt:lpstr>
      <vt:lpstr>diagnosis</vt:lpstr>
      <vt:lpstr>mycotoxins</vt:lpstr>
      <vt:lpstr>Slide 17</vt:lpstr>
      <vt:lpstr>Characteristics of mycotoxin</vt:lpstr>
      <vt:lpstr>Epidemiological  clinical features of mycotoxicoses </vt:lpstr>
      <vt:lpstr>aflatoxicosis</vt:lpstr>
      <vt:lpstr>Clinical findings</vt:lpstr>
      <vt:lpstr>Slide 22</vt:lpstr>
      <vt:lpstr>Diagnosis</vt:lpstr>
      <vt:lpstr>Prevention and control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aspergillosis</dc:title>
  <dc:creator>reviewer</dc:creator>
  <cp:lastModifiedBy>reviewer</cp:lastModifiedBy>
  <cp:revision>13</cp:revision>
  <dcterms:created xsi:type="dcterms:W3CDTF">2022-08-03T05:56:56Z</dcterms:created>
  <dcterms:modified xsi:type="dcterms:W3CDTF">2022-08-08T03:43:18Z</dcterms:modified>
</cp:coreProperties>
</file>