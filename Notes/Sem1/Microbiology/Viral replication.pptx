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6" r:id="rId4"/>
    <p:sldId id="260" r:id="rId5"/>
    <p:sldId id="269" r:id="rId6"/>
    <p:sldId id="258" r:id="rId7"/>
    <p:sldId id="259" r:id="rId8"/>
    <p:sldId id="261" r:id="rId9"/>
    <p:sldId id="262" r:id="rId10"/>
    <p:sldId id="263" r:id="rId11"/>
    <p:sldId id="264" r:id="rId12"/>
    <p:sldId id="267" r:id="rId13"/>
    <p:sldId id="265" r:id="rId14"/>
    <p:sldId id="297" r:id="rId15"/>
    <p:sldId id="266" r:id="rId16"/>
    <p:sldId id="268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7" r:id="rId25"/>
    <p:sldId id="277" r:id="rId26"/>
    <p:sldId id="289" r:id="rId27"/>
    <p:sldId id="278" r:id="rId28"/>
    <p:sldId id="291" r:id="rId29"/>
    <p:sldId id="279" r:id="rId30"/>
    <p:sldId id="298" r:id="rId31"/>
    <p:sldId id="292" r:id="rId32"/>
    <p:sldId id="280" r:id="rId33"/>
    <p:sldId id="299" r:id="rId34"/>
    <p:sldId id="288" r:id="rId35"/>
    <p:sldId id="281" r:id="rId36"/>
    <p:sldId id="300" r:id="rId37"/>
    <p:sldId id="290" r:id="rId38"/>
    <p:sldId id="282" r:id="rId39"/>
    <p:sldId id="283" r:id="rId40"/>
    <p:sldId id="293" r:id="rId41"/>
    <p:sldId id="284" r:id="rId42"/>
    <p:sldId id="294" r:id="rId43"/>
    <p:sldId id="285" r:id="rId44"/>
    <p:sldId id="295" r:id="rId45"/>
    <p:sldId id="286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lgerian" pitchFamily="82" charset="0"/>
              </a:rPr>
              <a:t>VIRAL REPLICATION</a:t>
            </a:r>
            <a:endParaRPr lang="en-US" b="1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Introduction 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3340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Replication is to create new, infectious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are able to infect other cells of the body or subsequent hosts</a:t>
            </a:r>
            <a:r>
              <a:rPr lang="en-US" dirty="0" smtClean="0"/>
              <a:t>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400" dirty="0" smtClean="0">
                <a:solidFill>
                  <a:srgbClr val="161616"/>
                </a:solidFill>
                <a:latin typeface="Times New Roman" pitchFamily="18" charset="0"/>
                <a:cs typeface="Times New Roman" pitchFamily="18" charset="0"/>
              </a:rPr>
              <a:t>is the process by which a virus makes copies of itself.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Replication cycle produces –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Functional RNA’s and proteins 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Genomic RNA or DNA and structural proteins.</a:t>
            </a: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One-step growth curves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are used to study the replication cycle of a virus infection.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Ellis &amp; Delbruck carried out this procedure for the first time in 1939.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838200"/>
            <a:ext cx="8153400" cy="55626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Multiplicity of infection (MOI)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refers to the number of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are added per cell during infection.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burst size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is the number of infectious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are released per cell. </a:t>
            </a: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Eclipse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period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represents the amount of time it takes to form infectious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within the cell. Eclipse is characterized by the incapacity to detect free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since viruses are actively transcribing and replicating inside the host. The eclipse usually lasts from minutes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bacteriophages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to hours or days (animal or plant viruses). </a:t>
            </a:r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152400"/>
            <a:ext cx="8839200" cy="60960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susceptible cell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has a functional receptor for a given virus. The cell may or may not be able to support viral replication.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resistant cell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has no receptor- it may or may not be competent to support viral replication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permissive cell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has the capacity to replicate virus- it may or may not be susceptible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susceptible and permissive cell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 take up a virus particle and replicate it.</a:t>
            </a:r>
          </a:p>
          <a:p>
            <a:r>
              <a:rPr lang="en-US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Transfection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Introduction of viral genetic material into permissive cells artificially (abnormal route of entry) and recovery of infectious virus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Infection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Replication of virus through normal route of entry into susceptible cells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tropism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of a virus refers to the specificity of a virus for a particular host cell or tissue.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Viruses will only be able to infect the cells that display the molecules to which their virus attachment proteins bind. </a:t>
            </a:r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Narrow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host range-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different host species may lack the cell surface proteins that a particular virus uses for attachment. 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Broad host range-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viruses can successfully infect multiple hosts, either multiple strains of the same species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Rabies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Genetic material of viruses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DNA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RNA</a:t>
            </a:r>
          </a:p>
          <a:p>
            <a:endParaRPr lang="en-US" dirty="0" smtClean="0"/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752600" y="2590800"/>
            <a:ext cx="19812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828800" y="3048000"/>
            <a:ext cx="18288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886200" y="2743200"/>
            <a:ext cx="457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r>
              <a:rPr lang="en-US" b="1" dirty="0" err="1" smtClean="0"/>
              <a:t>ds</a:t>
            </a:r>
            <a:r>
              <a:rPr lang="en-US" b="1" dirty="0" smtClean="0"/>
              <a:t> (All DNA viruses except parvovirus &amp; </a:t>
            </a:r>
            <a:r>
              <a:rPr lang="en-US" b="1" dirty="0" err="1" smtClean="0"/>
              <a:t>circovirus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810000" y="2362200"/>
            <a:ext cx="2754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/>
              <a:t>ss</a:t>
            </a:r>
            <a:r>
              <a:rPr lang="en-US" b="1" dirty="0" smtClean="0"/>
              <a:t> (parvovirus &amp; </a:t>
            </a:r>
            <a:r>
              <a:rPr lang="en-US" b="1" dirty="0" err="1" smtClean="0"/>
              <a:t>circovirus</a:t>
            </a:r>
            <a:r>
              <a:rPr lang="en-US" b="1" dirty="0" smtClean="0"/>
              <a:t>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752600" y="4648200"/>
            <a:ext cx="8382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124200" y="4191000"/>
            <a:ext cx="16002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200400" y="4572000"/>
            <a:ext cx="15240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76800" y="3962400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+ sense</a:t>
            </a:r>
            <a:endParaRPr lang="en-US" sz="2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743200" y="4419600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SS</a:t>
            </a:r>
            <a:endParaRPr lang="en-US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800600" y="4495800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- sense</a:t>
            </a:r>
            <a:endParaRPr lang="en-US" sz="2000" b="1" dirty="0"/>
          </a:p>
        </p:txBody>
      </p:sp>
      <p:sp>
        <p:nvSpPr>
          <p:cNvPr id="26" name="Rectangle 25"/>
          <p:cNvSpPr/>
          <p:nvPr/>
        </p:nvSpPr>
        <p:spPr>
          <a:xfrm>
            <a:off x="5943600" y="3962400"/>
            <a:ext cx="388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(All except </a:t>
            </a:r>
            <a:r>
              <a:rPr lang="en-US" b="1" dirty="0" err="1" smtClean="0"/>
              <a:t>reovirus</a:t>
            </a:r>
            <a:r>
              <a:rPr lang="en-US" b="1" dirty="0" smtClean="0"/>
              <a:t> &amp;</a:t>
            </a:r>
          </a:p>
          <a:p>
            <a:r>
              <a:rPr lang="en-US" b="1" dirty="0" err="1" smtClean="0"/>
              <a:t>birnavirus</a:t>
            </a:r>
            <a:r>
              <a:rPr lang="en-US" b="1" dirty="0" smtClean="0"/>
              <a:t>)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1752600" y="4876800"/>
            <a:ext cx="1295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24200" y="5257800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dS</a:t>
            </a:r>
            <a:endParaRPr lang="en-US" sz="2000" b="1" dirty="0"/>
          </a:p>
        </p:txBody>
      </p:sp>
      <p:sp>
        <p:nvSpPr>
          <p:cNvPr id="31" name="Rectangle 30"/>
          <p:cNvSpPr/>
          <p:nvPr/>
        </p:nvSpPr>
        <p:spPr>
          <a:xfrm>
            <a:off x="3581400" y="5257800"/>
            <a:ext cx="2379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(</a:t>
            </a:r>
            <a:r>
              <a:rPr lang="en-US" b="1" dirty="0" err="1" smtClean="0"/>
              <a:t>Reovirus</a:t>
            </a:r>
            <a:r>
              <a:rPr lang="en-US" b="1" dirty="0" smtClean="0"/>
              <a:t> &amp; </a:t>
            </a:r>
            <a:r>
              <a:rPr lang="en-US" b="1" dirty="0" err="1" smtClean="0"/>
              <a:t>birnavirus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28600" y="5257800"/>
            <a:ext cx="213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(some viruses have segmented genome)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5562600" y="4572000"/>
            <a:ext cx="335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b="1" dirty="0" smtClean="0"/>
              <a:t>RNA-dependent RNA polymerase 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5105400" y="48006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381000"/>
            <a:ext cx="8915400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Location of Replication: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RNA 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cytoplasm except retrovirus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orthomyxovirus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DNA virus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nucleus except poxvirus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iridovirus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Enzymes or host functions for initiation of viral replication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Normal eukaryotic host cell enzymes for nucleic acid replication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mRNA synthesis: DNA-dependent RNA polymerase.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DNA synthesis: DNA-dependent DNA polymerase.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Virus specified enzymes for nucleic acid replication: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Reverse transcriptase (RNA dependent DNA polymerase),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RNA dependent RNA polymerase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RdRp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DNA dependent RNA polymerase, if the DNA virus replicates in cytoplasm.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Early and late genes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Early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refers to the period of a viral infection before the start of nucleic acid replication.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refers to the period of a viral infection after the start of nucleic acid replication.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Early gene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viral genes expressed before nucleic acid replication; most early genes are enzymes and factors to turn on and off the host functions.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Late gene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viral genes expressed after nucleic acid replication; most late genes are viral structural genes and factors for virus assembly.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Stages of Viral Replication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54102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Phase – I </a:t>
            </a:r>
            <a:r>
              <a:rPr lang="en-US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Initiation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:This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stage is characterized by introduction of genetic material of the virus into the cell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Attachment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Penetration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Uncoating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Phase – II Replication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There is no single pattern of replication. But all make proteins with 3 sets of functions to: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Ensure replication of the genome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Package the genome into virus particles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Alter the metabolism of the infected cell so that viruses are produced.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Phase – III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Assembly, Maturation, Release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7030A0"/>
                </a:solidFill>
              </a:rPr>
              <a:t>Viral Replication</a:t>
            </a: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seven stages of virus replication are categorized as follows: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Attachment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 Penetration/Entry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Uncoating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4. Replication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5. Assembly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6. Maturation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7. Release</a:t>
            </a:r>
          </a:p>
          <a:p>
            <a:endParaRPr lang="en-US" dirty="0"/>
          </a:p>
        </p:txBody>
      </p:sp>
      <p:sp>
        <p:nvSpPr>
          <p:cNvPr id="4" name="Right Bracket 3"/>
          <p:cNvSpPr/>
          <p:nvPr/>
        </p:nvSpPr>
        <p:spPr>
          <a:xfrm>
            <a:off x="4267200" y="2667000"/>
            <a:ext cx="228600" cy="1219200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ket 4"/>
          <p:cNvSpPr/>
          <p:nvPr/>
        </p:nvSpPr>
        <p:spPr>
          <a:xfrm>
            <a:off x="4114800" y="4876800"/>
            <a:ext cx="304800" cy="990600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57800" y="2667000"/>
            <a:ext cx="21336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FFFF00"/>
                </a:solidFill>
              </a:rPr>
              <a:t>Early phase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81600" y="4800600"/>
            <a:ext cx="21336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800" dirty="0" smtClean="0">
                <a:solidFill>
                  <a:srgbClr val="FFFF00"/>
                </a:solidFill>
              </a:rPr>
              <a:t>Late phase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1. Attachment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4525963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Binding of the virus to the host cell.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interaction is specific: the virus contains a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virus attachment protein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that adsorbs to a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cell surface receptor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on the cell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Receptors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include cell surface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glycoproteins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components of the extracellular matrix and receptors involved in cell signaling and activation.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sialic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acid,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heparan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sulfate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proteoglycans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ICAM-1, CD46, CD4 and certain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integrins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Co-receptors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 used by many viruses (these viruses require the presence of two essential molecules).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Initial interaction between the virus and its primary receptor brings conformational change in the virus which exposes a binding site for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coreceptor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HIV-1 virus   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xternal file that holds a picture, illustration, etc.&#10;Object name is f04-01-978012800947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143000"/>
            <a:ext cx="8618220" cy="43434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276600" y="5715000"/>
            <a:ext cx="30071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Cell surface receptors.</a:t>
            </a:r>
            <a:endParaRPr lang="en-US" sz="24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2.Penetration or Entry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1054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Penetration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refers to Entry of entire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particle or its genetic material into the cell.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Virus cross the plasma membrane without killing the cell.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Mechanisms:</a:t>
            </a:r>
          </a:p>
          <a:p>
            <a:pPr>
              <a:buNone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Translocation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---in some non-enveloped viruses such as FMD virus, the entire virus crosses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cytoplasmic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membrane, entering the cell.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ii.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Receptor-mediated </a:t>
            </a:r>
            <a:r>
              <a:rPr lang="en-US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endocytosis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--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commonly used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by viruses (Both enveloped and non-enveloped) to penetrate the plasma membrane. Most types of viruses use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clathrin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-mediated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endocytosis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enter the cell, like dengue virus, hepatitis C virus,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 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attachment to receptors, which cluster at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clathrin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-coated pits, is followed by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endocytosis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clathrin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-coated vesicles. Vesicles enter the cytoplasm and, after removal of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clathrin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coat, fuse with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endosomes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533400"/>
            <a:ext cx="8534400" cy="48768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Acidification within the vesicle triggers changes in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proteins and surface structures. The configuration of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protein VP4 of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picornaviruses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, for example, leads to release of the viral RNA from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into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cytosol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Similarly, at the acidic pH of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endosome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,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hemagglutinin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molecule of influenza virus undergoes a conformational change, which enables fusion to occur between the viral envelope and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endosomal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membrane, leading to release of the viral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nucleocapsid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into the cytoplasm. </a:t>
            </a: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400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iii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Fusion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---in most enveloped viruses, such as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paramyxoviruses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herpesviruses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fusion of plasma membrane with the viral envelope occurs.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This allows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nucleocapsid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to be released directly into the cytoplasm.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Injection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---in bacterial viruses, only the nucleic acid enters the cell.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xternal file that holds a picture, illustration, etc.&#10;Object name is f04-04-978012800947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8600"/>
            <a:ext cx="7924800" cy="60264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457200"/>
            <a:ext cx="85344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Uncoating</a:t>
            </a: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029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Partial exposure or complete release of viral nucleic acids for gene expression or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Breakdown or removal of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causing the release of the virus genome into the cell to wherever genome replication and transcription will take place. 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lysosomal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enzymes play a major role in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uncoating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Different viruses have different mechanisms.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Certain viruses, including rhinoviruses, expand to form pores in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endosome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through which the viral genome can escape.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Influenza virus and other enveloped viruses induce fusion of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envelope with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endosomal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membrane, releasing the viral genome.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609600"/>
            <a:ext cx="8839200" cy="57150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Non-enveloped viruses-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like adenoviruses- As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endosome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acidifies further,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penton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base protein is released which trigger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endosome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lysis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leading to escape of the partially disassembled core particle into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cytosol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Pore formation-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Some non-enveloped viruses, such as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picornaviruses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form pores in the cell membrane through which the viral RNA is then released into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cytosol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Lysosomal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uncoating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Most viruses which enter the cell via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endosomes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escape before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endosomes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arrive at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lysosome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Except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which rely on enzymes found in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lysosomes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(proteases) to carry out their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uncoating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lysosomal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proteases convert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reovirus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particle into an infectious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subviral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particle (ISVP) with partial intact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capsids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which then penetrates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cytosol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xternal file that holds a picture, illustration, etc.&#10;Object name is f04-05-978012800947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457200"/>
            <a:ext cx="7848600" cy="561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 Replication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Once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uncoating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has taken place, synthesis of viral NA starts. This occurs as three different stages with differences between different families of the viruses. </a:t>
            </a:r>
          </a:p>
          <a:p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Early transcription and translatio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n: The proteins derived from this stage is mostly the enzymes required for virus replication. </a:t>
            </a:r>
          </a:p>
          <a:p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Replication of Nucleic 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cid: making copies of genome </a:t>
            </a:r>
          </a:p>
          <a:p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Late transcription and translation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:The proteins produced during this stage are structural proteins and other proteins involved in assembly, maturation, and release from the cell.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 Assembly 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839200" cy="4525963"/>
          </a:xfrm>
        </p:spPr>
        <p:txBody>
          <a:bodyPr>
            <a:noAutofit/>
          </a:bodyPr>
          <a:lstStyle/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Viruses are created from newly synthesized components, and to be released from the cell, those components must be collected at a particular site of the cell and undergo assembly to form an immature virus particle. 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Assembly can often occur alongside maturation and release.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 location of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assembly will depend upon the particular virus.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Most non-enveloped DNA viruses assemble their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nucleocapsid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in the nucleus. Viral proteins are imported through nuclear pores to reach the site of assembly.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DNA viruses with envelopes derived from the plasma membrane usually assemble there.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Most RNA viruses assemble in the cytoplasm.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Maturation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Final changes within an immature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that result in an infectious virus particle. </a:t>
            </a:r>
          </a:p>
          <a:p>
            <a:pPr algn="just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Structural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changes often resulting from specific cleavage of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proteins to form the mature products, which frequently leads to a conformational change in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, or the condensation of nucleoproteins with the genome and these can be mediated by host enzymes or virus-encoded enzymes.</a:t>
            </a:r>
          </a:p>
          <a:p>
            <a:pPr algn="just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cleavage of HA proteins of influenza virus  by cellular proteases.</a:t>
            </a:r>
          </a:p>
          <a:p>
            <a:pPr algn="just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For some viruses, assembly and maturation are inseparable, whereas for others, maturation may occur after the virus particle has left the cell.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7. Release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029200"/>
          </a:xfrm>
        </p:spPr>
        <p:txBody>
          <a:bodyPr>
            <a:noAutofit/>
          </a:bodyPr>
          <a:lstStyle/>
          <a:p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released into the extracellular environment, where it can continue the cycle of infection with new cells.</a:t>
            </a:r>
          </a:p>
          <a:p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By budding-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Enveloped viruses acquire the lipid membrane as the virus buds out through the cell membrane.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envelope proteins are picked up during this process as the virus is extruded. Budding may or may not kill the cell.</a:t>
            </a:r>
          </a:p>
          <a:p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GB" sz="2400" b="1" dirty="0" err="1" smtClean="0">
                <a:latin typeface="Times New Roman" pitchFamily="18" charset="0"/>
                <a:cs typeface="Times New Roman" pitchFamily="18" charset="0"/>
              </a:rPr>
              <a:t>exocytosis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-Viruses can bud from any of the membrane systems within the cell, including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rER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, Golgi complex, or even the nuclear envelope. These viruses are not released by budding but it generally undergoes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exocytosis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to leave the cell.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Non-enveloped viruses can also exit the cell via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exocytosis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 </a:t>
            </a:r>
          </a:p>
          <a:p>
            <a:r>
              <a:rPr lang="en-GB" sz="2400" b="1" dirty="0" err="1" smtClean="0">
                <a:latin typeface="Times New Roman" pitchFamily="18" charset="0"/>
                <a:cs typeface="Times New Roman" pitchFamily="18" charset="0"/>
              </a:rPr>
              <a:t>Lytic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 viruses- most NE viruses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disrupt the plasma membrane and cause the 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lysis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, or bursting, of the cell. This releases the nascent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to infect new cells. 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52400"/>
            <a:ext cx="5314950" cy="6510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Replication of DNA viruses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991600" cy="52578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Location: nucleus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host DNA-dependent RNA polymerase for transcription.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majority of poxviruses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iridoviruses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have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-encoded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transcriptases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allow them to replicate in the cytoplasm.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Replication of viral DNA is semi-conservative and symmetrical with both strands being replicated.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Host DNA polymerases may be involved in replicating small- to moderate-sized genome viruses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papillomaviruses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polyomaviruses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whereas larger sized genome viruses usually code for their own polymerases (adenoviruses,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herpesviruses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poxviruses).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Viruses with no DNA polymerase of their own require actively dividing cells to replicate, since they must use the cellular DNA polymerase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smtClean="0"/>
              <a:t>parvovirus B19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6858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Maturation of DNA viruses, with the exception of poxviruses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iridoviruses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occurs in the nucleus.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Structural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proteins are transported from the cytoplasm to the nucleus, where they interact with each other and with the genome and are assembled into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capsids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surround the nucleic acid.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Enveloped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viruses complete maturation by budding through the nuclear membrane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iridoviruses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or the plasma membrane.</a:t>
            </a:r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Double-Stranded DNA Virus Replication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257800"/>
          </a:xfrm>
        </p:spPr>
        <p:txBody>
          <a:bodyPr>
            <a:normAutofit/>
          </a:bodyPr>
          <a:lstStyle/>
          <a:p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Asfarviridae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Poxviridae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Iridoviridae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Herpesviridae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Papillomaviridae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Adenoviridae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general, replication takes place in the nucleus by host enzymes (for small viruses such as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polyoma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papillomaviruses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or by virus-encoded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replicases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(adenovirus,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herpesvirus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Replication of poxviruses and some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iridoviruses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takes place in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cytoplasm resulting in the formation of inclusion bodies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which contain necessary enzymes of viral origin associated with replication, such as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viral DNA-dependent DNA polymerases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may be in the form of circular, linear, circularly permuted, or linear with covalently closed ends.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small circular genomes replicate bi-directionally in a manner similar to plasmids.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l replication scheme of dsDNA viruse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5180" y="609600"/>
            <a:ext cx="6644820" cy="5581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Single-Stranded</a:t>
            </a:r>
            <a:r>
              <a:rPr lang="en-US" sz="3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DNA Virus Replication</a:t>
            </a:r>
            <a:endParaRPr lang="en-US" sz="3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8915400" cy="54864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Includes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Circoviridae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Parvoviridae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may be in the forms of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linear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single-component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parvoviridae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circular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single-component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circoviruses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single-stranded circular DNA of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circoviruses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replicates by a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rolling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circle mechanism.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Replication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occurs in the nucleus and involves the generation of a - sense DNA strand to serve as a template for the + sense DNA genome for the progeny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This involves the production of 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intermediate, known as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replicative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Entry of the viral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into the nucleus stimulates its "repair" by host enzymes into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replicative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form.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case of the circular forms,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replicative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form is associated with host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histones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other nuclear proteins and thus "treated“ as a host chromosome.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Linear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forms have derived mechanisms that allow the genome to be replicated without a loss of DNA following each replication.</a:t>
            </a:r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General replication scheme of ssDNA viruse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6979" y="228600"/>
            <a:ext cx="6083709" cy="617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Double-Stranded DNA Viruses with Reverse Transcriptase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8915400" cy="45720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Includes the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Hepadnaviridae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with Genome partially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non-covalently closed circular DNA,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Following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attachment, penetration, and partial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uncoating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the partially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enters the nucleus and is completed by viral polymerase/ and/or cellular enzymes. Once completed, the backbone is sealed by the action of host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ligase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nucleus, the viral DNA acts like a "mini-chromosome" following its association with host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histones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etc. However, host DNA polymerase cannot replicate it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685800"/>
            <a:ext cx="8229600" cy="5715000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In the replication cycle a large mRNA called the </a:t>
            </a:r>
            <a:r>
              <a:rPr lang="en-US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pg-RNA (pre-genomic RNA), 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which is longer than the DNA template from which it was transcribed due to the addition of a poly A tail is produced. It is this RNA intermediate that serves as the template for the 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DNA.</a:t>
            </a:r>
          </a:p>
          <a:p>
            <a:pPr lvl="0" algn="just"/>
            <a:endParaRPr lang="en-US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Smaller 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mRNAs are also produced, leave the nucleus, and serve as template for translation, giving origin for viral polymerase and 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protein. Partial assembly of 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capsids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ensues.</a:t>
            </a:r>
          </a:p>
          <a:p>
            <a:pPr lvl="0" algn="just"/>
            <a:endParaRPr lang="en-US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pgRNA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encapsidated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into these recently assembled, immature 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685800"/>
            <a:ext cx="8305800" cy="51816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Within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copy of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pgRNA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made by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encapsidated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reverse transcriptase (viral polymerase).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Following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synthesis of the first complementary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strand, the viral polymerase degrades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pgRNA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template and begins synthesizing the second DNA strand.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 then released from the cells by budding, containing a DNA genome that is only partially double stranded.</a:t>
            </a:r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Replication of RNA Viruses</a:t>
            </a:r>
            <a:endParaRPr 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8991600" cy="51054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Replication of most RNA viruses occurs strictly within the cytoplasm of cells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Exceptions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orthomyxoviruses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bunyaviruses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that require factors from host DNA transcription and retroviruses that replicate via a DNA intermediate.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Attachment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an electrostatic interaction between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specific cell receptors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762000"/>
            <a:ext cx="8229600" cy="5715000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Viruses then enter the cell by receptor-mediated 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endocytosis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or by fusing with the cell membrane or with the 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endocytic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vesicle (enveloped viruses).</a:t>
            </a:r>
          </a:p>
          <a:p>
            <a:pPr lvl="0" algn="just"/>
            <a:endParaRPr lang="en-US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Uncoating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occurs in the cytoplasm, or during passage (translocation) through the cell membrane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,(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picornaviruses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lvl="0" algn="just"/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RNA of </a:t>
            </a:r>
            <a:r>
              <a:rPr lang="en-US" sz="24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reoviruses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however, is never completely uncoated, but remains in viral cores during genome expression and replication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genome of some RNA viruses is a single molecule of RNA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monopartite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); in others, the genome is segmented (multipartite).</a:t>
            </a:r>
          </a:p>
          <a:p>
            <a:pPr lvl="0" algn="just"/>
            <a:endParaRPr lang="en-US" sz="24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152400"/>
            <a:ext cx="8763000" cy="64008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RNA of some animal viruses has mRNA function (+ sense) and can be directly translated, whereas the genome in others is antisense (- sense), and must first be transcribed into + RNAs by a viral-encoded RNA-dependent RNA polymerase (transcriptase).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Retroviruses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have the enzyme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reverse transcriptase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(RNA-dependent DNA polymerase) permitting the formation of 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intermediate (provirus DNA), which becomes incorporated into the host genome, and is subsequently transcribed into mRNA by the host DNA-dependent RNA polymerase.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304800"/>
            <a:ext cx="8991600" cy="60960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general, replication of viral RNA is semi-conservative and proceeds via 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replicative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intermediate (R1). The R1 consists of parental viral RNA that serves as a template for the transcription of several RNA strands, which eventually "peel off" and serve as templates for the synthesis of viral RNA.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Replication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double-stranded RNA of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conservative and asymmetrical; only one strand is replicated, unlike double-stranded DNA. The replication processes requires RNA-dependent RNA polymerases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replicases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that are virus encoded.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Maturation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occurs in the cytoplasm with the viral RNA becoming associated with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proteins forming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nucleocapsid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Enveloped viruses complete maturation by budding through the endoplasmic reticulum, Golgi apparatus, or the plasma membrane.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Double-Stranded RNA Viruses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47244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Includes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Reoviridae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Birnaviridae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Attachment is via receptor-mediated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endocytosis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partially uncoated and the core particle remains in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endocytic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vesicle (ISVP)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Replication is by a conservative mechanism,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dsRNA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serves as a template for the production of mRNA by a viral RNA-dependent RNA polymerase.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Replication does not involve the formation of R1 intermediates.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 free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dsRNA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is formed in the cytoplasm of the host cell.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have segmented, linear genomes. Each segment corresponds to 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monocistronic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mRNA.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of the genomes are linear, but may be two-component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Birnaviridae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or multi-component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have 10 – 12 components).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General replication scheme of dsRNA viruse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04800"/>
            <a:ext cx="6129433" cy="609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Single-Stranded Positive Sense RNA Viruses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102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Includes :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Caliciviridae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Picornaviridae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Astroviridae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Flaviviruses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Coronaviridae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Togaviridae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Arteriviridae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Attachment is via receptor-mediated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endocytosis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There,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uncoated and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ssRNA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released to the cytoplasm.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viral genomes that are messenger-sense are totally or partially translated into proteins as the first step of virus replication.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Picornaviruses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Flaviviruses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possess a + sense RNA as genome, which behaves as a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polycistronic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mRNA. The genome is directly translated into one large polypeptide, which is co-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translationally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cleaved into a number of proteins by viral encoded or host cell proteases.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Coronaviruses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have a complex transcription pattern, involving several rounds of translation in order to complete the replication cycle.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Replication scheme of positive-sense ssRNA viruse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52400"/>
            <a:ext cx="6096000" cy="63790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Single-Stranded Negative Sense RNA Viruses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45720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Includes: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Orthomyxoviridae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Rhabdoviridae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Paramyxoviridae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Bornaviridae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Filoviridae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Deltavirus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Arenaviridae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Bunyaviridae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the genomes are negative-sense, they are not translated. Therefore, these viruses need to bring their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replicases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proceed with transcription and replication of the genome.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Orthomyxoviruses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have segmented genomes. The first step in the replication process is the transcription of – sense 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RNA by a virus encoded RdRp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Rhabdoviruses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have non-segmented genomes. Replication still requires the transcription via a viral </a:t>
            </a:r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RdRp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the case of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ambisense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viruses, the transcriptase is encoded within the positive-sense portion that will eventually mediate the transcription of the negative-sense regions.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Replication scheme of negative-sense ssRNA viruse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04800"/>
            <a:ext cx="6170584" cy="62366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Single-Stranded Positive Sense RNA Viruses with Reverse Transcriptase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4102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Includes the vertebrate-associated viruses in the family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Retroviridae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having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diploid linear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ssRNA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held together by protein.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5'-capped and has a 3' poly A tail, and has four characteristic coding regions (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gag-pro-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env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)-gag (group specific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antigen: matrix protein, nucleoprotein,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genes;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pro (protease) gene;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pol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(reverse transcriptase and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RNase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-H);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env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(envelope, receptor binding) genes.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conversion of RNA to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then to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mediated by the viral enzyme reverse transcriptase. The resulting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called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provirus 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is integrated into the host chromosome by the viral enzyme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integrase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Once integrated into the host genome, the viral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remains latent until "triggered" into active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production. The provirus is then transcribed into mRNA by cellular RNA polymerase II.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2747</Words>
  <Application>Microsoft Office PowerPoint</Application>
  <PresentationFormat>On-screen Show (4:3)</PresentationFormat>
  <Paragraphs>230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VIRAL REPLICATION</vt:lpstr>
      <vt:lpstr>Introduction </vt:lpstr>
      <vt:lpstr>Slide 3</vt:lpstr>
      <vt:lpstr>Slide 4</vt:lpstr>
      <vt:lpstr>Slide 5</vt:lpstr>
      <vt:lpstr>Genetic material of viruses</vt:lpstr>
      <vt:lpstr>Slide 7</vt:lpstr>
      <vt:lpstr>Early and late genes</vt:lpstr>
      <vt:lpstr>Stages of Viral Replication</vt:lpstr>
      <vt:lpstr>Viral Replication</vt:lpstr>
      <vt:lpstr>1. Attachment </vt:lpstr>
      <vt:lpstr>Slide 12</vt:lpstr>
      <vt:lpstr>2.Penetration or Entry </vt:lpstr>
      <vt:lpstr>Slide 14</vt:lpstr>
      <vt:lpstr>Slide 15</vt:lpstr>
      <vt:lpstr>Slide 16</vt:lpstr>
      <vt:lpstr>3. Uncoating </vt:lpstr>
      <vt:lpstr>Slide 18</vt:lpstr>
      <vt:lpstr>Slide 19</vt:lpstr>
      <vt:lpstr>4.  Replication </vt:lpstr>
      <vt:lpstr>5. Assembly  </vt:lpstr>
      <vt:lpstr>6. Maturation </vt:lpstr>
      <vt:lpstr>7. Release </vt:lpstr>
      <vt:lpstr>Slide 24</vt:lpstr>
      <vt:lpstr>Replication of DNA viruses</vt:lpstr>
      <vt:lpstr>Slide 26</vt:lpstr>
      <vt:lpstr>Double-Stranded DNA Virus Replication</vt:lpstr>
      <vt:lpstr>Slide 28</vt:lpstr>
      <vt:lpstr>Single-Stranded DNA Virus Replication</vt:lpstr>
      <vt:lpstr>Slide 30</vt:lpstr>
      <vt:lpstr>Slide 31</vt:lpstr>
      <vt:lpstr>Double-Stranded DNA Viruses with Reverse Transcriptase</vt:lpstr>
      <vt:lpstr>Slide 33</vt:lpstr>
      <vt:lpstr>Slide 34</vt:lpstr>
      <vt:lpstr>Replication of RNA Viruses</vt:lpstr>
      <vt:lpstr>Slide 36</vt:lpstr>
      <vt:lpstr>Slide 37</vt:lpstr>
      <vt:lpstr>Slide 38</vt:lpstr>
      <vt:lpstr>Double-Stranded RNA Viruses</vt:lpstr>
      <vt:lpstr>Slide 40</vt:lpstr>
      <vt:lpstr>Single-Stranded Positive Sense RNA Viruses</vt:lpstr>
      <vt:lpstr>Slide 42</vt:lpstr>
      <vt:lpstr>Single-Stranded Negative Sense RNA Viruses</vt:lpstr>
      <vt:lpstr>Slide 44</vt:lpstr>
      <vt:lpstr>Single-Stranded Positive Sense RNA Viruses with Reverse Transcriptase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VIRAL REPLICATION</dc:title>
  <dc:creator>HP</dc:creator>
  <cp:lastModifiedBy>RATHORE</cp:lastModifiedBy>
  <cp:revision>139</cp:revision>
  <dcterms:created xsi:type="dcterms:W3CDTF">2006-08-16T00:00:00Z</dcterms:created>
  <dcterms:modified xsi:type="dcterms:W3CDTF">2024-11-20T10:49:42Z</dcterms:modified>
</cp:coreProperties>
</file>