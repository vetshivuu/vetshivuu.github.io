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2"/>
  </p:notesMasterIdLst>
  <p:sldIdLst>
    <p:sldId id="257" r:id="rId2"/>
    <p:sldId id="258" r:id="rId3"/>
    <p:sldId id="412" r:id="rId4"/>
    <p:sldId id="259" r:id="rId5"/>
    <p:sldId id="260" r:id="rId6"/>
    <p:sldId id="405" r:id="rId7"/>
    <p:sldId id="408" r:id="rId8"/>
    <p:sldId id="407" r:id="rId9"/>
    <p:sldId id="268" r:id="rId10"/>
    <p:sldId id="271" r:id="rId11"/>
    <p:sldId id="276" r:id="rId12"/>
    <p:sldId id="279" r:id="rId13"/>
    <p:sldId id="387" r:id="rId14"/>
    <p:sldId id="413" r:id="rId15"/>
    <p:sldId id="281" r:id="rId16"/>
    <p:sldId id="282" r:id="rId17"/>
    <p:sldId id="283" r:id="rId18"/>
    <p:sldId id="284" r:id="rId19"/>
    <p:sldId id="287" r:id="rId20"/>
    <p:sldId id="388" r:id="rId21"/>
    <p:sldId id="295" r:id="rId22"/>
    <p:sldId id="389" r:id="rId23"/>
    <p:sldId id="301" r:id="rId24"/>
    <p:sldId id="303" r:id="rId25"/>
    <p:sldId id="305" r:id="rId26"/>
    <p:sldId id="310" r:id="rId27"/>
    <p:sldId id="361" r:id="rId28"/>
    <p:sldId id="362" r:id="rId29"/>
    <p:sldId id="390" r:id="rId30"/>
    <p:sldId id="314" r:id="rId31"/>
    <p:sldId id="315" r:id="rId32"/>
    <p:sldId id="316" r:id="rId33"/>
    <p:sldId id="317" r:id="rId34"/>
    <p:sldId id="318" r:id="rId35"/>
    <p:sldId id="319" r:id="rId36"/>
    <p:sldId id="320" r:id="rId37"/>
    <p:sldId id="321" r:id="rId38"/>
    <p:sldId id="322" r:id="rId39"/>
    <p:sldId id="325" r:id="rId40"/>
    <p:sldId id="326" r:id="rId41"/>
    <p:sldId id="327" r:id="rId42"/>
    <p:sldId id="328" r:id="rId43"/>
    <p:sldId id="329" r:id="rId44"/>
    <p:sldId id="330" r:id="rId45"/>
    <p:sldId id="332" r:id="rId46"/>
    <p:sldId id="333" r:id="rId47"/>
    <p:sldId id="335" r:id="rId48"/>
    <p:sldId id="336" r:id="rId49"/>
    <p:sldId id="339" r:id="rId50"/>
    <p:sldId id="343" r:id="rId51"/>
    <p:sldId id="347" r:id="rId52"/>
    <p:sldId id="349" r:id="rId53"/>
    <p:sldId id="355" r:id="rId54"/>
    <p:sldId id="366" r:id="rId55"/>
    <p:sldId id="368" r:id="rId56"/>
    <p:sldId id="391" r:id="rId57"/>
    <p:sldId id="392" r:id="rId58"/>
    <p:sldId id="393" r:id="rId59"/>
    <p:sldId id="394" r:id="rId60"/>
    <p:sldId id="395" r:id="rId61"/>
    <p:sldId id="414" r:id="rId62"/>
    <p:sldId id="397" r:id="rId63"/>
    <p:sldId id="417" r:id="rId64"/>
    <p:sldId id="416" r:id="rId65"/>
    <p:sldId id="410" r:id="rId66"/>
    <p:sldId id="411" r:id="rId67"/>
    <p:sldId id="415" r:id="rId68"/>
    <p:sldId id="402" r:id="rId69"/>
    <p:sldId id="403" r:id="rId70"/>
    <p:sldId id="418" r:id="rId71"/>
    <p:sldId id="419" r:id="rId72"/>
    <p:sldId id="421" r:id="rId73"/>
    <p:sldId id="429" r:id="rId74"/>
    <p:sldId id="420" r:id="rId75"/>
    <p:sldId id="422" r:id="rId76"/>
    <p:sldId id="423" r:id="rId77"/>
    <p:sldId id="424" r:id="rId78"/>
    <p:sldId id="425" r:id="rId79"/>
    <p:sldId id="427" r:id="rId80"/>
    <p:sldId id="428"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0" autoAdjust="0"/>
    <p:restoredTop sz="87688" autoAdjust="0"/>
  </p:normalViewPr>
  <p:slideViewPr>
    <p:cSldViewPr>
      <p:cViewPr>
        <p:scale>
          <a:sx n="60" d="100"/>
          <a:sy n="60" d="100"/>
        </p:scale>
        <p:origin x="-1456" y="-52"/>
      </p:cViewPr>
      <p:guideLst>
        <p:guide orient="horz" pos="2160"/>
        <p:guide pos="2880"/>
      </p:guideLst>
    </p:cSldViewPr>
  </p:slideViewPr>
  <p:outlineViewPr>
    <p:cViewPr>
      <p:scale>
        <a:sx n="33" d="100"/>
        <a:sy n="33" d="100"/>
      </p:scale>
      <p:origin x="48" y="49588"/>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E74B14-F1BD-411E-B4C2-B93F26A2C138}" type="datetimeFigureOut">
              <a:rPr lang="en-US" smtClean="0"/>
              <a:pPr/>
              <a:t>8/7/2025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E16214-D185-440A-86FF-A42DAB0C031A}" type="slidenum">
              <a:rPr lang="en-IN" smtClean="0"/>
              <a:pPr/>
              <a:t>‹#›</a:t>
            </a:fld>
            <a:endParaRPr lang="en-IN"/>
          </a:p>
        </p:txBody>
      </p:sp>
    </p:spTree>
    <p:extLst>
      <p:ext uri="{BB962C8B-B14F-4D97-AF65-F5344CB8AC3E}">
        <p14:creationId xmlns="" xmlns:p14="http://schemas.microsoft.com/office/powerpoint/2010/main" val="243029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E5D7C2FA-047B-4A08-B23B-1D393A3C689C}" type="slidenum">
              <a:rPr lang="en-US" smtClean="0"/>
              <a:pPr eaLnBrk="1" hangingPunct="1">
                <a:defRPr/>
              </a:pPr>
              <a:t>9</a:t>
            </a:fld>
            <a:endParaRPr lang="en-US"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r>
              <a:rPr lang="en-US" altLang="en-US" dirty="0" smtClean="0"/>
              <a:t>Bluetongue is also known as</a:t>
            </a:r>
          </a:p>
          <a:p>
            <a:pPr eaLnBrk="1" hangingPunct="1"/>
            <a:endParaRPr lang="en-US" altLang="en-US" dirty="0" smtClean="0"/>
          </a:p>
          <a:p>
            <a:pPr eaLnBrk="1" hangingPunct="1"/>
            <a:endParaRPr lang="en-US"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68C74E8A-257B-43BB-997A-B9877984F068}" type="slidenum">
              <a:rPr lang="en-US" smtClean="0"/>
              <a:pPr eaLnBrk="1" hangingPunct="1">
                <a:defRPr/>
              </a:pPr>
              <a:t>10</a:t>
            </a:fld>
            <a:endParaRPr lang="en-US"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914920" y="4343713"/>
            <a:ext cx="5028161" cy="4115425"/>
          </a:xfrm>
          <a:noFill/>
          <a:ln/>
        </p:spPr>
        <p:txBody>
          <a:bodyPr/>
          <a:lstStyle/>
          <a:p>
            <a:pPr eaLnBrk="1" hangingPunct="1"/>
            <a:r>
              <a:rPr lang="en-US" altLang="en-US" dirty="0" smtClean="0"/>
              <a:t>Bluetongue is a non-contagious, insect-borne, viral disease of ruminants. Bluetongue virus (BTV) belongs to the genus </a:t>
            </a:r>
            <a:r>
              <a:rPr lang="en-US" altLang="en-US" i="1" dirty="0" err="1" smtClean="0"/>
              <a:t>Orbivirus</a:t>
            </a:r>
            <a:r>
              <a:rPr lang="en-US" altLang="en-US" i="1" dirty="0" smtClean="0"/>
              <a:t> </a:t>
            </a:r>
            <a:r>
              <a:rPr lang="en-US" altLang="en-US" dirty="0" smtClean="0"/>
              <a:t>in the family </a:t>
            </a:r>
            <a:r>
              <a:rPr lang="en-US" altLang="en-US" dirty="0" err="1" smtClean="0"/>
              <a:t>Reoviridae</a:t>
            </a:r>
            <a:r>
              <a:rPr lang="en-US" altLang="en-US" dirty="0" smtClean="0"/>
              <a:t>. There are 24 serotypes identified worldwide, six of which have been isolated in the U.S. Bluetongue primarily affects sheep and wild ruminants, with asymptomatic infections occurring in cattle, goats, deer, and carnivores. This disease can result in significant morbidity.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6CAB4697-1323-4279-AB19-4BA63996FA3A}" type="slidenum">
              <a:rPr lang="en-US" smtClean="0"/>
              <a:pPr eaLnBrk="1" hangingPunct="1">
                <a:defRPr/>
              </a:pPr>
              <a:t>11</a:t>
            </a:fld>
            <a:endParaRPr lang="en-US"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914920" y="4343713"/>
            <a:ext cx="5028161" cy="4115425"/>
          </a:xfrm>
          <a:noFill/>
          <a:ln/>
        </p:spPr>
        <p:txBody>
          <a:bodyPr/>
          <a:lstStyle/>
          <a:p>
            <a:pPr eaLnBrk="1" hangingPunct="1"/>
            <a:r>
              <a:rPr lang="en-US" altLang="en-US" dirty="0" smtClean="0"/>
              <a:t>In sheep, the severity of disease varies with the breed of sheep, strain of virus, and environmental stress. Morbidity can be as high as 100%. Mortality is usually 0 to 30%, but can reach up to 70% in highly susceptible sheep. </a:t>
            </a:r>
          </a:p>
          <a:p>
            <a:pPr eaLnBrk="1" hangingPunct="1"/>
            <a:endParaRPr lang="en-US" altLang="en-US" dirty="0" smtClean="0"/>
          </a:p>
          <a:p>
            <a:pPr eaLnBrk="1" hangingPunct="1"/>
            <a:r>
              <a:rPr lang="en-US" altLang="en-US" dirty="0" smtClean="0"/>
              <a:t>[Photo: A flock of sheep. Source: USDA ARS]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4CB36FFD-BBBD-40A4-BEBA-93620DF7B807}" type="slidenum">
              <a:rPr lang="en-US" smtClean="0"/>
              <a:pPr eaLnBrk="1" hangingPunct="1">
                <a:defRPr/>
              </a:pPr>
              <a:t>12</a:t>
            </a:fld>
            <a:endParaRPr lang="en-US"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r>
              <a:rPr lang="en-US" altLang="en-US" dirty="0" smtClean="0"/>
              <a:t>BTV is transmitted by biting midges in the genus </a:t>
            </a:r>
            <a:r>
              <a:rPr lang="en-US" altLang="en-US" i="1" dirty="0" err="1" smtClean="0"/>
              <a:t>Culicoides</a:t>
            </a:r>
            <a:r>
              <a:rPr lang="en-US" altLang="en-US" i="1" dirty="0" smtClean="0"/>
              <a:t> </a:t>
            </a:r>
            <a:r>
              <a:rPr lang="en-US" altLang="en-US" dirty="0" smtClean="0"/>
              <a:t>(shown above), with </a:t>
            </a:r>
            <a:r>
              <a:rPr lang="en-US" altLang="en-US" i="1" dirty="0" err="1" smtClean="0"/>
              <a:t>Culicoides</a:t>
            </a:r>
            <a:r>
              <a:rPr lang="en-US" altLang="en-US" i="1" dirty="0" smtClean="0"/>
              <a:t> </a:t>
            </a:r>
            <a:r>
              <a:rPr lang="en-US" altLang="en-US" i="1" dirty="0" err="1" smtClean="0"/>
              <a:t>variipennis</a:t>
            </a:r>
            <a:r>
              <a:rPr lang="en-US" altLang="en-US" dirty="0" smtClean="0"/>
              <a:t> </a:t>
            </a:r>
            <a:r>
              <a:rPr lang="en-US" altLang="en-US" dirty="0" err="1" smtClean="0"/>
              <a:t>var</a:t>
            </a:r>
            <a:r>
              <a:rPr lang="en-US" altLang="en-US" dirty="0" smtClean="0"/>
              <a:t> </a:t>
            </a:r>
            <a:r>
              <a:rPr lang="en-US" altLang="en-US" i="1" dirty="0" err="1" smtClean="0"/>
              <a:t>sonorensis</a:t>
            </a:r>
            <a:r>
              <a:rPr lang="en-US" altLang="en-US" dirty="0" smtClean="0"/>
              <a:t> the principal vector in the U.S. Ticks or sheep </a:t>
            </a:r>
            <a:r>
              <a:rPr lang="en-US" altLang="en-US" dirty="0" err="1" smtClean="0"/>
              <a:t>keds</a:t>
            </a:r>
            <a:r>
              <a:rPr lang="en-US" altLang="en-US" dirty="0" smtClean="0"/>
              <a:t> can be mechanical vectors but are probably of minor importance in disease transmission. While bluetongue is not a contagious disease, the virus can be transmitted to the fetus </a:t>
            </a:r>
            <a:r>
              <a:rPr lang="en-US" altLang="en-US" i="1" dirty="0" smtClean="0"/>
              <a:t>in </a:t>
            </a:r>
            <a:r>
              <a:rPr lang="en-US" altLang="en-US" i="1" dirty="0" err="1" smtClean="0"/>
              <a:t>utero</a:t>
            </a:r>
            <a:r>
              <a:rPr lang="en-US" altLang="en-US" dirty="0" smtClean="0"/>
              <a:t> or spread mechanically on surgical equipment and needles. Although BTV can be found in semen, venereal spread does not appear to be a major route of infection. </a:t>
            </a:r>
          </a:p>
          <a:p>
            <a:pPr eaLnBrk="1" hangingPunct="1"/>
            <a:endParaRPr lang="en-US" altLang="en-US" dirty="0" smtClean="0"/>
          </a:p>
          <a:p>
            <a:pPr eaLnBrk="1" hangingPunct="1"/>
            <a:r>
              <a:rPr lang="en-US" altLang="en-US" dirty="0" smtClean="0"/>
              <a:t>[Photo: Two </a:t>
            </a:r>
            <a:r>
              <a:rPr lang="en-US" altLang="en-US" i="1" dirty="0" err="1" smtClean="0"/>
              <a:t>Culicoides</a:t>
            </a:r>
            <a:r>
              <a:rPr lang="en-US" altLang="en-US" dirty="0" smtClean="0"/>
              <a:t>  biting midges. Source: www.culicoides.net]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96E690B1-0E6C-48A7-9798-6F3F53B7276B}" type="slidenum">
              <a:rPr lang="en-US" smtClean="0"/>
              <a:pPr eaLnBrk="1" hangingPunct="1">
                <a:defRPr/>
              </a:pPr>
              <a:t>15</a:t>
            </a:fld>
            <a:endParaRPr lang="en-US"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r>
              <a:rPr lang="en-US" altLang="en-US" dirty="0" smtClean="0"/>
              <a:t>The incubation period for bluetongue is 5 to 10 days. The vast majority of infections with bluetongue are clinically </a:t>
            </a:r>
            <a:r>
              <a:rPr lang="en-US" altLang="en-US" dirty="0" err="1" smtClean="0"/>
              <a:t>inapparent</a:t>
            </a:r>
            <a:r>
              <a:rPr lang="en-US" altLang="en-US" dirty="0" smtClean="0"/>
              <a:t>. In a percentage of infected sheep and occasionally other ruminants, more severe disease can occur The tongue is occasionally cyanotic (“blue-tongue”) (middle photo, www.fao.org), swollen, and protrudes from the mouth (top photo, www.usda.org). Erosions and ulcerations are often found in the mouth; these lesions may become extensive and the mucous membranes may become necrotic. Pregnant ewes may abort their fetuses, or give birth to “dummy” lambs.</a:t>
            </a:r>
          </a:p>
          <a:p>
            <a:pPr eaLnBrk="1" hangingPunct="1"/>
            <a:endParaRPr lang="en-US" altLang="en-US" dirty="0" smtClean="0"/>
          </a:p>
          <a:p>
            <a:pPr eaLnBrk="1" hangingPunct="1"/>
            <a:r>
              <a:rPr lang="en-US" altLang="en-US" dirty="0" smtClean="0"/>
              <a:t>[Photo: </a:t>
            </a:r>
            <a:r>
              <a:rPr lang="en-US" dirty="0" smtClean="0"/>
              <a:t>Sheep, mouth. Most of the dental pad is eroded; the remaining pale mucosa is necrotic. Armed Forces Institute of Pathology/CFSPH]</a:t>
            </a:r>
            <a:endParaRPr lang="en-US"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7865E57A-FE51-4F5B-ACF7-A6313132484A}" type="slidenum">
              <a:rPr lang="en-US" smtClean="0"/>
              <a:pPr eaLnBrk="1" hangingPunct="1">
                <a:defRPr/>
              </a:pPr>
              <a:t>16</a:t>
            </a:fld>
            <a:endParaRPr lang="en-US"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altLang="en-US" dirty="0" smtClean="0"/>
              <a:t>In sheep, the coronary bands on the hooves are often inflamed and the hooves painful. Lameness is common and animals may slough their hooves if they are driven. </a:t>
            </a:r>
          </a:p>
          <a:p>
            <a:pPr eaLnBrk="1" hangingPunct="1"/>
            <a:endParaRPr lang="en-US" altLang="en-US" dirty="0" smtClean="0"/>
          </a:p>
          <a:p>
            <a:pPr eaLnBrk="1" hangingPunct="1"/>
            <a:r>
              <a:rPr lang="en-US" altLang="en-US" dirty="0" smtClean="0"/>
              <a:t>[Photos: (Left) </a:t>
            </a:r>
            <a:r>
              <a:rPr lang="en-US" dirty="0" smtClean="0"/>
              <a:t>Sheep, foot. There are multiple </a:t>
            </a:r>
            <a:r>
              <a:rPr lang="en-US" dirty="0" err="1" smtClean="0"/>
              <a:t>petechiae</a:t>
            </a:r>
            <a:r>
              <a:rPr lang="en-US" dirty="0" smtClean="0"/>
              <a:t> in the hoof wall, and there is marked hyperemia of the coronary band. Source: Armed Forces Institute of Pathology/CFSPH; (Right) A</a:t>
            </a:r>
            <a:r>
              <a:rPr lang="en-US" altLang="en-US" dirty="0" smtClean="0"/>
              <a:t> lame sheep holding up its painful front leg. Source: USAHA </a:t>
            </a:r>
            <a:r>
              <a:rPr lang="en-US" dirty="0" smtClean="0"/>
              <a:t>Foreign Animal Disease “The Gray Book” </a:t>
            </a:r>
            <a:r>
              <a:rPr lang="en-US" altLang="en-US" dirty="0" smtClean="0"/>
              <a:t>at </a:t>
            </a:r>
            <a:r>
              <a:rPr lang="en-US" dirty="0" smtClean="0"/>
              <a:t>www.usaha.org/Portals/6/Publications/FAD.pdf]</a:t>
            </a:r>
            <a:endParaRPr lang="en-US" alt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55B567ED-43D7-4289-8058-CF86D386F96C}" type="slidenum">
              <a:rPr lang="en-US" smtClean="0"/>
              <a:pPr eaLnBrk="1" hangingPunct="1">
                <a:defRPr/>
              </a:pPr>
              <a:t>17</a:t>
            </a:fld>
            <a:endParaRPr lang="en-US"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r>
              <a:rPr lang="en-US" altLang="en-US" dirty="0" smtClean="0"/>
              <a:t>Cattle can become </a:t>
            </a:r>
            <a:r>
              <a:rPr lang="en-US" altLang="en-US" dirty="0" err="1" smtClean="0"/>
              <a:t>viremic</a:t>
            </a:r>
            <a:r>
              <a:rPr lang="en-US" altLang="en-US" dirty="0" smtClean="0"/>
              <a:t> starting at 4 days post-infection but rarely develop symptoms; often, the only signs of disease are changes in the leukocyte count and a fluctuation in rectal temperature. Rarely, cattle have mild hyperemia, vesicles or ulcers in the mouth, erosion and crusting around the nose (top photo), hyperemia around the coronary band, or lesions around the teats of lactating cows (bottom photo). Temporary sterility may be seen in bulls, and infected cows may give birth to “dummy” calves with </a:t>
            </a:r>
            <a:r>
              <a:rPr lang="en-US" altLang="en-US" dirty="0" err="1" smtClean="0"/>
              <a:t>hydranencephaly</a:t>
            </a:r>
            <a:r>
              <a:rPr lang="en-US" altLang="en-US" dirty="0" smtClean="0"/>
              <a:t> or cerebral cysts. Cattle that have clinically apparent disease may develop severe breaks in the hooves several weeks after infection; such breaks are usually followed by foot rot. In pronghorn antelope and whitetail deer, the most common symptoms are hemorrhages and sudden death. Infections in goats are usually subclinical and resemble disease in cattle. </a:t>
            </a:r>
          </a:p>
          <a:p>
            <a:pPr eaLnBrk="1" hangingPunct="1"/>
            <a:endParaRPr lang="en-US" altLang="en-US" dirty="0" smtClean="0"/>
          </a:p>
          <a:p>
            <a:pPr eaLnBrk="1" hangingPunct="1"/>
            <a:r>
              <a:rPr lang="en-US" altLang="en-US" dirty="0" smtClean="0"/>
              <a:t>[Photos: (Top) </a:t>
            </a:r>
            <a:r>
              <a:rPr lang="en-US" dirty="0" smtClean="0"/>
              <a:t>Sheep. There is bilateral nasal </a:t>
            </a:r>
            <a:r>
              <a:rPr lang="en-US" dirty="0" err="1" smtClean="0"/>
              <a:t>exudate</a:t>
            </a:r>
            <a:r>
              <a:rPr lang="en-US" dirty="0" smtClean="0"/>
              <a:t>, erosion of the nasal </a:t>
            </a:r>
            <a:r>
              <a:rPr lang="en-US" dirty="0" err="1" smtClean="0"/>
              <a:t>planum</a:t>
            </a:r>
            <a:r>
              <a:rPr lang="en-US" dirty="0" smtClean="0"/>
              <a:t>, and excessive salivation. Source: Plum Island Animal Disease Center/CFSPH; (Bottom) Bovine, mammary gland. There is extensive coalescing ulceration of the teat skin. Source: Plum Island Animal Disease Center/CFSPH]</a:t>
            </a:r>
            <a:endParaRPr lang="en-US"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678F6CC9-98FD-459B-AEBB-3427B41CFE19}" type="slidenum">
              <a:rPr lang="en-US" smtClean="0"/>
              <a:pPr eaLnBrk="1" hangingPunct="1">
                <a:defRPr/>
              </a:pPr>
              <a:t>18</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995FE105-2D92-40A4-B73D-F083284D2464}" type="slidenum">
              <a:rPr lang="en-US" smtClean="0"/>
              <a:pPr eaLnBrk="1" hangingPunct="1">
                <a:defRPr/>
              </a:pPr>
              <a:t>19</a:t>
            </a:fld>
            <a:endParaRPr 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r>
              <a:rPr lang="en-US" altLang="en-US" dirty="0" smtClean="0"/>
              <a:t>Bluetongue should be suspected when typical clinical signs are seen during seasons when insects are active. A recent history of wasting and foot rot in the herd supports the diagnosis. Bluetongue can be diagnosed by isolating the virus in cell cultures or </a:t>
            </a:r>
            <a:r>
              <a:rPr lang="en-US" altLang="en-US" dirty="0" err="1" smtClean="0"/>
              <a:t>embryonated</a:t>
            </a:r>
            <a:r>
              <a:rPr lang="en-US" altLang="en-US" dirty="0" smtClean="0"/>
              <a:t> chicken eggs. It can also be isolated by inoculation into sheep, and sometimes suckling mice or hamsters. Virus identity is confirmed by antigen-capture ELISA, </a:t>
            </a:r>
            <a:r>
              <a:rPr lang="en-US" altLang="en-US" dirty="0" err="1" smtClean="0"/>
              <a:t>immunofluorescence</a:t>
            </a:r>
            <a:r>
              <a:rPr lang="en-US" altLang="en-US" dirty="0" smtClean="0"/>
              <a:t> (IFA), </a:t>
            </a:r>
            <a:r>
              <a:rPr lang="en-US" altLang="en-US" dirty="0" err="1" smtClean="0"/>
              <a:t>immunoperoxidase</a:t>
            </a:r>
            <a:r>
              <a:rPr lang="en-US" altLang="en-US" dirty="0" smtClean="0"/>
              <a:t>, virus neutralization (VN), or polymerase chain reaction (PCR) tests. These techniques allow for rapid diagnosis and can identify the virus </a:t>
            </a:r>
            <a:r>
              <a:rPr lang="en-US" altLang="en-US" dirty="0" err="1" smtClean="0"/>
              <a:t>serogroup</a:t>
            </a:r>
            <a:r>
              <a:rPr lang="en-US" altLang="en-US" dirty="0" smtClean="0"/>
              <a:t> and serotype. Serology and complement fixation tests are also used, and recently a method has been developed to examine bluetongue virus proteins and genes, which helps to differentiate between BTV and related viruses that cause epizootic hemorrhagic disease (EHD).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08773" eaLnBrk="0" hangingPunct="0">
              <a:defRPr>
                <a:solidFill>
                  <a:schemeClr val="tx1"/>
                </a:solidFill>
                <a:latin typeface="Arial" charset="0"/>
              </a:defRPr>
            </a:lvl1pPr>
            <a:lvl2pPr marL="730766" indent="-281064" defTabSz="908773" eaLnBrk="0" hangingPunct="0">
              <a:defRPr>
                <a:solidFill>
                  <a:schemeClr val="tx1"/>
                </a:solidFill>
                <a:latin typeface="Arial" charset="0"/>
              </a:defRPr>
            </a:lvl2pPr>
            <a:lvl3pPr marL="1124255" indent="-224851" defTabSz="908773" eaLnBrk="0" hangingPunct="0">
              <a:defRPr>
                <a:solidFill>
                  <a:schemeClr val="tx1"/>
                </a:solidFill>
                <a:latin typeface="Arial" charset="0"/>
              </a:defRPr>
            </a:lvl3pPr>
            <a:lvl4pPr marL="1573957" indent="-224851" defTabSz="908773" eaLnBrk="0" hangingPunct="0">
              <a:defRPr>
                <a:solidFill>
                  <a:schemeClr val="tx1"/>
                </a:solidFill>
                <a:latin typeface="Arial" charset="0"/>
              </a:defRPr>
            </a:lvl4pPr>
            <a:lvl5pPr marL="2023659" indent="-224851" defTabSz="908773" eaLnBrk="0" hangingPunct="0">
              <a:defRPr>
                <a:solidFill>
                  <a:schemeClr val="tx1"/>
                </a:solidFill>
                <a:latin typeface="Arial" charset="0"/>
              </a:defRPr>
            </a:lvl5pPr>
            <a:lvl6pPr marL="2473361" indent="-224851" defTabSz="908773" eaLnBrk="0" fontAlgn="base" hangingPunct="0">
              <a:spcBef>
                <a:spcPct val="0"/>
              </a:spcBef>
              <a:spcAft>
                <a:spcPct val="0"/>
              </a:spcAft>
              <a:defRPr>
                <a:solidFill>
                  <a:schemeClr val="tx1"/>
                </a:solidFill>
                <a:latin typeface="Arial" charset="0"/>
              </a:defRPr>
            </a:lvl6pPr>
            <a:lvl7pPr marL="2923062" indent="-224851" defTabSz="908773" eaLnBrk="0" fontAlgn="base" hangingPunct="0">
              <a:spcBef>
                <a:spcPct val="0"/>
              </a:spcBef>
              <a:spcAft>
                <a:spcPct val="0"/>
              </a:spcAft>
              <a:defRPr>
                <a:solidFill>
                  <a:schemeClr val="tx1"/>
                </a:solidFill>
                <a:latin typeface="Arial" charset="0"/>
              </a:defRPr>
            </a:lvl7pPr>
            <a:lvl8pPr marL="3372764" indent="-224851" defTabSz="908773" eaLnBrk="0" fontAlgn="base" hangingPunct="0">
              <a:spcBef>
                <a:spcPct val="0"/>
              </a:spcBef>
              <a:spcAft>
                <a:spcPct val="0"/>
              </a:spcAft>
              <a:defRPr>
                <a:solidFill>
                  <a:schemeClr val="tx1"/>
                </a:solidFill>
                <a:latin typeface="Arial" charset="0"/>
              </a:defRPr>
            </a:lvl8pPr>
            <a:lvl9pPr marL="3822466" indent="-224851" defTabSz="908773" eaLnBrk="0" fontAlgn="base" hangingPunct="0">
              <a:spcBef>
                <a:spcPct val="0"/>
              </a:spcBef>
              <a:spcAft>
                <a:spcPct val="0"/>
              </a:spcAft>
              <a:defRPr>
                <a:solidFill>
                  <a:schemeClr val="tx1"/>
                </a:solidFill>
                <a:latin typeface="Arial" charset="0"/>
              </a:defRPr>
            </a:lvl9pPr>
          </a:lstStyle>
          <a:p>
            <a:pPr eaLnBrk="1" hangingPunct="1">
              <a:defRPr/>
            </a:pPr>
            <a:fld id="{F5C74704-BE54-48F0-9755-9C7C37BF14E5}" type="slidenum">
              <a:rPr lang="en-US" smtClean="0"/>
              <a:pPr eaLnBrk="1" hangingPunct="1">
                <a:defRPr/>
              </a:pPr>
              <a:t>21</a:t>
            </a:fld>
            <a:endParaRPr lang="en-US"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xfrm>
            <a:off x="914920" y="4343713"/>
            <a:ext cx="5028161" cy="4115425"/>
          </a:xfrm>
          <a:noFill/>
          <a:ln/>
        </p:spPr>
        <p:txBody>
          <a:bodyPr/>
          <a:lstStyle/>
          <a:p>
            <a:pPr eaLnBrk="1" hangingPunct="1"/>
            <a:r>
              <a:rPr lang="en-US" altLang="en-US" dirty="0" smtClean="0"/>
              <a:t>Vaccines are available but are specific for each serotype. There are also adverse effects to the use of vaccines; they can cause fetal malformations during the first 100 days of gestation in ewes, and may be able to recombine with field strains to produce new strains of virus. We all need to do our part to keep our sheep healthy and free from foreign animal diseases, such as bluetongue.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F6B10E-040C-4FF0-A504-EE50C6B2EB44}" type="slidenum">
              <a:rPr lang="en-US"/>
              <a:pPr/>
              <a:t>24</a:t>
            </a:fld>
            <a:endParaRPr lang="en-US"/>
          </a:p>
        </p:txBody>
      </p:sp>
      <p:sp>
        <p:nvSpPr>
          <p:cNvPr id="266242" name="Rectangle 2"/>
          <p:cNvSpPr>
            <a:spLocks noGrp="1" noRot="1" noChangeAspect="1" noChangeArrowheads="1" noTextEdit="1"/>
          </p:cNvSpPr>
          <p:nvPr>
            <p:ph type="sldImg"/>
          </p:nvPr>
        </p:nvSpPr>
        <p:spPr>
          <a:ln/>
        </p:spPr>
      </p:sp>
      <p:sp>
        <p:nvSpPr>
          <p:cNvPr id="266243" name="Rectangle 3"/>
          <p:cNvSpPr>
            <a:spLocks noGrp="1" noChangeArrowheads="1"/>
          </p:cNvSpPr>
          <p:nvPr>
            <p:ph type="body" idx="1"/>
          </p:nvPr>
        </p:nvSpPr>
        <p:spPr/>
        <p:txBody>
          <a:bodyPr/>
          <a:lstStyle/>
          <a:p>
            <a:r>
              <a:rPr lang="en-US"/>
              <a:t>From AVIS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447B6E-E796-475F-B4CA-4D059E7AE856}" type="slidenum">
              <a:rPr lang="en-US"/>
              <a:pPr/>
              <a:t>25</a:t>
            </a:fld>
            <a:endParaRPr lang="en-US"/>
          </a:p>
        </p:txBody>
      </p:sp>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901493-173B-4AA6-8453-BEDECB64AC76}" type="slidenum">
              <a:rPr lang="en-US"/>
              <a:pPr/>
              <a:t>30</a:t>
            </a:fld>
            <a:endParaRPr lang="en-US"/>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82D68C-EE02-4140-8375-96DB7BB5F306}" type="slidenum">
              <a:rPr lang="en-US"/>
              <a:pPr/>
              <a:t>31</a:t>
            </a:fld>
            <a:endParaRPr lang="en-US"/>
          </a:p>
        </p:txBody>
      </p:sp>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p:txBody>
          <a:bodyPr/>
          <a:lstStyle/>
          <a:p>
            <a:r>
              <a:rPr lang="en-US"/>
              <a:t>Image courtesy of Dr Suzanne Burnham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58929A-583E-4B5A-99D3-2A4099846279}" type="slidenum">
              <a:rPr lang="en-US"/>
              <a:pPr/>
              <a:t>32</a:t>
            </a:fld>
            <a:endParaRPr lang="en-US"/>
          </a:p>
        </p:txBody>
      </p:sp>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p:txBody>
          <a:bodyPr/>
          <a:lstStyle/>
          <a:p>
            <a:r>
              <a:rPr lang="en-US"/>
              <a:t>Image courtesy of Dr Corrie Brown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AB20E2-0E6C-4CA8-A614-41B942D69195}" type="slidenum">
              <a:rPr lang="en-US"/>
              <a:pPr/>
              <a:t>33</a:t>
            </a:fld>
            <a:endParaRPr lang="en-US"/>
          </a:p>
        </p:txBody>
      </p:sp>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p:txBody>
          <a:bodyPr/>
          <a:lstStyle/>
          <a:p>
            <a:r>
              <a:rPr lang="en-US"/>
              <a:t> Image 1 from Dr. Alan Guthrie, Pretoria University; Image 2 from Plum Island collection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F23493-CCCD-40E9-ABC0-0B5B72AE7A6E}" type="slidenum">
              <a:rPr lang="en-US"/>
              <a:pPr/>
              <a:t>34</a:t>
            </a:fld>
            <a:endParaRPr lang="en-US"/>
          </a:p>
        </p:txBody>
      </p:sp>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p:txBody>
          <a:bodyPr/>
          <a:lstStyle/>
          <a:p>
            <a:pPr eaLnBrk="0" hangingPunct="0">
              <a:spcBef>
                <a:spcPct val="50000"/>
              </a:spcBef>
            </a:pPr>
            <a:r>
              <a:rPr lang="en-US" dirty="0"/>
              <a:t>http://www.vet.uga.edu/vpp/IVM/ENG/Modes/definition03.htm</a:t>
            </a:r>
          </a:p>
          <a:p>
            <a:r>
              <a:rPr lang="en-US" dirty="0">
                <a:solidFill>
                  <a:srgbClr val="FFFF00"/>
                </a:solidFill>
                <a:latin typeface="Arial Unicode MS" pitchFamily="34" charset="-128"/>
              </a:rPr>
              <a:t>Clinical disease</a:t>
            </a:r>
          </a:p>
          <a:p>
            <a:r>
              <a:rPr lang="en-US" sz="1000" dirty="0">
                <a:solidFill>
                  <a:schemeClr val="bg1"/>
                </a:solidFill>
                <a:latin typeface="Arial Unicode MS" pitchFamily="34" charset="-128"/>
              </a:rPr>
              <a:t>Respiratory distress</a:t>
            </a:r>
          </a:p>
          <a:p>
            <a:r>
              <a:rPr lang="en-US" sz="1000" dirty="0" err="1">
                <a:solidFill>
                  <a:schemeClr val="bg1"/>
                </a:solidFill>
                <a:latin typeface="Arial Unicode MS" pitchFamily="34" charset="-128"/>
              </a:rPr>
              <a:t>Supraorbital</a:t>
            </a:r>
            <a:r>
              <a:rPr lang="en-US" sz="1000" dirty="0">
                <a:solidFill>
                  <a:schemeClr val="bg1"/>
                </a:solidFill>
                <a:latin typeface="Arial Unicode MS" pitchFamily="34" charset="-128"/>
              </a:rPr>
              <a:t> edema</a:t>
            </a:r>
          </a:p>
          <a:p>
            <a:r>
              <a:rPr lang="en-US" sz="1000" dirty="0">
                <a:solidFill>
                  <a:schemeClr val="bg1"/>
                </a:solidFill>
                <a:latin typeface="Arial Unicode MS" pitchFamily="34" charset="-128"/>
              </a:rPr>
              <a:t>Colic</a:t>
            </a:r>
          </a:p>
          <a:p>
            <a:r>
              <a:rPr lang="en-US" sz="1000" dirty="0">
                <a:solidFill>
                  <a:schemeClr val="bg1"/>
                </a:solidFill>
                <a:latin typeface="Arial Unicode MS" pitchFamily="34" charset="-128"/>
              </a:rPr>
              <a:t>Death</a:t>
            </a:r>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1689E2-534C-4A3E-A790-AE297D5DD1BF}" type="slidenum">
              <a:rPr lang="en-US"/>
              <a:pPr/>
              <a:t>35</a:t>
            </a:fld>
            <a:endParaRPr lang="en-US"/>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r>
              <a:rPr lang="en-US"/>
              <a:t>Image: http://www.vet.ed.ac.uk/animalpain/Pages/images/Optimised%20Images/optphotos/EQsweating.jpg</a:t>
            </a:r>
          </a:p>
          <a:p>
            <a:endParaRPr lang="en-US"/>
          </a:p>
          <a:p>
            <a:r>
              <a:rPr lang="en-US"/>
              <a:t>http://www.vet.ed.ac.uk/animalpain/</a:t>
            </a:r>
          </a:p>
          <a:p>
            <a:r>
              <a:rPr lang="en-US"/>
              <a:t>This website may be reproduced or altered for personal or academic use only provided acknowledgement is made to the original authors of the site, the sponsors and the University of Edinburgh who are the holders of the copyright. </a:t>
            </a:r>
          </a:p>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0F8D8E-C1A4-4856-B013-3C99C33C075F}" type="slidenum">
              <a:rPr lang="en-US"/>
              <a:pPr/>
              <a:t>37</a:t>
            </a:fld>
            <a:endParaRPr lang="en-US"/>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r>
              <a:rPr lang="en-US"/>
              <a:t>Image courtesy of Plum Island Animal Diagnostic Center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619F5F-3CDD-41BF-960A-FA6561F42C7C}" type="slidenum">
              <a:rPr lang="en-US"/>
              <a:pPr/>
              <a:t>38</a:t>
            </a:fld>
            <a:endParaRPr lang="en-US"/>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r>
              <a:rPr lang="en-US"/>
              <a:t>Photo courtesy of Plum Island Animal Diagnostic Center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E103AE-E16C-421D-AEC2-042F90FBDAA6}" type="slidenum">
              <a:rPr lang="en-US"/>
              <a:pPr/>
              <a:t>40</a:t>
            </a:fld>
            <a:endParaRPr lang="en-US"/>
          </a:p>
        </p:txBody>
      </p:sp>
      <p:sp>
        <p:nvSpPr>
          <p:cNvPr id="201730" name="Rectangle 2"/>
          <p:cNvSpPr>
            <a:spLocks noGrp="1" noRot="1" noChangeAspect="1" noChangeArrowheads="1" noTextEdit="1"/>
          </p:cNvSpPr>
          <p:nvPr>
            <p:ph type="sldImg"/>
          </p:nvPr>
        </p:nvSpPr>
        <p:spPr>
          <a:ln/>
        </p:spPr>
      </p:sp>
      <p:sp>
        <p:nvSpPr>
          <p:cNvPr id="201731" name="Rectangle 3"/>
          <p:cNvSpPr>
            <a:spLocks noGrp="1" noChangeArrowheads="1"/>
          </p:cNvSpPr>
          <p:nvPr>
            <p:ph type="body" idx="1"/>
          </p:nvPr>
        </p:nvSpPr>
        <p:spPr/>
        <p:txBody>
          <a:bodyPr/>
          <a:lstStyle/>
          <a:p>
            <a:r>
              <a:rPr lang="en-US"/>
              <a:t>http://www.vet.uga.edu/vpp/IVM/ENG/Horse/index.htm</a:t>
            </a:r>
          </a:p>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EB9304-BC53-4117-AE9E-B31ED362159B}" type="slidenum">
              <a:rPr lang="en-US"/>
              <a:pPr/>
              <a:t>41</a:t>
            </a:fld>
            <a:endParaRPr lang="en-US"/>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pPr eaLnBrk="0" hangingPunct="0">
              <a:spcBef>
                <a:spcPct val="50000"/>
              </a:spcBef>
            </a:pPr>
            <a:r>
              <a:rPr lang="en-US"/>
              <a:t>Image 1 IFADD course 2005</a:t>
            </a:r>
          </a:p>
          <a:p>
            <a:pPr eaLnBrk="0" hangingPunct="0">
              <a:spcBef>
                <a:spcPct val="50000"/>
              </a:spcBef>
            </a:pPr>
            <a:r>
              <a:rPr lang="en-US"/>
              <a:t>Image 2 http://www.spc.int/rahs/Manual/images/AfrHorsSick-09.jpg</a:t>
            </a:r>
          </a:p>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EBD7E0-1850-4023-821F-F588162C8DD5}" type="slidenum">
              <a:rPr lang="en-US"/>
              <a:pPr/>
              <a:t>42</a:t>
            </a:fld>
            <a:endParaRPr lang="en-US"/>
          </a:p>
        </p:txBody>
      </p:sp>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p:txBody>
          <a:bodyPr/>
          <a:lstStyle/>
          <a:p>
            <a:r>
              <a:rPr lang="en-US"/>
              <a:t>IFADD course 2005, Alfonso Torres, Peste Equina Africana ppt.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39ECE5-D4E1-4E2C-84DB-6289D8E9ABE2}" type="slidenum">
              <a:rPr lang="en-US"/>
              <a:pPr/>
              <a:t>44</a:t>
            </a:fld>
            <a:endParaRPr lang="en-US"/>
          </a:p>
        </p:txBody>
      </p:sp>
      <p:sp>
        <p:nvSpPr>
          <p:cNvPr id="256002" name="Rectangle 2"/>
          <p:cNvSpPr>
            <a:spLocks noGrp="1" noRot="1" noChangeAspect="1" noChangeArrowheads="1" noTextEdit="1"/>
          </p:cNvSpPr>
          <p:nvPr>
            <p:ph type="sldImg"/>
          </p:nvPr>
        </p:nvSpPr>
        <p:spPr>
          <a:ln/>
        </p:spPr>
      </p:sp>
      <p:sp>
        <p:nvSpPr>
          <p:cNvPr id="256003" name="Rectangle 3"/>
          <p:cNvSpPr>
            <a:spLocks noGrp="1" noChangeArrowheads="1"/>
          </p:cNvSpPr>
          <p:nvPr>
            <p:ph type="body" idx="1"/>
          </p:nvPr>
        </p:nvSpPr>
        <p:spPr/>
        <p:txBody>
          <a:bodyPr/>
          <a:lstStyle/>
          <a:p>
            <a:pPr eaLnBrk="0" hangingPunct="0">
              <a:spcBef>
                <a:spcPct val="50000"/>
              </a:spcBef>
            </a:pPr>
            <a:r>
              <a:rPr lang="en-US"/>
              <a:t>http://www.usyd.edu.au/su/rirdc/articles/disease/ahs.jpg</a:t>
            </a:r>
          </a:p>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F7AF97-95A7-4FD6-A2EF-1750330D3E3C}" type="slidenum">
              <a:rPr lang="en-US"/>
              <a:pPr/>
              <a:t>45</a:t>
            </a:fld>
            <a:endParaRPr lang="en-US"/>
          </a:p>
        </p:txBody>
      </p:sp>
      <p:sp>
        <p:nvSpPr>
          <p:cNvPr id="222210" name="Rectangle 2"/>
          <p:cNvSpPr>
            <a:spLocks noGrp="1" noRot="1" noChangeAspect="1" noChangeArrowheads="1" noTextEdit="1"/>
          </p:cNvSpPr>
          <p:nvPr>
            <p:ph type="sldImg"/>
          </p:nvPr>
        </p:nvSpPr>
        <p:spPr>
          <a:ln/>
        </p:spPr>
      </p:sp>
      <p:sp>
        <p:nvSpPr>
          <p:cNvPr id="222211" name="Rectangle 3"/>
          <p:cNvSpPr>
            <a:spLocks noGrp="1" noChangeArrowheads="1"/>
          </p:cNvSpPr>
          <p:nvPr>
            <p:ph type="body" idx="1"/>
          </p:nvPr>
        </p:nvSpPr>
        <p:spPr/>
        <p:txBody>
          <a:bodyPr/>
          <a:lstStyle/>
          <a:p>
            <a:r>
              <a:rPr lang="en-US"/>
              <a:t>Image courtesy Dr Corrie Brown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B9CF50-C411-458E-90C9-0B88AE15937F}" type="slidenum">
              <a:rPr lang="en-US"/>
              <a:pPr/>
              <a:t>49</a:t>
            </a:fld>
            <a:endParaRPr lang="en-US"/>
          </a:p>
        </p:txBody>
      </p:sp>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p:txBody>
          <a:bodyPr/>
          <a:lstStyle/>
          <a:p>
            <a:r>
              <a:rPr lang="en-US"/>
              <a:t>Image courtesy of Dr Corrie Brown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2CE4E0-4541-48F0-B75C-B9423EAE8598}" type="slidenum">
              <a:rPr lang="en-US"/>
              <a:pPr/>
              <a:t>50</a:t>
            </a:fld>
            <a:endParaRPr lang="en-US"/>
          </a:p>
        </p:txBody>
      </p:sp>
      <p:sp>
        <p:nvSpPr>
          <p:cNvPr id="248834" name="Rectangle 2"/>
          <p:cNvSpPr>
            <a:spLocks noGrp="1" noRot="1" noChangeAspect="1" noChangeArrowheads="1" noTextEdit="1"/>
          </p:cNvSpPr>
          <p:nvPr>
            <p:ph type="sldImg"/>
          </p:nvPr>
        </p:nvSpPr>
        <p:spPr>
          <a:ln/>
        </p:spPr>
      </p:sp>
      <p:sp>
        <p:nvSpPr>
          <p:cNvPr id="248835" name="Rectangle 3"/>
          <p:cNvSpPr>
            <a:spLocks noGrp="1" noChangeArrowheads="1"/>
          </p:cNvSpPr>
          <p:nvPr>
            <p:ph type="body" idx="1"/>
          </p:nvPr>
        </p:nvSpPr>
        <p:spPr/>
        <p:txBody>
          <a:bodyPr/>
          <a:lstStyle/>
          <a:p>
            <a:r>
              <a:rPr lang="en-US"/>
              <a:t>Courtesy of Corrie Brown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DDFFE6-B080-42C3-B5E0-22C789BCC4E3}" type="slidenum">
              <a:rPr lang="en-US"/>
              <a:pPr/>
              <a:t>51</a:t>
            </a:fld>
            <a:endParaRPr lang="en-US"/>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r>
              <a:rPr lang="en-US"/>
              <a:t>Courtesy of Corrie Brown</a:t>
            </a:r>
          </a:p>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20C2D3-6F2D-4297-B8AA-3C974E5E053F}" type="slidenum">
              <a:rPr lang="en-US"/>
              <a:pPr/>
              <a:t>52</a:t>
            </a:fld>
            <a:endParaRPr lang="en-US"/>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p:txBody>
          <a:bodyPr/>
          <a:lstStyle/>
          <a:p>
            <a:r>
              <a:rPr lang="en-US"/>
              <a:t>Courtesy of Corrie Brown</a:t>
            </a:r>
          </a:p>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EF0ABF-F482-41B5-8190-B80950276217}" type="slidenum">
              <a:rPr lang="en-US"/>
              <a:pPr/>
              <a:t>53</a:t>
            </a:fld>
            <a:endParaRPr lang="en-US"/>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r>
              <a:rPr lang="en-US"/>
              <a:t>Courtesy of Corrie Brown</a:t>
            </a:r>
          </a:p>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8E9D9-A898-4345-9F4F-E2828193B665}" type="slidenum">
              <a:rPr lang="en-US"/>
              <a:pPr/>
              <a:t>55</a:t>
            </a:fld>
            <a:endParaRPr lang="en-US"/>
          </a:p>
        </p:txBody>
      </p:sp>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p:txBody>
          <a:bodyPr/>
          <a:lstStyle/>
          <a:p>
            <a:r>
              <a:rPr lang="en-US" dirty="0" err="1"/>
              <a:t>Corrie</a:t>
            </a:r>
            <a:r>
              <a:rPr lang="en-US" dirty="0"/>
              <a:t> Brown</a:t>
            </a:r>
          </a:p>
          <a:p>
            <a:r>
              <a:rPr lang="en-US" dirty="0"/>
              <a:t>The virus may be isolated for identification with ELISA or PCR; </a:t>
            </a:r>
          </a:p>
          <a:p>
            <a:r>
              <a:rPr lang="en-US" dirty="0"/>
              <a:t>however, there is no effective treatment. However, there is </a:t>
            </a:r>
          </a:p>
          <a:p>
            <a:r>
              <a:rPr lang="en-US" dirty="0"/>
              <a:t>prevention with several types of vaccine, from </a:t>
            </a:r>
            <a:r>
              <a:rPr lang="en-US" dirty="0" err="1"/>
              <a:t>monovalent</a:t>
            </a:r>
            <a:r>
              <a:rPr lang="en-US" dirty="0"/>
              <a:t> to </a:t>
            </a:r>
          </a:p>
          <a:p>
            <a:r>
              <a:rPr lang="en-US" dirty="0"/>
              <a:t>polyvalent. And certainly elimination of vector exposure is an aid in </a:t>
            </a:r>
          </a:p>
          <a:p>
            <a:r>
              <a:rPr lang="en-US" dirty="0"/>
              <a:t>control. - Mod.TG]  </a:t>
            </a:r>
            <a:r>
              <a:rPr lang="en-US" dirty="0" err="1"/>
              <a:t>Promed</a:t>
            </a:r>
            <a:endParaRPr lang="en-US" dirty="0"/>
          </a:p>
          <a:p>
            <a:endParaRPr lang="en-US" dirty="0"/>
          </a:p>
          <a:p>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fld id="{956773C3-DC17-46E7-A6EB-105B73CBC01B}" type="slidenum">
              <a:rPr lang="en-US" sz="1200"/>
              <a:pPr/>
              <a:t>57</a:t>
            </a:fld>
            <a:endParaRPr lang="en-US" sz="120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smtClean="0">
                <a:latin typeface="Times" charset="0"/>
              </a:rPr>
              <a:t>.</a:t>
            </a:r>
          </a:p>
          <a:p>
            <a:r>
              <a:rPr lang="en-US" dirty="0" smtClean="0">
                <a:latin typeface="Times" charset="0"/>
              </a:rPr>
              <a:t>complicated by mixed infections and possible synergy between agents (</a:t>
            </a:r>
            <a:r>
              <a:rPr lang="en-US" dirty="0" err="1" smtClean="0">
                <a:latin typeface="Times" charset="0"/>
              </a:rPr>
              <a:t>rota</a:t>
            </a:r>
            <a:r>
              <a:rPr lang="en-US" dirty="0" smtClean="0">
                <a:latin typeface="Times" charset="0"/>
              </a:rPr>
              <a:t> and BVD - </a:t>
            </a:r>
            <a:r>
              <a:rPr lang="en-US" dirty="0" err="1" smtClean="0">
                <a:latin typeface="Times" charset="0"/>
              </a:rPr>
              <a:t>Kelling</a:t>
            </a:r>
            <a:r>
              <a:rPr lang="en-US" dirty="0" smtClean="0">
                <a:latin typeface="Times" charset="0"/>
              </a:rPr>
              <a:t> 2002, AJVR 63:1179-86)</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fld id="{FE4A3475-64CB-4682-AA94-5784F266272A}" type="slidenum">
              <a:rPr lang="en-US" sz="1200"/>
              <a:pPr/>
              <a:t>58</a:t>
            </a:fld>
            <a:endParaRPr lang="en-US" sz="120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smtClean="0">
                <a:latin typeface="Times" charset="0"/>
              </a:rPr>
              <a:t>newborn animals protected only if there is neutralizing antibody in gut - systemic antibody not much use</a:t>
            </a:r>
          </a:p>
          <a:p>
            <a:r>
              <a:rPr lang="en-US" dirty="0" smtClean="0">
                <a:latin typeface="Times" charset="0"/>
              </a:rPr>
              <a:t>after 4 days relatively little antibody in gut unless high levels in milk</a:t>
            </a:r>
          </a:p>
          <a:p>
            <a:r>
              <a:rPr lang="en-US" dirty="0" smtClean="0">
                <a:latin typeface="Times" charset="0"/>
              </a:rPr>
              <a:t>susceptibility decreases after a month - changes in gut physiology, gut flora and increase in rate of replacement of </a:t>
            </a:r>
            <a:r>
              <a:rPr lang="en-US" dirty="0" err="1" smtClean="0">
                <a:latin typeface="Times" charset="0"/>
              </a:rPr>
              <a:t>enterocytes</a:t>
            </a:r>
            <a:endParaRPr lang="en-US" dirty="0" smtClean="0">
              <a:latin typeface="Times"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fld id="{D58CAB7B-9737-48A9-843C-F0B37A3088A5}" type="slidenum">
              <a:rPr lang="en-US" sz="1200"/>
              <a:pPr/>
              <a:t>60</a:t>
            </a:fld>
            <a:endParaRPr lang="en-US"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smtClean="0">
              <a:latin typeface="Times"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fld id="{835EB1B7-A56C-463E-BC3A-AF97438DFD47}" type="slidenum">
              <a:rPr lang="en-US" sz="1200"/>
              <a:pPr/>
              <a:t>68</a:t>
            </a:fld>
            <a:endParaRPr lang="en-US" sz="12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smtClean="0">
              <a:latin typeface="Times"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srgbClr val="FFFFFF"/>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F7E69502-3CBD-47D6-AF44-CA14C2D06707}"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srgbClr val="FFFFFF"/>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CF0528D4-EFD6-4B20-98C5-622087A5A89F}"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srgbClr val="FFFFFF"/>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4D3544E5-561F-4D14-940C-3996C01E61EA}"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srgbClr val="FFFFFF"/>
              </a:solidFill>
            </a:endParaRPr>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631BC69C-2A25-4E41-BD8E-4F9687366A28}"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srgbClr val="FFFFFF"/>
              </a:solidFill>
            </a:endParaRPr>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8E139B78-A65B-431D-9CEC-4CF3A68577D2}"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srgbClr val="FFFFFF"/>
              </a:solidFill>
            </a:endParaRPr>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BDE6ED45-94B8-4004-866A-2D95FD0D7709}"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srgbClr val="FFFFFF"/>
              </a:solidFill>
            </a:endParaRPr>
          </a:p>
        </p:txBody>
      </p:sp>
      <p:sp>
        <p:nvSpPr>
          <p:cNvPr id="3" name="Footer Placeholder 2"/>
          <p:cNvSpPr>
            <a:spLocks noGrp="1"/>
          </p:cNvSpPr>
          <p:nvPr>
            <p:ph type="ftr" sz="quarter" idx="11"/>
          </p:nvPr>
        </p:nvSpPr>
        <p:spPr/>
        <p:txBody>
          <a:bodyPr/>
          <a:lstStyle/>
          <a:p>
            <a:endParaRPr lang="en-US">
              <a:solidFill>
                <a:srgbClr val="FFFFFF"/>
              </a:solidFill>
            </a:endParaRPr>
          </a:p>
        </p:txBody>
      </p:sp>
      <p:sp>
        <p:nvSpPr>
          <p:cNvPr id="4" name="Slide Number Placeholder 3"/>
          <p:cNvSpPr>
            <a:spLocks noGrp="1"/>
          </p:cNvSpPr>
          <p:nvPr>
            <p:ph type="sldNum" sz="quarter" idx="12"/>
          </p:nvPr>
        </p:nvSpPr>
        <p:spPr/>
        <p:txBody>
          <a:bodyPr/>
          <a:lstStyle/>
          <a:p>
            <a:fld id="{79B246E9-9F68-4DAA-918A-3AF792B76734}"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srgbClr val="FFFFFF"/>
              </a:solidFill>
            </a:endParaRPr>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6802119-528B-4236-97EB-674C6395EBC0}"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srgbClr val="FFFFFF"/>
              </a:solidFill>
            </a:endParaRPr>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F8EDAF71-2BD5-48F2-B5E6-E123EFCA8A4F}"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srgbClr val="FFFFFF"/>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C1C9447-6107-4623-AD4E-84A16C9BBF58}"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srgbClr val="FFFFFF"/>
              </a:solidFill>
            </a:endParaRPr>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DA98E65B-0C78-4E55-870E-534D610B07A7}"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a:lvl1pPr>
          </a:lstStyle>
          <a:p>
            <a:endParaRPr lang="en-US">
              <a:solidFill>
                <a:srgbClr val="FFFFFF"/>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solidFill>
                <a:srgbClr val="FFFFFF"/>
              </a:solidFill>
            </a:endParaRPr>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EE4F2C11-9BE6-45B7-BFB8-973B72EDBD67}" type="slidenum">
              <a:rPr lang="en-US">
                <a:solidFill>
                  <a:srgbClr val="FFFFFF"/>
                </a:solidFill>
              </a:rPr>
              <a:pPr/>
              <a:t>‹#›</a:t>
            </a:fld>
            <a:endParaRPr lang="en-US">
              <a:solidFill>
                <a:srgbClr val="FFFFFF"/>
              </a:solidFill>
            </a:endParaRPr>
          </a:p>
        </p:txBody>
      </p:sp>
    </p:spTree>
    <p:extLst>
      <p:ext uri="{BB962C8B-B14F-4D97-AF65-F5344CB8AC3E}">
        <p14:creationId xmlns="" xmlns:p14="http://schemas.microsoft.com/office/powerpoint/2010/main" val="4152125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pPr>
            <a:endParaRPr lang="en-US">
              <a:solidFill>
                <a:srgbClr val="FFFFFF"/>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spcBef>
                <a:spcPct val="0"/>
              </a:spcBef>
              <a:spcAft>
                <a:spcPct val="0"/>
              </a:spcAft>
            </a:pPr>
            <a:endParaRPr lang="en-US">
              <a:solidFill>
                <a:srgbClr val="FFFFFF"/>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8AB77431-1AE6-40BC-9165-30F09F5822AD}" type="slidenum">
              <a:rPr lang="en-US" smtClean="0">
                <a:solidFill>
                  <a:srgbClr val="FFFFFF"/>
                </a:solidFill>
              </a:rPr>
              <a:pPr fontAlgn="base">
                <a:spcBef>
                  <a:spcPct val="0"/>
                </a:spcBef>
                <a:spcAft>
                  <a:spcPct val="0"/>
                </a:spcAft>
              </a:pPr>
              <a:t>‹#›</a:t>
            </a:fld>
            <a:endParaRPr lang="en-US">
              <a:solidFill>
                <a:srgbClr val="FFFFFF"/>
              </a:solidFill>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2.jpeg"/><Relationship Id="rId4" Type="http://schemas.openxmlformats.org/officeDocument/2006/relationships/image" Target="../media/image21.jpeg"/></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ctrTitle"/>
          </p:nvPr>
        </p:nvSpPr>
        <p:spPr>
          <a:xfrm>
            <a:off x="762000" y="838200"/>
            <a:ext cx="7772400" cy="1143000"/>
          </a:xfrm>
        </p:spPr>
        <p:txBody>
          <a:bodyPr/>
          <a:lstStyle/>
          <a:p>
            <a:r>
              <a:rPr lang="en-US" sz="5400" b="1" i="1" dirty="0" err="1" smtClean="0">
                <a:solidFill>
                  <a:srgbClr val="FF0000"/>
                </a:solidFill>
                <a:effectLst/>
                <a:latin typeface="Algerian" pitchFamily="82" charset="0"/>
              </a:rPr>
              <a:t>REOVIRidae</a:t>
            </a:r>
            <a:endParaRPr lang="en-US" sz="5400" b="1" i="1" dirty="0">
              <a:solidFill>
                <a:srgbClr val="FF0000"/>
              </a:solidFill>
              <a:effectLst/>
              <a:latin typeface="Algerian" pitchFamily="82" charset="0"/>
            </a:endParaRPr>
          </a:p>
        </p:txBody>
      </p:sp>
      <p:sp>
        <p:nvSpPr>
          <p:cNvPr id="2053" name="Rectangle 5"/>
          <p:cNvSpPr>
            <a:spLocks noGrp="1" noChangeArrowheads="1"/>
          </p:cNvSpPr>
          <p:nvPr>
            <p:ph type="subTitle" idx="1"/>
          </p:nvPr>
        </p:nvSpPr>
        <p:spPr>
          <a:xfrm>
            <a:off x="304800" y="2971800"/>
            <a:ext cx="6172200" cy="3505200"/>
          </a:xfrm>
        </p:spPr>
        <p:txBody>
          <a:bodyPr/>
          <a:lstStyle/>
          <a:p>
            <a:pPr algn="l">
              <a:lnSpc>
                <a:spcPct val="80000"/>
              </a:lnSpc>
            </a:pPr>
            <a:r>
              <a:rPr lang="en-US" b="1" dirty="0">
                <a:solidFill>
                  <a:schemeClr val="tx1"/>
                </a:solidFill>
              </a:rPr>
              <a:t>reo: respiratory enteric </a:t>
            </a:r>
            <a:r>
              <a:rPr lang="en-US" b="1" dirty="0" smtClean="0">
                <a:solidFill>
                  <a:schemeClr val="tx1"/>
                </a:solidFill>
              </a:rPr>
              <a:t>orphan</a:t>
            </a:r>
          </a:p>
          <a:p>
            <a:pPr algn="l">
              <a:lnSpc>
                <a:spcPct val="80000"/>
              </a:lnSpc>
            </a:pPr>
            <a:endParaRPr lang="en-US" b="1" dirty="0" smtClean="0">
              <a:solidFill>
                <a:schemeClr val="tx1"/>
              </a:solidFill>
            </a:endParaRPr>
          </a:p>
          <a:p>
            <a:pPr algn="l">
              <a:lnSpc>
                <a:spcPct val="80000"/>
              </a:lnSpc>
            </a:pPr>
            <a:r>
              <a:rPr lang="en-US" b="1" dirty="0" smtClean="0">
                <a:solidFill>
                  <a:schemeClr val="tx1"/>
                </a:solidFill>
              </a:rPr>
              <a:t>Baltimore group III </a:t>
            </a:r>
            <a:r>
              <a:rPr lang="en-US" b="1" dirty="0" err="1" smtClean="0">
                <a:solidFill>
                  <a:schemeClr val="tx1"/>
                </a:solidFill>
              </a:rPr>
              <a:t>ds</a:t>
            </a:r>
            <a:r>
              <a:rPr lang="en-US" b="1" dirty="0" smtClean="0">
                <a:solidFill>
                  <a:schemeClr val="tx1"/>
                </a:solidFill>
              </a:rPr>
              <a:t> segmented RNA virus</a:t>
            </a:r>
            <a:endParaRPr lang="en-US" b="1" dirty="0">
              <a:solidFill>
                <a:schemeClr val="tx1"/>
              </a:solidFill>
            </a:endParaRPr>
          </a:p>
          <a:p>
            <a:pPr algn="l">
              <a:lnSpc>
                <a:spcPct val="80000"/>
              </a:lnSpc>
            </a:pPr>
            <a:endParaRPr lang="en-US" b="1" dirty="0">
              <a:solidFill>
                <a:schemeClr val="tx1"/>
              </a:solidFill>
            </a:endParaRPr>
          </a:p>
        </p:txBody>
      </p:sp>
      <p:pic>
        <p:nvPicPr>
          <p:cNvPr id="4" name="Picture 3" descr="fotofront"/>
          <p:cNvPicPr>
            <a:picLocks noGrp="1"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324600" y="2438400"/>
            <a:ext cx="2722563" cy="32766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4952484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533400" y="0"/>
            <a:ext cx="8229600" cy="1139825"/>
          </a:xfrm>
        </p:spPr>
        <p:txBody>
          <a:bodyPr/>
          <a:lstStyle/>
          <a:p>
            <a:r>
              <a:rPr lang="en-US" dirty="0" smtClean="0">
                <a:solidFill>
                  <a:srgbClr val="C00000"/>
                </a:solidFill>
              </a:rPr>
              <a:t>Characteristics </a:t>
            </a:r>
            <a:endParaRPr lang="en-US" dirty="0">
              <a:solidFill>
                <a:srgbClr val="C00000"/>
              </a:solidFill>
            </a:endParaRPr>
          </a:p>
        </p:txBody>
      </p:sp>
      <p:sp>
        <p:nvSpPr>
          <p:cNvPr id="38915" name="Rectangle 3"/>
          <p:cNvSpPr>
            <a:spLocks noGrp="1" noChangeArrowheads="1"/>
          </p:cNvSpPr>
          <p:nvPr>
            <p:ph idx="1"/>
          </p:nvPr>
        </p:nvSpPr>
        <p:spPr>
          <a:xfrm>
            <a:off x="152400" y="1066800"/>
            <a:ext cx="8763000" cy="5791200"/>
          </a:xfrm>
        </p:spPr>
        <p:txBody>
          <a:bodyPr>
            <a:normAutofit/>
          </a:bodyPr>
          <a:lstStyle/>
          <a:p>
            <a:r>
              <a:rPr lang="en-US" sz="2400" dirty="0">
                <a:latin typeface="Times New Roman" pitchFamily="18" charset="0"/>
                <a:cs typeface="Times New Roman" pitchFamily="18" charset="0"/>
              </a:rPr>
              <a:t>First recognized in 1959 ‑</a:t>
            </a:r>
          </a:p>
          <a:p>
            <a:pPr lvl="1"/>
            <a:r>
              <a:rPr lang="en-US" sz="2400" dirty="0">
                <a:latin typeface="Times New Roman" pitchFamily="18" charset="0"/>
                <a:cs typeface="Times New Roman" pitchFamily="18" charset="0"/>
              </a:rPr>
              <a:t>previously classified as echoviruses</a:t>
            </a:r>
          </a:p>
          <a:p>
            <a:r>
              <a:rPr lang="en-US" sz="2400" dirty="0">
                <a:latin typeface="Times New Roman" pitchFamily="18" charset="0"/>
                <a:cs typeface="Times New Roman" pitchFamily="18" charset="0"/>
              </a:rPr>
              <a:t>&gt;150 species in the family </a:t>
            </a:r>
            <a:r>
              <a:rPr lang="en-US" sz="2400" dirty="0" err="1">
                <a:latin typeface="Times New Roman" pitchFamily="18" charset="0"/>
                <a:cs typeface="Times New Roman" pitchFamily="18" charset="0"/>
              </a:rPr>
              <a:t>Reoviridae</a:t>
            </a:r>
            <a:r>
              <a:rPr lang="en-US" sz="2400" dirty="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Infect  invertebrates</a:t>
            </a:r>
            <a:r>
              <a:rPr lang="en-US" sz="2400" dirty="0">
                <a:latin typeface="Times New Roman" pitchFamily="18" charset="0"/>
                <a:cs typeface="Times New Roman" pitchFamily="18" charset="0"/>
              </a:rPr>
              <a:t>, vertebrates and plants, </a:t>
            </a:r>
          </a:p>
          <a:p>
            <a:r>
              <a:rPr lang="en-US" sz="2400" dirty="0" smtClean="0">
                <a:latin typeface="Times New Roman" pitchFamily="18" charset="0"/>
                <a:cs typeface="Times New Roman" pitchFamily="18" charset="0"/>
              </a:rPr>
              <a:t>Genera are </a:t>
            </a:r>
            <a:r>
              <a:rPr lang="en-US" sz="2400" dirty="0">
                <a:latin typeface="Times New Roman" pitchFamily="18" charset="0"/>
                <a:cs typeface="Times New Roman" pitchFamily="18" charset="0"/>
              </a:rPr>
              <a:t>serologically unrelated</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The </a:t>
            </a:r>
            <a:r>
              <a:rPr lang="en-US" sz="2400" dirty="0" err="1" smtClean="0">
                <a:latin typeface="Times New Roman" pitchFamily="18" charset="0"/>
                <a:cs typeface="Times New Roman" pitchFamily="18" charset="0"/>
              </a:rPr>
              <a:t>Reoviridae</a:t>
            </a:r>
            <a:r>
              <a:rPr lang="en-US" sz="2400" dirty="0" smtClean="0">
                <a:latin typeface="Times New Roman" pitchFamily="18" charset="0"/>
                <a:cs typeface="Times New Roman" pitchFamily="18" charset="0"/>
              </a:rPr>
              <a:t> family has 15 recognized genera divided into two subfamilies: </a:t>
            </a:r>
          </a:p>
          <a:p>
            <a:r>
              <a:rPr lang="en-US" sz="2400" b="1" dirty="0" err="1" smtClean="0">
                <a:latin typeface="Times New Roman" pitchFamily="18" charset="0"/>
                <a:cs typeface="Times New Roman" pitchFamily="18" charset="0"/>
              </a:rPr>
              <a:t>Spinareovirinae</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(with </a:t>
            </a:r>
            <a:r>
              <a:rPr lang="en-US" sz="2400" dirty="0" err="1" smtClean="0">
                <a:latin typeface="Times New Roman" pitchFamily="18" charset="0"/>
                <a:cs typeface="Times New Roman" pitchFamily="18" charset="0"/>
              </a:rPr>
              <a:t>virions</a:t>
            </a:r>
            <a:r>
              <a:rPr lang="en-US" sz="2400" dirty="0" smtClean="0">
                <a:latin typeface="Times New Roman" pitchFamily="18" charset="0"/>
                <a:cs typeface="Times New Roman" pitchFamily="18" charset="0"/>
              </a:rPr>
              <a:t> having 12 “spikes” (turrets) protruding from the core through the outer </a:t>
            </a:r>
            <a:r>
              <a:rPr lang="en-US" sz="2400" dirty="0" err="1" smtClean="0">
                <a:latin typeface="Times New Roman" pitchFamily="18" charset="0"/>
                <a:cs typeface="Times New Roman" pitchFamily="18" charset="0"/>
              </a:rPr>
              <a:t>capsid</a:t>
            </a:r>
            <a:r>
              <a:rPr lang="en-US" sz="2400" dirty="0" smtClean="0">
                <a:latin typeface="Times New Roman" pitchFamily="18" charset="0"/>
                <a:cs typeface="Times New Roman" pitchFamily="18" charset="0"/>
              </a:rPr>
              <a:t>, hence “turreted” viruses) and </a:t>
            </a:r>
          </a:p>
          <a:p>
            <a:r>
              <a:rPr lang="en-US" sz="2400" b="1" dirty="0" err="1" smtClean="0">
                <a:latin typeface="Times New Roman" pitchFamily="18" charset="0"/>
                <a:cs typeface="Times New Roman" pitchFamily="18" charset="0"/>
              </a:rPr>
              <a:t>Sedoreovirinae</a:t>
            </a:r>
            <a:r>
              <a:rPr lang="en-US" sz="2400" dirty="0" smtClean="0">
                <a:latin typeface="Times New Roman" pitchFamily="18" charset="0"/>
                <a:cs typeface="Times New Roman" pitchFamily="18" charset="0"/>
              </a:rPr>
              <a:t> (with </a:t>
            </a:r>
            <a:r>
              <a:rPr lang="en-US" sz="2400" dirty="0" err="1" smtClean="0">
                <a:latin typeface="Times New Roman" pitchFamily="18" charset="0"/>
                <a:cs typeface="Times New Roman" pitchFamily="18" charset="0"/>
              </a:rPr>
              <a:t>virions</a:t>
            </a:r>
            <a:r>
              <a:rPr lang="en-US" sz="2400" dirty="0" smtClean="0">
                <a:latin typeface="Times New Roman" pitchFamily="18" charset="0"/>
                <a:cs typeface="Times New Roman" pitchFamily="18" charset="0"/>
              </a:rPr>
              <a:t> having a smooth, </a:t>
            </a:r>
            <a:r>
              <a:rPr lang="en-US" sz="2400" dirty="0" err="1" smtClean="0">
                <a:latin typeface="Times New Roman" pitchFamily="18" charset="0"/>
                <a:cs typeface="Times New Roman" pitchFamily="18" charset="0"/>
              </a:rPr>
              <a:t>unspiked</a:t>
            </a:r>
            <a:r>
              <a:rPr lang="en-US" sz="2400" dirty="0" smtClean="0">
                <a:latin typeface="Times New Roman" pitchFamily="18" charset="0"/>
                <a:cs typeface="Times New Roman" pitchFamily="18" charset="0"/>
              </a:rPr>
              <a:t> appearance and three </a:t>
            </a:r>
            <a:r>
              <a:rPr lang="en-US" sz="2400" dirty="0" err="1" smtClean="0">
                <a:latin typeface="Times New Roman" pitchFamily="18" charset="0"/>
                <a:cs typeface="Times New Roman" pitchFamily="18" charset="0"/>
              </a:rPr>
              <a:t>capsid</a:t>
            </a:r>
            <a:r>
              <a:rPr lang="en-US" sz="2400" dirty="0" smtClean="0">
                <a:latin typeface="Times New Roman" pitchFamily="18" charset="0"/>
                <a:cs typeface="Times New Roman" pitchFamily="18" charset="0"/>
              </a:rPr>
              <a:t> shells, hence “</a:t>
            </a:r>
            <a:r>
              <a:rPr lang="en-US" sz="2400" dirty="0" err="1" smtClean="0">
                <a:latin typeface="Times New Roman" pitchFamily="18" charset="0"/>
                <a:cs typeface="Times New Roman" pitchFamily="18" charset="0"/>
              </a:rPr>
              <a:t>nonturreted</a:t>
            </a:r>
            <a:r>
              <a:rPr lang="en-US" sz="2400" dirty="0" smtClean="0">
                <a:latin typeface="Times New Roman" pitchFamily="18" charset="0"/>
                <a:cs typeface="Times New Roman" pitchFamily="18" charset="0"/>
              </a:rPr>
              <a:t>” viruses)</a:t>
            </a:r>
          </a:p>
        </p:txBody>
      </p:sp>
    </p:spTree>
    <p:extLst>
      <p:ext uri="{BB962C8B-B14F-4D97-AF65-F5344CB8AC3E}">
        <p14:creationId xmlns="" xmlns:p14="http://schemas.microsoft.com/office/powerpoint/2010/main" val="38048849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447800"/>
            <a:ext cx="8610600" cy="4876800"/>
          </a:xfrm>
        </p:spPr>
        <p:txBody>
          <a:bodyPr>
            <a:noAutofit/>
          </a:bodyPr>
          <a:lstStyle/>
          <a:p>
            <a:pPr lvl="0"/>
            <a:endParaRPr lang="en-US" sz="2800" dirty="0" smtClean="0">
              <a:solidFill>
                <a:prstClr val="black"/>
              </a:solidFill>
              <a:latin typeface="Times New Roman" pitchFamily="18" charset="0"/>
              <a:cs typeface="Times New Roman" pitchFamily="18" charset="0"/>
            </a:endParaRPr>
          </a:p>
          <a:p>
            <a:pPr lvl="0"/>
            <a:r>
              <a:rPr lang="en-US" sz="2800" dirty="0" smtClean="0">
                <a:solidFill>
                  <a:prstClr val="black"/>
                </a:solidFill>
                <a:latin typeface="Times New Roman" pitchFamily="18" charset="0"/>
                <a:cs typeface="Times New Roman" pitchFamily="18" charset="0"/>
              </a:rPr>
              <a:t>The </a:t>
            </a:r>
            <a:r>
              <a:rPr lang="en-US" sz="2800" b="1" i="1" dirty="0" err="1" smtClean="0">
                <a:solidFill>
                  <a:prstClr val="black"/>
                </a:solidFill>
                <a:latin typeface="Times New Roman" pitchFamily="18" charset="0"/>
                <a:cs typeface="Times New Roman" pitchFamily="18" charset="0"/>
              </a:rPr>
              <a:t>Spinareovirinae</a:t>
            </a:r>
            <a:r>
              <a:rPr lang="en-US" sz="2800" dirty="0" smtClean="0">
                <a:solidFill>
                  <a:prstClr val="black"/>
                </a:solidFill>
                <a:latin typeface="Times New Roman" pitchFamily="18" charset="0"/>
                <a:cs typeface="Times New Roman" pitchFamily="18" charset="0"/>
              </a:rPr>
              <a:t> comprises nine genera including </a:t>
            </a:r>
            <a:r>
              <a:rPr lang="en-US" sz="2800" b="1" dirty="0" err="1" smtClean="0">
                <a:solidFill>
                  <a:prstClr val="black"/>
                </a:solidFill>
                <a:latin typeface="Times New Roman" pitchFamily="18" charset="0"/>
                <a:cs typeface="Times New Roman" pitchFamily="18" charset="0"/>
              </a:rPr>
              <a:t>Orthoreoviruses</a:t>
            </a:r>
            <a:r>
              <a:rPr lang="en-US" sz="2800" b="1" dirty="0" smtClean="0">
                <a:solidFill>
                  <a:prstClr val="black"/>
                </a:solidFill>
                <a:latin typeface="Times New Roman" pitchFamily="18" charset="0"/>
                <a:cs typeface="Times New Roman" pitchFamily="18" charset="0"/>
              </a:rPr>
              <a:t>, </a:t>
            </a:r>
            <a:r>
              <a:rPr lang="en-US" sz="2800" b="1" dirty="0" err="1" smtClean="0">
                <a:solidFill>
                  <a:prstClr val="black"/>
                </a:solidFill>
                <a:latin typeface="Times New Roman" pitchFamily="18" charset="0"/>
                <a:cs typeface="Times New Roman" pitchFamily="18" charset="0"/>
              </a:rPr>
              <a:t>Aquareoviruses</a:t>
            </a:r>
            <a:r>
              <a:rPr lang="en-US" sz="2800" b="1" dirty="0" smtClean="0">
                <a:solidFill>
                  <a:prstClr val="black"/>
                </a:solidFill>
                <a:latin typeface="Times New Roman" pitchFamily="18" charset="0"/>
                <a:cs typeface="Times New Roman" pitchFamily="18" charset="0"/>
              </a:rPr>
              <a:t>, and </a:t>
            </a:r>
            <a:r>
              <a:rPr lang="en-US" sz="2800" b="1" dirty="0" err="1" smtClean="0">
                <a:solidFill>
                  <a:prstClr val="black"/>
                </a:solidFill>
                <a:latin typeface="Times New Roman" pitchFamily="18" charset="0"/>
                <a:cs typeface="Times New Roman" pitchFamily="18" charset="0"/>
              </a:rPr>
              <a:t>Coltiviruses</a:t>
            </a:r>
            <a:r>
              <a:rPr lang="en-US" sz="2800" dirty="0" smtClean="0">
                <a:solidFill>
                  <a:prstClr val="black"/>
                </a:solidFill>
                <a:latin typeface="Times New Roman" pitchFamily="18" charset="0"/>
                <a:cs typeface="Times New Roman" pitchFamily="18" charset="0"/>
              </a:rPr>
              <a:t> that infect a variety of animal species.</a:t>
            </a:r>
          </a:p>
          <a:p>
            <a:pPr lvl="0"/>
            <a:endParaRPr lang="en-US" sz="2800" dirty="0" smtClean="0">
              <a:solidFill>
                <a:prstClr val="black"/>
              </a:solidFill>
              <a:latin typeface="Times New Roman" pitchFamily="18" charset="0"/>
              <a:cs typeface="Times New Roman" pitchFamily="18" charset="0"/>
            </a:endParaRPr>
          </a:p>
          <a:p>
            <a:pPr lvl="0"/>
            <a:r>
              <a:rPr lang="en-US" sz="2800" dirty="0" smtClean="0">
                <a:solidFill>
                  <a:prstClr val="black"/>
                </a:solidFill>
                <a:latin typeface="Times New Roman" pitchFamily="18" charset="0"/>
                <a:cs typeface="Times New Roman" pitchFamily="18" charset="0"/>
              </a:rPr>
              <a:t>The </a:t>
            </a:r>
            <a:r>
              <a:rPr lang="en-US" sz="2800" b="1" i="1" dirty="0" err="1" smtClean="0">
                <a:solidFill>
                  <a:prstClr val="black"/>
                </a:solidFill>
                <a:latin typeface="Times New Roman" pitchFamily="18" charset="0"/>
                <a:cs typeface="Times New Roman" pitchFamily="18" charset="0"/>
              </a:rPr>
              <a:t>Sedoreovirinae</a:t>
            </a:r>
            <a:r>
              <a:rPr lang="en-US" sz="2800" b="1" i="1" dirty="0" smtClean="0">
                <a:solidFill>
                  <a:prstClr val="black"/>
                </a:solidFill>
                <a:latin typeface="Times New Roman" pitchFamily="18" charset="0"/>
                <a:cs typeface="Times New Roman" pitchFamily="18" charset="0"/>
              </a:rPr>
              <a:t> </a:t>
            </a:r>
            <a:r>
              <a:rPr lang="en-US" sz="2800" dirty="0" smtClean="0">
                <a:solidFill>
                  <a:prstClr val="black"/>
                </a:solidFill>
                <a:latin typeface="Times New Roman" pitchFamily="18" charset="0"/>
                <a:cs typeface="Times New Roman" pitchFamily="18" charset="0"/>
              </a:rPr>
              <a:t>comprises six genera that include important pathogens of domestic animals and humans. Included genera </a:t>
            </a:r>
            <a:r>
              <a:rPr lang="en-US" sz="2800" b="1" dirty="0" err="1" smtClean="0">
                <a:solidFill>
                  <a:prstClr val="black"/>
                </a:solidFill>
                <a:latin typeface="Times New Roman" pitchFamily="18" charset="0"/>
                <a:cs typeface="Times New Roman" pitchFamily="18" charset="0"/>
              </a:rPr>
              <a:t>Orbivirus</a:t>
            </a:r>
            <a:r>
              <a:rPr lang="en-US" sz="2800" b="1" dirty="0" smtClean="0">
                <a:solidFill>
                  <a:prstClr val="black"/>
                </a:solidFill>
                <a:latin typeface="Times New Roman" pitchFamily="18" charset="0"/>
                <a:cs typeface="Times New Roman" pitchFamily="18" charset="0"/>
              </a:rPr>
              <a:t>, Rotavirus, and </a:t>
            </a:r>
            <a:r>
              <a:rPr lang="en-US" sz="2800" b="1" dirty="0" err="1" smtClean="0">
                <a:solidFill>
                  <a:prstClr val="black"/>
                </a:solidFill>
                <a:latin typeface="Times New Roman" pitchFamily="18" charset="0"/>
                <a:cs typeface="Times New Roman" pitchFamily="18" charset="0"/>
              </a:rPr>
              <a:t>Seadornavirus</a:t>
            </a:r>
            <a:endParaRPr lang="en-US" sz="2800" b="1" dirty="0" smtClean="0">
              <a:solidFill>
                <a:prstClr val="black"/>
              </a:solidFill>
              <a:latin typeface="Times New Roman" pitchFamily="18" charset="0"/>
              <a:cs typeface="Times New Roman"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Group 2"/>
          <p:cNvGraphicFramePr>
            <a:graphicFrameLocks noGrp="1"/>
          </p:cNvGraphicFramePr>
          <p:nvPr/>
        </p:nvGraphicFramePr>
        <p:xfrm>
          <a:off x="381000" y="706438"/>
          <a:ext cx="8610600" cy="5943600"/>
        </p:xfrm>
        <a:graphic>
          <a:graphicData uri="http://schemas.openxmlformats.org/drawingml/2006/table">
            <a:tbl>
              <a:tblPr/>
              <a:tblGrid>
                <a:gridCol w="1981200"/>
                <a:gridCol w="1447800"/>
                <a:gridCol w="1828800"/>
                <a:gridCol w="2286000"/>
                <a:gridCol w="1066800"/>
              </a:tblGrid>
              <a:tr h="180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Arial Narrow" pitchFamily="34" charset="0"/>
                        </a:rPr>
                        <a:t>Genus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Arial Narrow" pitchFamily="34" charset="0"/>
                        </a:rPr>
                        <a:t>Segments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Arial Narrow" pitchFamily="34" charset="0"/>
                        </a:rPr>
                        <a:t>Host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Arial Narrow" pitchFamily="34" charset="0"/>
                        </a:rPr>
                        <a:t>Vector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74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Orthoreovirus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dirty="0" smtClean="0">
                          <a:ln>
                            <a:noFill/>
                          </a:ln>
                          <a:solidFill>
                            <a:schemeClr val="tx1"/>
                          </a:solidFill>
                          <a:effectLst/>
                          <a:latin typeface="Arial Narrow" pitchFamily="34" charset="0"/>
                        </a:rPr>
                        <a:t>Mammals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dirty="0" smtClean="0">
                          <a:ln>
                            <a:noFill/>
                          </a:ln>
                          <a:solidFill>
                            <a:schemeClr val="tx1"/>
                          </a:solidFill>
                          <a:effectLst/>
                          <a:latin typeface="Arial Narrow" pitchFamily="34" charset="0"/>
                        </a:rPr>
                        <a:t>None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dirty="0" err="1" smtClean="0">
                          <a:ln>
                            <a:noFill/>
                          </a:ln>
                          <a:solidFill>
                            <a:schemeClr val="tx1"/>
                          </a:solidFill>
                          <a:effectLst/>
                          <a:latin typeface="Arial Narrow" pitchFamily="34" charset="0"/>
                        </a:rPr>
                        <a:t>Orbivirus</a:t>
                      </a:r>
                      <a:endParaRPr kumimoji="0" lang="en-US" sz="2400" b="0" i="0" u="none" strike="noStrike" cap="none" normalizeH="0" baseline="0" dirty="0" smtClean="0">
                        <a:ln>
                          <a:noFill/>
                        </a:ln>
                        <a:solidFill>
                          <a:schemeClr val="tx1"/>
                        </a:solidFill>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Mammals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Mosquitoes, flies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Rotavirus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Mammals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None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74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Coltivirus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Mammals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Ticks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Seadornavirus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Mammals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Ticks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Aquareovirus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Fish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None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Hypexreovirus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Mammals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None </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74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Cypovirus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Insect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None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Fijivirus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Plant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Planthopper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Phytoreovirus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Plant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Leafhopper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174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Oryzavirus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Plant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Planthopper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Mycoreovirus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11 or 12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Fungi</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sz="2400" b="0" i="0" u="none" strike="noStrike" cap="none" normalizeH="0" baseline="0" smtClean="0">
                          <a:ln>
                            <a:noFill/>
                          </a:ln>
                          <a:solidFill>
                            <a:schemeClr val="tx1"/>
                          </a:solidFill>
                          <a:effectLst/>
                          <a:latin typeface="Arial Narrow" pitchFamily="34" charset="0"/>
                        </a:rPr>
                        <a:t>None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Arial Narrow"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71768" name="Text Box 88"/>
          <p:cNvSpPr txBox="1">
            <a:spLocks noChangeArrowheads="1"/>
          </p:cNvSpPr>
          <p:nvPr/>
        </p:nvSpPr>
        <p:spPr bwMode="auto">
          <a:xfrm>
            <a:off x="3070225" y="44450"/>
            <a:ext cx="3422732"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sz="3600" b="1" dirty="0">
                <a:solidFill>
                  <a:schemeClr val="tx2"/>
                </a:solidFill>
                <a:latin typeface="Arial Narrow" pitchFamily="34" charset="0"/>
              </a:rPr>
              <a:t>Family </a:t>
            </a:r>
            <a:r>
              <a:rPr lang="en-US" sz="3600" b="1" i="1" dirty="0" err="1">
                <a:solidFill>
                  <a:schemeClr val="tx2"/>
                </a:solidFill>
                <a:latin typeface="Arial Narrow" pitchFamily="34" charset="0"/>
              </a:rPr>
              <a:t>Reoviridae</a:t>
            </a:r>
            <a:endParaRPr lang="en-US" sz="3600" b="1" dirty="0">
              <a:solidFill>
                <a:schemeClr val="tx2"/>
              </a:solidFill>
              <a:latin typeface="Arial Narrow" pitchFamily="34" charset="0"/>
            </a:endParaRPr>
          </a:p>
        </p:txBody>
      </p:sp>
    </p:spTree>
    <p:extLst>
      <p:ext uri="{BB962C8B-B14F-4D97-AF65-F5344CB8AC3E}">
        <p14:creationId xmlns="" xmlns:p14="http://schemas.microsoft.com/office/powerpoint/2010/main" val="22430296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solidFill>
                  <a:srgbClr val="C00000"/>
                </a:solidFill>
              </a:rPr>
              <a:t>Structure </a:t>
            </a:r>
            <a:endParaRPr lang="en-US" b="1" dirty="0">
              <a:solidFill>
                <a:srgbClr val="C00000"/>
              </a:solidFill>
            </a:endParaRPr>
          </a:p>
        </p:txBody>
      </p:sp>
      <p:sp>
        <p:nvSpPr>
          <p:cNvPr id="3" name="Content Placeholder 2"/>
          <p:cNvSpPr>
            <a:spLocks noGrp="1"/>
          </p:cNvSpPr>
          <p:nvPr>
            <p:ph idx="1"/>
          </p:nvPr>
        </p:nvSpPr>
        <p:spPr>
          <a:xfrm>
            <a:off x="228600" y="1371600"/>
            <a:ext cx="8915400" cy="5029200"/>
          </a:xfrm>
        </p:spPr>
        <p:txBody>
          <a:bodyPr>
            <a:noAutofit/>
          </a:bodyPr>
          <a:lstStyle/>
          <a:p>
            <a:r>
              <a:rPr lang="en-US" sz="2800" dirty="0" smtClean="0">
                <a:latin typeface="Times New Roman" pitchFamily="18" charset="0"/>
                <a:cs typeface="Times New Roman" pitchFamily="18" charset="0"/>
              </a:rPr>
              <a:t>These are non-enveloped.</a:t>
            </a:r>
          </a:p>
          <a:p>
            <a:r>
              <a:rPr lang="en-US" sz="2800" dirty="0" smtClean="0">
                <a:latin typeface="Times New Roman" pitchFamily="18" charset="0"/>
                <a:cs typeface="Times New Roman" pitchFamily="18" charset="0"/>
              </a:rPr>
              <a:t>Two or three </a:t>
            </a:r>
            <a:r>
              <a:rPr lang="en-US" sz="2800" dirty="0" err="1" smtClean="0">
                <a:latin typeface="Times New Roman" pitchFamily="18" charset="0"/>
                <a:cs typeface="Times New Roman" pitchFamily="18" charset="0"/>
              </a:rPr>
              <a:t>capsid</a:t>
            </a:r>
            <a:r>
              <a:rPr lang="en-US" sz="2800" dirty="0" smtClean="0">
                <a:latin typeface="Times New Roman" pitchFamily="18" charset="0"/>
                <a:cs typeface="Times New Roman" pitchFamily="18" charset="0"/>
              </a:rPr>
              <a:t> layers (double or triple layer </a:t>
            </a:r>
            <a:r>
              <a:rPr lang="en-US" sz="2800" dirty="0" err="1" smtClean="0">
                <a:latin typeface="Times New Roman" pitchFamily="18" charset="0"/>
                <a:cs typeface="Times New Roman" pitchFamily="18" charset="0"/>
              </a:rPr>
              <a:t>capsids</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Genome- linear double stranded RNA 10-12 segments.</a:t>
            </a:r>
          </a:p>
          <a:p>
            <a:r>
              <a:rPr lang="en-GB" sz="2800" dirty="0" smtClean="0">
                <a:latin typeface="Times New Roman" pitchFamily="18" charset="0"/>
                <a:cs typeface="Times New Roman" pitchFamily="18" charset="0"/>
              </a:rPr>
              <a:t> Proteins are encoded on one strand only of each duplex (the mRNA species)</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The genome size may vary from 16 -27 </a:t>
            </a:r>
            <a:r>
              <a:rPr lang="en-US" sz="2800" dirty="0" err="1" smtClean="0">
                <a:latin typeface="Times New Roman" pitchFamily="18" charset="0"/>
                <a:cs typeface="Times New Roman" pitchFamily="18" charset="0"/>
              </a:rPr>
              <a:t>kbp</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Positive strand has 5’ terminal cap.</a:t>
            </a:r>
          </a:p>
          <a:p>
            <a:r>
              <a:rPr lang="en-US" sz="2800" dirty="0" smtClean="0">
                <a:latin typeface="Times New Roman" pitchFamily="18" charset="0"/>
                <a:cs typeface="Times New Roman" pitchFamily="18" charset="0"/>
              </a:rPr>
              <a:t>Negative strand has 5’ terminal phosphorylation.</a:t>
            </a:r>
          </a:p>
          <a:p>
            <a:r>
              <a:rPr lang="en-US" sz="2800" dirty="0" smtClean="0">
                <a:latin typeface="Times New Roman" pitchFamily="18" charset="0"/>
                <a:cs typeface="Times New Roman" pitchFamily="18" charset="0"/>
              </a:rPr>
              <a:t>3’ end has poly A tail.</a:t>
            </a:r>
          </a:p>
          <a:p>
            <a:pPr marL="0" indent="0">
              <a:buNone/>
            </a:pPr>
            <a:endParaRPr lang="en-US" sz="2800" dirty="0" smtClean="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23535156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39825"/>
          </a:xfrm>
        </p:spPr>
        <p:txBody>
          <a:bodyPr/>
          <a:lstStyle/>
          <a:p>
            <a:r>
              <a:rPr lang="en-US" b="1" dirty="0" smtClean="0">
                <a:solidFill>
                  <a:srgbClr val="FF0000"/>
                </a:solidFill>
              </a:rPr>
              <a:t>Replication </a:t>
            </a:r>
            <a:endParaRPr lang="en-US" b="1" dirty="0">
              <a:solidFill>
                <a:srgbClr val="FF0000"/>
              </a:solidFill>
            </a:endParaRPr>
          </a:p>
        </p:txBody>
      </p:sp>
      <p:sp>
        <p:nvSpPr>
          <p:cNvPr id="3" name="Content Placeholder 2"/>
          <p:cNvSpPr>
            <a:spLocks noGrp="1"/>
          </p:cNvSpPr>
          <p:nvPr>
            <p:ph idx="1"/>
          </p:nvPr>
        </p:nvSpPr>
        <p:spPr>
          <a:xfrm>
            <a:off x="152400" y="1066800"/>
            <a:ext cx="8839200" cy="5562600"/>
          </a:xfrm>
        </p:spPr>
        <p:txBody>
          <a:bodyPr>
            <a:noAutofit/>
          </a:bodyPr>
          <a:lstStyle/>
          <a:p>
            <a:r>
              <a:rPr lang="en-US" sz="2400" dirty="0" err="1" smtClean="0">
                <a:effectLst/>
                <a:latin typeface="Times New Roman" pitchFamily="18" charset="0"/>
                <a:cs typeface="Times New Roman" pitchFamily="18" charset="0"/>
              </a:rPr>
              <a:t>Reoviruses</a:t>
            </a:r>
            <a:r>
              <a:rPr lang="en-US" sz="2400" dirty="0" smtClean="0">
                <a:effectLst/>
                <a:latin typeface="Times New Roman" pitchFamily="18" charset="0"/>
                <a:cs typeface="Times New Roman" pitchFamily="18" charset="0"/>
              </a:rPr>
              <a:t> have three highly interesting and characteristic features regarding replication.</a:t>
            </a:r>
          </a:p>
          <a:p>
            <a:r>
              <a:rPr lang="en-US" sz="2400" dirty="0" smtClean="0">
                <a:effectLst/>
                <a:latin typeface="Times New Roman" pitchFamily="18" charset="0"/>
                <a:cs typeface="Times New Roman" pitchFamily="18" charset="0"/>
              </a:rPr>
              <a:t>They are </a:t>
            </a:r>
            <a:r>
              <a:rPr lang="en-US" sz="2400" dirty="0" err="1" smtClean="0">
                <a:effectLst/>
                <a:latin typeface="Times New Roman" pitchFamily="18" charset="0"/>
                <a:cs typeface="Times New Roman" pitchFamily="18" charset="0"/>
              </a:rPr>
              <a:t>dsRNA</a:t>
            </a:r>
            <a:r>
              <a:rPr lang="en-US" sz="2400" dirty="0" smtClean="0">
                <a:effectLst/>
                <a:latin typeface="Times New Roman" pitchFamily="18" charset="0"/>
                <a:cs typeface="Times New Roman" pitchFamily="18" charset="0"/>
              </a:rPr>
              <a:t> viruses which replicate in the cytoplasm in the </a:t>
            </a:r>
            <a:r>
              <a:rPr lang="en-US" sz="2400" dirty="0" err="1" smtClean="0">
                <a:effectLst/>
                <a:latin typeface="Times New Roman" pitchFamily="18" charset="0"/>
                <a:cs typeface="Times New Roman" pitchFamily="18" charset="0"/>
              </a:rPr>
              <a:t>viroplasms</a:t>
            </a:r>
            <a:r>
              <a:rPr lang="en-US" sz="2400" dirty="0" smtClean="0">
                <a:effectLst/>
                <a:latin typeface="Times New Roman" pitchFamily="18" charset="0"/>
                <a:cs typeface="Times New Roman" pitchFamily="18" charset="0"/>
              </a:rPr>
              <a:t>  or viral inclusion bodies.</a:t>
            </a:r>
          </a:p>
          <a:p>
            <a:r>
              <a:rPr lang="en-US" sz="2400" dirty="0" smtClean="0">
                <a:effectLst/>
                <a:latin typeface="Times New Roman" pitchFamily="18" charset="0"/>
                <a:cs typeface="Times New Roman" pitchFamily="18" charset="0"/>
              </a:rPr>
              <a:t>They </a:t>
            </a:r>
            <a:r>
              <a:rPr lang="en-US" sz="2400" b="1" dirty="0" smtClean="0">
                <a:effectLst/>
                <a:latin typeface="Times New Roman" pitchFamily="18" charset="0"/>
                <a:cs typeface="Times New Roman" pitchFamily="18" charset="0"/>
              </a:rPr>
              <a:t>do not fully </a:t>
            </a:r>
            <a:r>
              <a:rPr lang="en-US" sz="2400" b="1" dirty="0" err="1" smtClean="0">
                <a:effectLst/>
                <a:latin typeface="Times New Roman" pitchFamily="18" charset="0"/>
                <a:cs typeface="Times New Roman" pitchFamily="18" charset="0"/>
              </a:rPr>
              <a:t>uncoat</a:t>
            </a:r>
            <a:r>
              <a:rPr lang="en-US" sz="2400" b="1" dirty="0" smtClean="0">
                <a:effectLst/>
                <a:latin typeface="Times New Roman" pitchFamily="18" charset="0"/>
                <a:cs typeface="Times New Roman" pitchFamily="18" charset="0"/>
              </a:rPr>
              <a:t> </a:t>
            </a:r>
            <a:r>
              <a:rPr lang="en-US" sz="2400" dirty="0" smtClean="0">
                <a:effectLst/>
                <a:latin typeface="Times New Roman" pitchFamily="18" charset="0"/>
                <a:cs typeface="Times New Roman" pitchFamily="18" charset="0"/>
              </a:rPr>
              <a:t>during the process of replication as the coat is resistant to protease digestion, which prevents them from being completely destroyed by the infected cell. </a:t>
            </a:r>
          </a:p>
          <a:p>
            <a:r>
              <a:rPr lang="en-US" sz="2400" dirty="0" smtClean="0">
                <a:effectLst/>
                <a:latin typeface="Times New Roman" pitchFamily="18" charset="0"/>
                <a:cs typeface="Times New Roman" pitchFamily="18" charset="0"/>
              </a:rPr>
              <a:t>The mRNA used in translation is synthesized from the negative strand of the </a:t>
            </a:r>
            <a:r>
              <a:rPr lang="en-US" sz="2400" dirty="0" err="1" smtClean="0">
                <a:effectLst/>
                <a:latin typeface="Times New Roman" pitchFamily="18" charset="0"/>
                <a:cs typeface="Times New Roman" pitchFamily="18" charset="0"/>
              </a:rPr>
              <a:t>dsRNA</a:t>
            </a:r>
            <a:r>
              <a:rPr lang="en-US" sz="2400" dirty="0" smtClean="0">
                <a:effectLst/>
                <a:latin typeface="Times New Roman" pitchFamily="18" charset="0"/>
                <a:cs typeface="Times New Roman" pitchFamily="18" charset="0"/>
              </a:rPr>
              <a:t>. Each negative strand produces many positive strands using particle-associated transcriptase. </a:t>
            </a:r>
          </a:p>
          <a:p>
            <a:r>
              <a:rPr lang="en-US" sz="2400" dirty="0" smtClean="0">
                <a:effectLst/>
                <a:latin typeface="Times New Roman" pitchFamily="18" charset="0"/>
                <a:cs typeface="Times New Roman" pitchFamily="18" charset="0"/>
              </a:rPr>
              <a:t>Neither of the strands of </a:t>
            </a:r>
            <a:r>
              <a:rPr lang="en-US" sz="2400" dirty="0" err="1" smtClean="0">
                <a:effectLst/>
                <a:latin typeface="Times New Roman" pitchFamily="18" charset="0"/>
                <a:cs typeface="Times New Roman" pitchFamily="18" charset="0"/>
              </a:rPr>
              <a:t>dsRNA</a:t>
            </a:r>
            <a:r>
              <a:rPr lang="en-US" sz="2400" dirty="0" smtClean="0">
                <a:effectLst/>
                <a:latin typeface="Times New Roman" pitchFamily="18" charset="0"/>
                <a:cs typeface="Times New Roman" pitchFamily="18" charset="0"/>
              </a:rPr>
              <a:t> appear among the transcription products, and both strands remain in the uncoated core particle. </a:t>
            </a:r>
          </a:p>
          <a:p>
            <a:pPr>
              <a:buNone/>
            </a:pPr>
            <a:r>
              <a:rPr lang="en-US" sz="2400" dirty="0" smtClean="0">
                <a:latin typeface="Times New Roman" pitchFamily="18" charset="0"/>
                <a:cs typeface="Times New Roman" pitchFamily="18" charset="0"/>
              </a:rPr>
              <a:t>Conservative replication</a:t>
            </a:r>
            <a:endParaRPr lang="en-US" sz="2400" dirty="0" smtClean="0">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533400"/>
            <a:ext cx="8229600" cy="4525963"/>
          </a:xfrm>
        </p:spPr>
        <p:txBody>
          <a:bodyPr>
            <a:noAutofit/>
          </a:bodyPr>
          <a:lstStyle/>
          <a:p>
            <a:r>
              <a:rPr lang="en-GB" sz="2800" dirty="0" smtClean="0">
                <a:latin typeface="Times New Roman" pitchFamily="18" charset="0"/>
                <a:cs typeface="Times New Roman" pitchFamily="18" charset="0"/>
              </a:rPr>
              <a:t>Following entry into the cells, the viral outer </a:t>
            </a:r>
            <a:r>
              <a:rPr lang="en-GB" sz="2800" dirty="0" err="1" smtClean="0">
                <a:latin typeface="Times New Roman" pitchFamily="18" charset="0"/>
                <a:cs typeface="Times New Roman" pitchFamily="18" charset="0"/>
              </a:rPr>
              <a:t>capsid</a:t>
            </a:r>
            <a:r>
              <a:rPr lang="en-GB" sz="2800" dirty="0" smtClean="0">
                <a:latin typeface="Times New Roman" pitchFamily="18" charset="0"/>
                <a:cs typeface="Times New Roman" pitchFamily="18" charset="0"/>
              </a:rPr>
              <a:t> is </a:t>
            </a:r>
            <a:r>
              <a:rPr lang="en-GB" sz="2800" dirty="0" err="1" smtClean="0">
                <a:latin typeface="Times New Roman" pitchFamily="18" charset="0"/>
                <a:cs typeface="Times New Roman" pitchFamily="18" charset="0"/>
              </a:rPr>
              <a:t>proteolytically</a:t>
            </a:r>
            <a:r>
              <a:rPr lang="en-GB" sz="2800" dirty="0" smtClean="0">
                <a:latin typeface="Times New Roman" pitchFamily="18" charset="0"/>
                <a:cs typeface="Times New Roman" pitchFamily="18" charset="0"/>
              </a:rPr>
              <a:t> cleaved in the late </a:t>
            </a:r>
            <a:r>
              <a:rPr lang="en-GB" sz="2800" dirty="0" err="1" smtClean="0">
                <a:latin typeface="Times New Roman" pitchFamily="18" charset="0"/>
                <a:cs typeface="Times New Roman" pitchFamily="18" charset="0"/>
              </a:rPr>
              <a:t>endosomes</a:t>
            </a:r>
            <a:r>
              <a:rPr lang="en-GB" sz="2800" dirty="0" smtClean="0">
                <a:latin typeface="Times New Roman" pitchFamily="18" charset="0"/>
                <a:cs typeface="Times New Roman" pitchFamily="18" charset="0"/>
              </a:rPr>
              <a:t> to form </a:t>
            </a:r>
            <a:r>
              <a:rPr lang="en-GB" sz="2800" dirty="0" err="1" smtClean="0">
                <a:latin typeface="Times New Roman" pitchFamily="18" charset="0"/>
                <a:cs typeface="Times New Roman" pitchFamily="18" charset="0"/>
              </a:rPr>
              <a:t>transcriptionally</a:t>
            </a:r>
            <a:r>
              <a:rPr lang="en-GB" sz="2800" dirty="0" smtClean="0">
                <a:latin typeface="Times New Roman" pitchFamily="18" charset="0"/>
                <a:cs typeface="Times New Roman" pitchFamily="18" charset="0"/>
              </a:rPr>
              <a:t> active cores.</a:t>
            </a:r>
          </a:p>
          <a:p>
            <a:r>
              <a:rPr lang="en-GB" sz="2800" dirty="0" smtClean="0">
                <a:latin typeface="Times New Roman" pitchFamily="18" charset="0"/>
                <a:cs typeface="Times New Roman" pitchFamily="18" charset="0"/>
              </a:rPr>
              <a:t> These particles are released into the cytoplasm and synthesize full-length, positive-sense, capped, and non-</a:t>
            </a:r>
            <a:r>
              <a:rPr lang="en-GB" sz="2800" dirty="0" err="1" smtClean="0">
                <a:latin typeface="Times New Roman" pitchFamily="18" charset="0"/>
                <a:cs typeface="Times New Roman" pitchFamily="18" charset="0"/>
              </a:rPr>
              <a:t>polyadenylated</a:t>
            </a:r>
            <a:r>
              <a:rPr lang="en-GB" sz="2800" dirty="0" smtClean="0">
                <a:latin typeface="Times New Roman" pitchFamily="18" charset="0"/>
                <a:cs typeface="Times New Roman" pitchFamily="18" charset="0"/>
              </a:rPr>
              <a:t> single-stranded RNAs (</a:t>
            </a:r>
            <a:r>
              <a:rPr lang="en-GB" sz="2800" dirty="0" err="1" smtClean="0">
                <a:latin typeface="Times New Roman" pitchFamily="18" charset="0"/>
                <a:cs typeface="Times New Roman" pitchFamily="18" charset="0"/>
              </a:rPr>
              <a:t>ssRNAs</a:t>
            </a:r>
            <a:r>
              <a:rPr lang="en-GB" sz="2800" dirty="0" smtClean="0">
                <a:latin typeface="Times New Roman" pitchFamily="18" charset="0"/>
                <a:cs typeface="Times New Roman" pitchFamily="18" charset="0"/>
              </a:rPr>
              <a:t>) corresponding to each viral genome segment</a:t>
            </a:r>
          </a:p>
          <a:p>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Reovirus</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ssRNAs</a:t>
            </a:r>
            <a:r>
              <a:rPr lang="en-GB" sz="2800" dirty="0" smtClean="0">
                <a:latin typeface="Times New Roman" pitchFamily="18" charset="0"/>
                <a:cs typeface="Times New Roman" pitchFamily="18" charset="0"/>
              </a:rPr>
              <a:t> are translated to synthesize new viral proteins and also serve as templates for negative-sense </a:t>
            </a:r>
            <a:r>
              <a:rPr lang="en-GB" sz="2800" dirty="0" err="1" smtClean="0">
                <a:latin typeface="Times New Roman" pitchFamily="18" charset="0"/>
                <a:cs typeface="Times New Roman" pitchFamily="18" charset="0"/>
              </a:rPr>
              <a:t>ssRNA</a:t>
            </a:r>
            <a:r>
              <a:rPr lang="en-GB" sz="2800" dirty="0" smtClean="0">
                <a:latin typeface="Times New Roman" pitchFamily="18" charset="0"/>
                <a:cs typeface="Times New Roman" pitchFamily="18" charset="0"/>
              </a:rPr>
              <a:t> synthesis within the </a:t>
            </a:r>
            <a:r>
              <a:rPr lang="en-GB" sz="2800" dirty="0" err="1" smtClean="0">
                <a:latin typeface="Times New Roman" pitchFamily="18" charset="0"/>
                <a:cs typeface="Times New Roman" pitchFamily="18" charset="0"/>
              </a:rPr>
              <a:t>replicase</a:t>
            </a:r>
            <a:r>
              <a:rPr lang="en-GB" sz="2800" dirty="0" smtClean="0">
                <a:latin typeface="Times New Roman" pitchFamily="18" charset="0"/>
                <a:cs typeface="Times New Roman" pitchFamily="18" charset="0"/>
              </a:rPr>
              <a:t> particles to produce nascent genomic </a:t>
            </a:r>
            <a:r>
              <a:rPr lang="en-GB" sz="2800" dirty="0" err="1" smtClean="0">
                <a:latin typeface="Times New Roman" pitchFamily="18" charset="0"/>
                <a:cs typeface="Times New Roman" pitchFamily="18" charset="0"/>
              </a:rPr>
              <a:t>dsRNA</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Figure 2.Reovira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Reoviridae - ScienceDirec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Reoviridae - ScienceDirec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2" name="Picture 8" descr="Viruses | Free Full-Text | Function, Architecture, and Biogenesis of  Reovirus Replication Neoorganelles | HTML"/>
          <p:cNvPicPr>
            <a:picLocks noChangeAspect="1" noChangeArrowheads="1"/>
          </p:cNvPicPr>
          <p:nvPr/>
        </p:nvPicPr>
        <p:blipFill>
          <a:blip r:embed="rId2" cstate="print"/>
          <a:srcRect/>
          <a:stretch>
            <a:fillRect/>
          </a:stretch>
        </p:blipFill>
        <p:spPr bwMode="auto">
          <a:xfrm>
            <a:off x="304800" y="457200"/>
            <a:ext cx="8482787" cy="6005513"/>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2"/>
          <p:cNvSpPr>
            <a:spLocks noGrp="1" noChangeArrowheads="1"/>
          </p:cNvSpPr>
          <p:nvPr>
            <p:ph type="ctrTitle"/>
          </p:nvPr>
        </p:nvSpPr>
        <p:spPr/>
        <p:txBody>
          <a:bodyPr>
            <a:normAutofit/>
          </a:bodyPr>
          <a:lstStyle/>
          <a:p>
            <a:pPr eaLnBrk="1" hangingPunct="1"/>
            <a:r>
              <a:rPr lang="en-US" altLang="en-US" sz="4800" b="1" dirty="0" smtClean="0">
                <a:solidFill>
                  <a:srgbClr val="FF0000"/>
                </a:solidFill>
                <a:latin typeface="Algerian" pitchFamily="82" charset="0"/>
              </a:rPr>
              <a:t>Blue-tongue</a:t>
            </a:r>
          </a:p>
        </p:txBody>
      </p:sp>
      <p:sp>
        <p:nvSpPr>
          <p:cNvPr id="59395" name="Rectangle 13"/>
          <p:cNvSpPr>
            <a:spLocks noGrp="1" noChangeArrowheads="1"/>
          </p:cNvSpPr>
          <p:nvPr>
            <p:ph type="subTitle" idx="1"/>
          </p:nvPr>
        </p:nvSpPr>
        <p:spPr>
          <a:xfrm>
            <a:off x="1368425" y="3716338"/>
            <a:ext cx="7159625" cy="1752600"/>
          </a:xfrm>
        </p:spPr>
        <p:txBody>
          <a:bodyPr/>
          <a:lstStyle/>
          <a:p>
            <a:pPr eaLnBrk="1" hangingPunct="1"/>
            <a:r>
              <a:rPr lang="en-US" altLang="en-US" b="1" dirty="0" smtClean="0">
                <a:solidFill>
                  <a:schemeClr val="tx1"/>
                </a:solidFill>
                <a:latin typeface="Times New Roman" pitchFamily="18" charset="0"/>
                <a:cs typeface="Times New Roman" pitchFamily="18" charset="0"/>
              </a:rPr>
              <a:t>Sore Muzzle, Pseudo Foot-and-mouth Disease, And Muzzle Disease.</a:t>
            </a: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
          <p:cNvSpPr>
            <a:spLocks noGrp="1" noChangeArrowheads="1"/>
          </p:cNvSpPr>
          <p:nvPr>
            <p:ph type="title"/>
          </p:nvPr>
        </p:nvSpPr>
        <p:spPr/>
        <p:txBody>
          <a:bodyPr/>
          <a:lstStyle/>
          <a:p>
            <a:pPr eaLnBrk="1" hangingPunct="1"/>
            <a:r>
              <a:rPr lang="en-US" altLang="en-US" b="1" dirty="0" smtClean="0">
                <a:solidFill>
                  <a:srgbClr val="7030A0"/>
                </a:solidFill>
              </a:rPr>
              <a:t>Bluetongue Virus</a:t>
            </a:r>
          </a:p>
        </p:txBody>
      </p:sp>
      <p:sp>
        <p:nvSpPr>
          <p:cNvPr id="62467" name="Rectangle 7"/>
          <p:cNvSpPr>
            <a:spLocks noGrp="1" noChangeArrowheads="1"/>
          </p:cNvSpPr>
          <p:nvPr>
            <p:ph idx="1"/>
          </p:nvPr>
        </p:nvSpPr>
        <p:spPr/>
        <p:txBody>
          <a:bodyPr>
            <a:normAutofit fontScale="85000" lnSpcReduction="10000"/>
          </a:bodyPr>
          <a:lstStyle/>
          <a:p>
            <a:pPr lvl="1" eaLnBrk="1" hangingPunct="1">
              <a:buNone/>
            </a:pPr>
            <a:r>
              <a:rPr lang="en-US" altLang="en-US" sz="3200" b="1" dirty="0" smtClean="0">
                <a:latin typeface="Times New Roman" pitchFamily="18" charset="0"/>
                <a:cs typeface="Times New Roman" pitchFamily="18" charset="0"/>
              </a:rPr>
              <a:t>Genus </a:t>
            </a:r>
            <a:r>
              <a:rPr lang="en-US" altLang="en-US" sz="3200" b="1" i="1" dirty="0" err="1" smtClean="0">
                <a:latin typeface="Times New Roman" pitchFamily="18" charset="0"/>
                <a:cs typeface="Times New Roman" pitchFamily="18" charset="0"/>
              </a:rPr>
              <a:t>Orbivirus</a:t>
            </a:r>
            <a:r>
              <a:rPr lang="en-US" altLang="en-US" sz="3200" b="1" i="1" dirty="0" smtClean="0">
                <a:latin typeface="Times New Roman" pitchFamily="18" charset="0"/>
                <a:cs typeface="Times New Roman" pitchFamily="18" charset="0"/>
              </a:rPr>
              <a:t>- 28 serotypes</a:t>
            </a:r>
          </a:p>
          <a:p>
            <a:pPr lvl="1" eaLnBrk="1" hangingPunct="1">
              <a:buNone/>
            </a:pPr>
            <a:r>
              <a:rPr lang="en-US" altLang="en-US" sz="3200" b="1" i="1" dirty="0" smtClean="0">
                <a:latin typeface="Times New Roman" pitchFamily="18" charset="0"/>
                <a:cs typeface="Times New Roman" pitchFamily="18" charset="0"/>
              </a:rPr>
              <a:t>10 segments of </a:t>
            </a:r>
            <a:r>
              <a:rPr lang="en-US" altLang="en-US" sz="3200" b="1" i="1" dirty="0" err="1" smtClean="0">
                <a:latin typeface="Times New Roman" pitchFamily="18" charset="0"/>
                <a:cs typeface="Times New Roman" pitchFamily="18" charset="0"/>
              </a:rPr>
              <a:t>ds</a:t>
            </a:r>
            <a:r>
              <a:rPr lang="en-US" altLang="en-US" sz="3200" b="1" i="1" dirty="0" smtClean="0">
                <a:latin typeface="Times New Roman" pitchFamily="18" charset="0"/>
                <a:cs typeface="Times New Roman" pitchFamily="18" charset="0"/>
              </a:rPr>
              <a:t> RNA</a:t>
            </a:r>
          </a:p>
          <a:p>
            <a:pPr eaLnBrk="1" hangingPunct="1"/>
            <a:r>
              <a:rPr lang="en-US" altLang="en-US" b="1" dirty="0" smtClean="0">
                <a:latin typeface="Times New Roman" pitchFamily="18" charset="0"/>
                <a:cs typeface="Times New Roman" pitchFamily="18" charset="0"/>
              </a:rPr>
              <a:t>Non-contagious</a:t>
            </a:r>
          </a:p>
          <a:p>
            <a:r>
              <a:rPr lang="en-US" altLang="en-US" dirty="0" smtClean="0">
                <a:latin typeface="Times New Roman" pitchFamily="18" charset="0"/>
                <a:cs typeface="Times New Roman" pitchFamily="18" charset="0"/>
              </a:rPr>
              <a:t>Insect-borne viral disease. O</a:t>
            </a:r>
            <a:r>
              <a:rPr lang="en-GB" altLang="en-US" dirty="0" err="1" smtClean="0">
                <a:latin typeface="Times New Roman" pitchFamily="18" charset="0"/>
                <a:cs typeface="Times New Roman" pitchFamily="18" charset="0"/>
              </a:rPr>
              <a:t>utbreaks</a:t>
            </a:r>
            <a:r>
              <a:rPr lang="en-GB" altLang="en-US" dirty="0" smtClean="0">
                <a:latin typeface="Times New Roman" pitchFamily="18" charset="0"/>
                <a:cs typeface="Times New Roman" pitchFamily="18" charset="0"/>
              </a:rPr>
              <a:t> are highly seasonal, occur during the late summer and autumn. </a:t>
            </a:r>
            <a:endParaRPr lang="en-US" altLang="en-US" dirty="0" smtClean="0">
              <a:latin typeface="Times New Roman" pitchFamily="18" charset="0"/>
              <a:cs typeface="Times New Roman" pitchFamily="18" charset="0"/>
            </a:endParaRPr>
          </a:p>
          <a:p>
            <a:pPr eaLnBrk="1" hangingPunct="1"/>
            <a:r>
              <a:rPr lang="en-US" altLang="en-US" dirty="0" smtClean="0">
                <a:latin typeface="Times New Roman" pitchFamily="18" charset="0"/>
                <a:cs typeface="Times New Roman" pitchFamily="18" charset="0"/>
              </a:rPr>
              <a:t>Ruminants: Primary host is sheep</a:t>
            </a:r>
          </a:p>
          <a:p>
            <a:pPr eaLnBrk="1" hangingPunct="1"/>
            <a:r>
              <a:rPr lang="en-US" altLang="en-US" dirty="0" smtClean="0">
                <a:latin typeface="Times New Roman" pitchFamily="18" charset="0"/>
                <a:cs typeface="Times New Roman" pitchFamily="18" charset="0"/>
              </a:rPr>
              <a:t>Others infected: Cattle, goats, deer (asymptomatic infection)</a:t>
            </a:r>
          </a:p>
          <a:p>
            <a:pPr eaLnBrk="1" hangingPunct="1"/>
            <a:r>
              <a:rPr lang="en-US" altLang="en-US" dirty="0" smtClean="0">
                <a:latin typeface="Times New Roman" pitchFamily="18" charset="0"/>
                <a:cs typeface="Times New Roman" pitchFamily="18" charset="0"/>
              </a:rPr>
              <a:t>Not </a:t>
            </a:r>
            <a:r>
              <a:rPr lang="en-US" altLang="en-US" dirty="0" err="1" smtClean="0">
                <a:latin typeface="Times New Roman" pitchFamily="18" charset="0"/>
                <a:cs typeface="Times New Roman" pitchFamily="18" charset="0"/>
              </a:rPr>
              <a:t>zoonotic</a:t>
            </a:r>
            <a:r>
              <a:rPr lang="en-US" altLang="en-US" dirty="0" smtClean="0">
                <a:latin typeface="Times New Roman" pitchFamily="18" charset="0"/>
                <a:cs typeface="Times New Roman" pitchFamily="18" charset="0"/>
              </a:rPr>
              <a:t> </a:t>
            </a:r>
          </a:p>
          <a:p>
            <a:pPr eaLnBrk="1" hangingPunct="1"/>
            <a:r>
              <a:rPr lang="en-US" altLang="en-US" dirty="0" smtClean="0">
                <a:latin typeface="Times New Roman" pitchFamily="18" charset="0"/>
                <a:cs typeface="Times New Roman" pitchFamily="18" charset="0"/>
              </a:rPr>
              <a:t>BT endemic in India with 23 serotypes</a:t>
            </a:r>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title"/>
          </p:nvPr>
        </p:nvSpPr>
        <p:spPr/>
        <p:txBody>
          <a:bodyPr/>
          <a:lstStyle/>
          <a:p>
            <a:pPr eaLnBrk="1" hangingPunct="1"/>
            <a:r>
              <a:rPr lang="en-US" altLang="en-US" dirty="0" smtClean="0"/>
              <a:t>Morbidity/Mortality: Sheep</a:t>
            </a:r>
          </a:p>
        </p:txBody>
      </p:sp>
      <p:sp>
        <p:nvSpPr>
          <p:cNvPr id="67587" name="Rectangle 8"/>
          <p:cNvSpPr>
            <a:spLocks noGrp="1" noChangeArrowheads="1"/>
          </p:cNvSpPr>
          <p:nvPr>
            <p:ph idx="1"/>
          </p:nvPr>
        </p:nvSpPr>
        <p:spPr/>
        <p:txBody>
          <a:bodyPr>
            <a:normAutofit lnSpcReduction="10000"/>
          </a:bodyPr>
          <a:lstStyle/>
          <a:p>
            <a:pPr eaLnBrk="1" hangingPunct="1"/>
            <a:r>
              <a:rPr lang="en-US" altLang="en-US" dirty="0" smtClean="0">
                <a:latin typeface="Times New Roman" pitchFamily="18" charset="0"/>
                <a:cs typeface="Times New Roman" pitchFamily="18" charset="0"/>
              </a:rPr>
              <a:t>Sheep</a:t>
            </a:r>
          </a:p>
          <a:p>
            <a:pPr lvl="1" eaLnBrk="1" hangingPunct="1"/>
            <a:r>
              <a:rPr lang="en-US" altLang="en-US" dirty="0" smtClean="0">
                <a:latin typeface="Times New Roman" pitchFamily="18" charset="0"/>
                <a:cs typeface="Times New Roman" pitchFamily="18" charset="0"/>
              </a:rPr>
              <a:t>Severity of disease varies</a:t>
            </a:r>
          </a:p>
          <a:p>
            <a:pPr lvl="2" eaLnBrk="1" hangingPunct="1"/>
            <a:r>
              <a:rPr lang="en-US" altLang="en-US" dirty="0" smtClean="0">
                <a:latin typeface="Times New Roman" pitchFamily="18" charset="0"/>
                <a:cs typeface="Times New Roman" pitchFamily="18" charset="0"/>
              </a:rPr>
              <a:t>Breed</a:t>
            </a:r>
          </a:p>
          <a:p>
            <a:pPr lvl="2" eaLnBrk="1" hangingPunct="1"/>
            <a:r>
              <a:rPr lang="en-US" altLang="en-US" dirty="0" smtClean="0">
                <a:latin typeface="Times New Roman" pitchFamily="18" charset="0"/>
                <a:cs typeface="Times New Roman" pitchFamily="18" charset="0"/>
              </a:rPr>
              <a:t>Strain of virus</a:t>
            </a:r>
          </a:p>
          <a:p>
            <a:pPr lvl="2" eaLnBrk="1" hangingPunct="1"/>
            <a:r>
              <a:rPr lang="en-US" altLang="en-US" dirty="0" smtClean="0">
                <a:latin typeface="Times New Roman" pitchFamily="18" charset="0"/>
                <a:cs typeface="Times New Roman" pitchFamily="18" charset="0"/>
              </a:rPr>
              <a:t>Environmental stress</a:t>
            </a:r>
          </a:p>
          <a:p>
            <a:pPr lvl="1" eaLnBrk="1" hangingPunct="1"/>
            <a:r>
              <a:rPr lang="en-US" altLang="en-US" dirty="0" smtClean="0">
                <a:latin typeface="Times New Roman" pitchFamily="18" charset="0"/>
                <a:cs typeface="Times New Roman" pitchFamily="18" charset="0"/>
              </a:rPr>
              <a:t>Morbidity</a:t>
            </a:r>
          </a:p>
          <a:p>
            <a:pPr lvl="2" eaLnBrk="1" hangingPunct="1"/>
            <a:r>
              <a:rPr lang="en-US" altLang="en-US" dirty="0" smtClean="0">
                <a:latin typeface="Times New Roman" pitchFamily="18" charset="0"/>
                <a:cs typeface="Times New Roman" pitchFamily="18" charset="0"/>
              </a:rPr>
              <a:t>As high as 100%</a:t>
            </a:r>
          </a:p>
          <a:p>
            <a:pPr lvl="1" eaLnBrk="1" hangingPunct="1"/>
            <a:r>
              <a:rPr lang="en-US" altLang="en-US" dirty="0" smtClean="0">
                <a:latin typeface="Times New Roman" pitchFamily="18" charset="0"/>
                <a:cs typeface="Times New Roman" pitchFamily="18" charset="0"/>
              </a:rPr>
              <a:t>Mortality</a:t>
            </a:r>
          </a:p>
          <a:p>
            <a:pPr lvl="2" eaLnBrk="1" hangingPunct="1"/>
            <a:r>
              <a:rPr lang="en-US" altLang="en-US" dirty="0" smtClean="0">
                <a:latin typeface="Times New Roman" pitchFamily="18" charset="0"/>
                <a:cs typeface="Times New Roman" pitchFamily="18" charset="0"/>
              </a:rPr>
              <a:t>Usually 0 to 30%</a:t>
            </a:r>
          </a:p>
          <a:p>
            <a:pPr lvl="2"/>
            <a:r>
              <a:rPr lang="en-GB" altLang="en-US" dirty="0" smtClean="0">
                <a:latin typeface="Times New Roman" pitchFamily="18" charset="0"/>
                <a:cs typeface="Times New Roman" pitchFamily="18" charset="0"/>
              </a:rPr>
              <a:t>but can reach up to 70% in highly susceptible sheep. </a:t>
            </a:r>
            <a:endParaRPr lang="en-US" altLang="en-US" dirty="0" smtClean="0">
              <a:latin typeface="Times New Roman" pitchFamily="18" charset="0"/>
              <a:cs typeface="Times New Roman" pitchFamily="18" charset="0"/>
            </a:endParaRP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44"/>
          <p:cNvSpPr>
            <a:spLocks noGrp="1" noChangeArrowheads="1"/>
          </p:cNvSpPr>
          <p:nvPr>
            <p:ph type="title"/>
          </p:nvPr>
        </p:nvSpPr>
        <p:spPr/>
        <p:txBody>
          <a:bodyPr/>
          <a:lstStyle/>
          <a:p>
            <a:pPr eaLnBrk="1" hangingPunct="1"/>
            <a:r>
              <a:rPr lang="en-US" altLang="en-US" dirty="0" smtClean="0">
                <a:solidFill>
                  <a:srgbClr val="FF0000"/>
                </a:solidFill>
              </a:rPr>
              <a:t>Animal Transmission</a:t>
            </a:r>
          </a:p>
        </p:txBody>
      </p:sp>
      <p:sp>
        <p:nvSpPr>
          <p:cNvPr id="70659" name="Rectangle 1045"/>
          <p:cNvSpPr>
            <a:spLocks noGrp="1" noChangeArrowheads="1"/>
          </p:cNvSpPr>
          <p:nvPr>
            <p:ph idx="1"/>
          </p:nvPr>
        </p:nvSpPr>
        <p:spPr/>
        <p:txBody>
          <a:bodyPr/>
          <a:lstStyle/>
          <a:p>
            <a:pPr eaLnBrk="1" hangingPunct="1"/>
            <a:r>
              <a:rPr lang="en-US" altLang="en-US" b="1" dirty="0" smtClean="0">
                <a:latin typeface="Times New Roman" pitchFamily="18" charset="0"/>
                <a:cs typeface="Times New Roman" pitchFamily="18" charset="0"/>
              </a:rPr>
              <a:t>Biting midges -Genus </a:t>
            </a:r>
            <a:r>
              <a:rPr lang="en-US" altLang="en-US" b="1" i="1" dirty="0" err="1" smtClean="0">
                <a:latin typeface="Times New Roman" pitchFamily="18" charset="0"/>
                <a:cs typeface="Times New Roman" pitchFamily="18" charset="0"/>
              </a:rPr>
              <a:t>Culicoides</a:t>
            </a:r>
            <a:endParaRPr lang="en-US" altLang="en-US" dirty="0" smtClean="0">
              <a:latin typeface="Times New Roman" pitchFamily="18" charset="0"/>
              <a:cs typeface="Times New Roman" pitchFamily="18" charset="0"/>
            </a:endParaRPr>
          </a:p>
          <a:p>
            <a:pPr eaLnBrk="1" hangingPunct="1"/>
            <a:r>
              <a:rPr lang="en-US" altLang="en-US" dirty="0" smtClean="0">
                <a:latin typeface="Times New Roman" pitchFamily="18" charset="0"/>
                <a:cs typeface="Times New Roman" pitchFamily="18" charset="0"/>
              </a:rPr>
              <a:t>Ticks, sheep </a:t>
            </a:r>
            <a:r>
              <a:rPr lang="en-US" altLang="en-US" dirty="0" err="1" smtClean="0">
                <a:latin typeface="Times New Roman" pitchFamily="18" charset="0"/>
                <a:cs typeface="Times New Roman" pitchFamily="18" charset="0"/>
              </a:rPr>
              <a:t>keds</a:t>
            </a:r>
            <a:endParaRPr lang="en-US" altLang="en-US" dirty="0" smtClean="0">
              <a:latin typeface="Times New Roman" pitchFamily="18" charset="0"/>
              <a:cs typeface="Times New Roman" pitchFamily="18" charset="0"/>
            </a:endParaRPr>
          </a:p>
          <a:p>
            <a:pPr eaLnBrk="1" hangingPunct="1"/>
            <a:r>
              <a:rPr lang="en-US" altLang="en-US" dirty="0" smtClean="0">
                <a:latin typeface="Times New Roman" pitchFamily="18" charset="0"/>
                <a:cs typeface="Times New Roman" pitchFamily="18" charset="0"/>
              </a:rPr>
              <a:t>In </a:t>
            </a:r>
            <a:r>
              <a:rPr lang="en-US" altLang="en-US" dirty="0" err="1" smtClean="0">
                <a:latin typeface="Times New Roman" pitchFamily="18" charset="0"/>
                <a:cs typeface="Times New Roman" pitchFamily="18" charset="0"/>
              </a:rPr>
              <a:t>utero</a:t>
            </a:r>
            <a:r>
              <a:rPr lang="en-US" altLang="en-US" dirty="0" smtClean="0">
                <a:latin typeface="Times New Roman" pitchFamily="18" charset="0"/>
                <a:cs typeface="Times New Roman" pitchFamily="18" charset="0"/>
              </a:rPr>
              <a:t> to the fetus</a:t>
            </a:r>
          </a:p>
          <a:p>
            <a:pPr eaLnBrk="1" hangingPunct="1"/>
            <a:r>
              <a:rPr lang="en-US" altLang="en-US" dirty="0" smtClean="0">
                <a:latin typeface="Times New Roman" pitchFamily="18" charset="0"/>
                <a:cs typeface="Times New Roman" pitchFamily="18" charset="0"/>
              </a:rPr>
              <a:t>Mechanical</a:t>
            </a:r>
          </a:p>
          <a:p>
            <a:pPr eaLnBrk="1" hangingPunct="1"/>
            <a:r>
              <a:rPr lang="en-US" altLang="en-US" dirty="0" smtClean="0">
                <a:latin typeface="Times New Roman" pitchFamily="18" charset="0"/>
                <a:cs typeface="Times New Roman" pitchFamily="18" charset="0"/>
              </a:rPr>
              <a:t>Venereal- rare</a:t>
            </a:r>
          </a:p>
        </p:txBody>
      </p:sp>
      <p:pic>
        <p:nvPicPr>
          <p:cNvPr id="70661" name="Picture 7" descr="C:\Users\gdvorak\Pictures\CFSPH Diseases\Culicoides_www-culicoides-net.jpg"/>
          <p:cNvPicPr>
            <a:picLocks noChangeAspect="1" noChangeArrowheads="1"/>
          </p:cNvPicPr>
          <p:nvPr/>
        </p:nvPicPr>
        <p:blipFill>
          <a:blip r:embed="rId3"/>
          <a:srcRect/>
          <a:stretch>
            <a:fillRect/>
          </a:stretch>
        </p:blipFill>
        <p:spPr bwMode="auto">
          <a:xfrm>
            <a:off x="4967288" y="3897313"/>
            <a:ext cx="3675062" cy="2230437"/>
          </a:xfrm>
          <a:prstGeom prst="rect">
            <a:avLst/>
          </a:prstGeom>
          <a:noFill/>
          <a:ln w="28575" algn="ctr">
            <a:solidFill>
              <a:srgbClr val="E5B429"/>
            </a:solidFill>
            <a:miter lim="800000"/>
            <a:headEnd/>
            <a:tailEnd/>
          </a:ln>
        </p:spPr>
      </p:pic>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effectLst/>
              </a:rPr>
              <a:t>Pathogenesis</a:t>
            </a:r>
            <a:endParaRPr lang="en-US" dirty="0">
              <a:solidFill>
                <a:srgbClr val="C00000"/>
              </a:solidFill>
              <a:effectLst/>
            </a:endParaRPr>
          </a:p>
        </p:txBody>
      </p:sp>
      <p:sp>
        <p:nvSpPr>
          <p:cNvPr id="3" name="Content Placeholder 2"/>
          <p:cNvSpPr>
            <a:spLocks noGrp="1"/>
          </p:cNvSpPr>
          <p:nvPr>
            <p:ph idx="1"/>
          </p:nvPr>
        </p:nvSpPr>
        <p:spPr>
          <a:xfrm>
            <a:off x="381000" y="1371600"/>
            <a:ext cx="8229600" cy="4530725"/>
          </a:xfrm>
        </p:spPr>
        <p:txBody>
          <a:bodyPr>
            <a:normAutofit lnSpcReduction="10000"/>
          </a:bodyPr>
          <a:lstStyle/>
          <a:p>
            <a:r>
              <a:rPr lang="en-US" sz="2800" dirty="0" smtClean="0">
                <a:latin typeface="Times New Roman" pitchFamily="18" charset="0"/>
                <a:cs typeface="Times New Roman" pitchFamily="18" charset="0"/>
              </a:rPr>
              <a:t>After insect bite virus first replicates in the cells near to the insect bite</a:t>
            </a:r>
          </a:p>
          <a:p>
            <a:r>
              <a:rPr lang="en-US" sz="2800" dirty="0" smtClean="0">
                <a:latin typeface="Times New Roman" pitchFamily="18" charset="0"/>
                <a:cs typeface="Times New Roman" pitchFamily="18" charset="0"/>
              </a:rPr>
              <a:t>There is primary </a:t>
            </a:r>
            <a:r>
              <a:rPr lang="en-US" sz="2800" dirty="0" err="1" smtClean="0">
                <a:latin typeface="Times New Roman" pitchFamily="18" charset="0"/>
                <a:cs typeface="Times New Roman" pitchFamily="18" charset="0"/>
              </a:rPr>
              <a:t>viremia</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Virus enters </a:t>
            </a:r>
            <a:r>
              <a:rPr lang="en-US" sz="2800" dirty="0" err="1" smtClean="0">
                <a:latin typeface="Times New Roman" pitchFamily="18" charset="0"/>
                <a:cs typeface="Times New Roman" pitchFamily="18" charset="0"/>
              </a:rPr>
              <a:t>haematopoetic</a:t>
            </a:r>
            <a:r>
              <a:rPr lang="en-US" sz="2800" dirty="0" smtClean="0">
                <a:latin typeface="Times New Roman" pitchFamily="18" charset="0"/>
                <a:cs typeface="Times New Roman" pitchFamily="18" charset="0"/>
              </a:rPr>
              <a:t> cells and endothelial cells of blood vessels.</a:t>
            </a:r>
          </a:p>
          <a:p>
            <a:r>
              <a:rPr lang="en-GB" sz="2800" dirty="0" smtClean="0">
                <a:latin typeface="Times New Roman" pitchFamily="18" charset="0"/>
                <a:cs typeface="Times New Roman" pitchFamily="18" charset="0"/>
              </a:rPr>
              <a:t>BTV induced lesions are due to direct injury to the endothelial cells of microvasculature resulting in increased vascular permeability, haemorrhages, fluid exudations, thrombosis, and tissue infarction</a:t>
            </a:r>
          </a:p>
          <a:p>
            <a:r>
              <a:rPr lang="en-GB"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Adult remain </a:t>
            </a:r>
            <a:r>
              <a:rPr lang="en-US" sz="2800" dirty="0" err="1" smtClean="0">
                <a:latin typeface="Times New Roman" pitchFamily="18" charset="0"/>
                <a:cs typeface="Times New Roman" pitchFamily="18" charset="0"/>
              </a:rPr>
              <a:t>viraemic</a:t>
            </a:r>
            <a:r>
              <a:rPr lang="en-US" sz="2800" dirty="0" smtClean="0">
                <a:latin typeface="Times New Roman" pitchFamily="18" charset="0"/>
                <a:cs typeface="Times New Roman" pitchFamily="18" charset="0"/>
              </a:rPr>
              <a:t> for 14 to 28 days.</a:t>
            </a:r>
          </a:p>
          <a:p>
            <a:endParaRPr lang="en-US"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26060821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Clinical signs of BT</a:t>
            </a:r>
            <a:endParaRPr lang="en-US" b="1" dirty="0">
              <a:solidFill>
                <a:srgbClr val="FF0000"/>
              </a:solidFill>
            </a:endParaRPr>
          </a:p>
        </p:txBody>
      </p:sp>
      <p:sp>
        <p:nvSpPr>
          <p:cNvPr id="3" name="Content Placeholder 2"/>
          <p:cNvSpPr>
            <a:spLocks noGrp="1"/>
          </p:cNvSpPr>
          <p:nvPr>
            <p:ph idx="1"/>
          </p:nvPr>
        </p:nvSpPr>
        <p:spPr/>
        <p:txBody>
          <a:bodyPr>
            <a:normAutofit/>
          </a:bodyPr>
          <a:lstStyle/>
          <a:p>
            <a:r>
              <a:rPr lang="en-GB" sz="2800" dirty="0" smtClean="0">
                <a:latin typeface="Arial" pitchFamily="34" charset="0"/>
                <a:cs typeface="Arial" pitchFamily="34" charset="0"/>
              </a:rPr>
              <a:t> Fever, serous to bloody nasal discharge, later on </a:t>
            </a:r>
            <a:r>
              <a:rPr lang="en-GB" sz="2800" dirty="0" err="1" smtClean="0">
                <a:latin typeface="Arial" pitchFamily="34" charset="0"/>
                <a:cs typeface="Arial" pitchFamily="34" charset="0"/>
              </a:rPr>
              <a:t>mucopurulent</a:t>
            </a:r>
            <a:r>
              <a:rPr lang="en-GB" sz="2800" dirty="0" smtClean="0">
                <a:latin typeface="Arial" pitchFamily="34" charset="0"/>
                <a:cs typeface="Arial" pitchFamily="34" charset="0"/>
              </a:rPr>
              <a:t>,</a:t>
            </a:r>
          </a:p>
          <a:p>
            <a:r>
              <a:rPr lang="en-GB" sz="2800" dirty="0" smtClean="0">
                <a:latin typeface="Arial" pitchFamily="34" charset="0"/>
                <a:cs typeface="Arial" pitchFamily="34" charset="0"/>
              </a:rPr>
              <a:t>Hyperaemia and oedema of lips, face, ears and sub-maxillary region (‘</a:t>
            </a:r>
            <a:r>
              <a:rPr lang="en-GB" sz="2800" b="1" dirty="0" smtClean="0">
                <a:latin typeface="Arial" pitchFamily="34" charset="0"/>
                <a:cs typeface="Arial" pitchFamily="34" charset="0"/>
              </a:rPr>
              <a:t>monkey-face’ appearance), </a:t>
            </a:r>
          </a:p>
          <a:p>
            <a:r>
              <a:rPr lang="en-GB" sz="2800" dirty="0" smtClean="0">
                <a:latin typeface="Arial" pitchFamily="34" charset="0"/>
                <a:cs typeface="Arial" pitchFamily="34" charset="0"/>
              </a:rPr>
              <a:t>Oral erosions and ulcers, cyanosis of tongue, </a:t>
            </a:r>
          </a:p>
          <a:p>
            <a:r>
              <a:rPr lang="en-GB" sz="2800" dirty="0" smtClean="0">
                <a:latin typeface="Arial" pitchFamily="34" charset="0"/>
                <a:cs typeface="Arial" pitchFamily="34" charset="0"/>
              </a:rPr>
              <a:t>Lameness with </a:t>
            </a:r>
            <a:r>
              <a:rPr lang="en-GB" sz="2800" dirty="0" err="1" smtClean="0">
                <a:latin typeface="Arial" pitchFamily="34" charset="0"/>
                <a:cs typeface="Arial" pitchFamily="34" charset="0"/>
              </a:rPr>
              <a:t>coronitis</a:t>
            </a:r>
            <a:r>
              <a:rPr lang="en-GB" sz="2800" dirty="0" smtClean="0">
                <a:latin typeface="Arial" pitchFamily="34" charset="0"/>
                <a:cs typeface="Arial" pitchFamily="34" charset="0"/>
              </a:rPr>
              <a:t>,</a:t>
            </a:r>
          </a:p>
          <a:p>
            <a:r>
              <a:rPr lang="en-GB" sz="2800" dirty="0" smtClean="0">
                <a:latin typeface="Arial" pitchFamily="34" charset="0"/>
                <a:cs typeface="Arial" pitchFamily="34" charset="0"/>
              </a:rPr>
              <a:t> Respiratory distress and muscular necrosis to culminate in debility and death</a:t>
            </a:r>
            <a:endParaRPr lang="en-US" sz="2800" dirty="0">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title"/>
          </p:nvPr>
        </p:nvSpPr>
        <p:spPr/>
        <p:txBody>
          <a:bodyPr/>
          <a:lstStyle/>
          <a:p>
            <a:pPr eaLnBrk="1" hangingPunct="1"/>
            <a:r>
              <a:rPr lang="en-US" altLang="en-US" dirty="0" smtClean="0">
                <a:solidFill>
                  <a:srgbClr val="C00000"/>
                </a:solidFill>
              </a:rPr>
              <a:t>Clinical Signs: Sheep</a:t>
            </a:r>
          </a:p>
        </p:txBody>
      </p:sp>
      <p:sp>
        <p:nvSpPr>
          <p:cNvPr id="72707" name="Rectangle 8"/>
          <p:cNvSpPr>
            <a:spLocks noGrp="1" noChangeArrowheads="1"/>
          </p:cNvSpPr>
          <p:nvPr>
            <p:ph idx="1"/>
          </p:nvPr>
        </p:nvSpPr>
        <p:spPr/>
        <p:txBody>
          <a:bodyPr>
            <a:normAutofit fontScale="92500" lnSpcReduction="20000"/>
          </a:bodyPr>
          <a:lstStyle/>
          <a:p>
            <a:pPr eaLnBrk="1" hangingPunct="1">
              <a:defRPr/>
            </a:pPr>
            <a:r>
              <a:rPr lang="en-US" altLang="en-US" dirty="0" smtClean="0">
                <a:latin typeface="Times New Roman" pitchFamily="18" charset="0"/>
                <a:cs typeface="Times New Roman" pitchFamily="18" charset="0"/>
              </a:rPr>
              <a:t>Incubation period: 5 to 10 days</a:t>
            </a:r>
          </a:p>
          <a:p>
            <a:pPr eaLnBrk="1" hangingPunct="1">
              <a:defRPr/>
            </a:pPr>
            <a:r>
              <a:rPr lang="en-US" altLang="en-US" dirty="0" smtClean="0">
                <a:latin typeface="Times New Roman" pitchFamily="18" charset="0"/>
                <a:cs typeface="Times New Roman" pitchFamily="18" charset="0"/>
              </a:rPr>
              <a:t>Most asymptomatic</a:t>
            </a:r>
          </a:p>
          <a:p>
            <a:pPr eaLnBrk="1" hangingPunct="1">
              <a:defRPr/>
            </a:pPr>
            <a:r>
              <a:rPr lang="en-US" altLang="en-US" dirty="0" smtClean="0">
                <a:latin typeface="Times New Roman" pitchFamily="18" charset="0"/>
                <a:cs typeface="Times New Roman" pitchFamily="18" charset="0"/>
              </a:rPr>
              <a:t>Severe disease may occur in some infected sheep and other ruminants</a:t>
            </a:r>
          </a:p>
          <a:p>
            <a:pPr eaLnBrk="1" hangingPunct="1">
              <a:defRPr/>
            </a:pPr>
            <a:r>
              <a:rPr lang="en-US" altLang="en-US" dirty="0" smtClean="0">
                <a:latin typeface="Times New Roman" pitchFamily="18" charset="0"/>
                <a:cs typeface="Times New Roman" pitchFamily="18" charset="0"/>
              </a:rPr>
              <a:t>Oral erosions and ulcerations</a:t>
            </a:r>
          </a:p>
          <a:p>
            <a:pPr eaLnBrk="1" hangingPunct="1">
              <a:defRPr/>
            </a:pPr>
            <a:r>
              <a:rPr lang="en-US" altLang="en-US" b="1" dirty="0" smtClean="0">
                <a:latin typeface="Times New Roman" pitchFamily="18" charset="0"/>
                <a:cs typeface="Times New Roman" pitchFamily="18" charset="0"/>
              </a:rPr>
              <a:t>Tongue</a:t>
            </a:r>
          </a:p>
          <a:p>
            <a:pPr lvl="1" eaLnBrk="1" hangingPunct="1">
              <a:defRPr/>
            </a:pPr>
            <a:r>
              <a:rPr lang="en-US" altLang="en-US" b="1" dirty="0" smtClean="0">
                <a:latin typeface="Times New Roman" pitchFamily="18" charset="0"/>
                <a:cs typeface="Times New Roman" pitchFamily="18" charset="0"/>
              </a:rPr>
              <a:t>Swollen, protruding</a:t>
            </a:r>
          </a:p>
          <a:p>
            <a:pPr lvl="1" eaLnBrk="1" hangingPunct="1">
              <a:defRPr/>
            </a:pPr>
            <a:r>
              <a:rPr lang="en-US" altLang="en-US" b="1" dirty="0" smtClean="0">
                <a:latin typeface="Times New Roman" pitchFamily="18" charset="0"/>
                <a:cs typeface="Times New Roman" pitchFamily="18" charset="0"/>
              </a:rPr>
              <a:t>Cyanotic </a:t>
            </a:r>
          </a:p>
          <a:p>
            <a:pPr lvl="1" eaLnBrk="1" hangingPunct="1">
              <a:buFont typeface="Verdana" pitchFamily="34" charset="0"/>
              <a:buNone/>
              <a:defRPr/>
            </a:pPr>
            <a:r>
              <a:rPr lang="en-US" altLang="en-US" b="1" dirty="0" smtClean="0">
                <a:latin typeface="Times New Roman" pitchFamily="18" charset="0"/>
                <a:cs typeface="Times New Roman" pitchFamily="18" charset="0"/>
              </a:rPr>
              <a:t>	= “blue-tongue”</a:t>
            </a:r>
          </a:p>
          <a:p>
            <a:pPr eaLnBrk="1" hangingPunct="1">
              <a:defRPr/>
            </a:pPr>
            <a:r>
              <a:rPr lang="en-US" altLang="en-US" dirty="0" smtClean="0">
                <a:latin typeface="Times New Roman" pitchFamily="18" charset="0"/>
                <a:cs typeface="Times New Roman" pitchFamily="18" charset="0"/>
              </a:rPr>
              <a:t>Reproductive failure- abortions</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8"/>
          <p:cNvSpPr>
            <a:spLocks noGrp="1" noChangeArrowheads="1"/>
          </p:cNvSpPr>
          <p:nvPr>
            <p:ph type="title"/>
          </p:nvPr>
        </p:nvSpPr>
        <p:spPr/>
        <p:txBody>
          <a:bodyPr/>
          <a:lstStyle/>
          <a:p>
            <a:pPr eaLnBrk="1" hangingPunct="1"/>
            <a:r>
              <a:rPr lang="en-US" altLang="en-US" dirty="0" smtClean="0">
                <a:solidFill>
                  <a:srgbClr val="C00000"/>
                </a:solidFill>
              </a:rPr>
              <a:t>Clinical Signs: Sheep</a:t>
            </a:r>
          </a:p>
        </p:txBody>
      </p:sp>
      <p:sp>
        <p:nvSpPr>
          <p:cNvPr id="73731" name="Rectangle 9"/>
          <p:cNvSpPr>
            <a:spLocks noGrp="1" noChangeArrowheads="1"/>
          </p:cNvSpPr>
          <p:nvPr>
            <p:ph sz="half" idx="1"/>
          </p:nvPr>
        </p:nvSpPr>
        <p:spPr/>
        <p:txBody>
          <a:bodyPr/>
          <a:lstStyle/>
          <a:p>
            <a:pPr eaLnBrk="1" hangingPunct="1"/>
            <a:r>
              <a:rPr lang="en-US" altLang="en-US" sz="3200" dirty="0" err="1" smtClean="0">
                <a:latin typeface="Times New Roman" pitchFamily="18" charset="0"/>
                <a:cs typeface="Times New Roman" pitchFamily="18" charset="0"/>
              </a:rPr>
              <a:t>Coronitis</a:t>
            </a:r>
            <a:endParaRPr lang="en-US" altLang="en-US" sz="3200" dirty="0" smtClean="0">
              <a:latin typeface="Times New Roman" pitchFamily="18" charset="0"/>
              <a:cs typeface="Times New Roman" pitchFamily="18" charset="0"/>
            </a:endParaRPr>
          </a:p>
          <a:p>
            <a:pPr lvl="1" eaLnBrk="1" hangingPunct="1"/>
            <a:r>
              <a:rPr lang="en-US" altLang="en-US" sz="2800" dirty="0" smtClean="0">
                <a:latin typeface="Times New Roman" pitchFamily="18" charset="0"/>
                <a:cs typeface="Times New Roman" pitchFamily="18" charset="0"/>
              </a:rPr>
              <a:t>Inflammation of coronary band</a:t>
            </a:r>
          </a:p>
        </p:txBody>
      </p:sp>
      <p:sp>
        <p:nvSpPr>
          <p:cNvPr id="73732" name="Rectangle 10"/>
          <p:cNvSpPr>
            <a:spLocks noGrp="1" noChangeArrowheads="1"/>
          </p:cNvSpPr>
          <p:nvPr>
            <p:ph sz="half" idx="2"/>
          </p:nvPr>
        </p:nvSpPr>
        <p:spPr/>
        <p:txBody>
          <a:bodyPr/>
          <a:lstStyle/>
          <a:p>
            <a:pPr eaLnBrk="1" hangingPunct="1"/>
            <a:r>
              <a:rPr lang="en-US" altLang="en-US" sz="3200" dirty="0" smtClean="0">
                <a:latin typeface="Times New Roman" pitchFamily="18" charset="0"/>
                <a:cs typeface="Times New Roman" pitchFamily="18" charset="0"/>
              </a:rPr>
              <a:t>Lameness</a:t>
            </a:r>
          </a:p>
          <a:p>
            <a:pPr lvl="1" eaLnBrk="1" hangingPunct="1"/>
            <a:r>
              <a:rPr lang="en-US" altLang="en-US" sz="2800" dirty="0" smtClean="0">
                <a:latin typeface="Times New Roman" pitchFamily="18" charset="0"/>
                <a:cs typeface="Times New Roman" pitchFamily="18" charset="0"/>
              </a:rPr>
              <a:t>Painful hooves</a:t>
            </a:r>
          </a:p>
          <a:p>
            <a:pPr lvl="1" eaLnBrk="1" hangingPunct="1"/>
            <a:r>
              <a:rPr lang="en-US" altLang="en-US" sz="2800" dirty="0" smtClean="0">
                <a:latin typeface="Times New Roman" pitchFamily="18" charset="0"/>
                <a:cs typeface="Times New Roman" pitchFamily="18" charset="0"/>
              </a:rPr>
              <a:t>Sloughing of hooves</a:t>
            </a:r>
          </a:p>
        </p:txBody>
      </p:sp>
      <p:pic>
        <p:nvPicPr>
          <p:cNvPr id="73734" name="Picture 7" descr="bluetongue lameness"/>
          <p:cNvPicPr>
            <a:picLocks noChangeAspect="1" noChangeArrowheads="1"/>
          </p:cNvPicPr>
          <p:nvPr/>
        </p:nvPicPr>
        <p:blipFill>
          <a:blip r:embed="rId3"/>
          <a:srcRect/>
          <a:stretch>
            <a:fillRect/>
          </a:stretch>
        </p:blipFill>
        <p:spPr bwMode="auto">
          <a:xfrm>
            <a:off x="5076825" y="3381375"/>
            <a:ext cx="3417888" cy="2835275"/>
          </a:xfrm>
          <a:prstGeom prst="rect">
            <a:avLst/>
          </a:prstGeom>
          <a:noFill/>
          <a:ln w="28575" algn="ctr">
            <a:solidFill>
              <a:srgbClr val="E5B429"/>
            </a:solidFill>
            <a:miter lim="800000"/>
            <a:headEnd/>
            <a:tailEnd/>
          </a:ln>
        </p:spPr>
      </p:pic>
      <p:pic>
        <p:nvPicPr>
          <p:cNvPr id="73735" name="Picture 9" descr="http://www.cfsph.iastate.edu/DiseaseInfo/ImageDB/BT/BT_008.jpg"/>
          <p:cNvPicPr>
            <a:picLocks noChangeAspect="1" noChangeArrowheads="1"/>
          </p:cNvPicPr>
          <p:nvPr/>
        </p:nvPicPr>
        <p:blipFill>
          <a:blip r:embed="rId4"/>
          <a:srcRect/>
          <a:stretch>
            <a:fillRect/>
          </a:stretch>
        </p:blipFill>
        <p:spPr bwMode="auto">
          <a:xfrm>
            <a:off x="647700" y="3381375"/>
            <a:ext cx="3536950" cy="2835275"/>
          </a:xfrm>
          <a:prstGeom prst="rect">
            <a:avLst/>
          </a:prstGeom>
          <a:noFill/>
          <a:ln w="28575" algn="ctr">
            <a:solidFill>
              <a:srgbClr val="E5B429"/>
            </a:solidFill>
            <a:miter lim="800000"/>
            <a:headEnd/>
            <a:tailEnd/>
          </a:ln>
        </p:spPr>
      </p:pic>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title"/>
          </p:nvPr>
        </p:nvSpPr>
        <p:spPr/>
        <p:txBody>
          <a:bodyPr/>
          <a:lstStyle/>
          <a:p>
            <a:pPr eaLnBrk="1" hangingPunct="1"/>
            <a:r>
              <a:rPr lang="en-US" altLang="en-US" smtClean="0"/>
              <a:t>Clinical Signs</a:t>
            </a:r>
          </a:p>
        </p:txBody>
      </p:sp>
      <p:sp>
        <p:nvSpPr>
          <p:cNvPr id="74755" name="Rectangle 8"/>
          <p:cNvSpPr>
            <a:spLocks noGrp="1" noChangeArrowheads="1"/>
          </p:cNvSpPr>
          <p:nvPr>
            <p:ph idx="1"/>
          </p:nvPr>
        </p:nvSpPr>
        <p:spPr>
          <a:xfrm>
            <a:off x="228600" y="1524000"/>
            <a:ext cx="8229600" cy="4525963"/>
          </a:xfrm>
        </p:spPr>
        <p:txBody>
          <a:bodyPr>
            <a:normAutofit lnSpcReduction="10000"/>
          </a:bodyPr>
          <a:lstStyle/>
          <a:p>
            <a:pPr eaLnBrk="1" hangingPunct="1"/>
            <a:r>
              <a:rPr lang="en-US" altLang="en-US" dirty="0" smtClean="0">
                <a:latin typeface="Times New Roman" pitchFamily="18" charset="0"/>
                <a:cs typeface="Times New Roman" pitchFamily="18" charset="0"/>
              </a:rPr>
              <a:t>Cattle and goats</a:t>
            </a:r>
          </a:p>
          <a:p>
            <a:pPr lvl="1" eaLnBrk="1" hangingPunct="1"/>
            <a:r>
              <a:rPr lang="en-US" altLang="en-US" dirty="0" smtClean="0">
                <a:latin typeface="Times New Roman" pitchFamily="18" charset="0"/>
                <a:cs typeface="Times New Roman" pitchFamily="18" charset="0"/>
              </a:rPr>
              <a:t>Usually subclinical</a:t>
            </a:r>
          </a:p>
          <a:p>
            <a:pPr lvl="1" eaLnBrk="1" hangingPunct="1"/>
            <a:r>
              <a:rPr lang="en-US" altLang="en-US" dirty="0" smtClean="0">
                <a:latin typeface="Times New Roman" pitchFamily="18" charset="0"/>
                <a:cs typeface="Times New Roman" pitchFamily="18" charset="0"/>
              </a:rPr>
              <a:t>Erosions, crusts </a:t>
            </a:r>
            <a:br>
              <a:rPr lang="en-US" altLang="en-US" dirty="0" smtClean="0">
                <a:latin typeface="Times New Roman" pitchFamily="18" charset="0"/>
                <a:cs typeface="Times New Roman" pitchFamily="18" charset="0"/>
              </a:rPr>
            </a:br>
            <a:r>
              <a:rPr lang="en-US" altLang="en-US" dirty="0" smtClean="0">
                <a:latin typeface="Times New Roman" pitchFamily="18" charset="0"/>
                <a:cs typeface="Times New Roman" pitchFamily="18" charset="0"/>
              </a:rPr>
              <a:t>around nose </a:t>
            </a:r>
            <a:br>
              <a:rPr lang="en-US" altLang="en-US" dirty="0" smtClean="0">
                <a:latin typeface="Times New Roman" pitchFamily="18" charset="0"/>
                <a:cs typeface="Times New Roman" pitchFamily="18" charset="0"/>
              </a:rPr>
            </a:br>
            <a:r>
              <a:rPr lang="en-US" altLang="en-US" dirty="0" smtClean="0">
                <a:latin typeface="Times New Roman" pitchFamily="18" charset="0"/>
                <a:cs typeface="Times New Roman" pitchFamily="18" charset="0"/>
              </a:rPr>
              <a:t>and teats</a:t>
            </a:r>
          </a:p>
          <a:p>
            <a:pPr lvl="1" eaLnBrk="1" hangingPunct="1"/>
            <a:r>
              <a:rPr lang="en-US" altLang="en-US" dirty="0" err="1" smtClean="0">
                <a:latin typeface="Times New Roman" pitchFamily="18" charset="0"/>
                <a:cs typeface="Times New Roman" pitchFamily="18" charset="0"/>
              </a:rPr>
              <a:t>Coronitis</a:t>
            </a:r>
            <a:endParaRPr lang="en-US" altLang="en-US" dirty="0" smtClean="0">
              <a:latin typeface="Times New Roman" pitchFamily="18" charset="0"/>
              <a:cs typeface="Times New Roman" pitchFamily="18" charset="0"/>
            </a:endParaRPr>
          </a:p>
          <a:p>
            <a:pPr lvl="1" eaLnBrk="1" hangingPunct="1"/>
            <a:r>
              <a:rPr lang="en-US" altLang="en-US" dirty="0" smtClean="0">
                <a:latin typeface="Times New Roman" pitchFamily="18" charset="0"/>
                <a:cs typeface="Times New Roman" pitchFamily="18" charset="0"/>
              </a:rPr>
              <a:t>Reproductive failure</a:t>
            </a:r>
          </a:p>
          <a:p>
            <a:pPr lvl="1"/>
            <a:r>
              <a:rPr lang="en-GB" altLang="en-US" dirty="0" smtClean="0">
                <a:latin typeface="Times New Roman" pitchFamily="18" charset="0"/>
                <a:cs typeface="Times New Roman" pitchFamily="18" charset="0"/>
              </a:rPr>
              <a:t>In cattle, constant changing of position of the feet gives bluetongue the nickname the </a:t>
            </a:r>
            <a:r>
              <a:rPr lang="en-GB" altLang="en-US" b="1" dirty="0" smtClean="0">
                <a:latin typeface="Times New Roman" pitchFamily="18" charset="0"/>
                <a:cs typeface="Times New Roman" pitchFamily="18" charset="0"/>
              </a:rPr>
              <a:t>dancing disease.</a:t>
            </a:r>
            <a:endParaRPr lang="en-US" altLang="en-US" b="1" dirty="0" smtClean="0">
              <a:latin typeface="Times New Roman" pitchFamily="18" charset="0"/>
              <a:cs typeface="Times New Roman" pitchFamily="18" charset="0"/>
            </a:endParaRPr>
          </a:p>
        </p:txBody>
      </p:sp>
      <p:pic>
        <p:nvPicPr>
          <p:cNvPr id="74757" name="Picture 8" descr="http://www.cfsph.iastate.edu/DiseaseInfo/ImageDB/BT/BT_001.jpg"/>
          <p:cNvPicPr>
            <a:picLocks noChangeAspect="1" noChangeArrowheads="1"/>
          </p:cNvPicPr>
          <p:nvPr/>
        </p:nvPicPr>
        <p:blipFill>
          <a:blip r:embed="rId3"/>
          <a:srcRect/>
          <a:stretch>
            <a:fillRect/>
          </a:stretch>
        </p:blipFill>
        <p:spPr bwMode="auto">
          <a:xfrm>
            <a:off x="6069012" y="152400"/>
            <a:ext cx="3074988" cy="2087562"/>
          </a:xfrm>
          <a:prstGeom prst="rect">
            <a:avLst/>
          </a:prstGeom>
          <a:noFill/>
          <a:ln w="28575" algn="ctr">
            <a:solidFill>
              <a:srgbClr val="E5B429"/>
            </a:solidFill>
            <a:miter lim="800000"/>
            <a:headEnd/>
            <a:tailEnd/>
          </a:ln>
        </p:spPr>
      </p:pic>
      <p:pic>
        <p:nvPicPr>
          <p:cNvPr id="74758" name="Picture 10" descr="http://www.cfsph.iastate.edu/DiseaseInfo/ImageDB/BT/BT_006.jpg"/>
          <p:cNvPicPr>
            <a:picLocks noChangeAspect="1" noChangeArrowheads="1"/>
          </p:cNvPicPr>
          <p:nvPr/>
        </p:nvPicPr>
        <p:blipFill>
          <a:blip r:embed="rId4"/>
          <a:srcRect/>
          <a:stretch>
            <a:fillRect/>
          </a:stretch>
        </p:blipFill>
        <p:spPr bwMode="auto">
          <a:xfrm>
            <a:off x="4419600" y="2209800"/>
            <a:ext cx="3081338" cy="2520950"/>
          </a:xfrm>
          <a:prstGeom prst="rect">
            <a:avLst/>
          </a:prstGeom>
          <a:noFill/>
          <a:ln w="28575" algn="ctr">
            <a:solidFill>
              <a:srgbClr val="E5B429"/>
            </a:solidFill>
            <a:miter lim="800000"/>
            <a:headEnd/>
            <a:tailEnd/>
          </a:ln>
        </p:spPr>
      </p:pic>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1"/>
          <p:cNvSpPr>
            <a:spLocks noGrp="1" noChangeArrowheads="1"/>
          </p:cNvSpPr>
          <p:nvPr>
            <p:ph type="title"/>
          </p:nvPr>
        </p:nvSpPr>
        <p:spPr/>
        <p:txBody>
          <a:bodyPr/>
          <a:lstStyle/>
          <a:p>
            <a:pPr eaLnBrk="1" hangingPunct="1"/>
            <a:r>
              <a:rPr lang="en-US" altLang="en-US" dirty="0" smtClean="0">
                <a:solidFill>
                  <a:srgbClr val="C00000"/>
                </a:solidFill>
              </a:rPr>
              <a:t>Post Mortem Lesions</a:t>
            </a:r>
          </a:p>
        </p:txBody>
      </p:sp>
      <p:sp>
        <p:nvSpPr>
          <p:cNvPr id="75779" name="Rectangle 12"/>
          <p:cNvSpPr>
            <a:spLocks noGrp="1" noChangeArrowheads="1"/>
          </p:cNvSpPr>
          <p:nvPr>
            <p:ph idx="1"/>
          </p:nvPr>
        </p:nvSpPr>
        <p:spPr>
          <a:xfrm>
            <a:off x="457200" y="1600200"/>
            <a:ext cx="8362950" cy="4600575"/>
          </a:xfrm>
        </p:spPr>
        <p:txBody>
          <a:bodyPr/>
          <a:lstStyle/>
          <a:p>
            <a:r>
              <a:rPr lang="en-GB" altLang="en-US" sz="2600" dirty="0" smtClean="0">
                <a:latin typeface="Times New Roman" pitchFamily="18" charset="0"/>
                <a:cs typeface="Times New Roman" pitchFamily="18" charset="0"/>
              </a:rPr>
              <a:t>Haemorrhage and ulcers in the oral cavity and upper gastrointestinal tract;</a:t>
            </a:r>
          </a:p>
          <a:p>
            <a:r>
              <a:rPr lang="en-GB" altLang="en-US" sz="2600" dirty="0" smtClean="0">
                <a:latin typeface="Times New Roman" pitchFamily="18" charset="0"/>
                <a:cs typeface="Times New Roman" pitchFamily="18" charset="0"/>
              </a:rPr>
              <a:t> necrosis of skeletal and cardiac muscle; </a:t>
            </a:r>
          </a:p>
          <a:p>
            <a:r>
              <a:rPr lang="en-GB" altLang="en-US" sz="2600" dirty="0" err="1" smtClean="0">
                <a:latin typeface="Times New Roman" pitchFamily="18" charset="0"/>
                <a:cs typeface="Times New Roman" pitchFamily="18" charset="0"/>
              </a:rPr>
              <a:t>coronitis</a:t>
            </a:r>
            <a:r>
              <a:rPr lang="en-GB" altLang="en-US" sz="2600" dirty="0" smtClean="0">
                <a:latin typeface="Times New Roman" pitchFamily="18" charset="0"/>
                <a:cs typeface="Times New Roman" pitchFamily="18" charset="0"/>
              </a:rPr>
              <a:t>; </a:t>
            </a:r>
          </a:p>
          <a:p>
            <a:r>
              <a:rPr lang="en-GB" altLang="en-US" sz="2600" dirty="0" err="1" smtClean="0">
                <a:latin typeface="Times New Roman" pitchFamily="18" charset="0"/>
                <a:cs typeface="Times New Roman" pitchFamily="18" charset="0"/>
              </a:rPr>
              <a:t>subintimal</a:t>
            </a:r>
            <a:r>
              <a:rPr lang="en-GB" altLang="en-US" sz="2600" dirty="0" smtClean="0">
                <a:latin typeface="Times New Roman" pitchFamily="18" charset="0"/>
                <a:cs typeface="Times New Roman" pitchFamily="18" charset="0"/>
              </a:rPr>
              <a:t> haemorrhage in the pulmonary artery;</a:t>
            </a:r>
          </a:p>
          <a:p>
            <a:r>
              <a:rPr lang="en-GB" altLang="en-US" sz="2600" dirty="0" smtClean="0">
                <a:latin typeface="Times New Roman" pitchFamily="18" charset="0"/>
                <a:cs typeface="Times New Roman" pitchFamily="18" charset="0"/>
              </a:rPr>
              <a:t>oedema of the lungs, ventral </a:t>
            </a:r>
            <a:r>
              <a:rPr lang="en-GB" altLang="en-US" sz="2600" dirty="0" err="1" smtClean="0">
                <a:latin typeface="Times New Roman" pitchFamily="18" charset="0"/>
                <a:cs typeface="Times New Roman" pitchFamily="18" charset="0"/>
              </a:rPr>
              <a:t>subcutis</a:t>
            </a:r>
            <a:r>
              <a:rPr lang="en-GB" altLang="en-US" sz="2600" dirty="0" smtClean="0">
                <a:latin typeface="Times New Roman" pitchFamily="18" charset="0"/>
                <a:cs typeface="Times New Roman" pitchFamily="18" charset="0"/>
              </a:rPr>
              <a:t>, and fascia of the muscles of the neck and abdominal wall; </a:t>
            </a:r>
          </a:p>
          <a:p>
            <a:r>
              <a:rPr lang="en-GB" altLang="en-US" sz="2600" dirty="0" smtClean="0">
                <a:latin typeface="Times New Roman" pitchFamily="18" charset="0"/>
                <a:cs typeface="Times New Roman" pitchFamily="18" charset="0"/>
              </a:rPr>
              <a:t>and pericardial, pleural and abdominal effusions.</a:t>
            </a:r>
            <a:endParaRPr lang="en-US" altLang="en-US" sz="2600" dirty="0" smtClean="0">
              <a:latin typeface="Times New Roman" pitchFamily="18" charset="0"/>
              <a:cs typeface="Times New Roman" pitchFamily="18" charset="0"/>
            </a:endParaRP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8"/>
          <p:cNvSpPr>
            <a:spLocks noGrp="1" noChangeArrowheads="1"/>
          </p:cNvSpPr>
          <p:nvPr>
            <p:ph type="title"/>
          </p:nvPr>
        </p:nvSpPr>
        <p:spPr/>
        <p:txBody>
          <a:bodyPr/>
          <a:lstStyle/>
          <a:p>
            <a:pPr eaLnBrk="1" hangingPunct="1"/>
            <a:r>
              <a:rPr lang="en-US" altLang="en-US" b="1" dirty="0" smtClean="0"/>
              <a:t>Diagnosis</a:t>
            </a:r>
          </a:p>
        </p:txBody>
      </p:sp>
      <p:sp>
        <p:nvSpPr>
          <p:cNvPr id="78851" name="Rectangle 9"/>
          <p:cNvSpPr>
            <a:spLocks noGrp="1" noChangeArrowheads="1"/>
          </p:cNvSpPr>
          <p:nvPr>
            <p:ph sz="half" idx="1"/>
          </p:nvPr>
        </p:nvSpPr>
        <p:spPr/>
        <p:txBody>
          <a:bodyPr/>
          <a:lstStyle/>
          <a:p>
            <a:pPr eaLnBrk="1" hangingPunct="1"/>
            <a:r>
              <a:rPr lang="en-US" dirty="0" smtClean="0">
                <a:latin typeface="Times New Roman" pitchFamily="18" charset="0"/>
                <a:cs typeface="Times New Roman" pitchFamily="18" charset="0"/>
              </a:rPr>
              <a:t>Clinical signs</a:t>
            </a:r>
          </a:p>
          <a:p>
            <a:pPr eaLnBrk="1" hangingPunct="1"/>
            <a:r>
              <a:rPr lang="en-US" dirty="0" smtClean="0">
                <a:latin typeface="Times New Roman" pitchFamily="18" charset="0"/>
                <a:cs typeface="Times New Roman" pitchFamily="18" charset="0"/>
              </a:rPr>
              <a:t>History</a:t>
            </a:r>
          </a:p>
          <a:p>
            <a:pPr lvl="1" eaLnBrk="1" hangingPunct="1"/>
            <a:r>
              <a:rPr lang="en-US" sz="2800" dirty="0" smtClean="0">
                <a:latin typeface="Times New Roman" pitchFamily="18" charset="0"/>
                <a:cs typeface="Times New Roman" pitchFamily="18" charset="0"/>
              </a:rPr>
              <a:t>Insect activity</a:t>
            </a:r>
          </a:p>
          <a:p>
            <a:pPr lvl="1" eaLnBrk="1" hangingPunct="1"/>
            <a:r>
              <a:rPr lang="en-US" sz="2800" dirty="0" smtClean="0">
                <a:latin typeface="Times New Roman" pitchFamily="18" charset="0"/>
                <a:cs typeface="Times New Roman" pitchFamily="18" charset="0"/>
              </a:rPr>
              <a:t>Wasting or foot rot</a:t>
            </a:r>
          </a:p>
          <a:p>
            <a:pPr lvl="2" eaLnBrk="1" hangingPunct="1"/>
            <a:endParaRPr lang="en-US" dirty="0" smtClean="0">
              <a:latin typeface="Times New Roman" pitchFamily="18" charset="0"/>
              <a:cs typeface="Times New Roman" pitchFamily="18" charset="0"/>
            </a:endParaRPr>
          </a:p>
        </p:txBody>
      </p:sp>
      <p:sp>
        <p:nvSpPr>
          <p:cNvPr id="78852" name="Content Placeholder 1"/>
          <p:cNvSpPr>
            <a:spLocks noGrp="1"/>
          </p:cNvSpPr>
          <p:nvPr>
            <p:ph sz="half" idx="2"/>
          </p:nvPr>
        </p:nvSpPr>
        <p:spPr/>
        <p:txBody>
          <a:bodyPr/>
          <a:lstStyle/>
          <a:p>
            <a:pPr eaLnBrk="1" hangingPunct="1"/>
            <a:r>
              <a:rPr lang="en-US" dirty="0" smtClean="0">
                <a:latin typeface="Times New Roman" pitchFamily="18" charset="0"/>
                <a:cs typeface="Times New Roman" pitchFamily="18" charset="0"/>
              </a:rPr>
              <a:t>Laboratory</a:t>
            </a:r>
          </a:p>
          <a:p>
            <a:pPr lvl="1" eaLnBrk="1" hangingPunct="1"/>
            <a:r>
              <a:rPr lang="en-US" sz="2800" dirty="0" smtClean="0">
                <a:latin typeface="Times New Roman" pitchFamily="18" charset="0"/>
                <a:cs typeface="Times New Roman" pitchFamily="18" charset="0"/>
              </a:rPr>
              <a:t>Virus isolation </a:t>
            </a:r>
          </a:p>
          <a:p>
            <a:pPr lvl="1" eaLnBrk="1" hangingPunct="1"/>
            <a:r>
              <a:rPr lang="en-US" sz="2800" dirty="0" smtClean="0">
                <a:latin typeface="Times New Roman" pitchFamily="18" charset="0"/>
                <a:cs typeface="Times New Roman" pitchFamily="18" charset="0"/>
              </a:rPr>
              <a:t>ELISA, IFA, VN</a:t>
            </a:r>
          </a:p>
          <a:p>
            <a:pPr lvl="1" eaLnBrk="1" hangingPunct="1"/>
            <a:r>
              <a:rPr lang="en-US" sz="2800" dirty="0" smtClean="0">
                <a:latin typeface="Times New Roman" pitchFamily="18" charset="0"/>
                <a:cs typeface="Times New Roman" pitchFamily="18" charset="0"/>
              </a:rPr>
              <a:t>PCR</a:t>
            </a:r>
          </a:p>
          <a:p>
            <a:pPr lvl="1" eaLnBrk="1" hangingPunct="1"/>
            <a:r>
              <a:rPr lang="en-US" sz="2800" dirty="0" smtClean="0">
                <a:latin typeface="Times New Roman" pitchFamily="18" charset="0"/>
                <a:cs typeface="Times New Roman" pitchFamily="18" charset="0"/>
              </a:rPr>
              <a:t>Serology, complement fixation</a:t>
            </a:r>
          </a:p>
          <a:p>
            <a:pPr lvl="1" eaLnBrk="1" hangingPunct="1"/>
            <a:r>
              <a:rPr lang="en-US" sz="2800" dirty="0" smtClean="0">
                <a:latin typeface="Times New Roman" pitchFamily="18" charset="0"/>
                <a:cs typeface="Times New Roman" pitchFamily="18" charset="0"/>
              </a:rPr>
              <a:t>Examination of proteins</a:t>
            </a:r>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r>
              <a:rPr lang="en-US" dirty="0" smtClean="0">
                <a:latin typeface="Times New Roman" pitchFamily="18" charset="0"/>
                <a:cs typeface="Times New Roman" pitchFamily="18" charset="0"/>
              </a:rPr>
              <a:t>Isolation of the virus requires collection of the blood during </a:t>
            </a:r>
            <a:r>
              <a:rPr lang="en-US" dirty="0" err="1" smtClean="0">
                <a:latin typeface="Times New Roman" pitchFamily="18" charset="0"/>
                <a:cs typeface="Times New Roman" pitchFamily="18" charset="0"/>
              </a:rPr>
              <a:t>viremia</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It can be done in </a:t>
            </a:r>
            <a:r>
              <a:rPr lang="en-US" dirty="0" err="1" smtClean="0">
                <a:latin typeface="Times New Roman" pitchFamily="18" charset="0"/>
                <a:cs typeface="Times New Roman" pitchFamily="18" charset="0"/>
              </a:rPr>
              <a:t>embryonated</a:t>
            </a:r>
            <a:r>
              <a:rPr lang="en-US" dirty="0" smtClean="0">
                <a:latin typeface="Times New Roman" pitchFamily="18" charset="0"/>
                <a:cs typeface="Times New Roman" pitchFamily="18" charset="0"/>
              </a:rPr>
              <a:t> eggs via I/V route or in BHK cell line.</a:t>
            </a:r>
          </a:p>
          <a:p>
            <a:r>
              <a:rPr lang="en-US" dirty="0" smtClean="0">
                <a:latin typeface="Times New Roman" pitchFamily="18" charset="0"/>
                <a:cs typeface="Times New Roman" pitchFamily="18" charset="0"/>
              </a:rPr>
              <a:t>For isolation buffy coat of the infected blood is used.</a:t>
            </a:r>
          </a:p>
          <a:p>
            <a:r>
              <a:rPr lang="en-US" dirty="0" smtClean="0">
                <a:latin typeface="Times New Roman" pitchFamily="18" charset="0"/>
                <a:cs typeface="Times New Roman" pitchFamily="18" charset="0"/>
              </a:rPr>
              <a:t>Serotype specific vaccine used</a:t>
            </a:r>
          </a:p>
        </p:txBody>
      </p:sp>
    </p:spTree>
    <p:extLst>
      <p:ext uri="{BB962C8B-B14F-4D97-AF65-F5344CB8AC3E}">
        <p14:creationId xmlns="" xmlns:p14="http://schemas.microsoft.com/office/powerpoint/2010/main" val="18008584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4"/>
          <p:cNvSpPr>
            <a:spLocks noGrp="1" noChangeArrowheads="1"/>
          </p:cNvSpPr>
          <p:nvPr>
            <p:ph type="title"/>
          </p:nvPr>
        </p:nvSpPr>
        <p:spPr/>
        <p:txBody>
          <a:bodyPr/>
          <a:lstStyle/>
          <a:p>
            <a:pPr eaLnBrk="1" hangingPunct="1"/>
            <a:r>
              <a:rPr lang="en-US" altLang="en-US" smtClean="0"/>
              <a:t>Vaccination</a:t>
            </a:r>
          </a:p>
        </p:txBody>
      </p:sp>
      <p:sp>
        <p:nvSpPr>
          <p:cNvPr id="87043" name="Rectangle 15"/>
          <p:cNvSpPr>
            <a:spLocks noGrp="1" noChangeArrowheads="1"/>
          </p:cNvSpPr>
          <p:nvPr>
            <p:ph idx="1"/>
          </p:nvPr>
        </p:nvSpPr>
        <p:spPr/>
        <p:txBody>
          <a:bodyPr/>
          <a:lstStyle/>
          <a:p>
            <a:pPr eaLnBrk="1" hangingPunct="1"/>
            <a:r>
              <a:rPr lang="en-US" altLang="en-US" smtClean="0"/>
              <a:t>Available</a:t>
            </a:r>
          </a:p>
          <a:p>
            <a:pPr lvl="1" eaLnBrk="1" hangingPunct="1"/>
            <a:r>
              <a:rPr lang="en-US" altLang="en-US" smtClean="0"/>
              <a:t>Serotype specific</a:t>
            </a:r>
          </a:p>
          <a:p>
            <a:pPr eaLnBrk="1" hangingPunct="1"/>
            <a:r>
              <a:rPr lang="en-US" altLang="en-US" smtClean="0"/>
              <a:t>Adverse effects</a:t>
            </a:r>
          </a:p>
          <a:p>
            <a:pPr lvl="1" eaLnBrk="1" hangingPunct="1"/>
            <a:r>
              <a:rPr lang="en-US" altLang="en-US" smtClean="0"/>
              <a:t>Fetal malformations</a:t>
            </a:r>
          </a:p>
          <a:p>
            <a:pPr lvl="1" eaLnBrk="1" hangingPunct="1"/>
            <a:r>
              <a:rPr lang="en-US" altLang="en-US" smtClean="0"/>
              <a:t>Recombination</a:t>
            </a:r>
          </a:p>
          <a:p>
            <a:pPr lvl="2" eaLnBrk="1" hangingPunct="1"/>
            <a:r>
              <a:rPr lang="en-US" altLang="en-US" smtClean="0"/>
              <a:t>New strains of virus</a:t>
            </a: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492896"/>
            <a:ext cx="8229600" cy="3638029"/>
          </a:xfrm>
        </p:spPr>
        <p:txBody>
          <a:bodyPr/>
          <a:lstStyle/>
          <a:p>
            <a:pPr marL="0" indent="0" algn="ctr">
              <a:buNone/>
            </a:pPr>
            <a:r>
              <a:rPr lang="en-US" sz="4000" b="1" dirty="0" smtClean="0">
                <a:solidFill>
                  <a:srgbClr val="C00000"/>
                </a:solidFill>
                <a:effectLst/>
                <a:latin typeface="Algerian" pitchFamily="82" charset="0"/>
              </a:rPr>
              <a:t>AFRICAN HORSE SICKNESS</a:t>
            </a:r>
          </a:p>
          <a:p>
            <a:pPr marL="0" indent="0" algn="ctr">
              <a:buNone/>
            </a:pPr>
            <a:r>
              <a:rPr lang="en-US" sz="4000" b="1" dirty="0" smtClean="0">
                <a:solidFill>
                  <a:srgbClr val="C00000"/>
                </a:solidFill>
                <a:effectLst/>
                <a:latin typeface="Algerian" pitchFamily="82" charset="0"/>
              </a:rPr>
              <a:t>Or Equine plague</a:t>
            </a:r>
            <a:endParaRPr lang="en-US" sz="4000" b="1" dirty="0">
              <a:solidFill>
                <a:srgbClr val="C00000"/>
              </a:solidFill>
              <a:effectLst/>
              <a:latin typeface="Algerian" pitchFamily="82" charset="0"/>
            </a:endParaRPr>
          </a:p>
        </p:txBody>
      </p:sp>
    </p:spTree>
    <p:extLst>
      <p:ext uri="{BB962C8B-B14F-4D97-AF65-F5344CB8AC3E}">
        <p14:creationId xmlns="" xmlns:p14="http://schemas.microsoft.com/office/powerpoint/2010/main" val="13723049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a:xfrm>
            <a:off x="838200" y="228600"/>
            <a:ext cx="7467600" cy="1143000"/>
          </a:xfrm>
        </p:spPr>
        <p:txBody>
          <a:bodyPr/>
          <a:lstStyle/>
          <a:p>
            <a:r>
              <a:rPr lang="en-US" b="1" dirty="0">
                <a:solidFill>
                  <a:srgbClr val="C00000"/>
                </a:solidFill>
              </a:rPr>
              <a:t> Etiology</a:t>
            </a:r>
          </a:p>
        </p:txBody>
      </p:sp>
      <p:sp>
        <p:nvSpPr>
          <p:cNvPr id="7173" name="Rectangle 5"/>
          <p:cNvSpPr>
            <a:spLocks noGrp="1" noChangeArrowheads="1"/>
          </p:cNvSpPr>
          <p:nvPr>
            <p:ph type="body" sz="half" idx="1"/>
          </p:nvPr>
        </p:nvSpPr>
        <p:spPr>
          <a:xfrm>
            <a:off x="381000" y="1524000"/>
            <a:ext cx="8458200" cy="4876800"/>
          </a:xfrm>
        </p:spPr>
        <p:txBody>
          <a:bodyPr>
            <a:normAutofit/>
          </a:bodyPr>
          <a:lstStyle/>
          <a:p>
            <a:pPr>
              <a:lnSpc>
                <a:spcPct val="90000"/>
              </a:lnSpc>
            </a:pPr>
            <a:r>
              <a:rPr lang="en-US" sz="2800" b="1" i="1" dirty="0" err="1" smtClean="0">
                <a:latin typeface="Times New Roman" pitchFamily="18" charset="0"/>
                <a:cs typeface="Times New Roman" pitchFamily="18" charset="0"/>
              </a:rPr>
              <a:t>Orbivirus</a:t>
            </a:r>
            <a:r>
              <a:rPr lang="en-US" sz="2800" b="1"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pPr>
              <a:lnSpc>
                <a:spcPct val="90000"/>
              </a:lnSpc>
            </a:pPr>
            <a:r>
              <a:rPr lang="en-GB" sz="2800" dirty="0" smtClean="0">
                <a:latin typeface="Times New Roman" pitchFamily="18" charset="0"/>
                <a:cs typeface="Times New Roman" pitchFamily="18" charset="0"/>
              </a:rPr>
              <a:t>Transmitted by midges (</a:t>
            </a:r>
            <a:r>
              <a:rPr lang="en-GB" sz="2800" i="1" dirty="0" err="1" smtClean="0">
                <a:latin typeface="Times New Roman" pitchFamily="18" charset="0"/>
                <a:cs typeface="Times New Roman" pitchFamily="18" charset="0"/>
              </a:rPr>
              <a:t>Culicoides</a:t>
            </a:r>
            <a:r>
              <a:rPr lang="en-GB" sz="2800" dirty="0" smtClean="0">
                <a:latin typeface="Times New Roman" pitchFamily="18" charset="0"/>
                <a:cs typeface="Times New Roman" pitchFamily="18" charset="0"/>
              </a:rPr>
              <a:t> spp.). </a:t>
            </a:r>
          </a:p>
          <a:p>
            <a:pPr>
              <a:lnSpc>
                <a:spcPct val="90000"/>
              </a:lnSpc>
            </a:pPr>
            <a:r>
              <a:rPr lang="en-GB" sz="2800" dirty="0" smtClean="0">
                <a:latin typeface="Times New Roman" pitchFamily="18" charset="0"/>
                <a:cs typeface="Times New Roman" pitchFamily="18" charset="0"/>
              </a:rPr>
              <a:t>Horses and mules are the most severely affected.</a:t>
            </a:r>
            <a:endParaRPr lang="en-US" sz="2800" dirty="0">
              <a:latin typeface="Times New Roman" pitchFamily="18" charset="0"/>
              <a:cs typeface="Times New Roman" pitchFamily="18" charset="0"/>
            </a:endParaRPr>
          </a:p>
          <a:p>
            <a:pPr>
              <a:lnSpc>
                <a:spcPct val="90000"/>
              </a:lnSpc>
            </a:pPr>
            <a:r>
              <a:rPr lang="en-US" sz="2800" dirty="0" smtClean="0">
                <a:latin typeface="Times New Roman" pitchFamily="18" charset="0"/>
                <a:cs typeface="Times New Roman" pitchFamily="18" charset="0"/>
              </a:rPr>
              <a:t>Nine different serotypes of virus</a:t>
            </a:r>
            <a:endParaRPr lang="en-US" sz="2800" dirty="0">
              <a:latin typeface="Times New Roman" pitchFamily="18" charset="0"/>
              <a:cs typeface="Times New Roman" pitchFamily="18" charset="0"/>
            </a:endParaRPr>
          </a:p>
          <a:p>
            <a:pPr>
              <a:lnSpc>
                <a:spcPct val="90000"/>
              </a:lnSpc>
            </a:pPr>
            <a:r>
              <a:rPr lang="en-US" sz="2800" b="1" dirty="0" err="1" smtClean="0">
                <a:latin typeface="Times New Roman" pitchFamily="18" charset="0"/>
                <a:cs typeface="Times New Roman" pitchFamily="18" charset="0"/>
              </a:rPr>
              <a:t>Viscerotropic</a:t>
            </a:r>
            <a:r>
              <a:rPr lang="en-US" sz="2800" b="1" dirty="0" smtClean="0">
                <a:latin typeface="Times New Roman" pitchFamily="18" charset="0"/>
                <a:cs typeface="Times New Roman" pitchFamily="18" charset="0"/>
              </a:rPr>
              <a:t> virus</a:t>
            </a:r>
          </a:p>
          <a:p>
            <a:pPr>
              <a:lnSpc>
                <a:spcPct val="90000"/>
              </a:lnSpc>
            </a:pPr>
            <a:r>
              <a:rPr lang="en-GB" sz="2800" dirty="0" smtClean="0">
                <a:latin typeface="Times New Roman" pitchFamily="18" charset="0"/>
                <a:cs typeface="Times New Roman" pitchFamily="18" charset="0"/>
              </a:rPr>
              <a:t>AHSV naturally infects zebras, which are considered a natural reservoir for the virus as they rarely exhibit clinical signs of infection.</a:t>
            </a:r>
            <a:endParaRPr lang="en-US" sz="2800" dirty="0">
              <a:latin typeface="Times New Roman" pitchFamily="18" charset="0"/>
              <a:cs typeface="Times New Roman" pitchFamily="18" charset="0"/>
            </a:endParaRPr>
          </a:p>
          <a:p>
            <a:pPr>
              <a:lnSpc>
                <a:spcPct val="90000"/>
              </a:lnSpc>
            </a:pPr>
            <a:endParaRPr lang="en-US" sz="2800" i="1" dirty="0">
              <a:latin typeface="Times New Roman" pitchFamily="18" charset="0"/>
              <a:cs typeface="Times New Roman" pitchFamily="18" charset="0"/>
            </a:endParaRPr>
          </a:p>
          <a:p>
            <a:pPr>
              <a:lnSpc>
                <a:spcPct val="90000"/>
              </a:lnSpc>
            </a:pPr>
            <a:endParaRPr lang="en-US" sz="2800" dirty="0">
              <a:latin typeface="Times New Roman" pitchFamily="18" charset="0"/>
              <a:cs typeface="Times New Roman" pitchFamily="18" charset="0"/>
            </a:endParaRPr>
          </a:p>
        </p:txBody>
      </p:sp>
      <p:sp>
        <p:nvSpPr>
          <p:cNvPr id="5" name="Footer Placeholder 5"/>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381000" y="152400"/>
            <a:ext cx="8229600" cy="1143000"/>
          </a:xfrm>
        </p:spPr>
        <p:txBody>
          <a:bodyPr>
            <a:normAutofit/>
          </a:bodyPr>
          <a:lstStyle/>
          <a:p>
            <a:r>
              <a:rPr lang="en-US" b="1" dirty="0">
                <a:solidFill>
                  <a:srgbClr val="FF0000"/>
                </a:solidFill>
              </a:rPr>
              <a:t>Serotypes</a:t>
            </a:r>
          </a:p>
        </p:txBody>
      </p:sp>
      <p:sp>
        <p:nvSpPr>
          <p:cNvPr id="265219" name="Rectangle 3"/>
          <p:cNvSpPr>
            <a:spLocks noGrp="1" noChangeArrowheads="1"/>
          </p:cNvSpPr>
          <p:nvPr>
            <p:ph idx="1"/>
          </p:nvPr>
        </p:nvSpPr>
        <p:spPr>
          <a:xfrm>
            <a:off x="304800" y="1447800"/>
            <a:ext cx="8610600" cy="5105400"/>
          </a:xfrm>
        </p:spPr>
        <p:txBody>
          <a:bodyPr>
            <a:noAutofit/>
          </a:bodyPr>
          <a:lstStyle/>
          <a:p>
            <a:r>
              <a:rPr lang="en-US" sz="2800" dirty="0" smtClean="0">
                <a:latin typeface="Times New Roman" pitchFamily="18" charset="0"/>
                <a:cs typeface="Times New Roman" pitchFamily="18" charset="0"/>
              </a:rPr>
              <a:t>All serotypes of AHS virus occur in eastern and southern Africa; this distribution reflects the geographic pattern of zebra, which cycle the virus asymptomatically and probably serve as a reservoir for the virus</a:t>
            </a:r>
          </a:p>
          <a:p>
            <a:r>
              <a:rPr lang="en-US" sz="2800" b="1" dirty="0" smtClean="0">
                <a:latin typeface="Times New Roman" pitchFamily="18" charset="0"/>
                <a:cs typeface="Times New Roman" pitchFamily="18" charset="0"/>
              </a:rPr>
              <a:t>Only </a:t>
            </a:r>
            <a:r>
              <a:rPr lang="en-US" sz="2800" b="1" dirty="0">
                <a:latin typeface="Times New Roman" pitchFamily="18" charset="0"/>
                <a:cs typeface="Times New Roman" pitchFamily="18" charset="0"/>
              </a:rPr>
              <a:t>African Horse Sickness virus serotype 9 is found in West Africa where zebra do not occur</a:t>
            </a:r>
            <a:r>
              <a:rPr lang="en-US" sz="2800" dirty="0">
                <a:latin typeface="Times New Roman" pitchFamily="18" charset="0"/>
                <a:cs typeface="Times New Roman" pitchFamily="18" charset="0"/>
              </a:rPr>
              <a:t>. </a:t>
            </a:r>
            <a:endParaRPr lang="en-US"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Types 4 and 9 are responsible for most outbreaks outside sub-Saharan Africa.</a:t>
            </a:r>
          </a:p>
          <a:p>
            <a:r>
              <a:rPr lang="en-GB" sz="2800" dirty="0" smtClean="0">
                <a:latin typeface="Times New Roman" pitchFamily="18" charset="0"/>
                <a:cs typeface="Times New Roman" pitchFamily="18" charset="0"/>
              </a:rPr>
              <a:t>Types 5 and 9 are </a:t>
            </a:r>
            <a:r>
              <a:rPr lang="en-GB" sz="2800" dirty="0" err="1" smtClean="0">
                <a:latin typeface="Times New Roman" pitchFamily="18" charset="0"/>
                <a:cs typeface="Times New Roman" pitchFamily="18" charset="0"/>
              </a:rPr>
              <a:t>neurotropic</a:t>
            </a:r>
            <a:r>
              <a:rPr lang="en-GB" sz="2800" dirty="0" smtClean="0">
                <a:latin typeface="Times New Roman" pitchFamily="18" charset="0"/>
                <a:cs typeface="Times New Roman" pitchFamily="18" charset="0"/>
              </a:rPr>
              <a:t>.</a:t>
            </a:r>
          </a:p>
          <a:p>
            <a:r>
              <a:rPr lang="en-GB" sz="2800" dirty="0" smtClean="0">
                <a:latin typeface="Times New Roman" pitchFamily="18" charset="0"/>
                <a:cs typeface="Times New Roman" pitchFamily="18" charset="0"/>
              </a:rPr>
              <a:t>Cross-protection occurs between serotypes.</a:t>
            </a: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p:spPr>
        <p:txBody>
          <a:bodyPr lIns="90488" tIns="44450" rIns="90488" bIns="44450" anchor="b"/>
          <a:lstStyle/>
          <a:p>
            <a:r>
              <a:rPr lang="en-US" sz="4800"/>
              <a:t>Host Range</a:t>
            </a:r>
          </a:p>
        </p:txBody>
      </p:sp>
      <p:sp>
        <p:nvSpPr>
          <p:cNvPr id="46083" name="Rectangle 3"/>
          <p:cNvSpPr>
            <a:spLocks noGrp="1" noChangeArrowheads="1"/>
          </p:cNvSpPr>
          <p:nvPr>
            <p:ph type="body" sz="half" idx="1"/>
          </p:nvPr>
        </p:nvSpPr>
        <p:spPr>
          <a:xfrm>
            <a:off x="609600" y="2590800"/>
            <a:ext cx="2514600" cy="2514600"/>
          </a:xfrm>
          <a:noFill/>
          <a:ln/>
        </p:spPr>
        <p:txBody>
          <a:bodyPr lIns="90488" tIns="44450" rIns="90488" bIns="44450"/>
          <a:lstStyle/>
          <a:p>
            <a:pPr>
              <a:buClr>
                <a:srgbClr val="669900"/>
              </a:buClr>
            </a:pPr>
            <a:r>
              <a:rPr lang="en-US" dirty="0">
                <a:latin typeface="Times New Roman" pitchFamily="18" charset="0"/>
                <a:cs typeface="Times New Roman" pitchFamily="18" charset="0"/>
              </a:rPr>
              <a:t>Horses</a:t>
            </a:r>
          </a:p>
          <a:p>
            <a:pPr>
              <a:buClr>
                <a:srgbClr val="669900"/>
              </a:buClr>
            </a:pPr>
            <a:r>
              <a:rPr lang="en-US" dirty="0">
                <a:latin typeface="Times New Roman" pitchFamily="18" charset="0"/>
                <a:cs typeface="Times New Roman" pitchFamily="18" charset="0"/>
              </a:rPr>
              <a:t>Mules</a:t>
            </a:r>
          </a:p>
          <a:p>
            <a:pPr>
              <a:buClr>
                <a:srgbClr val="669900"/>
              </a:buClr>
            </a:pPr>
            <a:r>
              <a:rPr lang="en-US" dirty="0">
                <a:latin typeface="Times New Roman" pitchFamily="18" charset="0"/>
                <a:cs typeface="Times New Roman" pitchFamily="18" charset="0"/>
              </a:rPr>
              <a:t>Donkeys</a:t>
            </a:r>
          </a:p>
          <a:p>
            <a:pPr>
              <a:buClr>
                <a:srgbClr val="669900"/>
              </a:buClr>
            </a:pPr>
            <a:r>
              <a:rPr lang="en-US" dirty="0">
                <a:latin typeface="Times New Roman" pitchFamily="18" charset="0"/>
                <a:cs typeface="Times New Roman" pitchFamily="18" charset="0"/>
              </a:rPr>
              <a:t>Zebras</a:t>
            </a:r>
          </a:p>
          <a:p>
            <a:pPr>
              <a:buClr>
                <a:srgbClr val="800080"/>
              </a:buClr>
              <a:buFont typeface="Wingdings" pitchFamily="2" charset="2"/>
              <a:buChar char="Ø"/>
            </a:pPr>
            <a:endParaRPr lang="en-US" dirty="0"/>
          </a:p>
        </p:txBody>
      </p:sp>
      <p:sp>
        <p:nvSpPr>
          <p:cNvPr id="46092" name="Text Box 12"/>
          <p:cNvSpPr txBox="1">
            <a:spLocks noChangeArrowheads="1"/>
          </p:cNvSpPr>
          <p:nvPr/>
        </p:nvSpPr>
        <p:spPr bwMode="auto">
          <a:xfrm>
            <a:off x="533400" y="1600200"/>
            <a:ext cx="7924800" cy="584775"/>
          </a:xfrm>
          <a:prstGeom prst="rect">
            <a:avLst/>
          </a:prstGeom>
          <a:noFill/>
          <a:ln w="9525">
            <a:noFill/>
            <a:miter lim="800000"/>
            <a:headEnd/>
            <a:tailEnd/>
          </a:ln>
          <a:effectLst/>
        </p:spPr>
        <p:txBody>
          <a:bodyPr>
            <a:spAutoFit/>
          </a:bodyPr>
          <a:lstStyle/>
          <a:p>
            <a:pPr algn="ctr">
              <a:spcBef>
                <a:spcPct val="50000"/>
              </a:spcBef>
            </a:pPr>
            <a:r>
              <a:rPr lang="en-US" sz="3200" dirty="0">
                <a:latin typeface="Times New Roman" pitchFamily="18" charset="0"/>
                <a:cs typeface="Times New Roman" pitchFamily="18" charset="0"/>
              </a:rPr>
              <a:t>In order of decreasing severity of disease:</a:t>
            </a:r>
          </a:p>
        </p:txBody>
      </p:sp>
      <p:pic>
        <p:nvPicPr>
          <p:cNvPr id="46095" name="Picture 15" descr="Suz Mule 1+1"/>
          <p:cNvPicPr>
            <a:picLocks noChangeAspect="1" noChangeArrowheads="1"/>
          </p:cNvPicPr>
          <p:nvPr/>
        </p:nvPicPr>
        <p:blipFill>
          <a:blip r:embed="rId3"/>
          <a:srcRect/>
          <a:stretch>
            <a:fillRect/>
          </a:stretch>
        </p:blipFill>
        <p:spPr bwMode="auto">
          <a:xfrm>
            <a:off x="3733800" y="2362200"/>
            <a:ext cx="2822575" cy="2451100"/>
          </a:xfrm>
          <a:prstGeom prst="rect">
            <a:avLst/>
          </a:prstGeom>
          <a:noFill/>
        </p:spPr>
      </p:pic>
      <p:pic>
        <p:nvPicPr>
          <p:cNvPr id="46096" name="Picture 16" descr="Suz Donkey 1+1"/>
          <p:cNvPicPr>
            <a:picLocks noChangeAspect="1" noChangeArrowheads="1"/>
          </p:cNvPicPr>
          <p:nvPr/>
        </p:nvPicPr>
        <p:blipFill>
          <a:blip r:embed="rId4"/>
          <a:srcRect/>
          <a:stretch>
            <a:fillRect/>
          </a:stretch>
        </p:blipFill>
        <p:spPr bwMode="auto">
          <a:xfrm>
            <a:off x="6629400" y="2895600"/>
            <a:ext cx="1974850" cy="2925763"/>
          </a:xfrm>
          <a:prstGeom prst="rect">
            <a:avLst/>
          </a:prstGeom>
          <a:noFill/>
        </p:spPr>
      </p:pic>
      <p:sp>
        <p:nvSpPr>
          <p:cNvPr id="7" name="Rectangle 6"/>
          <p:cNvSpPr/>
          <p:nvPr/>
        </p:nvSpPr>
        <p:spPr>
          <a:xfrm>
            <a:off x="228600" y="5042118"/>
            <a:ext cx="5943600" cy="1815882"/>
          </a:xfrm>
          <a:prstGeom prst="rect">
            <a:avLst/>
          </a:prstGeom>
        </p:spPr>
        <p:txBody>
          <a:bodyPr wrap="square">
            <a:spAutoFit/>
          </a:bodyPr>
          <a:lstStyle/>
          <a:p>
            <a:pPr>
              <a:buFont typeface="Wingdings" pitchFamily="2" charset="2"/>
              <a:buNone/>
            </a:pPr>
            <a:r>
              <a:rPr lang="en-US" sz="2800" b="1" dirty="0" smtClean="0">
                <a:latin typeface="Times New Roman" pitchFamily="18" charset="0"/>
                <a:cs typeface="Times New Roman" pitchFamily="18" charset="0"/>
              </a:rPr>
              <a:t>Approximately 70-95 % of all horses developing the disease will die while mortality % for mules is 50% and donkeys 10%</a:t>
            </a:r>
            <a:endParaRPr lang="en-US" sz="2800" b="1" dirty="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447800" y="457200"/>
            <a:ext cx="7010400" cy="685800"/>
          </a:xfrm>
          <a:noFill/>
          <a:ln/>
        </p:spPr>
        <p:txBody>
          <a:bodyPr lIns="90488" tIns="44450" rIns="90488" bIns="44450" anchor="b">
            <a:normAutofit fontScale="90000"/>
          </a:bodyPr>
          <a:lstStyle/>
          <a:p>
            <a:r>
              <a:rPr lang="en-US" dirty="0"/>
              <a:t>Host Range  </a:t>
            </a:r>
          </a:p>
        </p:txBody>
      </p:sp>
      <p:sp>
        <p:nvSpPr>
          <p:cNvPr id="47107" name="Rectangle 3"/>
          <p:cNvSpPr>
            <a:spLocks noGrp="1" noChangeArrowheads="1"/>
          </p:cNvSpPr>
          <p:nvPr>
            <p:ph idx="1"/>
          </p:nvPr>
        </p:nvSpPr>
        <p:spPr>
          <a:xfrm>
            <a:off x="228600" y="1524000"/>
            <a:ext cx="8763000" cy="4191000"/>
          </a:xfrm>
          <a:noFill/>
          <a:ln/>
        </p:spPr>
        <p:txBody>
          <a:bodyPr lIns="90488" tIns="44450" rIns="90488" bIns="44450">
            <a:normAutofit fontScale="77500" lnSpcReduction="20000"/>
          </a:bodyPr>
          <a:lstStyle/>
          <a:p>
            <a:pPr>
              <a:buClr>
                <a:srgbClr val="669900"/>
              </a:buClr>
              <a:buSzTx/>
            </a:pPr>
            <a:r>
              <a:rPr lang="en-US" sz="3400" dirty="0">
                <a:latin typeface="Times New Roman" pitchFamily="18" charset="0"/>
                <a:cs typeface="Times New Roman" pitchFamily="18" charset="0"/>
              </a:rPr>
              <a:t> Dogs can also become infected by eating infected meat.</a:t>
            </a:r>
          </a:p>
          <a:p>
            <a:pPr>
              <a:buClr>
                <a:srgbClr val="669900"/>
              </a:buClr>
            </a:pPr>
            <a:endParaRPr lang="en-US" sz="3400" dirty="0">
              <a:latin typeface="Times New Roman" pitchFamily="18" charset="0"/>
              <a:cs typeface="Times New Roman" pitchFamily="18" charset="0"/>
            </a:endParaRPr>
          </a:p>
          <a:p>
            <a:pPr>
              <a:buClr>
                <a:srgbClr val="669900"/>
              </a:buClr>
              <a:buSzTx/>
            </a:pPr>
            <a:r>
              <a:rPr lang="en-US" sz="3400" dirty="0">
                <a:latin typeface="Times New Roman" pitchFamily="18" charset="0"/>
                <a:cs typeface="Times New Roman" pitchFamily="18" charset="0"/>
              </a:rPr>
              <a:t>1987-90 outbreak in Spain:</a:t>
            </a:r>
          </a:p>
          <a:p>
            <a:pPr lvl="1">
              <a:buClr>
                <a:srgbClr val="669900"/>
              </a:buClr>
            </a:pPr>
            <a:r>
              <a:rPr lang="en-US" sz="3400" dirty="0">
                <a:latin typeface="Times New Roman" pitchFamily="18" charset="0"/>
                <a:cs typeface="Times New Roman" pitchFamily="18" charset="0"/>
              </a:rPr>
              <a:t>  Dogs that did not consume infected meat were found to be </a:t>
            </a:r>
            <a:r>
              <a:rPr lang="en-US" sz="3400" dirty="0" err="1">
                <a:latin typeface="Times New Roman" pitchFamily="18" charset="0"/>
                <a:cs typeface="Times New Roman" pitchFamily="18" charset="0"/>
              </a:rPr>
              <a:t>seropositive</a:t>
            </a:r>
            <a:r>
              <a:rPr lang="en-US" sz="3400" dirty="0">
                <a:latin typeface="Times New Roman" pitchFamily="18" charset="0"/>
                <a:cs typeface="Times New Roman" pitchFamily="18" charset="0"/>
              </a:rPr>
              <a:t>, suggesting infection by arthropod bites. </a:t>
            </a:r>
            <a:endParaRPr lang="en-US" sz="3400" dirty="0" smtClean="0">
              <a:latin typeface="Times New Roman" pitchFamily="18" charset="0"/>
              <a:cs typeface="Times New Roman" pitchFamily="18" charset="0"/>
            </a:endParaRPr>
          </a:p>
          <a:p>
            <a:pPr lvl="1">
              <a:buClr>
                <a:srgbClr val="669900"/>
              </a:buClr>
            </a:pPr>
            <a:r>
              <a:rPr lang="en-US" sz="3400" dirty="0" smtClean="0">
                <a:latin typeface="Times New Roman" pitchFamily="18" charset="0"/>
                <a:cs typeface="Times New Roman" pitchFamily="18" charset="0"/>
              </a:rPr>
              <a:t>Dogs infected with this virus may have the pulmonary form of the disease.</a:t>
            </a:r>
          </a:p>
          <a:p>
            <a:pPr lvl="1">
              <a:buClr>
                <a:srgbClr val="669900"/>
              </a:buClr>
              <a:buFont typeface="Arial" pitchFamily="34" charset="0"/>
              <a:buChar char="•"/>
            </a:pPr>
            <a:r>
              <a:rPr lang="en-GB" sz="3400" dirty="0" smtClean="0">
                <a:latin typeface="Times New Roman" pitchFamily="18" charset="0"/>
                <a:cs typeface="Times New Roman" pitchFamily="18" charset="0"/>
              </a:rPr>
              <a:t>There is no evidence that humans can be infected by field strains of the disease.  </a:t>
            </a:r>
          </a:p>
          <a:p>
            <a:pPr lvl="1">
              <a:buClr>
                <a:srgbClr val="669900"/>
              </a:buClr>
              <a:buFont typeface="Arial" pitchFamily="34" charset="0"/>
              <a:buChar char="•"/>
            </a:pPr>
            <a:r>
              <a:rPr lang="en-GB" sz="3400" dirty="0" smtClean="0">
                <a:latin typeface="Times New Roman" pitchFamily="18" charset="0"/>
                <a:cs typeface="Times New Roman" pitchFamily="18" charset="0"/>
              </a:rPr>
              <a:t>However, intranasal exposure to </a:t>
            </a:r>
            <a:r>
              <a:rPr lang="en-GB" sz="3400" dirty="0" err="1" smtClean="0">
                <a:latin typeface="Times New Roman" pitchFamily="18" charset="0"/>
                <a:cs typeface="Times New Roman" pitchFamily="18" charset="0"/>
              </a:rPr>
              <a:t>neurotropic</a:t>
            </a:r>
            <a:r>
              <a:rPr lang="en-GB" sz="3400" dirty="0" smtClean="0">
                <a:latin typeface="Times New Roman" pitchFamily="18" charset="0"/>
                <a:cs typeface="Times New Roman" pitchFamily="18" charset="0"/>
              </a:rPr>
              <a:t> vaccine strains has caused encephalitis and retinitis in humans.</a:t>
            </a:r>
          </a:p>
          <a:p>
            <a:pPr lvl="1">
              <a:buClr>
                <a:srgbClr val="669900"/>
              </a:buClr>
            </a:pPr>
            <a:endParaRPr lang="en-US" sz="3400" dirty="0" smtClean="0">
              <a:latin typeface="Times New Roman" pitchFamily="18" charset="0"/>
              <a:cs typeface="Times New Roman" pitchFamily="18" charset="0"/>
            </a:endParaRPr>
          </a:p>
          <a:p>
            <a:pPr lvl="1">
              <a:buClr>
                <a:srgbClr val="669900"/>
              </a:buClr>
              <a:buFont typeface="Wingdings" pitchFamily="2" charset="2"/>
              <a:buNone/>
            </a:pPr>
            <a:endParaRPr lang="en-US" sz="32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solidFill>
                  <a:schemeClr val="accent2"/>
                </a:solidFill>
              </a:rPr>
              <a:t>Transmission</a:t>
            </a:r>
          </a:p>
        </p:txBody>
      </p:sp>
      <p:sp>
        <p:nvSpPr>
          <p:cNvPr id="29707" name="Rectangle 11"/>
          <p:cNvSpPr>
            <a:spLocks noGrp="1" noChangeArrowheads="1"/>
          </p:cNvSpPr>
          <p:nvPr>
            <p:ph idx="1"/>
          </p:nvPr>
        </p:nvSpPr>
        <p:spPr>
          <a:xfrm>
            <a:off x="838200" y="1905000"/>
            <a:ext cx="7693025" cy="4191000"/>
          </a:xfrm>
        </p:spPr>
        <p:txBody>
          <a:bodyPr>
            <a:normAutofit fontScale="92500"/>
          </a:bodyPr>
          <a:lstStyle/>
          <a:p>
            <a:r>
              <a:rPr lang="en-US" sz="3000" dirty="0" err="1">
                <a:latin typeface="Times New Roman" pitchFamily="18" charset="0"/>
                <a:cs typeface="Times New Roman" pitchFamily="18" charset="0"/>
              </a:rPr>
              <a:t>AHSv</a:t>
            </a:r>
            <a:r>
              <a:rPr lang="en-US" sz="3000" dirty="0">
                <a:latin typeface="Times New Roman" pitchFamily="18" charset="0"/>
                <a:cs typeface="Times New Roman" pitchFamily="18" charset="0"/>
              </a:rPr>
              <a:t> is spread primarily by </a:t>
            </a:r>
            <a:r>
              <a:rPr lang="en-US" sz="3000" b="1" i="1" dirty="0" err="1">
                <a:solidFill>
                  <a:srgbClr val="FF0000"/>
                </a:solidFill>
                <a:latin typeface="Times New Roman" pitchFamily="18" charset="0"/>
                <a:cs typeface="Times New Roman" pitchFamily="18" charset="0"/>
              </a:rPr>
              <a:t>Culicoides</a:t>
            </a:r>
            <a:r>
              <a:rPr lang="en-US" sz="3000" dirty="0">
                <a:latin typeface="Times New Roman" pitchFamily="18" charset="0"/>
                <a:cs typeface="Times New Roman" pitchFamily="18" charset="0"/>
              </a:rPr>
              <a:t> (ex: biting flies and mosquitoes) by transfer of blood</a:t>
            </a:r>
          </a:p>
          <a:p>
            <a:pPr lvl="1"/>
            <a:r>
              <a:rPr lang="en-US" b="1" i="1" dirty="0" err="1">
                <a:latin typeface="Times New Roman" pitchFamily="18" charset="0"/>
                <a:cs typeface="Times New Roman" pitchFamily="18" charset="0"/>
              </a:rPr>
              <a:t>Culicoides</a:t>
            </a:r>
            <a:r>
              <a:rPr lang="en-US" b="1" dirty="0">
                <a:latin typeface="Times New Roman" pitchFamily="18" charset="0"/>
                <a:cs typeface="Times New Roman" pitchFamily="18" charset="0"/>
              </a:rPr>
              <a:t> are biological vectors because the </a:t>
            </a:r>
            <a:r>
              <a:rPr lang="en-US" b="1" dirty="0" smtClean="0">
                <a:latin typeface="Times New Roman" pitchFamily="18" charset="0"/>
                <a:cs typeface="Times New Roman" pitchFamily="18" charset="0"/>
              </a:rPr>
              <a:t>virus </a:t>
            </a:r>
            <a:r>
              <a:rPr lang="en-US" b="1" dirty="0">
                <a:latin typeface="Times New Roman" pitchFamily="18" charset="0"/>
                <a:cs typeface="Times New Roman" pitchFamily="18" charset="0"/>
              </a:rPr>
              <a:t>can replicate in the midge</a:t>
            </a:r>
          </a:p>
          <a:p>
            <a:pPr lvl="1"/>
            <a:r>
              <a:rPr lang="en-US" dirty="0">
                <a:latin typeface="Times New Roman" pitchFamily="18" charset="0"/>
                <a:cs typeface="Times New Roman" pitchFamily="18" charset="0"/>
              </a:rPr>
              <a:t>In U.S., </a:t>
            </a:r>
            <a:r>
              <a:rPr lang="en-US" i="1" dirty="0" err="1">
                <a:latin typeface="Times New Roman" pitchFamily="18" charset="0"/>
                <a:cs typeface="Times New Roman" pitchFamily="18" charset="0"/>
              </a:rPr>
              <a:t>Culicoides</a:t>
            </a:r>
            <a:r>
              <a:rPr lang="en-US" dirty="0">
                <a:latin typeface="Times New Roman" pitchFamily="18" charset="0"/>
                <a:cs typeface="Times New Roman" pitchFamily="18" charset="0"/>
              </a:rPr>
              <a:t> that can transmit bluetongue virus most likely can transmit African Horse Sickness</a:t>
            </a:r>
          </a:p>
          <a:p>
            <a:pPr lvl="1"/>
            <a:r>
              <a:rPr lang="en-US" i="1" dirty="0" err="1">
                <a:latin typeface="Times New Roman" pitchFamily="18" charset="0"/>
                <a:cs typeface="Times New Roman" pitchFamily="18" charset="0"/>
              </a:rPr>
              <a:t>Culicoides</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are most active at sunset and about sunrise</a:t>
            </a: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Transmission</a:t>
            </a:r>
          </a:p>
        </p:txBody>
      </p:sp>
      <p:sp>
        <p:nvSpPr>
          <p:cNvPr id="4108" name="Rectangle 12"/>
          <p:cNvSpPr>
            <a:spLocks noGrp="1" noChangeArrowheads="1"/>
          </p:cNvSpPr>
          <p:nvPr>
            <p:ph idx="1"/>
          </p:nvPr>
        </p:nvSpPr>
        <p:spPr>
          <a:xfrm>
            <a:off x="457200" y="1785938"/>
            <a:ext cx="8229600" cy="3708400"/>
          </a:xfrm>
        </p:spPr>
        <p:txBody>
          <a:bodyPr/>
          <a:lstStyle/>
          <a:p>
            <a:r>
              <a:rPr lang="en-US" dirty="0">
                <a:latin typeface="Times New Roman" pitchFamily="18" charset="0"/>
                <a:cs typeface="Times New Roman" pitchFamily="18" charset="0"/>
              </a:rPr>
              <a:t>African Horse Sickness is </a:t>
            </a:r>
            <a:r>
              <a:rPr lang="en-US" dirty="0">
                <a:solidFill>
                  <a:srgbClr val="FF0000"/>
                </a:solidFill>
                <a:latin typeface="Times New Roman" pitchFamily="18" charset="0"/>
                <a:cs typeface="Times New Roman" pitchFamily="18" charset="0"/>
              </a:rPr>
              <a:t>non-contagious</a:t>
            </a:r>
            <a:r>
              <a:rPr lang="en-US" dirty="0">
                <a:latin typeface="Times New Roman" pitchFamily="18" charset="0"/>
                <a:cs typeface="Times New Roman" pitchFamily="18" charset="0"/>
              </a:rPr>
              <a:t>, but the horse is an amplifier of AHS virus and source of virus for arthropods. </a:t>
            </a:r>
          </a:p>
          <a:p>
            <a:pPr>
              <a:buFont typeface="Wingdings" pitchFamily="2" charset="2"/>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Arthropods other than </a:t>
            </a:r>
            <a:r>
              <a:rPr lang="en-US" i="1" dirty="0" err="1">
                <a:latin typeface="Times New Roman" pitchFamily="18" charset="0"/>
                <a:cs typeface="Times New Roman" pitchFamily="18" charset="0"/>
              </a:rPr>
              <a:t>Culicoides</a:t>
            </a:r>
            <a:r>
              <a:rPr lang="en-US" dirty="0">
                <a:latin typeface="Times New Roman" pitchFamily="18" charset="0"/>
                <a:cs typeface="Times New Roman" pitchFamily="18" charset="0"/>
              </a:rPr>
              <a:t> may spread the virus as mechanical vectors </a:t>
            </a: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C00000"/>
                </a:solidFill>
              </a:rPr>
              <a:t>Pathogenesis</a:t>
            </a:r>
            <a:endParaRPr lang="en-US" sz="4000" b="1" dirty="0">
              <a:solidFill>
                <a:srgbClr val="C00000"/>
              </a:solidFill>
            </a:endParaRPr>
          </a:p>
        </p:txBody>
      </p:sp>
      <p:sp>
        <p:nvSpPr>
          <p:cNvPr id="3" name="Content Placeholder 2"/>
          <p:cNvSpPr>
            <a:spLocks noGrp="1"/>
          </p:cNvSpPr>
          <p:nvPr>
            <p:ph idx="1"/>
          </p:nvPr>
        </p:nvSpPr>
        <p:spPr>
          <a:xfrm>
            <a:off x="457200" y="1600200"/>
            <a:ext cx="8458200" cy="4530725"/>
          </a:xfrm>
        </p:spPr>
        <p:txBody>
          <a:bodyPr>
            <a:normAutofit lnSpcReduction="10000"/>
          </a:bodyPr>
          <a:lstStyle/>
          <a:p>
            <a:r>
              <a:rPr lang="en-US" sz="2800" dirty="0" smtClean="0">
                <a:latin typeface="Times New Roman" pitchFamily="18" charset="0"/>
                <a:cs typeface="Times New Roman" pitchFamily="18" charset="0"/>
              </a:rPr>
              <a:t>After bite of arthropods </a:t>
            </a:r>
            <a:r>
              <a:rPr lang="en-US" sz="2800" dirty="0">
                <a:latin typeface="Times New Roman" pitchFamily="18" charset="0"/>
                <a:cs typeface="Times New Roman" pitchFamily="18" charset="0"/>
              </a:rPr>
              <a:t>virus replicates in </a:t>
            </a:r>
            <a:r>
              <a:rPr lang="en-US" sz="2800" dirty="0" smtClean="0">
                <a:latin typeface="Times New Roman" pitchFamily="18" charset="0"/>
                <a:cs typeface="Times New Roman" pitchFamily="18" charset="0"/>
              </a:rPr>
              <a:t>local lymph nodes.</a:t>
            </a:r>
          </a:p>
          <a:p>
            <a:r>
              <a:rPr lang="en-US" sz="2800" dirty="0" smtClean="0">
                <a:latin typeface="Times New Roman" pitchFamily="18" charset="0"/>
                <a:cs typeface="Times New Roman" pitchFamily="18" charset="0"/>
              </a:rPr>
              <a:t>Primary </a:t>
            </a:r>
            <a:r>
              <a:rPr lang="en-US" sz="2800" dirty="0" err="1" smtClean="0">
                <a:latin typeface="Times New Roman" pitchFamily="18" charset="0"/>
                <a:cs typeface="Times New Roman" pitchFamily="18" charset="0"/>
              </a:rPr>
              <a:t>viremia</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Infection of other tissues and organs of RE system.</a:t>
            </a:r>
          </a:p>
          <a:p>
            <a:r>
              <a:rPr lang="en-US" sz="2800" dirty="0" smtClean="0">
                <a:latin typeface="Times New Roman" pitchFamily="18" charset="0"/>
                <a:cs typeface="Times New Roman" pitchFamily="18" charset="0"/>
              </a:rPr>
              <a:t>Secondary </a:t>
            </a:r>
            <a:r>
              <a:rPr lang="en-US" sz="2800" dirty="0" err="1" smtClean="0">
                <a:latin typeface="Times New Roman" pitchFamily="18" charset="0"/>
                <a:cs typeface="Times New Roman" pitchFamily="18" charset="0"/>
              </a:rPr>
              <a:t>viremia</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There is generalized hyperemic reaction leading to inflammation and edema.</a:t>
            </a:r>
          </a:p>
          <a:p>
            <a:r>
              <a:rPr lang="en-US" sz="2800" dirty="0" err="1" smtClean="0">
                <a:latin typeface="Times New Roman" pitchFamily="18" charset="0"/>
                <a:cs typeface="Times New Roman" pitchFamily="18" charset="0"/>
              </a:rPr>
              <a:t>Vasculitis</a:t>
            </a:r>
            <a:r>
              <a:rPr lang="en-US" sz="2800" dirty="0" smtClean="0">
                <a:latin typeface="Times New Roman" pitchFamily="18" charset="0"/>
                <a:cs typeface="Times New Roman" pitchFamily="18" charset="0"/>
              </a:rPr>
              <a:t> of small and medium blood vessels </a:t>
            </a:r>
            <a:r>
              <a:rPr lang="en-GB" sz="2800" dirty="0" smtClean="0">
                <a:latin typeface="Times New Roman" pitchFamily="18" charset="0"/>
                <a:cs typeface="Times New Roman" pitchFamily="18" charset="0"/>
              </a:rPr>
              <a:t>causing increased vascular permeability, </a:t>
            </a:r>
            <a:r>
              <a:rPr lang="en-GB" sz="2800" dirty="0" err="1" smtClean="0">
                <a:latin typeface="Times New Roman" pitchFamily="18" charset="0"/>
                <a:cs typeface="Times New Roman" pitchFamily="18" charset="0"/>
              </a:rPr>
              <a:t>edema</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hemorrhage</a:t>
            </a:r>
            <a:r>
              <a:rPr lang="en-GB" sz="2800" dirty="0" smtClean="0">
                <a:latin typeface="Times New Roman" pitchFamily="18" charset="0"/>
                <a:cs typeface="Times New Roman" pitchFamily="18" charset="0"/>
              </a:rPr>
              <a:t>, particularly in the lungs and heart</a:t>
            </a:r>
            <a:endParaRPr lang="en-US" sz="2800"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3683235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b="1" dirty="0">
                <a:solidFill>
                  <a:srgbClr val="C00000"/>
                </a:solidFill>
              </a:rPr>
              <a:t>Clinical Signs</a:t>
            </a:r>
          </a:p>
        </p:txBody>
      </p:sp>
      <p:sp>
        <p:nvSpPr>
          <p:cNvPr id="238595" name="Rectangle 3"/>
          <p:cNvSpPr>
            <a:spLocks noGrp="1" noChangeArrowheads="1"/>
          </p:cNvSpPr>
          <p:nvPr>
            <p:ph idx="1"/>
          </p:nvPr>
        </p:nvSpPr>
        <p:spPr/>
        <p:txBody>
          <a:bodyPr>
            <a:normAutofit/>
          </a:bodyPr>
          <a:lstStyle/>
          <a:p>
            <a:r>
              <a:rPr lang="en-US" sz="2800" dirty="0">
                <a:latin typeface="Times New Roman" pitchFamily="18" charset="0"/>
                <a:cs typeface="Times New Roman" pitchFamily="18" charset="0"/>
              </a:rPr>
              <a:t>Infected horses remain </a:t>
            </a:r>
            <a:r>
              <a:rPr lang="en-US" sz="2800" dirty="0" err="1">
                <a:latin typeface="Times New Roman" pitchFamily="18" charset="0"/>
                <a:cs typeface="Times New Roman" pitchFamily="18" charset="0"/>
              </a:rPr>
              <a:t>viremic</a:t>
            </a:r>
            <a:r>
              <a:rPr lang="en-US" sz="2800" dirty="0">
                <a:latin typeface="Times New Roman" pitchFamily="18" charset="0"/>
                <a:cs typeface="Times New Roman" pitchFamily="18" charset="0"/>
              </a:rPr>
              <a:t> for approximately 18 days, although the fever may be present for another 4 to 8 days, if the animal should live that long. </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Despite </a:t>
            </a:r>
            <a:r>
              <a:rPr lang="en-US" sz="2800" dirty="0">
                <a:latin typeface="Times New Roman" pitchFamily="18" charset="0"/>
                <a:cs typeface="Times New Roman" pitchFamily="18" charset="0"/>
              </a:rPr>
              <a:t>their reduced mortality, the </a:t>
            </a:r>
            <a:r>
              <a:rPr lang="en-US" sz="2800" dirty="0" err="1">
                <a:latin typeface="Times New Roman" pitchFamily="18" charset="0"/>
                <a:cs typeface="Times New Roman" pitchFamily="18" charset="0"/>
              </a:rPr>
              <a:t>viremic</a:t>
            </a:r>
            <a:r>
              <a:rPr lang="en-US" sz="2800" dirty="0">
                <a:latin typeface="Times New Roman" pitchFamily="18" charset="0"/>
                <a:cs typeface="Times New Roman" pitchFamily="18" charset="0"/>
              </a:rPr>
              <a:t> stage in donkeys may last for up to 28 days. </a:t>
            </a:r>
            <a:endParaRPr lang="en-US"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The pulmonary form has a shorter incubation period than the cardiac form. </a:t>
            </a:r>
            <a:endParaRPr lang="en-US" sz="2800" dirty="0" smtClean="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2000" y="381000"/>
            <a:ext cx="8382000" cy="1143000"/>
          </a:xfrm>
        </p:spPr>
        <p:txBody>
          <a:bodyPr/>
          <a:lstStyle/>
          <a:p>
            <a:r>
              <a:rPr lang="en-US" dirty="0">
                <a:solidFill>
                  <a:srgbClr val="C00000"/>
                </a:solidFill>
              </a:rPr>
              <a:t>Clinical Signs</a:t>
            </a:r>
          </a:p>
        </p:txBody>
      </p:sp>
      <p:sp>
        <p:nvSpPr>
          <p:cNvPr id="3079" name="Rectangle 7"/>
          <p:cNvSpPr>
            <a:spLocks noGrp="1" noChangeArrowheads="1"/>
          </p:cNvSpPr>
          <p:nvPr>
            <p:ph type="body" sz="half" idx="1"/>
          </p:nvPr>
        </p:nvSpPr>
        <p:spPr>
          <a:xfrm>
            <a:off x="609600" y="2286000"/>
            <a:ext cx="3886200" cy="3352800"/>
          </a:xfrm>
        </p:spPr>
        <p:txBody>
          <a:bodyPr/>
          <a:lstStyle/>
          <a:p>
            <a:pPr>
              <a:buClr>
                <a:srgbClr val="669900"/>
              </a:buClr>
              <a:buSzTx/>
            </a:pPr>
            <a:r>
              <a:rPr lang="en-US" sz="3600" dirty="0">
                <a:latin typeface="Times New Roman" pitchFamily="18" charset="0"/>
                <a:cs typeface="Times New Roman" pitchFamily="18" charset="0"/>
              </a:rPr>
              <a:t>First Sign:</a:t>
            </a:r>
          </a:p>
          <a:p>
            <a:pPr lvl="1">
              <a:buClr>
                <a:srgbClr val="669900"/>
              </a:buClr>
              <a:buFont typeface="Wingdings" pitchFamily="2" charset="2"/>
              <a:buNone/>
            </a:pPr>
            <a:endParaRPr lang="en-US" dirty="0">
              <a:latin typeface="Times New Roman" pitchFamily="18" charset="0"/>
              <a:cs typeface="Times New Roman" pitchFamily="18" charset="0"/>
            </a:endParaRPr>
          </a:p>
          <a:p>
            <a:pPr lvl="1">
              <a:buClr>
                <a:srgbClr val="669900"/>
              </a:buClr>
              <a:buFont typeface="Wingdings" pitchFamily="2" charset="2"/>
              <a:buNone/>
            </a:pPr>
            <a:r>
              <a:rPr lang="en-US" dirty="0">
                <a:latin typeface="Times New Roman" pitchFamily="18" charset="0"/>
                <a:cs typeface="Times New Roman" pitchFamily="18" charset="0"/>
              </a:rPr>
              <a:t>Fever of 102°F to 106°F, </a:t>
            </a:r>
          </a:p>
          <a:p>
            <a:pPr lvl="1">
              <a:buClr>
                <a:srgbClr val="669900"/>
              </a:buClr>
              <a:buFont typeface="Wingdings" pitchFamily="2" charset="2"/>
              <a:buNone/>
            </a:pPr>
            <a:endParaRPr lang="en-US" dirty="0">
              <a:latin typeface="Times New Roman" pitchFamily="18" charset="0"/>
              <a:cs typeface="Times New Roman" pitchFamily="18" charset="0"/>
            </a:endParaRPr>
          </a:p>
          <a:p>
            <a:pPr lvl="1">
              <a:buClr>
                <a:srgbClr val="669900"/>
              </a:buClr>
              <a:buFont typeface="Wingdings" pitchFamily="2" charset="2"/>
              <a:buNone/>
            </a:pPr>
            <a:r>
              <a:rPr lang="en-US" dirty="0">
                <a:latin typeface="Times New Roman" pitchFamily="18" charset="0"/>
                <a:cs typeface="Times New Roman" pitchFamily="18" charset="0"/>
              </a:rPr>
              <a:t>(38.9°C - 41.1°C)</a:t>
            </a:r>
          </a:p>
          <a:p>
            <a:pPr lvl="1">
              <a:buClr>
                <a:srgbClr val="669900"/>
              </a:buClr>
              <a:buFont typeface="Wingdings" pitchFamily="2" charset="2"/>
              <a:buNone/>
            </a:pPr>
            <a:endParaRPr lang="en-US" dirty="0">
              <a:latin typeface="Times New Roman" pitchFamily="18" charset="0"/>
              <a:cs typeface="Times New Roman" pitchFamily="18" charset="0"/>
            </a:endParaRPr>
          </a:p>
          <a:p>
            <a:pPr>
              <a:buClr>
                <a:srgbClr val="669900"/>
              </a:buClr>
              <a:buFont typeface="Wingdings" pitchFamily="2" charset="2"/>
              <a:buNone/>
            </a:pPr>
            <a:endParaRPr lang="en-US" sz="2000" dirty="0">
              <a:latin typeface="Times New Roman" pitchFamily="18" charset="0"/>
              <a:cs typeface="Times New Roman" pitchFamily="18" charset="0"/>
            </a:endParaRPr>
          </a:p>
          <a:p>
            <a:pPr lvl="1">
              <a:buClr>
                <a:srgbClr val="669900"/>
              </a:buClr>
              <a:buFont typeface="Wingdings" pitchFamily="2" charset="2"/>
              <a:buBlip>
                <a:blip r:embed="rId3"/>
              </a:buBlip>
            </a:pPr>
            <a:endParaRPr lang="en-US" sz="2400" dirty="0">
              <a:latin typeface="Times New Roman" pitchFamily="18" charset="0"/>
              <a:cs typeface="Times New Roman" pitchFamily="18" charset="0"/>
            </a:endParaRPr>
          </a:p>
        </p:txBody>
      </p:sp>
      <p:sp>
        <p:nvSpPr>
          <p:cNvPr id="6" name="Footer Placeholder 5"/>
          <p:cNvSpPr>
            <a:spLocks noGrp="1"/>
          </p:cNvSpPr>
          <p:nvPr>
            <p:ph type="ftr" sz="quarter" idx="11"/>
          </p:nvPr>
        </p:nvSpPr>
        <p:spPr/>
        <p:txBody>
          <a:bodyPr/>
          <a:lstStyle/>
          <a:p>
            <a:r>
              <a:rPr lang="en-US"/>
              <a:t>African Horse Sickness</a:t>
            </a:r>
          </a:p>
        </p:txBody>
      </p:sp>
      <p:pic>
        <p:nvPicPr>
          <p:cNvPr id="3086" name="Picture 14" descr="Suz horse 2+1"/>
          <p:cNvPicPr>
            <a:picLocks noChangeAspect="1" noChangeArrowheads="1"/>
          </p:cNvPicPr>
          <p:nvPr/>
        </p:nvPicPr>
        <p:blipFill>
          <a:blip r:embed="rId4"/>
          <a:srcRect/>
          <a:stretch>
            <a:fillRect/>
          </a:stretch>
        </p:blipFill>
        <p:spPr bwMode="auto">
          <a:xfrm>
            <a:off x="4724400" y="1981200"/>
            <a:ext cx="3117850" cy="4054475"/>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1"/>
          </p:nvPr>
        </p:nvSpPr>
        <p:spPr/>
        <p:txBody>
          <a:bodyPr/>
          <a:lstStyle/>
          <a:p>
            <a:r>
              <a:rPr lang="en-US"/>
              <a:t>African Horse Sickness</a:t>
            </a:r>
          </a:p>
        </p:txBody>
      </p:sp>
      <p:sp>
        <p:nvSpPr>
          <p:cNvPr id="193538" name="Rectangle 2"/>
          <p:cNvSpPr>
            <a:spLocks noGrp="1" noChangeArrowheads="1"/>
          </p:cNvSpPr>
          <p:nvPr>
            <p:ph type="title" idx="4294967295"/>
          </p:nvPr>
        </p:nvSpPr>
        <p:spPr>
          <a:xfrm>
            <a:off x="1676400" y="277813"/>
            <a:ext cx="7467600" cy="1143000"/>
          </a:xfrm>
        </p:spPr>
        <p:txBody>
          <a:bodyPr/>
          <a:lstStyle/>
          <a:p>
            <a:r>
              <a:rPr lang="en-US"/>
              <a:t>Clinical Signs</a:t>
            </a:r>
          </a:p>
        </p:txBody>
      </p:sp>
      <p:sp>
        <p:nvSpPr>
          <p:cNvPr id="193539" name="Rectangle 3"/>
          <p:cNvSpPr>
            <a:spLocks noGrp="1" noChangeArrowheads="1"/>
          </p:cNvSpPr>
          <p:nvPr>
            <p:ph type="body" sz="half" idx="4294967295"/>
          </p:nvPr>
        </p:nvSpPr>
        <p:spPr>
          <a:xfrm>
            <a:off x="0" y="1600200"/>
            <a:ext cx="4038600" cy="4530725"/>
          </a:xfrm>
        </p:spPr>
        <p:txBody>
          <a:bodyPr>
            <a:normAutofit/>
          </a:bodyPr>
          <a:lstStyle/>
          <a:p>
            <a:pPr lvl="1">
              <a:buClr>
                <a:srgbClr val="669900"/>
              </a:buClr>
              <a:buFont typeface="Wingdings" pitchFamily="2" charset="2"/>
              <a:buNone/>
            </a:pPr>
            <a:r>
              <a:rPr lang="en-US" dirty="0">
                <a:latin typeface="Times New Roman" pitchFamily="18" charset="0"/>
                <a:cs typeface="Times New Roman" pitchFamily="18" charset="0"/>
              </a:rPr>
              <a:t>Most Common Sign</a:t>
            </a:r>
          </a:p>
          <a:p>
            <a:pPr lvl="1">
              <a:buClr>
                <a:srgbClr val="669900"/>
              </a:buClr>
              <a:buFont typeface="Wingdings" pitchFamily="2" charset="2"/>
              <a:buNone/>
            </a:pPr>
            <a:endParaRPr lang="en-US" dirty="0">
              <a:latin typeface="Times New Roman" pitchFamily="18" charset="0"/>
              <a:cs typeface="Times New Roman" pitchFamily="18" charset="0"/>
            </a:endParaRPr>
          </a:p>
          <a:p>
            <a:pPr lvl="1">
              <a:buClr>
                <a:srgbClr val="669900"/>
              </a:buClr>
              <a:buFont typeface="Wingdings" pitchFamily="2" charset="2"/>
              <a:buBlip>
                <a:blip r:embed="rId3"/>
              </a:buBlip>
            </a:pPr>
            <a:r>
              <a:rPr lang="en-US" dirty="0">
                <a:latin typeface="Times New Roman" pitchFamily="18" charset="0"/>
                <a:cs typeface="Times New Roman" pitchFamily="18" charset="0"/>
              </a:rPr>
              <a:t>Congestion of the conjunctivae</a:t>
            </a:r>
          </a:p>
          <a:p>
            <a:pPr lvl="1">
              <a:buClr>
                <a:srgbClr val="669900"/>
              </a:buClr>
              <a:buFont typeface="Wingdings" pitchFamily="2" charset="2"/>
              <a:buNone/>
            </a:pPr>
            <a:endParaRPr lang="en-US" dirty="0">
              <a:latin typeface="Times New Roman" pitchFamily="18" charset="0"/>
              <a:cs typeface="Times New Roman" pitchFamily="18" charset="0"/>
            </a:endParaRPr>
          </a:p>
          <a:p>
            <a:pPr lvl="1">
              <a:buClr>
                <a:srgbClr val="669900"/>
              </a:buClr>
              <a:buFont typeface="Wingdings" pitchFamily="2" charset="2"/>
              <a:buBlip>
                <a:blip r:embed="rId3"/>
              </a:buBlip>
            </a:pPr>
            <a:r>
              <a:rPr lang="en-US" dirty="0">
                <a:latin typeface="Times New Roman" pitchFamily="18" charset="0"/>
                <a:cs typeface="Times New Roman" pitchFamily="18" charset="0"/>
              </a:rPr>
              <a:t>Severity of congestion is good indication of severity of infection</a:t>
            </a:r>
          </a:p>
          <a:p>
            <a:pPr lvl="1">
              <a:buClr>
                <a:srgbClr val="669900"/>
              </a:buClr>
              <a:buFont typeface="Wingdings" pitchFamily="2" charset="2"/>
              <a:buBlip>
                <a:blip r:embed="rId3"/>
              </a:buBlip>
            </a:pPr>
            <a:endParaRPr lang="en-US" dirty="0">
              <a:latin typeface="Times New Roman" pitchFamily="18" charset="0"/>
              <a:cs typeface="Times New Roman" pitchFamily="18" charset="0"/>
            </a:endParaRPr>
          </a:p>
        </p:txBody>
      </p:sp>
      <p:pic>
        <p:nvPicPr>
          <p:cNvPr id="193545" name="Picture 9" descr="Picture16+1"/>
          <p:cNvPicPr>
            <a:picLocks noChangeAspect="1" noChangeArrowheads="1"/>
          </p:cNvPicPr>
          <p:nvPr/>
        </p:nvPicPr>
        <p:blipFill>
          <a:blip r:embed="rId4"/>
          <a:srcRect/>
          <a:stretch>
            <a:fillRect/>
          </a:stretch>
        </p:blipFill>
        <p:spPr bwMode="auto">
          <a:xfrm>
            <a:off x="4038600" y="2373313"/>
            <a:ext cx="4572000" cy="3043237"/>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5" name="Rectangle 5"/>
          <p:cNvSpPr>
            <a:spLocks noGrp="1" noChangeArrowheads="1"/>
          </p:cNvSpPr>
          <p:nvPr>
            <p:ph type="title"/>
          </p:nvPr>
        </p:nvSpPr>
        <p:spPr/>
        <p:txBody>
          <a:bodyPr/>
          <a:lstStyle/>
          <a:p>
            <a:r>
              <a:rPr lang="en-US"/>
              <a:t>Clinical Signs</a:t>
            </a:r>
          </a:p>
        </p:txBody>
      </p:sp>
      <p:sp>
        <p:nvSpPr>
          <p:cNvPr id="7" name="Footer Placeholder 4"/>
          <p:cNvSpPr>
            <a:spLocks noGrp="1"/>
          </p:cNvSpPr>
          <p:nvPr>
            <p:ph type="ftr" sz="quarter" idx="11"/>
          </p:nvPr>
        </p:nvSpPr>
        <p:spPr/>
        <p:txBody>
          <a:bodyPr/>
          <a:lstStyle/>
          <a:p>
            <a:r>
              <a:rPr lang="en-US"/>
              <a:t>African Horse Sickness</a:t>
            </a:r>
          </a:p>
        </p:txBody>
      </p:sp>
      <p:sp>
        <p:nvSpPr>
          <p:cNvPr id="163847" name="Text Box 7"/>
          <p:cNvSpPr txBox="1">
            <a:spLocks noChangeArrowheads="1"/>
          </p:cNvSpPr>
          <p:nvPr/>
        </p:nvSpPr>
        <p:spPr bwMode="auto">
          <a:xfrm>
            <a:off x="1219200" y="1752600"/>
            <a:ext cx="4637232" cy="584775"/>
          </a:xfrm>
          <a:prstGeom prst="rect">
            <a:avLst/>
          </a:prstGeom>
          <a:noFill/>
          <a:ln w="9525">
            <a:noFill/>
            <a:miter lim="800000"/>
            <a:headEnd/>
            <a:tailEnd/>
          </a:ln>
          <a:effectLst/>
        </p:spPr>
        <p:txBody>
          <a:bodyPr wrap="none">
            <a:spAutoFit/>
          </a:bodyPr>
          <a:lstStyle/>
          <a:p>
            <a:r>
              <a:rPr lang="en-US" sz="3200" dirty="0"/>
              <a:t>Lower Eyelid Conjunctivitis</a:t>
            </a:r>
          </a:p>
        </p:txBody>
      </p:sp>
      <p:pic>
        <p:nvPicPr>
          <p:cNvPr id="163849" name="Picture 9" descr="Picture18+1"/>
          <p:cNvPicPr>
            <a:picLocks noChangeAspect="1" noChangeArrowheads="1"/>
          </p:cNvPicPr>
          <p:nvPr/>
        </p:nvPicPr>
        <p:blipFill>
          <a:blip r:embed="rId3"/>
          <a:srcRect/>
          <a:stretch>
            <a:fillRect/>
          </a:stretch>
        </p:blipFill>
        <p:spPr bwMode="auto">
          <a:xfrm>
            <a:off x="4191000" y="2895600"/>
            <a:ext cx="4500563" cy="2932113"/>
          </a:xfrm>
          <a:prstGeom prst="rect">
            <a:avLst/>
          </a:prstGeom>
          <a:noFill/>
        </p:spPr>
      </p:pic>
      <p:pic>
        <p:nvPicPr>
          <p:cNvPr id="163850" name="Picture 10" descr="Picture17+1"/>
          <p:cNvPicPr>
            <a:picLocks noChangeAspect="1" noChangeArrowheads="1"/>
          </p:cNvPicPr>
          <p:nvPr/>
        </p:nvPicPr>
        <p:blipFill>
          <a:blip r:embed="rId4"/>
          <a:srcRect/>
          <a:stretch>
            <a:fillRect/>
          </a:stretch>
        </p:blipFill>
        <p:spPr bwMode="auto">
          <a:xfrm>
            <a:off x="1066800" y="2743200"/>
            <a:ext cx="2730500" cy="37338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1"/>
          </p:nvPr>
        </p:nvSpPr>
        <p:spPr/>
        <p:txBody>
          <a:bodyPr/>
          <a:lstStyle/>
          <a:p>
            <a:r>
              <a:rPr lang="en-US"/>
              <a:t>African Horse Sickness</a:t>
            </a:r>
          </a:p>
        </p:txBody>
      </p:sp>
      <p:sp>
        <p:nvSpPr>
          <p:cNvPr id="15362" name="Rectangle 2"/>
          <p:cNvSpPr>
            <a:spLocks noGrp="1" noChangeArrowheads="1"/>
          </p:cNvSpPr>
          <p:nvPr>
            <p:ph type="title" idx="4294967295"/>
          </p:nvPr>
        </p:nvSpPr>
        <p:spPr>
          <a:xfrm>
            <a:off x="0" y="228600"/>
            <a:ext cx="7467600" cy="1143000"/>
          </a:xfrm>
        </p:spPr>
        <p:txBody>
          <a:bodyPr/>
          <a:lstStyle/>
          <a:p>
            <a:r>
              <a:rPr lang="en-US" sz="4000" b="1" dirty="0">
                <a:solidFill>
                  <a:srgbClr val="C00000"/>
                </a:solidFill>
              </a:rPr>
              <a:t>Clinical Signs</a:t>
            </a:r>
          </a:p>
        </p:txBody>
      </p:sp>
      <p:sp>
        <p:nvSpPr>
          <p:cNvPr id="15368" name="Text Box 8"/>
          <p:cNvSpPr txBox="1">
            <a:spLocks noChangeArrowheads="1"/>
          </p:cNvSpPr>
          <p:nvPr/>
        </p:nvSpPr>
        <p:spPr bwMode="auto">
          <a:xfrm>
            <a:off x="609600" y="1524000"/>
            <a:ext cx="184150" cy="579438"/>
          </a:xfrm>
          <a:prstGeom prst="rect">
            <a:avLst/>
          </a:prstGeom>
          <a:noFill/>
          <a:ln w="9525">
            <a:noFill/>
            <a:miter lim="800000"/>
            <a:headEnd/>
            <a:tailEnd/>
          </a:ln>
          <a:effectLst/>
        </p:spPr>
        <p:txBody>
          <a:bodyPr wrap="none">
            <a:spAutoFit/>
          </a:bodyPr>
          <a:lstStyle/>
          <a:p>
            <a:pPr eaLnBrk="1" hangingPunct="1"/>
            <a:endParaRPr lang="en-US" sz="3200" b="1">
              <a:latin typeface="Times New Roman" pitchFamily="18" charset="0"/>
            </a:endParaRPr>
          </a:p>
        </p:txBody>
      </p:sp>
      <p:sp>
        <p:nvSpPr>
          <p:cNvPr id="15377" name="Text Box 17"/>
          <p:cNvSpPr txBox="1">
            <a:spLocks noChangeArrowheads="1"/>
          </p:cNvSpPr>
          <p:nvPr/>
        </p:nvSpPr>
        <p:spPr bwMode="auto">
          <a:xfrm>
            <a:off x="304800" y="1371600"/>
            <a:ext cx="8077200" cy="5386090"/>
          </a:xfrm>
          <a:prstGeom prst="rect">
            <a:avLst/>
          </a:prstGeom>
          <a:noFill/>
          <a:ln w="9525">
            <a:noFill/>
            <a:miter lim="800000"/>
            <a:headEnd/>
            <a:tailEnd/>
          </a:ln>
          <a:effectLst/>
        </p:spPr>
        <p:txBody>
          <a:bodyPr wrap="square">
            <a:spAutoFit/>
          </a:bodyPr>
          <a:lstStyle/>
          <a:p>
            <a:pPr eaLnBrk="1" hangingPunct="1">
              <a:buClr>
                <a:srgbClr val="669900"/>
              </a:buClr>
              <a:buFont typeface="Wingdings" pitchFamily="2" charset="2"/>
              <a:buNone/>
            </a:pPr>
            <a:r>
              <a:rPr lang="en-US" sz="3200" dirty="0">
                <a:latin typeface="Times New Roman" pitchFamily="18" charset="0"/>
                <a:cs typeface="Times New Roman" pitchFamily="18" charset="0"/>
              </a:rPr>
              <a:t>After initial signs, the disease can progress in one of four ways:</a:t>
            </a:r>
            <a:endParaRPr lang="en-US" sz="2400" dirty="0">
              <a:latin typeface="Times New Roman" pitchFamily="18" charset="0"/>
              <a:cs typeface="Times New Roman" pitchFamily="18" charset="0"/>
            </a:endParaRPr>
          </a:p>
          <a:p>
            <a:pPr eaLnBrk="1" hangingPunct="1">
              <a:buClr>
                <a:srgbClr val="669900"/>
              </a:buClr>
              <a:buFont typeface="Wingdings" pitchFamily="2" charset="2"/>
              <a:buNone/>
            </a:pPr>
            <a:endParaRPr lang="en-US" sz="3200" dirty="0">
              <a:latin typeface="Times New Roman" pitchFamily="18" charset="0"/>
              <a:cs typeface="Times New Roman" pitchFamily="18" charset="0"/>
            </a:endParaRPr>
          </a:p>
          <a:p>
            <a:pPr eaLnBrk="1" hangingPunct="1">
              <a:buClr>
                <a:srgbClr val="669900"/>
              </a:buClr>
              <a:buFont typeface="Wingdings" pitchFamily="2" charset="2"/>
              <a:buBlip>
                <a:blip r:embed="rId3"/>
              </a:buBlip>
            </a:pPr>
            <a:r>
              <a:rPr lang="en-US" sz="3200" dirty="0">
                <a:latin typeface="Times New Roman" pitchFamily="18" charset="0"/>
                <a:cs typeface="Times New Roman" pitchFamily="18" charset="0"/>
              </a:rPr>
              <a:t> </a:t>
            </a:r>
            <a:r>
              <a:rPr lang="en-US" sz="2800" dirty="0">
                <a:latin typeface="Times New Roman" pitchFamily="18" charset="0"/>
                <a:cs typeface="Times New Roman" pitchFamily="18" charset="0"/>
              </a:rPr>
              <a:t>Peripheral (Cardiac) </a:t>
            </a:r>
            <a:r>
              <a:rPr lang="en-US" sz="2800" dirty="0" smtClean="0">
                <a:latin typeface="Times New Roman" pitchFamily="18" charset="0"/>
                <a:cs typeface="Times New Roman" pitchFamily="18" charset="0"/>
              </a:rPr>
              <a:t>or sub acute called  </a:t>
            </a:r>
            <a:r>
              <a:rPr lang="en-US" sz="2800" b="1" dirty="0">
                <a:latin typeface="Times New Roman" pitchFamily="18" charset="0"/>
                <a:cs typeface="Times New Roman" pitchFamily="18" charset="0"/>
              </a:rPr>
              <a:t>“</a:t>
            </a:r>
            <a:r>
              <a:rPr lang="en-US" sz="2800" b="1" dirty="0" err="1">
                <a:latin typeface="Times New Roman" pitchFamily="18" charset="0"/>
                <a:cs typeface="Times New Roman" pitchFamily="18" charset="0"/>
              </a:rPr>
              <a:t>Dikkop</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(thick head) in </a:t>
            </a:r>
            <a:r>
              <a:rPr lang="en-US" sz="2800" dirty="0">
                <a:latin typeface="Times New Roman" pitchFamily="18" charset="0"/>
                <a:cs typeface="Times New Roman" pitchFamily="18" charset="0"/>
              </a:rPr>
              <a:t>S. Africa</a:t>
            </a:r>
          </a:p>
          <a:p>
            <a:pPr eaLnBrk="1" hangingPunct="1">
              <a:buClr>
                <a:srgbClr val="669900"/>
              </a:buClr>
              <a:buFont typeface="Wingdings" pitchFamily="2" charset="2"/>
              <a:buBlip>
                <a:blip r:embed="rId3"/>
              </a:buBlip>
            </a:pP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Central (Pulmonary</a:t>
            </a:r>
            <a:r>
              <a:rPr lang="en-US" sz="2800" dirty="0" smtClean="0">
                <a:latin typeface="Times New Roman" pitchFamily="18" charset="0"/>
                <a:cs typeface="Times New Roman" pitchFamily="18" charset="0"/>
              </a:rPr>
              <a:t>) or </a:t>
            </a:r>
            <a:r>
              <a:rPr lang="en-US" sz="2800" dirty="0" err="1" smtClean="0">
                <a:latin typeface="Times New Roman" pitchFamily="18" charset="0"/>
                <a:cs typeface="Times New Roman" pitchFamily="18" charset="0"/>
              </a:rPr>
              <a:t>peracute</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called “</a:t>
            </a:r>
            <a:r>
              <a:rPr lang="en-US" sz="2800" b="1" dirty="0" err="1">
                <a:latin typeface="Times New Roman" pitchFamily="18" charset="0"/>
                <a:cs typeface="Times New Roman" pitchFamily="18" charset="0"/>
              </a:rPr>
              <a:t>Dunkop</a:t>
            </a:r>
            <a:r>
              <a:rPr lang="en-US" sz="2800" dirty="0" smtClean="0">
                <a:latin typeface="Times New Roman" pitchFamily="18" charset="0"/>
                <a:cs typeface="Times New Roman" pitchFamily="18" charset="0"/>
              </a:rPr>
              <a:t>” (thin head) </a:t>
            </a:r>
            <a:r>
              <a:rPr lang="en-US" sz="2800" dirty="0">
                <a:latin typeface="Times New Roman" pitchFamily="18" charset="0"/>
                <a:cs typeface="Times New Roman" pitchFamily="18" charset="0"/>
              </a:rPr>
              <a:t>in S. Africa</a:t>
            </a:r>
          </a:p>
          <a:p>
            <a:pPr eaLnBrk="1" hangingPunct="1">
              <a:buClr>
                <a:srgbClr val="669900"/>
              </a:buClr>
              <a:buFont typeface="Wingdings" pitchFamily="2" charset="2"/>
              <a:buBlip>
                <a:blip r:embed="rId3"/>
              </a:buBlip>
            </a:pPr>
            <a:r>
              <a:rPr lang="en-US" sz="2800" dirty="0">
                <a:latin typeface="Times New Roman" pitchFamily="18" charset="0"/>
                <a:cs typeface="Times New Roman" pitchFamily="18" charset="0"/>
              </a:rPr>
              <a:t> Mixed Form (Acute</a:t>
            </a:r>
            <a:r>
              <a:rPr lang="en-US" sz="2800" dirty="0" smtClean="0">
                <a:latin typeface="Times New Roman" pitchFamily="18" charset="0"/>
                <a:cs typeface="Times New Roman" pitchFamily="18" charset="0"/>
              </a:rPr>
              <a:t>) most common</a:t>
            </a:r>
            <a:endParaRPr lang="en-US" sz="2800" dirty="0">
              <a:latin typeface="Times New Roman" pitchFamily="18" charset="0"/>
              <a:cs typeface="Times New Roman" pitchFamily="18" charset="0"/>
            </a:endParaRPr>
          </a:p>
          <a:p>
            <a:pPr eaLnBrk="1" hangingPunct="1">
              <a:buClr>
                <a:srgbClr val="669900"/>
              </a:buClr>
              <a:buFont typeface="Wingdings" pitchFamily="2" charset="2"/>
              <a:buBlip>
                <a:blip r:embed="rId3"/>
              </a:buBlip>
            </a:pP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Mild </a:t>
            </a:r>
            <a:r>
              <a:rPr lang="en-US" sz="2800" dirty="0">
                <a:latin typeface="Times New Roman" pitchFamily="18" charset="0"/>
                <a:cs typeface="Times New Roman" pitchFamily="18" charset="0"/>
              </a:rPr>
              <a:t>Form </a:t>
            </a:r>
            <a:r>
              <a:rPr lang="en-US" sz="2800" dirty="0" smtClean="0">
                <a:latin typeface="Times New Roman" pitchFamily="18" charset="0"/>
                <a:cs typeface="Times New Roman" pitchFamily="18" charset="0"/>
              </a:rPr>
              <a:t>(horse sickness Fever</a:t>
            </a:r>
            <a:r>
              <a:rPr lang="en-US" sz="2800" dirty="0">
                <a:latin typeface="Times New Roman" pitchFamily="18" charset="0"/>
                <a:cs typeface="Times New Roman" pitchFamily="18" charset="0"/>
              </a:rPr>
              <a:t>)</a:t>
            </a:r>
          </a:p>
          <a:p>
            <a:pPr eaLnBrk="1" hangingPunct="1">
              <a:buClr>
                <a:srgbClr val="669900"/>
              </a:buClr>
              <a:buFont typeface="Wingdings" pitchFamily="2" charset="2"/>
              <a:buBlip>
                <a:blip r:embed="rId3"/>
              </a:buBlip>
            </a:pPr>
            <a:endParaRPr lang="en-US" sz="2800" dirty="0">
              <a:latin typeface="Times New Roman" pitchFamily="18" charset="0"/>
              <a:cs typeface="Times New Roman" pitchFamily="18" charset="0"/>
            </a:endParaRPr>
          </a:p>
          <a:p>
            <a:pPr>
              <a:spcBef>
                <a:spcPct val="50000"/>
              </a:spcBef>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52400" y="304800"/>
            <a:ext cx="9144000" cy="1143000"/>
          </a:xfrm>
        </p:spPr>
        <p:txBody>
          <a:bodyPr/>
          <a:lstStyle/>
          <a:p>
            <a:r>
              <a:rPr lang="en-US" sz="3600" b="1" dirty="0">
                <a:solidFill>
                  <a:schemeClr val="accent2"/>
                </a:solidFill>
              </a:rPr>
              <a:t>Clinical Signs: </a:t>
            </a:r>
            <a:r>
              <a:rPr lang="en-US" sz="3600" b="1" dirty="0" smtClean="0">
                <a:solidFill>
                  <a:schemeClr val="accent2"/>
                </a:solidFill>
              </a:rPr>
              <a:t>Pulmonary or </a:t>
            </a:r>
            <a:r>
              <a:rPr lang="en-US" sz="3600" b="1" dirty="0" err="1" smtClean="0">
                <a:solidFill>
                  <a:schemeClr val="accent2"/>
                </a:solidFill>
              </a:rPr>
              <a:t>Dunkop</a:t>
            </a:r>
            <a:r>
              <a:rPr lang="en-US" sz="3600" b="1" dirty="0" smtClean="0">
                <a:solidFill>
                  <a:schemeClr val="accent2"/>
                </a:solidFill>
              </a:rPr>
              <a:t> form</a:t>
            </a:r>
            <a:endParaRPr lang="en-US" sz="3600" b="1" dirty="0">
              <a:solidFill>
                <a:schemeClr val="accent2"/>
              </a:solidFill>
            </a:endParaRPr>
          </a:p>
        </p:txBody>
      </p:sp>
      <p:sp>
        <p:nvSpPr>
          <p:cNvPr id="36873" name="Rectangle 9"/>
          <p:cNvSpPr>
            <a:spLocks noGrp="1" noChangeArrowheads="1"/>
          </p:cNvSpPr>
          <p:nvPr>
            <p:ph type="body" sz="half" idx="1"/>
          </p:nvPr>
        </p:nvSpPr>
        <p:spPr>
          <a:xfrm>
            <a:off x="457200" y="1752600"/>
            <a:ext cx="3770313" cy="4800600"/>
          </a:xfrm>
        </p:spPr>
        <p:txBody>
          <a:bodyPr/>
          <a:lstStyle/>
          <a:p>
            <a:pPr>
              <a:lnSpc>
                <a:spcPct val="90000"/>
              </a:lnSpc>
              <a:buClr>
                <a:srgbClr val="669900"/>
              </a:buClr>
              <a:buSzTx/>
            </a:pPr>
            <a:r>
              <a:rPr lang="en-US" sz="2800" dirty="0">
                <a:latin typeface="Times New Roman" pitchFamily="18" charset="0"/>
                <a:cs typeface="Times New Roman" pitchFamily="18" charset="0"/>
              </a:rPr>
              <a:t>Fever up to 104°F to 106°F</a:t>
            </a:r>
          </a:p>
          <a:p>
            <a:pPr>
              <a:lnSpc>
                <a:spcPct val="90000"/>
              </a:lnSpc>
              <a:buClr>
                <a:srgbClr val="669900"/>
              </a:buClr>
              <a:buSzTx/>
            </a:pPr>
            <a:r>
              <a:rPr lang="en-US" sz="2800" dirty="0">
                <a:latin typeface="Times New Roman" pitchFamily="18" charset="0"/>
                <a:cs typeface="Times New Roman" pitchFamily="18" charset="0"/>
              </a:rPr>
              <a:t>Increasingly more rapid respiration and abdominal expiration</a:t>
            </a:r>
          </a:p>
          <a:p>
            <a:pPr lvl="1">
              <a:lnSpc>
                <a:spcPct val="90000"/>
              </a:lnSpc>
              <a:buClr>
                <a:srgbClr val="669900"/>
              </a:buClr>
              <a:buFont typeface="Wingdings" pitchFamily="2" charset="2"/>
              <a:buChar char="Ø"/>
            </a:pPr>
            <a:r>
              <a:rPr lang="en-US" sz="2400" dirty="0">
                <a:latin typeface="Times New Roman" pitchFamily="18" charset="0"/>
                <a:cs typeface="Times New Roman" pitchFamily="18" charset="0"/>
              </a:rPr>
              <a:t>Respiratory rate may reach 60-70 per minute</a:t>
            </a:r>
          </a:p>
          <a:p>
            <a:pPr>
              <a:lnSpc>
                <a:spcPct val="90000"/>
              </a:lnSpc>
              <a:buClr>
                <a:srgbClr val="669900"/>
              </a:buClr>
              <a:buSzTx/>
            </a:pPr>
            <a:r>
              <a:rPr lang="en-US" sz="2800" dirty="0">
                <a:latin typeface="Times New Roman" pitchFamily="18" charset="0"/>
                <a:cs typeface="Times New Roman" pitchFamily="18" charset="0"/>
              </a:rPr>
              <a:t>Coughing and Sweating</a:t>
            </a:r>
          </a:p>
          <a:p>
            <a:pPr>
              <a:lnSpc>
                <a:spcPct val="90000"/>
              </a:lnSpc>
              <a:buFont typeface="Wingdings" pitchFamily="2" charset="2"/>
              <a:buNone/>
            </a:pPr>
            <a:endParaRPr lang="en-US" sz="2800" dirty="0">
              <a:latin typeface="Times New Roman" pitchFamily="18" charset="0"/>
              <a:cs typeface="Times New Roman" pitchFamily="18" charset="0"/>
            </a:endParaRPr>
          </a:p>
        </p:txBody>
      </p:sp>
      <p:sp>
        <p:nvSpPr>
          <p:cNvPr id="7" name="Footer Placeholder 5"/>
          <p:cNvSpPr>
            <a:spLocks noGrp="1"/>
          </p:cNvSpPr>
          <p:nvPr>
            <p:ph type="ftr" sz="quarter" idx="11"/>
          </p:nvPr>
        </p:nvSpPr>
        <p:spPr/>
        <p:txBody>
          <a:bodyPr/>
          <a:lstStyle/>
          <a:p>
            <a:r>
              <a:rPr lang="en-US"/>
              <a:t>African Horse Sickness</a:t>
            </a:r>
          </a:p>
        </p:txBody>
      </p:sp>
      <p:pic>
        <p:nvPicPr>
          <p:cNvPr id="36876" name="Picture 12" descr="Horse with severe colic, here associated with Grass Sickness, showing sweating"/>
          <p:cNvPicPr>
            <a:picLocks noChangeAspect="1" noChangeArrowheads="1"/>
          </p:cNvPicPr>
          <p:nvPr/>
        </p:nvPicPr>
        <p:blipFill>
          <a:blip r:embed="rId3"/>
          <a:srcRect/>
          <a:stretch>
            <a:fillRect/>
          </a:stretch>
        </p:blipFill>
        <p:spPr bwMode="auto">
          <a:xfrm>
            <a:off x="4495800" y="2514600"/>
            <a:ext cx="4257675" cy="3219450"/>
          </a:xfrm>
          <a:prstGeom prst="rect">
            <a:avLst/>
          </a:prstGeom>
          <a:noFill/>
        </p:spPr>
      </p:pic>
      <p:sp>
        <p:nvSpPr>
          <p:cNvPr id="36877" name="Text Box 13"/>
          <p:cNvSpPr txBox="1">
            <a:spLocks noChangeArrowheads="1"/>
          </p:cNvSpPr>
          <p:nvPr/>
        </p:nvSpPr>
        <p:spPr bwMode="auto">
          <a:xfrm>
            <a:off x="4419600" y="5257800"/>
            <a:ext cx="4343400" cy="457200"/>
          </a:xfrm>
          <a:prstGeom prst="rect">
            <a:avLst/>
          </a:prstGeom>
          <a:noFill/>
          <a:ln w="9525">
            <a:noFill/>
            <a:miter lim="800000"/>
            <a:headEnd/>
            <a:tailEnd/>
          </a:ln>
          <a:effectLst/>
        </p:spPr>
        <p:txBody>
          <a:bodyPr>
            <a:spAutoFit/>
          </a:bodyPr>
          <a:lstStyle/>
          <a:p>
            <a:pPr>
              <a:spcBef>
                <a:spcPct val="50000"/>
              </a:spcBef>
            </a:pPr>
            <a:r>
              <a:rPr lang="en-US" sz="1200"/>
              <a:t>http://www.vet.ed.ac.uk/animalpain/Pages/images/Optimised%20Images/optphotos/EQsweating.jpg</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sz="4000" b="1" dirty="0">
                <a:solidFill>
                  <a:schemeClr val="accent2"/>
                </a:solidFill>
              </a:rPr>
              <a:t>Clinical Signs: Pulmonary</a:t>
            </a:r>
          </a:p>
        </p:txBody>
      </p:sp>
      <p:sp>
        <p:nvSpPr>
          <p:cNvPr id="18443" name="Rectangle 11"/>
          <p:cNvSpPr>
            <a:spLocks noGrp="1" noChangeArrowheads="1"/>
          </p:cNvSpPr>
          <p:nvPr>
            <p:ph sz="half" idx="1"/>
          </p:nvPr>
        </p:nvSpPr>
        <p:spPr>
          <a:xfrm>
            <a:off x="838200" y="5791200"/>
            <a:ext cx="7467600" cy="828675"/>
          </a:xfrm>
        </p:spPr>
        <p:txBody>
          <a:bodyPr/>
          <a:lstStyle/>
          <a:p>
            <a:pPr>
              <a:lnSpc>
                <a:spcPct val="90000"/>
              </a:lnSpc>
            </a:pPr>
            <a:endParaRPr lang="en-US" sz="2900"/>
          </a:p>
          <a:p>
            <a:pPr>
              <a:lnSpc>
                <a:spcPct val="90000"/>
              </a:lnSpc>
            </a:pPr>
            <a:endParaRPr lang="en-US" sz="2000"/>
          </a:p>
        </p:txBody>
      </p:sp>
      <p:sp>
        <p:nvSpPr>
          <p:cNvPr id="18438" name="Rectangle 6"/>
          <p:cNvSpPr>
            <a:spLocks noGrp="1" noChangeArrowheads="1"/>
          </p:cNvSpPr>
          <p:nvPr>
            <p:ph sz="half" idx="2"/>
          </p:nvPr>
        </p:nvSpPr>
        <p:spPr>
          <a:xfrm>
            <a:off x="533400" y="1600200"/>
            <a:ext cx="3541713" cy="4953000"/>
          </a:xfrm>
        </p:spPr>
        <p:txBody>
          <a:bodyPr/>
          <a:lstStyle/>
          <a:p>
            <a:pPr>
              <a:lnSpc>
                <a:spcPct val="80000"/>
              </a:lnSpc>
              <a:buClr>
                <a:srgbClr val="669900"/>
              </a:buClr>
              <a:buSzTx/>
            </a:pPr>
            <a:r>
              <a:rPr lang="en-US" sz="2600" dirty="0">
                <a:latin typeface="Times New Roman" pitchFamily="18" charset="0"/>
                <a:cs typeface="Times New Roman" pitchFamily="18" charset="0"/>
              </a:rPr>
              <a:t>Horse may appear colicky (getting up and down, and rolling)</a:t>
            </a:r>
          </a:p>
          <a:p>
            <a:pPr>
              <a:lnSpc>
                <a:spcPct val="80000"/>
              </a:lnSpc>
              <a:buClr>
                <a:srgbClr val="669900"/>
              </a:buClr>
              <a:buSzTx/>
            </a:pPr>
            <a:r>
              <a:rPr lang="en-US" sz="2600" dirty="0">
                <a:latin typeface="Times New Roman" pitchFamily="18" charset="0"/>
                <a:cs typeface="Times New Roman" pitchFamily="18" charset="0"/>
              </a:rPr>
              <a:t>As pulmonary distress increases:</a:t>
            </a:r>
          </a:p>
          <a:p>
            <a:pPr>
              <a:lnSpc>
                <a:spcPct val="80000"/>
              </a:lnSpc>
              <a:buClr>
                <a:srgbClr val="669900"/>
              </a:buClr>
              <a:buSzTx/>
              <a:buFont typeface="Wingdings" pitchFamily="2" charset="2"/>
              <a:buNone/>
            </a:pPr>
            <a:endParaRPr lang="en-US" sz="2600" dirty="0">
              <a:latin typeface="Times New Roman" pitchFamily="18" charset="0"/>
              <a:cs typeface="Times New Roman" pitchFamily="18" charset="0"/>
            </a:endParaRPr>
          </a:p>
          <a:p>
            <a:pPr lvl="1">
              <a:lnSpc>
                <a:spcPct val="80000"/>
              </a:lnSpc>
              <a:buClr>
                <a:srgbClr val="669900"/>
              </a:buClr>
              <a:buFont typeface="Wingdings" pitchFamily="2" charset="2"/>
              <a:buBlip>
                <a:blip r:embed="rId2"/>
              </a:buBlip>
            </a:pPr>
            <a:r>
              <a:rPr lang="en-US" dirty="0">
                <a:latin typeface="Times New Roman" pitchFamily="18" charset="0"/>
                <a:cs typeface="Times New Roman" pitchFamily="18" charset="0"/>
              </a:rPr>
              <a:t>Animal stands with forelegs apart</a:t>
            </a:r>
          </a:p>
          <a:p>
            <a:pPr lvl="1">
              <a:lnSpc>
                <a:spcPct val="80000"/>
              </a:lnSpc>
              <a:buClr>
                <a:srgbClr val="669900"/>
              </a:buClr>
              <a:buFont typeface="Wingdings" pitchFamily="2" charset="2"/>
              <a:buNone/>
            </a:pPr>
            <a:endParaRPr lang="en-US" dirty="0">
              <a:latin typeface="Times New Roman" pitchFamily="18" charset="0"/>
              <a:cs typeface="Times New Roman" pitchFamily="18" charset="0"/>
            </a:endParaRPr>
          </a:p>
          <a:p>
            <a:pPr lvl="1">
              <a:lnSpc>
                <a:spcPct val="80000"/>
              </a:lnSpc>
              <a:buClr>
                <a:srgbClr val="669900"/>
              </a:buClr>
              <a:buFont typeface="Wingdings" pitchFamily="2" charset="2"/>
              <a:buBlip>
                <a:blip r:embed="rId2"/>
              </a:buBlip>
            </a:pPr>
            <a:r>
              <a:rPr lang="en-US" dirty="0">
                <a:latin typeface="Times New Roman" pitchFamily="18" charset="0"/>
                <a:cs typeface="Times New Roman" pitchFamily="18" charset="0"/>
              </a:rPr>
              <a:t>Head extended</a:t>
            </a:r>
          </a:p>
          <a:p>
            <a:pPr lvl="1">
              <a:lnSpc>
                <a:spcPct val="80000"/>
              </a:lnSpc>
              <a:buClr>
                <a:srgbClr val="669900"/>
              </a:buClr>
              <a:buFont typeface="Wingdings" pitchFamily="2" charset="2"/>
              <a:buNone/>
            </a:pPr>
            <a:endParaRPr lang="en-US" dirty="0">
              <a:latin typeface="Times New Roman" pitchFamily="18" charset="0"/>
              <a:cs typeface="Times New Roman" pitchFamily="18" charset="0"/>
            </a:endParaRPr>
          </a:p>
          <a:p>
            <a:pPr lvl="1">
              <a:lnSpc>
                <a:spcPct val="80000"/>
              </a:lnSpc>
              <a:buClr>
                <a:srgbClr val="669900"/>
              </a:buClr>
              <a:buFont typeface="Wingdings" pitchFamily="2" charset="2"/>
              <a:buBlip>
                <a:blip r:embed="rId2"/>
              </a:buBlip>
            </a:pPr>
            <a:r>
              <a:rPr lang="en-US" dirty="0">
                <a:latin typeface="Times New Roman" pitchFamily="18" charset="0"/>
                <a:cs typeface="Times New Roman" pitchFamily="18" charset="0"/>
              </a:rPr>
              <a:t>Nostrils dilated</a:t>
            </a:r>
          </a:p>
          <a:p>
            <a:pPr lvl="1">
              <a:lnSpc>
                <a:spcPct val="80000"/>
              </a:lnSpc>
              <a:buClr>
                <a:srgbClr val="669900"/>
              </a:buClr>
              <a:buFont typeface="Wingdings" pitchFamily="2" charset="2"/>
              <a:buNone/>
            </a:pPr>
            <a:endParaRPr lang="en-US" dirty="0">
              <a:latin typeface="Times New Roman" pitchFamily="18" charset="0"/>
              <a:cs typeface="Times New Roman" pitchFamily="18" charset="0"/>
            </a:endParaRPr>
          </a:p>
          <a:p>
            <a:pPr>
              <a:lnSpc>
                <a:spcPct val="80000"/>
              </a:lnSpc>
            </a:pPr>
            <a:endParaRPr lang="en-US" sz="1900" dirty="0">
              <a:latin typeface="Times New Roman" pitchFamily="18" charset="0"/>
              <a:cs typeface="Times New Roman" pitchFamily="18" charset="0"/>
            </a:endParaRPr>
          </a:p>
        </p:txBody>
      </p:sp>
      <p:sp>
        <p:nvSpPr>
          <p:cNvPr id="9" name="Footer Placeholder 5"/>
          <p:cNvSpPr>
            <a:spLocks noGrp="1"/>
          </p:cNvSpPr>
          <p:nvPr>
            <p:ph type="ftr" sz="quarter" idx="11"/>
          </p:nvPr>
        </p:nvSpPr>
        <p:spPr/>
        <p:txBody>
          <a:bodyPr/>
          <a:lstStyle/>
          <a:p>
            <a:r>
              <a:rPr lang="en-US"/>
              <a:t>African Horse Sickness</a:t>
            </a:r>
          </a:p>
        </p:txBody>
      </p:sp>
      <p:sp>
        <p:nvSpPr>
          <p:cNvPr id="18437" name="Text Box 5"/>
          <p:cNvSpPr txBox="1">
            <a:spLocks noChangeArrowheads="1"/>
          </p:cNvSpPr>
          <p:nvPr/>
        </p:nvSpPr>
        <p:spPr bwMode="auto">
          <a:xfrm>
            <a:off x="1828800" y="1624013"/>
            <a:ext cx="184150" cy="519112"/>
          </a:xfrm>
          <a:prstGeom prst="rect">
            <a:avLst/>
          </a:prstGeom>
          <a:noFill/>
          <a:ln w="9525">
            <a:noFill/>
            <a:miter lim="800000"/>
            <a:headEnd/>
            <a:tailEnd/>
          </a:ln>
          <a:effectLst/>
        </p:spPr>
        <p:txBody>
          <a:bodyPr wrap="none">
            <a:spAutoFit/>
          </a:bodyPr>
          <a:lstStyle/>
          <a:p>
            <a:pPr eaLnBrk="1" hangingPunct="1"/>
            <a:endParaRPr lang="en-US" sz="2800"/>
          </a:p>
        </p:txBody>
      </p:sp>
      <p:pic>
        <p:nvPicPr>
          <p:cNvPr id="18446" name="Picture 14" descr="wnv horse"/>
          <p:cNvPicPr>
            <a:picLocks noChangeAspect="1" noChangeArrowheads="1"/>
          </p:cNvPicPr>
          <p:nvPr/>
        </p:nvPicPr>
        <p:blipFill>
          <a:blip r:embed="rId3"/>
          <a:srcRect/>
          <a:stretch>
            <a:fillRect/>
          </a:stretch>
        </p:blipFill>
        <p:spPr bwMode="auto">
          <a:xfrm>
            <a:off x="5257800" y="4267200"/>
            <a:ext cx="2476500" cy="1927225"/>
          </a:xfrm>
          <a:prstGeom prst="rect">
            <a:avLst/>
          </a:prstGeom>
          <a:noFill/>
          <a:ln w="6350">
            <a:solidFill>
              <a:srgbClr val="000000"/>
            </a:solidFill>
            <a:miter lim="800000"/>
            <a:headEnd/>
            <a:tailEnd/>
          </a:ln>
        </p:spPr>
      </p:pic>
      <p:pic>
        <p:nvPicPr>
          <p:cNvPr id="18447" name="Picture 15" descr="Picture 29+1"/>
          <p:cNvPicPr>
            <a:picLocks noChangeAspect="1" noChangeArrowheads="1"/>
          </p:cNvPicPr>
          <p:nvPr/>
        </p:nvPicPr>
        <p:blipFill>
          <a:blip r:embed="rId4"/>
          <a:srcRect/>
          <a:stretch>
            <a:fillRect/>
          </a:stretch>
        </p:blipFill>
        <p:spPr bwMode="auto">
          <a:xfrm>
            <a:off x="5029200" y="1905000"/>
            <a:ext cx="2743200" cy="2103438"/>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8" name="Rectangle 6"/>
          <p:cNvSpPr>
            <a:spLocks noGrp="1" noChangeArrowheads="1"/>
          </p:cNvSpPr>
          <p:nvPr>
            <p:ph type="title"/>
          </p:nvPr>
        </p:nvSpPr>
        <p:spPr/>
        <p:txBody>
          <a:bodyPr/>
          <a:lstStyle/>
          <a:p>
            <a:r>
              <a:rPr lang="en-US"/>
              <a:t>Clinical Signs: Pulmonary</a:t>
            </a:r>
          </a:p>
        </p:txBody>
      </p:sp>
      <p:sp>
        <p:nvSpPr>
          <p:cNvPr id="7" name="Footer Placeholder 3"/>
          <p:cNvSpPr>
            <a:spLocks noGrp="1"/>
          </p:cNvSpPr>
          <p:nvPr>
            <p:ph type="ftr" sz="quarter" idx="11"/>
          </p:nvPr>
        </p:nvSpPr>
        <p:spPr/>
        <p:txBody>
          <a:bodyPr/>
          <a:lstStyle/>
          <a:p>
            <a:r>
              <a:rPr lang="en-US"/>
              <a:t>African Horse Sickness</a:t>
            </a:r>
          </a:p>
        </p:txBody>
      </p:sp>
      <p:sp>
        <p:nvSpPr>
          <p:cNvPr id="197637" name="Rectangle 5"/>
          <p:cNvSpPr>
            <a:spLocks noChangeArrowheads="1"/>
          </p:cNvSpPr>
          <p:nvPr/>
        </p:nvSpPr>
        <p:spPr bwMode="auto">
          <a:xfrm>
            <a:off x="6172200" y="1641475"/>
            <a:ext cx="2590800" cy="2246769"/>
          </a:xfrm>
          <a:prstGeom prst="rect">
            <a:avLst/>
          </a:prstGeom>
          <a:noFill/>
          <a:ln w="9525">
            <a:noFill/>
            <a:miter lim="800000"/>
            <a:headEnd/>
            <a:tailEnd/>
          </a:ln>
          <a:effectLst/>
        </p:spPr>
        <p:txBody>
          <a:bodyPr>
            <a:spAutoFit/>
          </a:bodyPr>
          <a:lstStyle/>
          <a:p>
            <a:r>
              <a:rPr lang="en-US" sz="2800" dirty="0">
                <a:latin typeface="Times New Roman" pitchFamily="18" charset="0"/>
                <a:cs typeface="Times New Roman" pitchFamily="18" charset="0"/>
              </a:rPr>
              <a:t>Once foam appears </a:t>
            </a:r>
          </a:p>
          <a:p>
            <a:r>
              <a:rPr lang="en-US" sz="2800" dirty="0">
                <a:latin typeface="Times New Roman" pitchFamily="18" charset="0"/>
                <a:cs typeface="Times New Roman" pitchFamily="18" charset="0"/>
              </a:rPr>
              <a:t>in nostrils, death </a:t>
            </a:r>
          </a:p>
          <a:p>
            <a:r>
              <a:rPr lang="en-US" sz="2800" dirty="0">
                <a:latin typeface="Times New Roman" pitchFamily="18" charset="0"/>
                <a:cs typeface="Times New Roman" pitchFamily="18" charset="0"/>
              </a:rPr>
              <a:t>follows rapidly.</a:t>
            </a:r>
          </a:p>
          <a:p>
            <a:endParaRPr lang="en-US" sz="2800" dirty="0">
              <a:latin typeface="Times New Roman" pitchFamily="18" charset="0"/>
              <a:cs typeface="Times New Roman" pitchFamily="18" charset="0"/>
            </a:endParaRPr>
          </a:p>
        </p:txBody>
      </p:sp>
      <p:sp>
        <p:nvSpPr>
          <p:cNvPr id="197639" name="Rectangle 7"/>
          <p:cNvSpPr>
            <a:spLocks noChangeArrowheads="1"/>
          </p:cNvSpPr>
          <p:nvPr/>
        </p:nvSpPr>
        <p:spPr bwMode="auto">
          <a:xfrm>
            <a:off x="304800" y="5334000"/>
            <a:ext cx="8839200" cy="519113"/>
          </a:xfrm>
          <a:prstGeom prst="rect">
            <a:avLst/>
          </a:prstGeom>
          <a:noFill/>
          <a:ln w="9525">
            <a:noFill/>
            <a:miter lim="800000"/>
            <a:headEnd/>
            <a:tailEnd/>
          </a:ln>
          <a:effectLst/>
        </p:spPr>
        <p:txBody>
          <a:bodyPr>
            <a:spAutoFit/>
          </a:bodyPr>
          <a:lstStyle/>
          <a:p>
            <a:r>
              <a:rPr lang="en-US" sz="2800">
                <a:effectLst>
                  <a:outerShdw blurRad="38100" dist="38100" dir="2700000" algn="tl">
                    <a:srgbClr val="000000"/>
                  </a:outerShdw>
                </a:effectLst>
              </a:rPr>
              <a:t>Animal may drink and eat, even in terminal stages.</a:t>
            </a:r>
          </a:p>
        </p:txBody>
      </p:sp>
      <p:pic>
        <p:nvPicPr>
          <p:cNvPr id="197640" name="Picture 8" descr="Picture20+1"/>
          <p:cNvPicPr>
            <a:picLocks noChangeAspect="1" noChangeArrowheads="1"/>
          </p:cNvPicPr>
          <p:nvPr/>
        </p:nvPicPr>
        <p:blipFill>
          <a:blip r:embed="rId3"/>
          <a:srcRect/>
          <a:stretch>
            <a:fillRect/>
          </a:stretch>
        </p:blipFill>
        <p:spPr bwMode="auto">
          <a:xfrm>
            <a:off x="990600" y="1752600"/>
            <a:ext cx="4419600" cy="323850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8" name="Rectangle 6"/>
          <p:cNvSpPr>
            <a:spLocks noGrp="1" noChangeArrowheads="1"/>
          </p:cNvSpPr>
          <p:nvPr>
            <p:ph type="title"/>
          </p:nvPr>
        </p:nvSpPr>
        <p:spPr/>
        <p:txBody>
          <a:bodyPr/>
          <a:lstStyle/>
          <a:p>
            <a:r>
              <a:rPr lang="en-US"/>
              <a:t>Clinical Signs: Pulmonary</a:t>
            </a:r>
          </a:p>
        </p:txBody>
      </p:sp>
      <p:sp>
        <p:nvSpPr>
          <p:cNvPr id="6" name="Footer Placeholder 3"/>
          <p:cNvSpPr>
            <a:spLocks noGrp="1"/>
          </p:cNvSpPr>
          <p:nvPr>
            <p:ph type="ftr" sz="quarter" idx="11"/>
          </p:nvPr>
        </p:nvSpPr>
        <p:spPr/>
        <p:txBody>
          <a:bodyPr/>
          <a:lstStyle/>
          <a:p>
            <a:r>
              <a:rPr lang="en-US"/>
              <a:t>African Horse Sickness</a:t>
            </a:r>
          </a:p>
        </p:txBody>
      </p:sp>
      <p:sp>
        <p:nvSpPr>
          <p:cNvPr id="156677" name="Text Box 5"/>
          <p:cNvSpPr txBox="1">
            <a:spLocks noChangeArrowheads="1"/>
          </p:cNvSpPr>
          <p:nvPr/>
        </p:nvSpPr>
        <p:spPr bwMode="auto">
          <a:xfrm>
            <a:off x="4114800" y="6248400"/>
            <a:ext cx="4648200" cy="274638"/>
          </a:xfrm>
          <a:prstGeom prst="rect">
            <a:avLst/>
          </a:prstGeom>
          <a:noFill/>
          <a:ln w="9525">
            <a:noFill/>
            <a:miter lim="800000"/>
            <a:headEnd/>
            <a:tailEnd/>
          </a:ln>
          <a:effectLst/>
        </p:spPr>
        <p:txBody>
          <a:bodyPr>
            <a:spAutoFit/>
          </a:bodyPr>
          <a:lstStyle/>
          <a:p>
            <a:pPr algn="r">
              <a:spcBef>
                <a:spcPct val="50000"/>
              </a:spcBef>
            </a:pPr>
            <a:r>
              <a:rPr lang="en-US" sz="1200"/>
              <a:t>Photo courtesy of Plum Island</a:t>
            </a:r>
          </a:p>
        </p:txBody>
      </p:sp>
      <p:pic>
        <p:nvPicPr>
          <p:cNvPr id="156679" name="Picture 7" descr="Picture21+1"/>
          <p:cNvPicPr>
            <a:picLocks noChangeAspect="1" noChangeArrowheads="1"/>
          </p:cNvPicPr>
          <p:nvPr/>
        </p:nvPicPr>
        <p:blipFill>
          <a:blip r:embed="rId3"/>
          <a:srcRect/>
          <a:stretch>
            <a:fillRect/>
          </a:stretch>
        </p:blipFill>
        <p:spPr bwMode="auto">
          <a:xfrm>
            <a:off x="1752600" y="1371600"/>
            <a:ext cx="6283325" cy="4719638"/>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228600" y="228600"/>
            <a:ext cx="8610600" cy="1143000"/>
          </a:xfrm>
        </p:spPr>
        <p:txBody>
          <a:bodyPr/>
          <a:lstStyle/>
          <a:p>
            <a:r>
              <a:rPr lang="en-US" sz="4000" b="1" dirty="0">
                <a:solidFill>
                  <a:schemeClr val="accent2"/>
                </a:solidFill>
              </a:rPr>
              <a:t>Clinical Signs: </a:t>
            </a:r>
            <a:r>
              <a:rPr lang="en-US" sz="4000" b="1" dirty="0" smtClean="0">
                <a:solidFill>
                  <a:schemeClr val="accent2"/>
                </a:solidFill>
              </a:rPr>
              <a:t>Cardiac or </a:t>
            </a:r>
            <a:r>
              <a:rPr lang="en-US" sz="4000" b="1" dirty="0" err="1" smtClean="0">
                <a:solidFill>
                  <a:schemeClr val="accent2"/>
                </a:solidFill>
              </a:rPr>
              <a:t>Dikkop</a:t>
            </a:r>
            <a:r>
              <a:rPr lang="en-US" sz="4000" b="1" dirty="0" smtClean="0">
                <a:solidFill>
                  <a:schemeClr val="accent2"/>
                </a:solidFill>
              </a:rPr>
              <a:t> form</a:t>
            </a:r>
            <a:endParaRPr lang="en-US" sz="4000" b="1" dirty="0">
              <a:solidFill>
                <a:schemeClr val="accent2"/>
              </a:solidFill>
            </a:endParaRPr>
          </a:p>
        </p:txBody>
      </p:sp>
      <p:sp>
        <p:nvSpPr>
          <p:cNvPr id="84995" name="Rectangle 3"/>
          <p:cNvSpPr>
            <a:spLocks noGrp="1" noChangeArrowheads="1"/>
          </p:cNvSpPr>
          <p:nvPr>
            <p:ph idx="1"/>
          </p:nvPr>
        </p:nvSpPr>
        <p:spPr>
          <a:xfrm>
            <a:off x="538163" y="2446338"/>
            <a:ext cx="7826375" cy="2862262"/>
          </a:xfrm>
        </p:spPr>
        <p:txBody>
          <a:bodyPr/>
          <a:lstStyle/>
          <a:p>
            <a:pPr>
              <a:buClr>
                <a:srgbClr val="669900"/>
              </a:buClr>
            </a:pPr>
            <a:r>
              <a:rPr lang="en-US" dirty="0">
                <a:latin typeface="Times New Roman" pitchFamily="18" charset="0"/>
                <a:cs typeface="Times New Roman" pitchFamily="18" charset="0"/>
              </a:rPr>
              <a:t>Incubation is usually longer (7-14 days)</a:t>
            </a:r>
          </a:p>
          <a:p>
            <a:pPr>
              <a:buClr>
                <a:srgbClr val="669900"/>
              </a:buClr>
            </a:pPr>
            <a:endParaRPr lang="en-US" dirty="0">
              <a:latin typeface="Times New Roman" pitchFamily="18" charset="0"/>
              <a:cs typeface="Times New Roman" pitchFamily="18" charset="0"/>
            </a:endParaRPr>
          </a:p>
          <a:p>
            <a:pPr>
              <a:buClr>
                <a:srgbClr val="669900"/>
              </a:buClr>
            </a:pPr>
            <a:r>
              <a:rPr lang="en-US" dirty="0">
                <a:latin typeface="Times New Roman" pitchFamily="18" charset="0"/>
                <a:cs typeface="Times New Roman" pitchFamily="18" charset="0"/>
              </a:rPr>
              <a:t>Fever of 102-106°F usually lasts 3-6 days</a:t>
            </a: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676400" y="304800"/>
            <a:ext cx="7467600" cy="1143000"/>
          </a:xfrm>
        </p:spPr>
        <p:txBody>
          <a:bodyPr/>
          <a:lstStyle/>
          <a:p>
            <a:r>
              <a:rPr lang="en-US" sz="4000"/>
              <a:t>Clinical Signs: Cardiac </a:t>
            </a:r>
          </a:p>
        </p:txBody>
      </p:sp>
      <p:sp>
        <p:nvSpPr>
          <p:cNvPr id="17417" name="Rectangle 9"/>
          <p:cNvSpPr>
            <a:spLocks noGrp="1" noChangeArrowheads="1"/>
          </p:cNvSpPr>
          <p:nvPr>
            <p:ph type="body" sz="half" idx="1"/>
          </p:nvPr>
        </p:nvSpPr>
        <p:spPr>
          <a:xfrm>
            <a:off x="228600" y="1600200"/>
            <a:ext cx="4724400" cy="4038600"/>
          </a:xfrm>
        </p:spPr>
        <p:txBody>
          <a:bodyPr/>
          <a:lstStyle/>
          <a:p>
            <a:pPr>
              <a:buClr>
                <a:srgbClr val="669900"/>
              </a:buClr>
            </a:pPr>
            <a:r>
              <a:rPr lang="en-US" dirty="0">
                <a:latin typeface="Times New Roman" pitchFamily="18" charset="0"/>
                <a:cs typeface="Times New Roman" pitchFamily="18" charset="0"/>
              </a:rPr>
              <a:t>At the end of the febrile period, marked swelling of the head and neck may occur</a:t>
            </a:r>
          </a:p>
        </p:txBody>
      </p:sp>
      <p:sp>
        <p:nvSpPr>
          <p:cNvPr id="7" name="Footer Placeholder 5"/>
          <p:cNvSpPr>
            <a:spLocks noGrp="1"/>
          </p:cNvSpPr>
          <p:nvPr>
            <p:ph type="ftr" sz="quarter" idx="11"/>
          </p:nvPr>
        </p:nvSpPr>
        <p:spPr/>
        <p:txBody>
          <a:bodyPr/>
          <a:lstStyle/>
          <a:p>
            <a:r>
              <a:rPr lang="en-US"/>
              <a:t>African Horse Sickness</a:t>
            </a:r>
          </a:p>
        </p:txBody>
      </p:sp>
      <p:sp>
        <p:nvSpPr>
          <p:cNvPr id="17416" name="Rectangle 8"/>
          <p:cNvSpPr>
            <a:spLocks noChangeArrowheads="1"/>
          </p:cNvSpPr>
          <p:nvPr/>
        </p:nvSpPr>
        <p:spPr bwMode="auto">
          <a:xfrm>
            <a:off x="4800600" y="1447800"/>
            <a:ext cx="1828800" cy="6096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None/>
            </a:pPr>
            <a:endParaRPr lang="en-US" sz="3600">
              <a:effectLst>
                <a:outerShdw blurRad="38100" dist="38100" dir="2700000" algn="tl">
                  <a:srgbClr val="000000"/>
                </a:outerShdw>
              </a:effectLst>
              <a:latin typeface="Times New Roman" pitchFamily="18" charset="0"/>
            </a:endParaRPr>
          </a:p>
        </p:txBody>
      </p:sp>
      <p:pic>
        <p:nvPicPr>
          <p:cNvPr id="17425" name="Picture 17" descr="Picture22+1"/>
          <p:cNvPicPr>
            <a:picLocks noChangeAspect="1" noChangeArrowheads="1"/>
          </p:cNvPicPr>
          <p:nvPr/>
        </p:nvPicPr>
        <p:blipFill>
          <a:blip r:embed="rId3"/>
          <a:srcRect/>
          <a:stretch>
            <a:fillRect/>
          </a:stretch>
        </p:blipFill>
        <p:spPr bwMode="auto">
          <a:xfrm>
            <a:off x="5257800" y="1676400"/>
            <a:ext cx="3549650" cy="4114800"/>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1676400" y="304800"/>
            <a:ext cx="7467600" cy="1143000"/>
          </a:xfrm>
        </p:spPr>
        <p:txBody>
          <a:bodyPr/>
          <a:lstStyle/>
          <a:p>
            <a:r>
              <a:rPr lang="en-US" sz="4000" b="1" dirty="0">
                <a:solidFill>
                  <a:schemeClr val="accent2"/>
                </a:solidFill>
              </a:rPr>
              <a:t>Clinical Signs: Cardiac </a:t>
            </a:r>
          </a:p>
        </p:txBody>
      </p:sp>
      <p:sp>
        <p:nvSpPr>
          <p:cNvPr id="205827" name="Rectangle 3"/>
          <p:cNvSpPr>
            <a:spLocks noGrp="1" noChangeArrowheads="1"/>
          </p:cNvSpPr>
          <p:nvPr>
            <p:ph type="body" sz="half" idx="1"/>
          </p:nvPr>
        </p:nvSpPr>
        <p:spPr>
          <a:xfrm>
            <a:off x="228600" y="1371600"/>
            <a:ext cx="4724400" cy="4038600"/>
          </a:xfrm>
        </p:spPr>
        <p:txBody>
          <a:bodyPr/>
          <a:lstStyle/>
          <a:p>
            <a:pPr>
              <a:buClr>
                <a:srgbClr val="669900"/>
              </a:buClr>
            </a:pPr>
            <a:r>
              <a:rPr lang="en-US" sz="2800" dirty="0">
                <a:latin typeface="Times New Roman" pitchFamily="18" charset="0"/>
                <a:cs typeface="Times New Roman" pitchFamily="18" charset="0"/>
              </a:rPr>
              <a:t>Classic areas for swelling are:</a:t>
            </a:r>
          </a:p>
          <a:p>
            <a:pPr lvl="2">
              <a:buClr>
                <a:srgbClr val="669900"/>
              </a:buClr>
              <a:buFont typeface="Wingdings" pitchFamily="2" charset="2"/>
              <a:buBlip>
                <a:blip r:embed="rId3"/>
              </a:buBlip>
            </a:pPr>
            <a:r>
              <a:rPr lang="en-US" dirty="0" err="1">
                <a:latin typeface="Times New Roman" pitchFamily="18" charset="0"/>
                <a:cs typeface="Times New Roman" pitchFamily="18" charset="0"/>
              </a:rPr>
              <a:t>Supraorbital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fossa</a:t>
            </a:r>
            <a:endParaRPr lang="en-US" dirty="0">
              <a:latin typeface="Times New Roman" pitchFamily="18" charset="0"/>
              <a:cs typeface="Times New Roman" pitchFamily="18" charset="0"/>
            </a:endParaRPr>
          </a:p>
          <a:p>
            <a:pPr lvl="2">
              <a:buClr>
                <a:srgbClr val="669900"/>
              </a:buClr>
              <a:buFont typeface="Wingdings" pitchFamily="2" charset="2"/>
              <a:buBlip>
                <a:blip r:embed="rId3"/>
              </a:buBlip>
            </a:pPr>
            <a:r>
              <a:rPr lang="en-US" dirty="0">
                <a:latin typeface="Times New Roman" pitchFamily="18" charset="0"/>
                <a:cs typeface="Times New Roman" pitchFamily="18" charset="0"/>
              </a:rPr>
              <a:t>Conjunctiva</a:t>
            </a:r>
          </a:p>
          <a:p>
            <a:pPr lvl="2">
              <a:buClr>
                <a:srgbClr val="669900"/>
              </a:buClr>
              <a:buFont typeface="Wingdings" pitchFamily="2" charset="2"/>
              <a:buBlip>
                <a:blip r:embed="rId3"/>
              </a:buBlip>
            </a:pPr>
            <a:r>
              <a:rPr lang="en-US" dirty="0">
                <a:latin typeface="Times New Roman" pitchFamily="18" charset="0"/>
                <a:cs typeface="Times New Roman" pitchFamily="18" charset="0"/>
              </a:rPr>
              <a:t>Lips, cheeks, tongue</a:t>
            </a:r>
          </a:p>
          <a:p>
            <a:pPr lvl="2">
              <a:buClr>
                <a:srgbClr val="669900"/>
              </a:buClr>
              <a:buFont typeface="Wingdings" pitchFamily="2" charset="2"/>
              <a:buBlip>
                <a:blip r:embed="rId3"/>
              </a:buBlip>
            </a:pPr>
            <a:r>
              <a:rPr lang="en-US" dirty="0" err="1">
                <a:latin typeface="Times New Roman" pitchFamily="18" charset="0"/>
                <a:cs typeface="Times New Roman" pitchFamily="18" charset="0"/>
              </a:rPr>
              <a:t>Intermandibular</a:t>
            </a:r>
            <a:r>
              <a:rPr lang="en-US" dirty="0">
                <a:latin typeface="Times New Roman" pitchFamily="18" charset="0"/>
                <a:cs typeface="Times New Roman" pitchFamily="18" charset="0"/>
              </a:rPr>
              <a:t> space</a:t>
            </a:r>
          </a:p>
          <a:p>
            <a:pPr lvl="2">
              <a:buClr>
                <a:srgbClr val="669900"/>
              </a:buClr>
              <a:buFont typeface="Wingdings" pitchFamily="2" charset="2"/>
              <a:buBlip>
                <a:blip r:embed="rId3"/>
              </a:buBlip>
            </a:pPr>
            <a:r>
              <a:rPr lang="en-US" dirty="0">
                <a:latin typeface="Times New Roman" pitchFamily="18" charset="0"/>
                <a:cs typeface="Times New Roman" pitchFamily="18" charset="0"/>
              </a:rPr>
              <a:t>Laryngeal area</a:t>
            </a:r>
          </a:p>
          <a:p>
            <a:pPr lvl="2">
              <a:buClr>
                <a:srgbClr val="669900"/>
              </a:buClr>
              <a:buFont typeface="Wingdings" pitchFamily="2" charset="2"/>
              <a:buBlip>
                <a:blip r:embed="rId3"/>
              </a:buBlip>
            </a:pPr>
            <a:r>
              <a:rPr lang="en-US" dirty="0">
                <a:latin typeface="Times New Roman" pitchFamily="18" charset="0"/>
                <a:cs typeface="Times New Roman" pitchFamily="18" charset="0"/>
              </a:rPr>
              <a:t>Neck, brisket, ventral thorax</a:t>
            </a:r>
          </a:p>
        </p:txBody>
      </p:sp>
      <p:sp>
        <p:nvSpPr>
          <p:cNvPr id="9" name="Footer Placeholder 5"/>
          <p:cNvSpPr>
            <a:spLocks noGrp="1"/>
          </p:cNvSpPr>
          <p:nvPr>
            <p:ph type="ftr" sz="quarter" idx="11"/>
          </p:nvPr>
        </p:nvSpPr>
        <p:spPr/>
        <p:txBody>
          <a:bodyPr/>
          <a:lstStyle/>
          <a:p>
            <a:r>
              <a:rPr lang="en-US"/>
              <a:t>African Horse Sickness</a:t>
            </a:r>
          </a:p>
        </p:txBody>
      </p:sp>
      <p:sp>
        <p:nvSpPr>
          <p:cNvPr id="205828" name="Rectangle 4"/>
          <p:cNvSpPr>
            <a:spLocks noChangeArrowheads="1"/>
          </p:cNvSpPr>
          <p:nvPr/>
        </p:nvSpPr>
        <p:spPr bwMode="auto">
          <a:xfrm>
            <a:off x="4800600" y="1447800"/>
            <a:ext cx="1828800" cy="6096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None/>
            </a:pPr>
            <a:endParaRPr lang="en-US" sz="3600">
              <a:effectLst>
                <a:outerShdw blurRad="38100" dist="38100" dir="2700000" algn="tl">
                  <a:srgbClr val="000000"/>
                </a:outerShdw>
              </a:effectLst>
              <a:latin typeface="Times New Roman" pitchFamily="18" charset="0"/>
            </a:endParaRPr>
          </a:p>
        </p:txBody>
      </p:sp>
      <p:pic>
        <p:nvPicPr>
          <p:cNvPr id="205829" name="Picture 5" descr="AfrHorsSick-09"/>
          <p:cNvPicPr>
            <a:picLocks noChangeAspect="1" noChangeArrowheads="1"/>
          </p:cNvPicPr>
          <p:nvPr/>
        </p:nvPicPr>
        <p:blipFill>
          <a:blip r:embed="rId4"/>
          <a:srcRect/>
          <a:stretch>
            <a:fillRect/>
          </a:stretch>
        </p:blipFill>
        <p:spPr bwMode="auto">
          <a:xfrm>
            <a:off x="5562600" y="4267200"/>
            <a:ext cx="3048000" cy="2103438"/>
          </a:xfrm>
          <a:prstGeom prst="rect">
            <a:avLst/>
          </a:prstGeom>
          <a:noFill/>
        </p:spPr>
      </p:pic>
      <p:pic>
        <p:nvPicPr>
          <p:cNvPr id="205832" name="Picture 8" descr="Picture23+1"/>
          <p:cNvPicPr>
            <a:picLocks noChangeAspect="1" noChangeArrowheads="1"/>
          </p:cNvPicPr>
          <p:nvPr/>
        </p:nvPicPr>
        <p:blipFill>
          <a:blip r:embed="rId5"/>
          <a:srcRect/>
          <a:stretch>
            <a:fillRect/>
          </a:stretch>
        </p:blipFill>
        <p:spPr bwMode="auto">
          <a:xfrm>
            <a:off x="5334000" y="1752600"/>
            <a:ext cx="3343275" cy="2322513"/>
          </a:xfrm>
          <a:prstGeom prst="rect">
            <a:avLst/>
          </a:prstGeom>
          <a:noFill/>
        </p:spPr>
      </p:pic>
      <p:sp>
        <p:nvSpPr>
          <p:cNvPr id="205833" name="Text Box 9"/>
          <p:cNvSpPr txBox="1">
            <a:spLocks noChangeArrowheads="1"/>
          </p:cNvSpPr>
          <p:nvPr/>
        </p:nvSpPr>
        <p:spPr bwMode="auto">
          <a:xfrm>
            <a:off x="5470525" y="6383338"/>
            <a:ext cx="3438525" cy="244475"/>
          </a:xfrm>
          <a:prstGeom prst="rect">
            <a:avLst/>
          </a:prstGeom>
          <a:noFill/>
          <a:ln w="9525">
            <a:noFill/>
            <a:miter lim="800000"/>
            <a:headEnd/>
            <a:tailEnd/>
          </a:ln>
          <a:effectLst/>
        </p:spPr>
        <p:txBody>
          <a:bodyPr wrap="none">
            <a:spAutoFit/>
          </a:bodyPr>
          <a:lstStyle/>
          <a:p>
            <a:r>
              <a:rPr lang="en-US" sz="1000"/>
              <a:t>http://www.spc.int/rahs/Manual/images/AfrHorsSick-09.jpg</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83" name="Rectangle 7"/>
          <p:cNvSpPr>
            <a:spLocks noGrp="1" noChangeArrowheads="1"/>
          </p:cNvSpPr>
          <p:nvPr>
            <p:ph type="title"/>
          </p:nvPr>
        </p:nvSpPr>
        <p:spPr/>
        <p:txBody>
          <a:bodyPr/>
          <a:lstStyle/>
          <a:p>
            <a:r>
              <a:rPr lang="en-US"/>
              <a:t>Clinical Signs: Cardiac</a:t>
            </a:r>
          </a:p>
        </p:txBody>
      </p:sp>
      <p:sp>
        <p:nvSpPr>
          <p:cNvPr id="7" name="Footer Placeholder 3"/>
          <p:cNvSpPr>
            <a:spLocks noGrp="1"/>
          </p:cNvSpPr>
          <p:nvPr>
            <p:ph type="ftr" sz="quarter" idx="11"/>
          </p:nvPr>
        </p:nvSpPr>
        <p:spPr/>
        <p:txBody>
          <a:bodyPr/>
          <a:lstStyle/>
          <a:p>
            <a:r>
              <a:rPr lang="en-US"/>
              <a:t>African Horse Sickness</a:t>
            </a:r>
          </a:p>
        </p:txBody>
      </p:sp>
      <p:sp>
        <p:nvSpPr>
          <p:cNvPr id="178181" name="Text Box 5"/>
          <p:cNvSpPr txBox="1">
            <a:spLocks noChangeArrowheads="1"/>
          </p:cNvSpPr>
          <p:nvPr/>
        </p:nvSpPr>
        <p:spPr bwMode="auto">
          <a:xfrm>
            <a:off x="5943600" y="6248400"/>
            <a:ext cx="2895600" cy="274638"/>
          </a:xfrm>
          <a:prstGeom prst="rect">
            <a:avLst/>
          </a:prstGeom>
          <a:noFill/>
          <a:ln w="9525">
            <a:noFill/>
            <a:miter lim="800000"/>
            <a:headEnd/>
            <a:tailEnd/>
          </a:ln>
          <a:effectLst/>
        </p:spPr>
        <p:txBody>
          <a:bodyPr>
            <a:spAutoFit/>
          </a:bodyPr>
          <a:lstStyle/>
          <a:p>
            <a:pPr>
              <a:spcBef>
                <a:spcPct val="50000"/>
              </a:spcBef>
            </a:pPr>
            <a:endParaRPr lang="en-US" sz="1200"/>
          </a:p>
        </p:txBody>
      </p:sp>
      <p:sp>
        <p:nvSpPr>
          <p:cNvPr id="178182" name="Text Box 6"/>
          <p:cNvSpPr txBox="1">
            <a:spLocks noChangeArrowheads="1"/>
          </p:cNvSpPr>
          <p:nvPr/>
        </p:nvSpPr>
        <p:spPr bwMode="auto">
          <a:xfrm>
            <a:off x="381000" y="1600200"/>
            <a:ext cx="3893695" cy="646331"/>
          </a:xfrm>
          <a:prstGeom prst="rect">
            <a:avLst/>
          </a:prstGeom>
          <a:noFill/>
          <a:ln w="9525">
            <a:noFill/>
            <a:miter lim="800000"/>
            <a:headEnd/>
            <a:tailEnd/>
          </a:ln>
          <a:effectLst/>
        </p:spPr>
        <p:txBody>
          <a:bodyPr wrap="none">
            <a:spAutoFit/>
          </a:bodyPr>
          <a:lstStyle/>
          <a:p>
            <a:r>
              <a:rPr lang="en-US" sz="3600" dirty="0" err="1"/>
              <a:t>Peri</a:t>
            </a:r>
            <a:r>
              <a:rPr lang="en-US" sz="3600" dirty="0"/>
              <a:t>-orbital swelling</a:t>
            </a:r>
          </a:p>
        </p:txBody>
      </p:sp>
      <p:pic>
        <p:nvPicPr>
          <p:cNvPr id="178185" name="Picture 9" descr="Picture25+1"/>
          <p:cNvPicPr>
            <a:picLocks noChangeAspect="1" noChangeArrowheads="1"/>
          </p:cNvPicPr>
          <p:nvPr/>
        </p:nvPicPr>
        <p:blipFill>
          <a:blip r:embed="rId3"/>
          <a:srcRect/>
          <a:stretch>
            <a:fillRect/>
          </a:stretch>
        </p:blipFill>
        <p:spPr bwMode="auto">
          <a:xfrm>
            <a:off x="2286000" y="2819400"/>
            <a:ext cx="5286375" cy="3571875"/>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28600"/>
            <a:ext cx="7467600" cy="1143000"/>
          </a:xfrm>
        </p:spPr>
        <p:txBody>
          <a:bodyPr/>
          <a:lstStyle/>
          <a:p>
            <a:r>
              <a:rPr lang="en-US" sz="4000" b="1" dirty="0">
                <a:solidFill>
                  <a:schemeClr val="accent2"/>
                </a:solidFill>
              </a:rPr>
              <a:t>Clinical Signs: Cardiac</a:t>
            </a:r>
          </a:p>
        </p:txBody>
      </p:sp>
      <p:sp>
        <p:nvSpPr>
          <p:cNvPr id="21513" name="Rectangle 9"/>
          <p:cNvSpPr>
            <a:spLocks noGrp="1" noChangeArrowheads="1"/>
          </p:cNvSpPr>
          <p:nvPr>
            <p:ph idx="1"/>
          </p:nvPr>
        </p:nvSpPr>
        <p:spPr>
          <a:xfrm>
            <a:off x="914400" y="1981200"/>
            <a:ext cx="7693025" cy="4114800"/>
          </a:xfrm>
        </p:spPr>
        <p:txBody>
          <a:bodyPr/>
          <a:lstStyle/>
          <a:p>
            <a:pPr>
              <a:lnSpc>
                <a:spcPct val="90000"/>
              </a:lnSpc>
              <a:buClr>
                <a:srgbClr val="669900"/>
              </a:buClr>
            </a:pPr>
            <a:r>
              <a:rPr lang="en-US" sz="2900" dirty="0">
                <a:latin typeface="Times New Roman" pitchFamily="18" charset="0"/>
                <a:cs typeface="Times New Roman" pitchFamily="18" charset="0"/>
              </a:rPr>
              <a:t>No edema of the lower parts of the legs occurs</a:t>
            </a:r>
          </a:p>
          <a:p>
            <a:pPr>
              <a:lnSpc>
                <a:spcPct val="90000"/>
              </a:lnSpc>
              <a:buClr>
                <a:srgbClr val="669900"/>
              </a:buClr>
            </a:pPr>
            <a:endParaRPr lang="en-US" sz="900" dirty="0">
              <a:latin typeface="Times New Roman" pitchFamily="18" charset="0"/>
              <a:cs typeface="Times New Roman" pitchFamily="18" charset="0"/>
            </a:endParaRPr>
          </a:p>
          <a:p>
            <a:pPr>
              <a:lnSpc>
                <a:spcPct val="90000"/>
              </a:lnSpc>
              <a:buClr>
                <a:srgbClr val="669900"/>
              </a:buClr>
            </a:pPr>
            <a:r>
              <a:rPr lang="en-US" sz="2900" dirty="0" err="1">
                <a:latin typeface="Times New Roman" pitchFamily="18" charset="0"/>
                <a:cs typeface="Times New Roman" pitchFamily="18" charset="0"/>
              </a:rPr>
              <a:t>Petechial</a:t>
            </a:r>
            <a:r>
              <a:rPr lang="en-US" sz="2900" dirty="0">
                <a:latin typeface="Times New Roman" pitchFamily="18" charset="0"/>
                <a:cs typeface="Times New Roman" pitchFamily="18" charset="0"/>
              </a:rPr>
              <a:t> hemorrhages on the ventral surface of the tongue and in conjunctiva may occur</a:t>
            </a:r>
          </a:p>
          <a:p>
            <a:pPr>
              <a:lnSpc>
                <a:spcPct val="90000"/>
              </a:lnSpc>
              <a:buClr>
                <a:srgbClr val="669900"/>
              </a:buClr>
            </a:pPr>
            <a:endParaRPr lang="en-US" sz="900" dirty="0">
              <a:latin typeface="Times New Roman" pitchFamily="18" charset="0"/>
              <a:cs typeface="Times New Roman" pitchFamily="18" charset="0"/>
            </a:endParaRPr>
          </a:p>
          <a:p>
            <a:pPr>
              <a:lnSpc>
                <a:spcPct val="90000"/>
              </a:lnSpc>
              <a:buClr>
                <a:srgbClr val="669900"/>
              </a:buClr>
            </a:pPr>
            <a:r>
              <a:rPr lang="en-US" sz="2900" dirty="0">
                <a:latin typeface="Times New Roman" pitchFamily="18" charset="0"/>
                <a:cs typeface="Times New Roman" pitchFamily="18" charset="0"/>
              </a:rPr>
              <a:t>As edema progresses, there may be restlessness and signs of abdominal pain and pulmonary edema</a:t>
            </a:r>
          </a:p>
          <a:p>
            <a:pPr>
              <a:lnSpc>
                <a:spcPct val="90000"/>
              </a:lnSpc>
            </a:pPr>
            <a:endParaRPr lang="en-US" sz="1000" dirty="0">
              <a:latin typeface="Times New Roman" pitchFamily="18" charset="0"/>
              <a:cs typeface="Times New Roman" pitchFamily="18" charset="0"/>
            </a:endParaRPr>
          </a:p>
        </p:txBody>
      </p:sp>
      <p:sp>
        <p:nvSpPr>
          <p:cNvPr id="7" name="Footer Placeholder 4"/>
          <p:cNvSpPr>
            <a:spLocks noGrp="1"/>
          </p:cNvSpPr>
          <p:nvPr>
            <p:ph type="ftr" sz="quarter" idx="11"/>
          </p:nvPr>
        </p:nvSpPr>
        <p:spPr/>
        <p:txBody>
          <a:bodyPr/>
          <a:lstStyle/>
          <a:p>
            <a:r>
              <a:rPr lang="en-US"/>
              <a:t>African Horse Sickness</a:t>
            </a:r>
          </a:p>
        </p:txBody>
      </p:sp>
      <p:sp>
        <p:nvSpPr>
          <p:cNvPr id="21509" name="Text Box 5"/>
          <p:cNvSpPr txBox="1">
            <a:spLocks noChangeArrowheads="1"/>
          </p:cNvSpPr>
          <p:nvPr/>
        </p:nvSpPr>
        <p:spPr bwMode="auto">
          <a:xfrm>
            <a:off x="381000" y="5334000"/>
            <a:ext cx="7848600" cy="1004888"/>
          </a:xfrm>
          <a:prstGeom prst="rect">
            <a:avLst/>
          </a:prstGeom>
          <a:noFill/>
          <a:ln w="9525">
            <a:noFill/>
            <a:miter lim="800000"/>
            <a:headEnd/>
            <a:tailEnd/>
          </a:ln>
          <a:effectLst/>
        </p:spPr>
        <p:txBody>
          <a:bodyPr>
            <a:spAutoFit/>
          </a:bodyPr>
          <a:lstStyle/>
          <a:p>
            <a:pPr eaLnBrk="1" hangingPunct="1">
              <a:spcBef>
                <a:spcPct val="50000"/>
              </a:spcBef>
            </a:pPr>
            <a:endParaRPr lang="en-US" sz="2400"/>
          </a:p>
          <a:p>
            <a:pPr algn="ctr" eaLnBrk="1" hangingPunct="1">
              <a:spcBef>
                <a:spcPct val="50000"/>
              </a:spcBef>
            </a:pPr>
            <a:endParaRPr lang="en-US" sz="2400">
              <a:solidFill>
                <a:srgbClr val="FF33CC"/>
              </a:solidFill>
            </a:endParaRPr>
          </a:p>
        </p:txBody>
      </p:sp>
      <p:sp>
        <p:nvSpPr>
          <p:cNvPr id="21511" name="Text Box 7"/>
          <p:cNvSpPr txBox="1">
            <a:spLocks noChangeArrowheads="1"/>
          </p:cNvSpPr>
          <p:nvPr/>
        </p:nvSpPr>
        <p:spPr bwMode="auto">
          <a:xfrm>
            <a:off x="1600200" y="4876800"/>
            <a:ext cx="290513" cy="457200"/>
          </a:xfrm>
          <a:prstGeom prst="rect">
            <a:avLst/>
          </a:prstGeom>
          <a:noFill/>
          <a:ln w="9525">
            <a:noFill/>
            <a:miter lim="800000"/>
            <a:headEnd/>
            <a:tailEnd/>
          </a:ln>
          <a:effectLst/>
        </p:spPr>
        <p:txBody>
          <a:bodyPr wrap="none">
            <a:spAutoFit/>
          </a:bodyPr>
          <a:lstStyle/>
          <a:p>
            <a:pPr eaLnBrk="1" hangingPunct="1">
              <a:buFontTx/>
              <a:buChar char="•"/>
            </a:pPr>
            <a:endParaRPr lang="en-US" sz="240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228600"/>
            <a:ext cx="8382000" cy="1143000"/>
          </a:xfrm>
        </p:spPr>
        <p:txBody>
          <a:bodyPr/>
          <a:lstStyle/>
          <a:p>
            <a:r>
              <a:rPr lang="en-US" sz="4000"/>
              <a:t>Clinical Signs: Cardiac</a:t>
            </a:r>
          </a:p>
        </p:txBody>
      </p:sp>
      <p:sp>
        <p:nvSpPr>
          <p:cNvPr id="20487" name="Rectangle 7"/>
          <p:cNvSpPr>
            <a:spLocks noGrp="1" noChangeArrowheads="1"/>
          </p:cNvSpPr>
          <p:nvPr>
            <p:ph idx="1"/>
          </p:nvPr>
        </p:nvSpPr>
        <p:spPr>
          <a:xfrm>
            <a:off x="381000" y="1524000"/>
            <a:ext cx="3200400" cy="4648200"/>
          </a:xfrm>
        </p:spPr>
        <p:txBody>
          <a:bodyPr/>
          <a:lstStyle/>
          <a:p>
            <a:pPr>
              <a:lnSpc>
                <a:spcPct val="80000"/>
              </a:lnSpc>
              <a:buClr>
                <a:srgbClr val="669900"/>
              </a:buClr>
            </a:pPr>
            <a:r>
              <a:rPr lang="en-US" sz="2900" dirty="0">
                <a:latin typeface="Times New Roman" pitchFamily="18" charset="0"/>
                <a:cs typeface="Times New Roman" pitchFamily="18" charset="0"/>
              </a:rPr>
              <a:t>Finally, animal becomes prostrate, and dies</a:t>
            </a:r>
          </a:p>
          <a:p>
            <a:pPr>
              <a:lnSpc>
                <a:spcPct val="80000"/>
              </a:lnSpc>
              <a:buClr>
                <a:srgbClr val="669900"/>
              </a:buClr>
            </a:pPr>
            <a:endParaRPr lang="en-US" sz="900" dirty="0">
              <a:latin typeface="Times New Roman" pitchFamily="18" charset="0"/>
              <a:cs typeface="Times New Roman" pitchFamily="18" charset="0"/>
            </a:endParaRPr>
          </a:p>
          <a:p>
            <a:pPr>
              <a:lnSpc>
                <a:spcPct val="80000"/>
              </a:lnSpc>
              <a:buClr>
                <a:srgbClr val="669900"/>
              </a:buClr>
            </a:pPr>
            <a:r>
              <a:rPr lang="en-US" sz="2900" dirty="0">
                <a:latin typeface="Times New Roman" pitchFamily="18" charset="0"/>
                <a:cs typeface="Times New Roman" pitchFamily="18" charset="0"/>
              </a:rPr>
              <a:t>Again, animal may eat and drink, even in terminal</a:t>
            </a:r>
            <a:r>
              <a:rPr lang="en-US" sz="2800" dirty="0">
                <a:latin typeface="Times New Roman" pitchFamily="18" charset="0"/>
                <a:cs typeface="Times New Roman" pitchFamily="18" charset="0"/>
              </a:rPr>
              <a:t> </a:t>
            </a:r>
            <a:r>
              <a:rPr lang="en-US" sz="2900" dirty="0">
                <a:latin typeface="Times New Roman" pitchFamily="18" charset="0"/>
                <a:cs typeface="Times New Roman" pitchFamily="18" charset="0"/>
              </a:rPr>
              <a:t>stages</a:t>
            </a:r>
          </a:p>
          <a:p>
            <a:pPr>
              <a:lnSpc>
                <a:spcPct val="80000"/>
              </a:lnSpc>
              <a:buFont typeface="Wingdings" pitchFamily="2" charset="2"/>
              <a:buNone/>
            </a:pPr>
            <a:endParaRPr lang="en-US" sz="2800" dirty="0">
              <a:latin typeface="Times New Roman" pitchFamily="18" charset="0"/>
              <a:cs typeface="Times New Roman" pitchFamily="18" charset="0"/>
            </a:endParaRPr>
          </a:p>
        </p:txBody>
      </p:sp>
      <p:sp>
        <p:nvSpPr>
          <p:cNvPr id="7" name="Footer Placeholder 4"/>
          <p:cNvSpPr>
            <a:spLocks noGrp="1"/>
          </p:cNvSpPr>
          <p:nvPr>
            <p:ph type="ftr" sz="quarter" idx="11"/>
          </p:nvPr>
        </p:nvSpPr>
        <p:spPr/>
        <p:txBody>
          <a:bodyPr/>
          <a:lstStyle/>
          <a:p>
            <a:r>
              <a:rPr lang="en-US"/>
              <a:t>African Horse Sickness</a:t>
            </a:r>
          </a:p>
        </p:txBody>
      </p:sp>
      <p:pic>
        <p:nvPicPr>
          <p:cNvPr id="20488" name="Picture 8" descr="ahs"/>
          <p:cNvPicPr>
            <a:picLocks noChangeAspect="1" noChangeArrowheads="1"/>
          </p:cNvPicPr>
          <p:nvPr/>
        </p:nvPicPr>
        <p:blipFill>
          <a:blip r:embed="rId3"/>
          <a:srcRect/>
          <a:stretch>
            <a:fillRect/>
          </a:stretch>
        </p:blipFill>
        <p:spPr bwMode="auto">
          <a:xfrm>
            <a:off x="3810000" y="2057400"/>
            <a:ext cx="4953000" cy="3232150"/>
          </a:xfrm>
          <a:prstGeom prst="rect">
            <a:avLst/>
          </a:prstGeom>
          <a:noFill/>
        </p:spPr>
      </p:pic>
      <p:sp>
        <p:nvSpPr>
          <p:cNvPr id="20490" name="Text Box 10"/>
          <p:cNvSpPr txBox="1">
            <a:spLocks noChangeArrowheads="1"/>
          </p:cNvSpPr>
          <p:nvPr/>
        </p:nvSpPr>
        <p:spPr bwMode="auto">
          <a:xfrm>
            <a:off x="5105400" y="4876800"/>
            <a:ext cx="3505200" cy="244475"/>
          </a:xfrm>
          <a:prstGeom prst="rect">
            <a:avLst/>
          </a:prstGeom>
          <a:noFill/>
          <a:ln w="9525">
            <a:noFill/>
            <a:miter lim="800000"/>
            <a:headEnd/>
            <a:tailEnd/>
          </a:ln>
          <a:effectLst/>
        </p:spPr>
        <p:txBody>
          <a:bodyPr>
            <a:spAutoFit/>
          </a:bodyPr>
          <a:lstStyle/>
          <a:p>
            <a:pPr>
              <a:spcBef>
                <a:spcPct val="50000"/>
              </a:spcBef>
            </a:pPr>
            <a:r>
              <a:rPr lang="en-US" sz="1000"/>
              <a:t>http://www.usyd.edu.au/su/rirdc/articles/disease/ahs.jpg</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US"/>
              <a:t>Recovery: Cardiac</a:t>
            </a:r>
          </a:p>
        </p:txBody>
      </p:sp>
      <p:sp>
        <p:nvSpPr>
          <p:cNvPr id="204803" name="Rectangle 3"/>
          <p:cNvSpPr>
            <a:spLocks noGrp="1" noChangeArrowheads="1"/>
          </p:cNvSpPr>
          <p:nvPr>
            <p:ph idx="1"/>
          </p:nvPr>
        </p:nvSpPr>
        <p:spPr/>
        <p:txBody>
          <a:bodyPr/>
          <a:lstStyle/>
          <a:p>
            <a:pPr>
              <a:buClr>
                <a:srgbClr val="669900"/>
              </a:buClr>
            </a:pPr>
            <a:r>
              <a:rPr lang="en-US" sz="3600"/>
              <a:t>If the disease is not fatal, the edema will subside over 3 to 8 days.</a:t>
            </a:r>
          </a:p>
          <a:p>
            <a:endParaRPr lang="en-US" sz="3600"/>
          </a:p>
        </p:txBody>
      </p:sp>
      <p:sp>
        <p:nvSpPr>
          <p:cNvPr id="6" name="Footer Placeholder 4"/>
          <p:cNvSpPr>
            <a:spLocks noGrp="1"/>
          </p:cNvSpPr>
          <p:nvPr>
            <p:ph type="ftr" sz="quarter" idx="11"/>
          </p:nvPr>
        </p:nvSpPr>
        <p:spPr/>
        <p:txBody>
          <a:bodyPr/>
          <a:lstStyle/>
          <a:p>
            <a:r>
              <a:rPr lang="en-US"/>
              <a:t>African Horse Sickness</a:t>
            </a:r>
          </a:p>
        </p:txBody>
      </p:sp>
      <p:pic>
        <p:nvPicPr>
          <p:cNvPr id="204805" name="Picture 5" descr="Picture28+1"/>
          <p:cNvPicPr>
            <a:picLocks noChangeAspect="1" noChangeArrowheads="1"/>
          </p:cNvPicPr>
          <p:nvPr/>
        </p:nvPicPr>
        <p:blipFill>
          <a:blip r:embed="rId3"/>
          <a:srcRect/>
          <a:stretch>
            <a:fillRect/>
          </a:stretch>
        </p:blipFill>
        <p:spPr bwMode="auto">
          <a:xfrm>
            <a:off x="1828800" y="2895600"/>
            <a:ext cx="4419600" cy="3294063"/>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228600"/>
            <a:ext cx="7467600" cy="1143000"/>
          </a:xfrm>
        </p:spPr>
        <p:txBody>
          <a:bodyPr/>
          <a:lstStyle/>
          <a:p>
            <a:r>
              <a:rPr lang="en-US" sz="4000" b="1" dirty="0">
                <a:solidFill>
                  <a:schemeClr val="accent2"/>
                </a:solidFill>
              </a:rPr>
              <a:t>Clinical Signs: Mixed Form (acute)</a:t>
            </a:r>
          </a:p>
        </p:txBody>
      </p:sp>
      <p:sp>
        <p:nvSpPr>
          <p:cNvPr id="27659" name="Rectangle 11"/>
          <p:cNvSpPr>
            <a:spLocks noGrp="1" noChangeArrowheads="1"/>
          </p:cNvSpPr>
          <p:nvPr>
            <p:ph idx="1"/>
          </p:nvPr>
        </p:nvSpPr>
        <p:spPr>
          <a:xfrm>
            <a:off x="1066800" y="1828800"/>
            <a:ext cx="7696200" cy="4191000"/>
          </a:xfrm>
        </p:spPr>
        <p:txBody>
          <a:bodyPr/>
          <a:lstStyle/>
          <a:p>
            <a:pPr>
              <a:lnSpc>
                <a:spcPct val="90000"/>
              </a:lnSpc>
              <a:buClr>
                <a:srgbClr val="669900"/>
              </a:buClr>
            </a:pPr>
            <a:r>
              <a:rPr lang="en-US" dirty="0">
                <a:latin typeface="Times New Roman" pitchFamily="18" charset="0"/>
                <a:cs typeface="Times New Roman" pitchFamily="18" charset="0"/>
              </a:rPr>
              <a:t>Mixture of pulmonary and cardiac forms</a:t>
            </a:r>
          </a:p>
          <a:p>
            <a:pPr>
              <a:lnSpc>
                <a:spcPct val="90000"/>
              </a:lnSpc>
              <a:buClr>
                <a:srgbClr val="669900"/>
              </a:buClr>
              <a:buFont typeface="Wingdings" pitchFamily="2" charset="2"/>
              <a:buNone/>
            </a:pPr>
            <a:endParaRPr lang="en-US" dirty="0">
              <a:latin typeface="Times New Roman" pitchFamily="18" charset="0"/>
              <a:cs typeface="Times New Roman" pitchFamily="18" charset="0"/>
            </a:endParaRPr>
          </a:p>
          <a:p>
            <a:pPr>
              <a:lnSpc>
                <a:spcPct val="90000"/>
              </a:lnSpc>
              <a:buClr>
                <a:srgbClr val="669900"/>
              </a:buClr>
            </a:pPr>
            <a:r>
              <a:rPr lang="en-US" dirty="0">
                <a:latin typeface="Times New Roman" pitchFamily="18" charset="0"/>
                <a:cs typeface="Times New Roman" pitchFamily="18" charset="0"/>
              </a:rPr>
              <a:t>Signs of one </a:t>
            </a:r>
            <a:r>
              <a:rPr lang="en-US" dirty="0" smtClean="0">
                <a:latin typeface="Times New Roman" pitchFamily="18" charset="0"/>
                <a:cs typeface="Times New Roman" pitchFamily="18" charset="0"/>
              </a:rPr>
              <a:t>may </a:t>
            </a:r>
            <a:r>
              <a:rPr lang="en-US" dirty="0">
                <a:latin typeface="Times New Roman" pitchFamily="18" charset="0"/>
                <a:cs typeface="Times New Roman" pitchFamily="18" charset="0"/>
              </a:rPr>
              <a:t>predominate</a:t>
            </a:r>
          </a:p>
          <a:p>
            <a:pPr>
              <a:lnSpc>
                <a:spcPct val="90000"/>
              </a:lnSpc>
              <a:buClr>
                <a:srgbClr val="669900"/>
              </a:buClr>
              <a:buFont typeface="Wingdings" pitchFamily="2" charset="2"/>
              <a:buNone/>
            </a:pPr>
            <a:r>
              <a:rPr lang="en-US" dirty="0">
                <a:latin typeface="Times New Roman" pitchFamily="18" charset="0"/>
                <a:cs typeface="Times New Roman" pitchFamily="18" charset="0"/>
              </a:rPr>
              <a:t> </a:t>
            </a:r>
          </a:p>
          <a:p>
            <a:pPr>
              <a:lnSpc>
                <a:spcPct val="90000"/>
              </a:lnSpc>
              <a:buClr>
                <a:srgbClr val="669900"/>
              </a:buClr>
            </a:pPr>
            <a:r>
              <a:rPr lang="en-US" dirty="0">
                <a:latin typeface="Times New Roman" pitchFamily="18" charset="0"/>
                <a:cs typeface="Times New Roman" pitchFamily="18" charset="0"/>
              </a:rPr>
              <a:t>The mixed form is more frequently seen at necropsy</a:t>
            </a: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43000" y="228600"/>
            <a:ext cx="8001000" cy="1143000"/>
          </a:xfrm>
        </p:spPr>
        <p:txBody>
          <a:bodyPr>
            <a:normAutofit fontScale="90000"/>
          </a:bodyPr>
          <a:lstStyle/>
          <a:p>
            <a:r>
              <a:rPr lang="en-US" sz="4000" b="1" dirty="0">
                <a:solidFill>
                  <a:schemeClr val="accent2"/>
                </a:solidFill>
                <a:latin typeface="Times New Roman" pitchFamily="18" charset="0"/>
                <a:cs typeface="Times New Roman" pitchFamily="18" charset="0"/>
              </a:rPr>
              <a:t>Clinical Signs: </a:t>
            </a:r>
            <a:br>
              <a:rPr lang="en-US" sz="4000" b="1" dirty="0">
                <a:solidFill>
                  <a:schemeClr val="accent2"/>
                </a:solidFill>
                <a:latin typeface="Times New Roman" pitchFamily="18" charset="0"/>
                <a:cs typeface="Times New Roman" pitchFamily="18" charset="0"/>
              </a:rPr>
            </a:br>
            <a:r>
              <a:rPr lang="en-US" sz="4000" b="1" dirty="0">
                <a:solidFill>
                  <a:schemeClr val="accent2"/>
                </a:solidFill>
                <a:latin typeface="Times New Roman" pitchFamily="18" charset="0"/>
                <a:cs typeface="Times New Roman" pitchFamily="18" charset="0"/>
              </a:rPr>
              <a:t>Mixed Form (fever)</a:t>
            </a:r>
          </a:p>
        </p:txBody>
      </p:sp>
      <p:sp>
        <p:nvSpPr>
          <p:cNvPr id="19462" name="Rectangle 6"/>
          <p:cNvSpPr>
            <a:spLocks noGrp="1" noChangeArrowheads="1"/>
          </p:cNvSpPr>
          <p:nvPr>
            <p:ph idx="1"/>
          </p:nvPr>
        </p:nvSpPr>
        <p:spPr>
          <a:xfrm>
            <a:off x="762000" y="2057400"/>
            <a:ext cx="7693025" cy="4038600"/>
          </a:xfrm>
        </p:spPr>
        <p:txBody>
          <a:bodyPr/>
          <a:lstStyle/>
          <a:p>
            <a:pPr>
              <a:buClr>
                <a:srgbClr val="669900"/>
              </a:buClr>
            </a:pPr>
            <a:r>
              <a:rPr lang="en-US" sz="2800" dirty="0">
                <a:latin typeface="Times New Roman" pitchFamily="18" charset="0"/>
                <a:cs typeface="Times New Roman" pitchFamily="18" charset="0"/>
              </a:rPr>
              <a:t>Mildest form</a:t>
            </a:r>
          </a:p>
          <a:p>
            <a:pPr>
              <a:buClr>
                <a:srgbClr val="669900"/>
              </a:buClr>
            </a:pPr>
            <a:r>
              <a:rPr lang="en-US" sz="2800" dirty="0">
                <a:latin typeface="Times New Roman" pitchFamily="18" charset="0"/>
                <a:cs typeface="Times New Roman" pitchFamily="18" charset="0"/>
              </a:rPr>
              <a:t>Can be subclinical or </a:t>
            </a:r>
            <a:r>
              <a:rPr lang="en-US" sz="2800" dirty="0" err="1">
                <a:latin typeface="Times New Roman" pitchFamily="18" charset="0"/>
                <a:cs typeface="Times New Roman" pitchFamily="18" charset="0"/>
              </a:rPr>
              <a:t>inapparent</a:t>
            </a:r>
            <a:endParaRPr lang="en-US" sz="2800" dirty="0">
              <a:latin typeface="Times New Roman" pitchFamily="18" charset="0"/>
              <a:cs typeface="Times New Roman" pitchFamily="18" charset="0"/>
            </a:endParaRPr>
          </a:p>
          <a:p>
            <a:pPr>
              <a:buClr>
                <a:srgbClr val="669900"/>
              </a:buClr>
            </a:pPr>
            <a:r>
              <a:rPr lang="en-US" sz="2800" dirty="0">
                <a:latin typeface="Times New Roman" pitchFamily="18" charset="0"/>
                <a:cs typeface="Times New Roman" pitchFamily="18" charset="0"/>
              </a:rPr>
              <a:t>Occurs in zebras, donkeys, and horses with </a:t>
            </a:r>
            <a:r>
              <a:rPr lang="en-US" sz="2800" dirty="0" err="1">
                <a:latin typeface="Times New Roman" pitchFamily="18" charset="0"/>
                <a:cs typeface="Times New Roman" pitchFamily="18" charset="0"/>
              </a:rPr>
              <a:t>heterologous</a:t>
            </a:r>
            <a:r>
              <a:rPr lang="en-US" sz="2800" dirty="0">
                <a:latin typeface="Times New Roman" pitchFamily="18" charset="0"/>
                <a:cs typeface="Times New Roman" pitchFamily="18" charset="0"/>
              </a:rPr>
              <a:t> immunity.</a:t>
            </a:r>
          </a:p>
          <a:p>
            <a:pPr>
              <a:buClr>
                <a:srgbClr val="669900"/>
              </a:buClr>
            </a:pPr>
            <a:r>
              <a:rPr lang="en-US" sz="2800" dirty="0">
                <a:latin typeface="Times New Roman" pitchFamily="18" charset="0"/>
                <a:cs typeface="Times New Roman" pitchFamily="18" charset="0"/>
              </a:rPr>
              <a:t>Fever is usually intermittent—usually normal temperature in the morning, but is febrile in the afternoon</a:t>
            </a:r>
          </a:p>
          <a:p>
            <a:pPr>
              <a:buClr>
                <a:srgbClr val="669900"/>
              </a:buClr>
            </a:pPr>
            <a:r>
              <a:rPr lang="en-US" sz="2800" dirty="0">
                <a:latin typeface="Times New Roman" pitchFamily="18" charset="0"/>
                <a:cs typeface="Times New Roman" pitchFamily="18" charset="0"/>
              </a:rPr>
              <a:t>Fever may reach 104°F in 1 or 2 days</a:t>
            </a:r>
          </a:p>
        </p:txBody>
      </p:sp>
      <p:sp>
        <p:nvSpPr>
          <p:cNvPr id="6" name="Footer Placeholder 4"/>
          <p:cNvSpPr>
            <a:spLocks noGrp="1"/>
          </p:cNvSpPr>
          <p:nvPr>
            <p:ph type="ftr" sz="quarter" idx="11"/>
          </p:nvPr>
        </p:nvSpPr>
        <p:spPr/>
        <p:txBody>
          <a:bodyPr/>
          <a:lstStyle/>
          <a:p>
            <a:r>
              <a:rPr lang="en-US"/>
              <a:t>African Horse Sickness</a:t>
            </a:r>
          </a:p>
        </p:txBody>
      </p:sp>
      <p:sp>
        <p:nvSpPr>
          <p:cNvPr id="19461" name="Text Box 5"/>
          <p:cNvSpPr txBox="1">
            <a:spLocks noChangeArrowheads="1"/>
          </p:cNvSpPr>
          <p:nvPr/>
        </p:nvSpPr>
        <p:spPr bwMode="auto">
          <a:xfrm>
            <a:off x="914400" y="5181600"/>
            <a:ext cx="3886200" cy="519113"/>
          </a:xfrm>
          <a:prstGeom prst="rect">
            <a:avLst/>
          </a:prstGeom>
          <a:noFill/>
          <a:ln w="9525">
            <a:noFill/>
            <a:miter lim="800000"/>
            <a:headEnd/>
            <a:tailEnd/>
          </a:ln>
          <a:effectLst/>
        </p:spPr>
        <p:txBody>
          <a:bodyPr>
            <a:spAutoFit/>
          </a:bodyPr>
          <a:lstStyle/>
          <a:p>
            <a:pPr algn="ctr" eaLnBrk="1" hangingPunct="1">
              <a:spcBef>
                <a:spcPct val="50000"/>
              </a:spcBef>
            </a:pPr>
            <a:endParaRPr lang="en-US" sz="2800">
              <a:latin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066800" y="304800"/>
            <a:ext cx="8077200" cy="1143000"/>
          </a:xfrm>
        </p:spPr>
        <p:txBody>
          <a:bodyPr>
            <a:normAutofit fontScale="90000"/>
          </a:bodyPr>
          <a:lstStyle/>
          <a:p>
            <a:r>
              <a:rPr lang="en-US" sz="4000"/>
              <a:t>Clinical Signs: </a:t>
            </a:r>
            <a:br>
              <a:rPr lang="en-US" sz="4000"/>
            </a:br>
            <a:r>
              <a:rPr lang="en-US" sz="4000"/>
              <a:t>Mixed Form (fever)</a:t>
            </a:r>
          </a:p>
        </p:txBody>
      </p:sp>
      <p:sp>
        <p:nvSpPr>
          <p:cNvPr id="5" name="Footer Placeholder 4"/>
          <p:cNvSpPr>
            <a:spLocks noGrp="1"/>
          </p:cNvSpPr>
          <p:nvPr>
            <p:ph type="ftr" sz="quarter" idx="11"/>
          </p:nvPr>
        </p:nvSpPr>
        <p:spPr/>
        <p:txBody>
          <a:bodyPr/>
          <a:lstStyle/>
          <a:p>
            <a:r>
              <a:rPr lang="en-US"/>
              <a:t>African Horse Sickness</a:t>
            </a:r>
          </a:p>
        </p:txBody>
      </p:sp>
      <p:sp>
        <p:nvSpPr>
          <p:cNvPr id="52228" name="Text Box 4"/>
          <p:cNvSpPr txBox="1">
            <a:spLocks noChangeArrowheads="1"/>
          </p:cNvSpPr>
          <p:nvPr/>
        </p:nvSpPr>
        <p:spPr bwMode="auto">
          <a:xfrm>
            <a:off x="609600" y="1752600"/>
            <a:ext cx="7620000" cy="4478338"/>
          </a:xfrm>
          <a:prstGeom prst="rect">
            <a:avLst/>
          </a:prstGeom>
          <a:noFill/>
          <a:ln w="9525">
            <a:noFill/>
            <a:miter lim="800000"/>
            <a:headEnd/>
            <a:tailEnd/>
          </a:ln>
          <a:effectLst/>
        </p:spPr>
        <p:txBody>
          <a:bodyPr>
            <a:spAutoFit/>
          </a:bodyPr>
          <a:lstStyle/>
          <a:p>
            <a:pPr eaLnBrk="1" hangingPunct="1">
              <a:buClr>
                <a:srgbClr val="669900"/>
              </a:buClr>
              <a:buFont typeface="Wingdings" pitchFamily="2" charset="2"/>
              <a:buBlip>
                <a:blip r:embed="rId2"/>
              </a:buBlip>
            </a:pPr>
            <a:r>
              <a:rPr lang="en-US" sz="3200"/>
              <a:t>Other Clinical Signs:</a:t>
            </a:r>
          </a:p>
          <a:p>
            <a:pPr lvl="1" eaLnBrk="1" hangingPunct="1">
              <a:buClr>
                <a:srgbClr val="669900"/>
              </a:buClr>
              <a:buFont typeface="Wingdings" pitchFamily="2" charset="2"/>
              <a:buBlip>
                <a:blip r:embed="rId2"/>
              </a:buBlip>
            </a:pPr>
            <a:r>
              <a:rPr lang="en-US" sz="3200"/>
              <a:t>Increased respiratory rate</a:t>
            </a:r>
          </a:p>
          <a:p>
            <a:pPr lvl="1" eaLnBrk="1" hangingPunct="1">
              <a:buClr>
                <a:srgbClr val="669900"/>
              </a:buClr>
              <a:buFont typeface="Wingdings" pitchFamily="2" charset="2"/>
              <a:buBlip>
                <a:blip r:embed="rId2"/>
              </a:buBlip>
            </a:pPr>
            <a:r>
              <a:rPr lang="en-US" sz="3200"/>
              <a:t>Mild conjunctival congestion </a:t>
            </a:r>
          </a:p>
          <a:p>
            <a:pPr lvl="1" eaLnBrk="1" hangingPunct="1">
              <a:buClr>
                <a:srgbClr val="669900"/>
              </a:buClr>
              <a:buFont typeface="Wingdings" pitchFamily="2" charset="2"/>
              <a:buBlip>
                <a:blip r:embed="rId2"/>
              </a:buBlip>
            </a:pPr>
            <a:r>
              <a:rPr lang="en-US" sz="3200"/>
              <a:t>Accelerated pulse</a:t>
            </a:r>
          </a:p>
          <a:p>
            <a:pPr lvl="1" eaLnBrk="1" hangingPunct="1">
              <a:buClr>
                <a:srgbClr val="669900"/>
              </a:buClr>
              <a:buFont typeface="Wingdings" pitchFamily="2" charset="2"/>
              <a:buBlip>
                <a:blip r:embed="rId2"/>
              </a:buBlip>
            </a:pPr>
            <a:r>
              <a:rPr lang="en-US" sz="3200"/>
              <a:t>Loss of appetite is rare and mild</a:t>
            </a:r>
          </a:p>
          <a:p>
            <a:pPr lvl="1" eaLnBrk="1" hangingPunct="1">
              <a:buClr>
                <a:srgbClr val="669900"/>
              </a:buClr>
              <a:buFont typeface="Wingdings" pitchFamily="2" charset="2"/>
              <a:buBlip>
                <a:blip r:embed="rId2"/>
              </a:buBlip>
            </a:pPr>
            <a:endParaRPr lang="en-US" sz="3200"/>
          </a:p>
          <a:p>
            <a:pPr eaLnBrk="1" hangingPunct="1">
              <a:buClr>
                <a:srgbClr val="669900"/>
              </a:buClr>
              <a:buFont typeface="Wingdings" pitchFamily="2" charset="2"/>
              <a:buBlip>
                <a:blip r:embed="rId2"/>
              </a:buBlip>
            </a:pPr>
            <a:r>
              <a:rPr lang="en-US" sz="3200"/>
              <a:t>After 1 or 2 days, there is a rapid recovery</a:t>
            </a:r>
          </a:p>
          <a:p>
            <a:pPr eaLnBrk="1" hangingPunct="1"/>
            <a:endParaRPr lang="en-US" sz="320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t>African Horse Sickness</a:t>
            </a:r>
          </a:p>
        </p:txBody>
      </p:sp>
      <p:sp>
        <p:nvSpPr>
          <p:cNvPr id="177159" name="Text Box 7"/>
          <p:cNvSpPr txBox="1">
            <a:spLocks noChangeArrowheads="1"/>
          </p:cNvSpPr>
          <p:nvPr/>
        </p:nvSpPr>
        <p:spPr bwMode="auto">
          <a:xfrm>
            <a:off x="2438400" y="1066800"/>
            <a:ext cx="3105150" cy="641350"/>
          </a:xfrm>
          <a:prstGeom prst="rect">
            <a:avLst/>
          </a:prstGeom>
          <a:noFill/>
          <a:ln w="9525">
            <a:noFill/>
            <a:miter lim="800000"/>
            <a:headEnd/>
            <a:tailEnd/>
          </a:ln>
          <a:effectLst/>
        </p:spPr>
        <p:txBody>
          <a:bodyPr wrap="none">
            <a:spAutoFit/>
          </a:bodyPr>
          <a:lstStyle/>
          <a:p>
            <a:r>
              <a:rPr lang="en-US" sz="3600" dirty="0"/>
              <a:t>Sudden Death</a:t>
            </a:r>
          </a:p>
        </p:txBody>
      </p:sp>
      <p:pic>
        <p:nvPicPr>
          <p:cNvPr id="177160" name="Picture 8" descr="Picture30+1"/>
          <p:cNvPicPr>
            <a:picLocks noChangeAspect="1" noChangeArrowheads="1"/>
          </p:cNvPicPr>
          <p:nvPr/>
        </p:nvPicPr>
        <p:blipFill>
          <a:blip r:embed="rId3"/>
          <a:srcRect/>
          <a:stretch>
            <a:fillRect/>
          </a:stretch>
        </p:blipFill>
        <p:spPr bwMode="auto">
          <a:xfrm>
            <a:off x="152400" y="2057400"/>
            <a:ext cx="4485286" cy="3027363"/>
          </a:xfrm>
          <a:prstGeom prst="rect">
            <a:avLst/>
          </a:prstGeom>
          <a:noFill/>
        </p:spPr>
      </p:pic>
      <p:sp>
        <p:nvSpPr>
          <p:cNvPr id="6" name="Rectangle 5"/>
          <p:cNvSpPr/>
          <p:nvPr/>
        </p:nvSpPr>
        <p:spPr>
          <a:xfrm>
            <a:off x="2362200" y="152400"/>
            <a:ext cx="4831772" cy="707886"/>
          </a:xfrm>
          <a:prstGeom prst="rect">
            <a:avLst/>
          </a:prstGeom>
        </p:spPr>
        <p:txBody>
          <a:bodyPr wrap="none">
            <a:spAutoFit/>
          </a:bodyPr>
          <a:lstStyle/>
          <a:p>
            <a:r>
              <a:rPr lang="en-US" sz="4000" b="1" dirty="0" smtClean="0">
                <a:solidFill>
                  <a:schemeClr val="accent2"/>
                </a:solidFill>
                <a:latin typeface="Times New Roman" pitchFamily="18" charset="0"/>
                <a:cs typeface="Times New Roman" pitchFamily="18" charset="0"/>
              </a:rPr>
              <a:t>Post Mortem Lesions</a:t>
            </a:r>
            <a:endParaRPr lang="en-US" sz="4000" b="1" dirty="0">
              <a:solidFill>
                <a:schemeClr val="accent2"/>
              </a:solidFill>
              <a:latin typeface="Times New Roman" pitchFamily="18" charset="0"/>
              <a:cs typeface="Times New Roman" pitchFamily="18" charset="0"/>
            </a:endParaRPr>
          </a:p>
        </p:txBody>
      </p:sp>
      <p:pic>
        <p:nvPicPr>
          <p:cNvPr id="7" name="Picture 4" descr="african horse sickness+1"/>
          <p:cNvPicPr>
            <a:picLocks noChangeAspect="1" noChangeArrowheads="1"/>
          </p:cNvPicPr>
          <p:nvPr/>
        </p:nvPicPr>
        <p:blipFill>
          <a:blip r:embed="rId4"/>
          <a:srcRect/>
          <a:stretch>
            <a:fillRect/>
          </a:stretch>
        </p:blipFill>
        <p:spPr bwMode="auto">
          <a:xfrm>
            <a:off x="4564439" y="3429000"/>
            <a:ext cx="4579561" cy="304800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African Horse Sickness</a:t>
            </a:r>
          </a:p>
        </p:txBody>
      </p:sp>
      <p:sp>
        <p:nvSpPr>
          <p:cNvPr id="159750" name="Rectangle 6"/>
          <p:cNvSpPr>
            <a:spLocks noChangeArrowheads="1"/>
          </p:cNvSpPr>
          <p:nvPr/>
        </p:nvSpPr>
        <p:spPr bwMode="auto">
          <a:xfrm>
            <a:off x="2057400" y="304800"/>
            <a:ext cx="4783138" cy="762000"/>
          </a:xfrm>
          <a:prstGeom prst="rect">
            <a:avLst/>
          </a:prstGeom>
          <a:noFill/>
          <a:ln w="9525">
            <a:noFill/>
            <a:miter lim="800000"/>
            <a:headEnd/>
            <a:tailEnd/>
          </a:ln>
          <a:effectLst/>
        </p:spPr>
        <p:txBody>
          <a:bodyPr wrap="none">
            <a:spAutoFit/>
          </a:bodyPr>
          <a:lstStyle/>
          <a:p>
            <a:r>
              <a:rPr lang="en-US" sz="4400">
                <a:solidFill>
                  <a:schemeClr val="tx2"/>
                </a:solidFill>
                <a:effectLst>
                  <a:outerShdw blurRad="38100" dist="38100" dir="2700000" algn="tl">
                    <a:srgbClr val="000000"/>
                  </a:outerShdw>
                </a:effectLst>
              </a:rPr>
              <a:t>Pulmonary Edema</a:t>
            </a:r>
          </a:p>
        </p:txBody>
      </p:sp>
      <p:pic>
        <p:nvPicPr>
          <p:cNvPr id="159751" name="Picture 7" descr="Picture32+1"/>
          <p:cNvPicPr>
            <a:picLocks noChangeAspect="1" noChangeArrowheads="1"/>
          </p:cNvPicPr>
          <p:nvPr/>
        </p:nvPicPr>
        <p:blipFill>
          <a:blip r:embed="rId3"/>
          <a:srcRect/>
          <a:stretch>
            <a:fillRect/>
          </a:stretch>
        </p:blipFill>
        <p:spPr bwMode="auto">
          <a:xfrm>
            <a:off x="1524000" y="1447800"/>
            <a:ext cx="5737225" cy="4213225"/>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t>African Horse Sickness</a:t>
            </a:r>
          </a:p>
        </p:txBody>
      </p:sp>
      <p:sp>
        <p:nvSpPr>
          <p:cNvPr id="125956" name="Text Box 4"/>
          <p:cNvSpPr txBox="1">
            <a:spLocks noChangeArrowheads="1"/>
          </p:cNvSpPr>
          <p:nvPr/>
        </p:nvSpPr>
        <p:spPr bwMode="auto">
          <a:xfrm>
            <a:off x="1676400" y="685800"/>
            <a:ext cx="5235575" cy="641350"/>
          </a:xfrm>
          <a:prstGeom prst="rect">
            <a:avLst/>
          </a:prstGeom>
          <a:noFill/>
          <a:ln w="9525">
            <a:noFill/>
            <a:miter lim="800000"/>
            <a:headEnd/>
            <a:tailEnd/>
          </a:ln>
          <a:effectLst/>
        </p:spPr>
        <p:txBody>
          <a:bodyPr>
            <a:spAutoFit/>
          </a:bodyPr>
          <a:lstStyle/>
          <a:p>
            <a:pPr algn="ctr" eaLnBrk="1" hangingPunct="1">
              <a:spcBef>
                <a:spcPct val="50000"/>
              </a:spcBef>
            </a:pPr>
            <a:r>
              <a:rPr lang="en-US" sz="3600">
                <a:latin typeface="Arial Unicode MS" pitchFamily="34" charset="-128"/>
              </a:rPr>
              <a:t>Hydropericardium</a:t>
            </a:r>
          </a:p>
        </p:txBody>
      </p:sp>
      <p:pic>
        <p:nvPicPr>
          <p:cNvPr id="125957" name="Picture 5" descr="Picture36+1"/>
          <p:cNvPicPr>
            <a:picLocks noChangeAspect="1" noChangeArrowheads="1"/>
          </p:cNvPicPr>
          <p:nvPr/>
        </p:nvPicPr>
        <p:blipFill>
          <a:blip r:embed="rId3"/>
          <a:srcRect/>
          <a:stretch>
            <a:fillRect/>
          </a:stretch>
        </p:blipFill>
        <p:spPr bwMode="auto">
          <a:xfrm>
            <a:off x="1447800" y="1600200"/>
            <a:ext cx="6548438" cy="4337050"/>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t>African Horse Sickness</a:t>
            </a:r>
          </a:p>
        </p:txBody>
      </p:sp>
      <p:sp>
        <p:nvSpPr>
          <p:cNvPr id="126979" name="Rectangle 3"/>
          <p:cNvSpPr>
            <a:spLocks noChangeArrowheads="1"/>
          </p:cNvSpPr>
          <p:nvPr/>
        </p:nvSpPr>
        <p:spPr bwMode="auto">
          <a:xfrm>
            <a:off x="1219200" y="457200"/>
            <a:ext cx="7467600" cy="838200"/>
          </a:xfrm>
          <a:prstGeom prst="rect">
            <a:avLst/>
          </a:prstGeom>
          <a:noFill/>
          <a:ln w="9525">
            <a:noFill/>
            <a:miter lim="800000"/>
            <a:headEnd/>
            <a:tailEnd/>
          </a:ln>
          <a:effectLst/>
        </p:spPr>
        <p:txBody>
          <a:bodyPr anchor="ctr"/>
          <a:lstStyle/>
          <a:p>
            <a:pPr algn="ctr" eaLnBrk="1" hangingPunct="1"/>
            <a:r>
              <a:rPr lang="en-US" sz="3600"/>
              <a:t>Myocardial necrosis</a:t>
            </a:r>
            <a:br>
              <a:rPr lang="en-US" sz="3600"/>
            </a:br>
            <a:endParaRPr lang="en-US" sz="3600"/>
          </a:p>
        </p:txBody>
      </p:sp>
      <p:pic>
        <p:nvPicPr>
          <p:cNvPr id="126981" name="Picture 5" descr="Picture38+1"/>
          <p:cNvPicPr>
            <a:picLocks noChangeAspect="1" noChangeArrowheads="1"/>
          </p:cNvPicPr>
          <p:nvPr/>
        </p:nvPicPr>
        <p:blipFill>
          <a:blip r:embed="rId3"/>
          <a:srcRect/>
          <a:stretch>
            <a:fillRect/>
          </a:stretch>
        </p:blipFill>
        <p:spPr bwMode="auto">
          <a:xfrm>
            <a:off x="1676400" y="1295400"/>
            <a:ext cx="6019800" cy="4729163"/>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t>African Horse Sickness</a:t>
            </a:r>
          </a:p>
        </p:txBody>
      </p:sp>
      <p:sp>
        <p:nvSpPr>
          <p:cNvPr id="154628" name="Text Box 4"/>
          <p:cNvSpPr txBox="1">
            <a:spLocks noChangeArrowheads="1"/>
          </p:cNvSpPr>
          <p:nvPr/>
        </p:nvSpPr>
        <p:spPr bwMode="auto">
          <a:xfrm>
            <a:off x="1981200" y="762000"/>
            <a:ext cx="3505200" cy="641350"/>
          </a:xfrm>
          <a:prstGeom prst="rect">
            <a:avLst/>
          </a:prstGeom>
          <a:noFill/>
          <a:ln w="9525">
            <a:noFill/>
            <a:miter lim="800000"/>
            <a:headEnd/>
            <a:tailEnd/>
          </a:ln>
          <a:effectLst/>
        </p:spPr>
        <p:txBody>
          <a:bodyPr>
            <a:spAutoFit/>
          </a:bodyPr>
          <a:lstStyle/>
          <a:p>
            <a:pPr algn="ctr" eaLnBrk="1" hangingPunct="1">
              <a:spcBef>
                <a:spcPct val="50000"/>
              </a:spcBef>
            </a:pPr>
            <a:r>
              <a:rPr lang="en-US" sz="3600">
                <a:latin typeface="Arial Unicode MS" pitchFamily="34" charset="-128"/>
              </a:rPr>
              <a:t>Hemorrhages</a:t>
            </a:r>
          </a:p>
        </p:txBody>
      </p:sp>
      <p:pic>
        <p:nvPicPr>
          <p:cNvPr id="154630" name="Picture 6" descr="Picture44+1"/>
          <p:cNvPicPr>
            <a:picLocks noChangeAspect="1" noChangeArrowheads="1"/>
          </p:cNvPicPr>
          <p:nvPr/>
        </p:nvPicPr>
        <p:blipFill>
          <a:blip r:embed="rId3"/>
          <a:srcRect/>
          <a:stretch>
            <a:fillRect/>
          </a:stretch>
        </p:blipFill>
        <p:spPr bwMode="auto">
          <a:xfrm>
            <a:off x="1295400" y="1524000"/>
            <a:ext cx="6629400" cy="4321175"/>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b="1" dirty="0">
                <a:solidFill>
                  <a:schemeClr val="accent2"/>
                </a:solidFill>
              </a:rPr>
              <a:t>Diagnosis</a:t>
            </a:r>
          </a:p>
        </p:txBody>
      </p:sp>
      <p:sp>
        <p:nvSpPr>
          <p:cNvPr id="63491" name="Rectangle 3"/>
          <p:cNvSpPr>
            <a:spLocks noGrp="1" noChangeArrowheads="1"/>
          </p:cNvSpPr>
          <p:nvPr>
            <p:ph idx="1"/>
          </p:nvPr>
        </p:nvSpPr>
        <p:spPr/>
        <p:txBody>
          <a:bodyPr>
            <a:normAutofit fontScale="92500" lnSpcReduction="20000"/>
          </a:bodyPr>
          <a:lstStyle/>
          <a:p>
            <a:r>
              <a:rPr lang="en-US" dirty="0">
                <a:latin typeface="Times New Roman" pitchFamily="18" charset="0"/>
                <a:cs typeface="Times New Roman" pitchFamily="18" charset="0"/>
              </a:rPr>
              <a:t>AHS is difficult to pinpoint in early febrile stages</a:t>
            </a:r>
          </a:p>
          <a:p>
            <a:r>
              <a:rPr lang="en-US" dirty="0" smtClean="0">
                <a:latin typeface="Times New Roman" pitchFamily="18" charset="0"/>
                <a:cs typeface="Times New Roman" pitchFamily="18" charset="0"/>
              </a:rPr>
              <a:t>Suspect </a:t>
            </a:r>
            <a:r>
              <a:rPr lang="en-US" dirty="0">
                <a:latin typeface="Times New Roman" pitchFamily="18" charset="0"/>
                <a:cs typeface="Times New Roman" pitchFamily="18" charset="0"/>
              </a:rPr>
              <a:t>the disease during the season when there are insect </a:t>
            </a:r>
            <a:r>
              <a:rPr lang="en-US" dirty="0" smtClean="0">
                <a:latin typeface="Times New Roman" pitchFamily="18" charset="0"/>
                <a:cs typeface="Times New Roman" pitchFamily="18" charset="0"/>
              </a:rPr>
              <a:t>vectors</a:t>
            </a:r>
          </a:p>
          <a:p>
            <a:r>
              <a:rPr lang="en-US" dirty="0" smtClean="0">
                <a:latin typeface="Times New Roman" pitchFamily="18" charset="0"/>
                <a:cs typeface="Times New Roman" pitchFamily="18" charset="0"/>
              </a:rPr>
              <a:t>Suspect when horses develop the following:</a:t>
            </a:r>
          </a:p>
          <a:p>
            <a:pPr lvl="1"/>
            <a:r>
              <a:rPr lang="en-US" dirty="0" smtClean="0">
                <a:latin typeface="Times New Roman" pitchFamily="18" charset="0"/>
                <a:cs typeface="Times New Roman" pitchFamily="18" charset="0"/>
              </a:rPr>
              <a:t>Fever</a:t>
            </a:r>
          </a:p>
          <a:p>
            <a:pPr lvl="1"/>
            <a:r>
              <a:rPr lang="en-US" dirty="0" err="1" smtClean="0">
                <a:latin typeface="Times New Roman" pitchFamily="18" charset="0"/>
                <a:cs typeface="Times New Roman" pitchFamily="18" charset="0"/>
              </a:rPr>
              <a:t>Dyspnea</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Edema of the </a:t>
            </a:r>
            <a:r>
              <a:rPr lang="en-US" dirty="0" err="1" smtClean="0">
                <a:latin typeface="Times New Roman" pitchFamily="18" charset="0"/>
                <a:cs typeface="Times New Roman" pitchFamily="18" charset="0"/>
              </a:rPr>
              <a:t>supraorbital</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fossa</a:t>
            </a:r>
            <a:r>
              <a:rPr lang="en-US" dirty="0" smtClean="0">
                <a:latin typeface="Times New Roman" pitchFamily="18" charset="0"/>
                <a:cs typeface="Times New Roman" pitchFamily="18" charset="0"/>
              </a:rPr>
              <a:t> </a:t>
            </a:r>
          </a:p>
          <a:p>
            <a:pPr lvl="1"/>
            <a:r>
              <a:rPr lang="en-US" dirty="0" smtClean="0">
                <a:latin typeface="Times New Roman" pitchFamily="18" charset="0"/>
                <a:cs typeface="Times New Roman" pitchFamily="18" charset="0"/>
              </a:rPr>
              <a:t>Subcutaneous edema of head/neck areas</a:t>
            </a:r>
          </a:p>
          <a:p>
            <a:pPr lvl="1"/>
            <a:r>
              <a:rPr lang="en-US" dirty="0" smtClean="0">
                <a:latin typeface="Times New Roman" pitchFamily="18" charset="0"/>
                <a:cs typeface="Times New Roman" pitchFamily="18" charset="0"/>
              </a:rPr>
              <a:t>Pulmonary edema</a:t>
            </a:r>
          </a:p>
          <a:p>
            <a:pPr lvl="1"/>
            <a:r>
              <a:rPr lang="en-US" dirty="0" smtClean="0">
                <a:latin typeface="Times New Roman" pitchFamily="18" charset="0"/>
                <a:cs typeface="Times New Roman" pitchFamily="18" charset="0"/>
              </a:rPr>
              <a:t>Death</a:t>
            </a:r>
          </a:p>
          <a:p>
            <a:endParaRPr lang="en-US" dirty="0">
              <a:latin typeface="Times New Roman" pitchFamily="18" charset="0"/>
              <a:cs typeface="Times New Roman" pitchFamily="18" charset="0"/>
            </a:endParaRPr>
          </a:p>
          <a:p>
            <a:pPr lvl="1"/>
            <a:endParaRPr lang="en-US" sz="32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a:t>African Horse Sickness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lang="en-US">
                <a:solidFill>
                  <a:schemeClr val="tx1"/>
                </a:solidFill>
                <a:latin typeface="Arial Unicode MS" pitchFamily="34" charset="-128"/>
              </a:rPr>
              <a:t>Laboratory diagnosis</a:t>
            </a:r>
            <a:r>
              <a:rPr lang="en-US">
                <a:solidFill>
                  <a:srgbClr val="FFFF00"/>
                </a:solidFill>
                <a:latin typeface="Arial Unicode MS" pitchFamily="34" charset="-128"/>
              </a:rPr>
              <a:t/>
            </a:r>
            <a:br>
              <a:rPr lang="en-US">
                <a:solidFill>
                  <a:srgbClr val="FFFF00"/>
                </a:solidFill>
                <a:latin typeface="Arial Unicode MS" pitchFamily="34" charset="-128"/>
              </a:rPr>
            </a:br>
            <a:endParaRPr lang="en-US" sz="2400">
              <a:solidFill>
                <a:schemeClr val="bg1"/>
              </a:solidFill>
              <a:latin typeface="Arial Unicode MS" pitchFamily="34" charset="-128"/>
            </a:endParaRPr>
          </a:p>
        </p:txBody>
      </p:sp>
      <p:sp>
        <p:nvSpPr>
          <p:cNvPr id="165891" name="Rectangle 3"/>
          <p:cNvSpPr>
            <a:spLocks noGrp="1" noChangeArrowheads="1"/>
          </p:cNvSpPr>
          <p:nvPr>
            <p:ph idx="1"/>
          </p:nvPr>
        </p:nvSpPr>
        <p:spPr/>
        <p:txBody>
          <a:bodyPr/>
          <a:lstStyle/>
          <a:p>
            <a:r>
              <a:rPr lang="en-US" dirty="0">
                <a:latin typeface="Arial Unicode MS" pitchFamily="34" charset="-128"/>
              </a:rPr>
              <a:t>Virus isolation – blood from live animal; spleen from dead animal</a:t>
            </a:r>
          </a:p>
          <a:p>
            <a:pPr lvl="2"/>
            <a:r>
              <a:rPr lang="en-US" dirty="0">
                <a:latin typeface="Arial Unicode MS" pitchFamily="34" charset="-128"/>
              </a:rPr>
              <a:t>Vero cells, </a:t>
            </a:r>
            <a:r>
              <a:rPr lang="en-US" dirty="0" err="1" smtClean="0">
                <a:latin typeface="Arial Unicode MS" pitchFamily="34" charset="-128"/>
              </a:rPr>
              <a:t>embryonated</a:t>
            </a:r>
            <a:r>
              <a:rPr lang="en-US" dirty="0" smtClean="0">
                <a:latin typeface="Arial Unicode MS" pitchFamily="34" charset="-128"/>
              </a:rPr>
              <a:t> </a:t>
            </a:r>
            <a:r>
              <a:rPr lang="en-US" dirty="0">
                <a:latin typeface="Arial Unicode MS" pitchFamily="34" charset="-128"/>
              </a:rPr>
              <a:t>eggs, suckling mouse brain</a:t>
            </a:r>
          </a:p>
          <a:p>
            <a:r>
              <a:rPr lang="en-US" dirty="0">
                <a:latin typeface="Arial Unicode MS" pitchFamily="34" charset="-128"/>
              </a:rPr>
              <a:t>Serology – CF test, </a:t>
            </a:r>
            <a:r>
              <a:rPr lang="en-US" dirty="0" smtClean="0">
                <a:latin typeface="Arial Unicode MS" pitchFamily="34" charset="-128"/>
              </a:rPr>
              <a:t>ELISA</a:t>
            </a:r>
          </a:p>
          <a:p>
            <a:r>
              <a:rPr lang="en-US" dirty="0" smtClean="0">
                <a:latin typeface="Arial Unicode MS" pitchFamily="34" charset="-128"/>
              </a:rPr>
              <a:t>PCR</a:t>
            </a:r>
            <a:endParaRPr lang="en-US" dirty="0">
              <a:latin typeface="Arial Unicode MS" pitchFamily="34" charset="-128"/>
            </a:endParaRPr>
          </a:p>
        </p:txBody>
      </p:sp>
      <p:sp>
        <p:nvSpPr>
          <p:cNvPr id="6" name="Footer Placeholder 4"/>
          <p:cNvSpPr>
            <a:spLocks noGrp="1"/>
          </p:cNvSpPr>
          <p:nvPr>
            <p:ph type="ftr" sz="quarter" idx="11"/>
          </p:nvPr>
        </p:nvSpPr>
        <p:spPr/>
        <p:txBody>
          <a:bodyPr/>
          <a:lstStyle/>
          <a:p>
            <a:r>
              <a:rPr lang="en-US"/>
              <a:t>African Horse Sickness</a:t>
            </a:r>
          </a:p>
        </p:txBody>
      </p:sp>
      <p:sp>
        <p:nvSpPr>
          <p:cNvPr id="165892" name="Text Box 4"/>
          <p:cNvSpPr txBox="1">
            <a:spLocks noChangeArrowheads="1"/>
          </p:cNvSpPr>
          <p:nvPr/>
        </p:nvSpPr>
        <p:spPr bwMode="auto">
          <a:xfrm>
            <a:off x="1447800" y="5013325"/>
            <a:ext cx="6400799" cy="954107"/>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gn="ctr" eaLnBrk="1" hangingPunct="1">
              <a:spcBef>
                <a:spcPct val="50000"/>
              </a:spcBef>
            </a:pPr>
            <a:r>
              <a:rPr lang="en-US" sz="2800" dirty="0">
                <a:solidFill>
                  <a:schemeClr val="tx1"/>
                </a:solidFill>
                <a:latin typeface="Arial Unicode MS" pitchFamily="34" charset="-128"/>
              </a:rPr>
              <a:t>Virus is closely associated with erythrocytes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2"/>
          <p:cNvSpPr>
            <a:spLocks noGrp="1"/>
          </p:cNvSpPr>
          <p:nvPr>
            <p:ph type="ctrTitle"/>
          </p:nvPr>
        </p:nvSpPr>
        <p:spPr/>
        <p:txBody>
          <a:bodyPr/>
          <a:lstStyle/>
          <a:p>
            <a:r>
              <a:rPr lang="en-US" b="1" i="1" dirty="0" smtClean="0">
                <a:solidFill>
                  <a:srgbClr val="C00000"/>
                </a:solidFill>
                <a:effectLst/>
                <a:latin typeface="Algerian" pitchFamily="82" charset="0"/>
              </a:rPr>
              <a:t>Bovine Rota Virus</a:t>
            </a:r>
            <a:br>
              <a:rPr lang="en-US" b="1" i="1" dirty="0" smtClean="0">
                <a:solidFill>
                  <a:srgbClr val="C00000"/>
                </a:solidFill>
                <a:effectLst/>
                <a:latin typeface="Algerian" pitchFamily="82" charset="0"/>
              </a:rPr>
            </a:br>
            <a:endParaRPr lang="en-US" b="1" i="1" dirty="0" smtClean="0">
              <a:solidFill>
                <a:srgbClr val="C00000"/>
              </a:solidFill>
              <a:effectLst/>
              <a:latin typeface="Algerian" pitchFamily="82" charset="0"/>
            </a:endParaRPr>
          </a:p>
        </p:txBody>
      </p:sp>
      <p:sp>
        <p:nvSpPr>
          <p:cNvPr id="2051" name="Subtitle 3"/>
          <p:cNvSpPr>
            <a:spLocks noGrp="1"/>
          </p:cNvSpPr>
          <p:nvPr>
            <p:ph type="subTitle" idx="1"/>
          </p:nvPr>
        </p:nvSpPr>
        <p:spPr>
          <a:xfrm>
            <a:off x="1295400" y="3886200"/>
            <a:ext cx="6400800" cy="1752600"/>
          </a:xfrm>
        </p:spPr>
        <p:txBody>
          <a:bodyPr>
            <a:normAutofit fontScale="92500" lnSpcReduction="10000"/>
          </a:bodyPr>
          <a:lstStyle/>
          <a:p>
            <a:r>
              <a:rPr lang="en-GB" dirty="0" err="1" smtClean="0">
                <a:solidFill>
                  <a:srgbClr val="323232"/>
                </a:solidFill>
                <a:latin typeface="Source Sans Pro"/>
              </a:rPr>
              <a:t>virions</a:t>
            </a:r>
            <a:r>
              <a:rPr lang="en-GB" dirty="0" smtClean="0">
                <a:solidFill>
                  <a:srgbClr val="323232"/>
                </a:solidFill>
                <a:latin typeface="Source Sans Pro"/>
              </a:rPr>
              <a:t> have a wheel-like appearance from which the genus derives its name (Latin </a:t>
            </a:r>
            <a:r>
              <a:rPr lang="en-GB" i="1" dirty="0" smtClean="0">
                <a:solidFill>
                  <a:srgbClr val="323232"/>
                </a:solidFill>
                <a:latin typeface="Source Sans Pro"/>
              </a:rPr>
              <a:t>rota</a:t>
            </a:r>
            <a:r>
              <a:rPr lang="en-GB" dirty="0" smtClean="0">
                <a:solidFill>
                  <a:srgbClr val="323232"/>
                </a:solidFill>
                <a:latin typeface="Source Sans Pro"/>
              </a:rPr>
              <a:t>, “wheel”). </a:t>
            </a:r>
            <a:endParaRPr lang="en-US" dirty="0" smtClean="0"/>
          </a:p>
        </p:txBody>
      </p:sp>
    </p:spTree>
    <p:extLst>
      <p:ext uri="{BB962C8B-B14F-4D97-AF65-F5344CB8AC3E}">
        <p14:creationId xmlns="" xmlns:p14="http://schemas.microsoft.com/office/powerpoint/2010/main" val="3606168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fontScale="90000"/>
          </a:bodyPr>
          <a:lstStyle/>
          <a:p>
            <a:r>
              <a:rPr lang="en-US" b="1" dirty="0" smtClean="0">
                <a:solidFill>
                  <a:schemeClr val="accent2"/>
                </a:solidFill>
              </a:rPr>
              <a:t>Viral causes of </a:t>
            </a:r>
            <a:r>
              <a:rPr lang="en-US" b="1" dirty="0" err="1" smtClean="0">
                <a:solidFill>
                  <a:schemeClr val="accent2"/>
                </a:solidFill>
              </a:rPr>
              <a:t>diarrhoea</a:t>
            </a:r>
            <a:r>
              <a:rPr lang="en-US" b="1" dirty="0" smtClean="0">
                <a:solidFill>
                  <a:schemeClr val="accent2"/>
                </a:solidFill>
              </a:rPr>
              <a:t> in neonates</a:t>
            </a:r>
          </a:p>
        </p:txBody>
      </p:sp>
      <p:sp>
        <p:nvSpPr>
          <p:cNvPr id="3075" name="Rectangle 4"/>
          <p:cNvSpPr>
            <a:spLocks noGrp="1" noChangeArrowheads="1"/>
          </p:cNvSpPr>
          <p:nvPr>
            <p:ph type="body" idx="4294967295"/>
          </p:nvPr>
        </p:nvSpPr>
        <p:spPr>
          <a:xfrm>
            <a:off x="0" y="1600200"/>
            <a:ext cx="8229600" cy="4530725"/>
          </a:xfrm>
        </p:spPr>
        <p:txBody>
          <a:bodyPr/>
          <a:lstStyle/>
          <a:p>
            <a:r>
              <a:rPr lang="en-US" b="1" dirty="0" smtClean="0"/>
              <a:t>Rotavirus</a:t>
            </a:r>
          </a:p>
          <a:p>
            <a:r>
              <a:rPr lang="en-US" b="1" dirty="0" err="1" smtClean="0"/>
              <a:t>Coronavirus</a:t>
            </a:r>
            <a:endParaRPr lang="en-US" b="1" dirty="0" smtClean="0"/>
          </a:p>
          <a:p>
            <a:r>
              <a:rPr lang="en-US" b="1" dirty="0" smtClean="0"/>
              <a:t>BVD</a:t>
            </a:r>
          </a:p>
          <a:p>
            <a:r>
              <a:rPr lang="en-US" b="1" dirty="0" err="1" smtClean="0"/>
              <a:t>Bredavirus</a:t>
            </a:r>
            <a:endParaRPr lang="en-US" b="1" dirty="0" smtClean="0"/>
          </a:p>
          <a:p>
            <a:r>
              <a:rPr lang="en-US" b="1" dirty="0" err="1" smtClean="0"/>
              <a:t>Calicivirus</a:t>
            </a:r>
            <a:endParaRPr lang="en-US" b="1" dirty="0" smtClean="0"/>
          </a:p>
          <a:p>
            <a:r>
              <a:rPr lang="en-US" b="1" dirty="0" smtClean="0"/>
              <a:t>Parvovirus</a:t>
            </a:r>
          </a:p>
          <a:p>
            <a:r>
              <a:rPr lang="en-US" b="1" dirty="0" err="1" smtClean="0"/>
              <a:t>Astrovirus</a:t>
            </a:r>
            <a:endParaRPr lang="en-US" b="1" dirty="0" smtClean="0"/>
          </a:p>
        </p:txBody>
      </p:sp>
      <p:sp>
        <p:nvSpPr>
          <p:cNvPr id="4" name="Rectangle 3"/>
          <p:cNvSpPr/>
          <p:nvPr/>
        </p:nvSpPr>
        <p:spPr>
          <a:xfrm>
            <a:off x="3048000" y="2667000"/>
            <a:ext cx="5410200" cy="954107"/>
          </a:xfrm>
          <a:prstGeom prst="rect">
            <a:avLst/>
          </a:prstGeom>
        </p:spPr>
        <p:txBody>
          <a:bodyPr wrap="square">
            <a:spAutoFit/>
          </a:bodyPr>
          <a:lstStyle/>
          <a:p>
            <a:r>
              <a:rPr lang="en-US" sz="2800" dirty="0" smtClean="0">
                <a:latin typeface="Times" charset="0"/>
              </a:rPr>
              <a:t>except for BVD and </a:t>
            </a:r>
            <a:r>
              <a:rPr lang="en-US" sz="2800" dirty="0" err="1" smtClean="0">
                <a:latin typeface="Times" charset="0"/>
              </a:rPr>
              <a:t>parvo</a:t>
            </a:r>
            <a:r>
              <a:rPr lang="en-US" sz="2800" dirty="0" smtClean="0">
                <a:latin typeface="Times" charset="0"/>
              </a:rPr>
              <a:t> - cause localized gut infections</a:t>
            </a:r>
            <a:endParaRPr lang="en-US" sz="2800" dirty="0"/>
          </a:p>
        </p:txBody>
      </p:sp>
    </p:spTree>
    <p:extLst>
      <p:ext uri="{BB962C8B-B14F-4D97-AF65-F5344CB8AC3E}">
        <p14:creationId xmlns="" xmlns:p14="http://schemas.microsoft.com/office/powerpoint/2010/main" val="42759121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r>
              <a:rPr lang="en-US" sz="4000" b="1" dirty="0" smtClean="0">
                <a:solidFill>
                  <a:srgbClr val="FF0000"/>
                </a:solidFill>
              </a:rPr>
              <a:t>Susceptibility of </a:t>
            </a:r>
            <a:r>
              <a:rPr lang="en-US" sz="4000" b="1" dirty="0" smtClean="0">
                <a:solidFill>
                  <a:srgbClr val="FF0000"/>
                </a:solidFill>
              </a:rPr>
              <a:t>Neonates</a:t>
            </a:r>
            <a:endParaRPr lang="en-US" sz="4000" b="1" dirty="0" smtClean="0">
              <a:solidFill>
                <a:srgbClr val="FF0000"/>
              </a:solidFill>
            </a:endParaRPr>
          </a:p>
        </p:txBody>
      </p:sp>
      <p:sp>
        <p:nvSpPr>
          <p:cNvPr id="4099" name="Rectangle 3"/>
          <p:cNvSpPr>
            <a:spLocks noGrp="1" noChangeArrowheads="1"/>
          </p:cNvSpPr>
          <p:nvPr>
            <p:ph type="body" idx="4294967295"/>
          </p:nvPr>
        </p:nvSpPr>
        <p:spPr>
          <a:xfrm>
            <a:off x="0" y="1600200"/>
            <a:ext cx="8229600" cy="4530725"/>
          </a:xfrm>
        </p:spPr>
        <p:txBody>
          <a:bodyPr/>
          <a:lstStyle/>
          <a:p>
            <a:r>
              <a:rPr lang="en-US" dirty="0" smtClean="0"/>
              <a:t>Rotaviruses  4 to 14 days</a:t>
            </a:r>
          </a:p>
          <a:p>
            <a:r>
              <a:rPr lang="en-US" dirty="0" err="1" smtClean="0"/>
              <a:t>Coronavirus</a:t>
            </a:r>
            <a:r>
              <a:rPr lang="en-US" dirty="0" smtClean="0"/>
              <a:t> 4 to 30 </a:t>
            </a:r>
          </a:p>
        </p:txBody>
      </p:sp>
      <p:sp>
        <p:nvSpPr>
          <p:cNvPr id="4100" name="Line 4"/>
          <p:cNvSpPr>
            <a:spLocks noChangeShapeType="1"/>
          </p:cNvSpPr>
          <p:nvPr/>
        </p:nvSpPr>
        <p:spPr bwMode="auto">
          <a:xfrm>
            <a:off x="1676400" y="4495800"/>
            <a:ext cx="1752600" cy="0"/>
          </a:xfrm>
          <a:prstGeom prst="line">
            <a:avLst/>
          </a:prstGeom>
          <a:noFill/>
          <a:ln w="57150">
            <a:solidFill>
              <a:srgbClr val="FF0000"/>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101" name="Line 5"/>
          <p:cNvSpPr>
            <a:spLocks noChangeShapeType="1"/>
          </p:cNvSpPr>
          <p:nvPr/>
        </p:nvSpPr>
        <p:spPr bwMode="auto">
          <a:xfrm>
            <a:off x="3886200" y="4495800"/>
            <a:ext cx="3810000" cy="0"/>
          </a:xfrm>
          <a:prstGeom prst="line">
            <a:avLst/>
          </a:prstGeom>
          <a:noFill/>
          <a:ln w="57150">
            <a:solidFill>
              <a:srgbClr val="FF0000"/>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102" name="Text Box 6"/>
          <p:cNvSpPr txBox="1">
            <a:spLocks noChangeArrowheads="1"/>
          </p:cNvSpPr>
          <p:nvPr/>
        </p:nvSpPr>
        <p:spPr bwMode="auto">
          <a:xfrm>
            <a:off x="1355725" y="3870325"/>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r>
              <a:rPr lang="en-US"/>
              <a:t>0</a:t>
            </a:r>
          </a:p>
        </p:txBody>
      </p:sp>
      <p:sp>
        <p:nvSpPr>
          <p:cNvPr id="4103" name="Text Box 7"/>
          <p:cNvSpPr txBox="1">
            <a:spLocks noChangeArrowheads="1"/>
          </p:cNvSpPr>
          <p:nvPr/>
        </p:nvSpPr>
        <p:spPr bwMode="auto">
          <a:xfrm>
            <a:off x="3184525" y="3794125"/>
            <a:ext cx="971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r>
              <a:rPr lang="en-US"/>
              <a:t>4 days</a:t>
            </a:r>
          </a:p>
        </p:txBody>
      </p:sp>
      <p:sp>
        <p:nvSpPr>
          <p:cNvPr id="4104" name="Text Box 8"/>
          <p:cNvSpPr txBox="1">
            <a:spLocks noChangeArrowheads="1"/>
          </p:cNvSpPr>
          <p:nvPr/>
        </p:nvSpPr>
        <p:spPr bwMode="auto">
          <a:xfrm>
            <a:off x="1660525" y="4784725"/>
            <a:ext cx="2300288"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r>
              <a:rPr lang="en-US"/>
              <a:t>Colostral</a:t>
            </a:r>
          </a:p>
          <a:p>
            <a:r>
              <a:rPr lang="en-US"/>
              <a:t>Antibodies in gut</a:t>
            </a:r>
          </a:p>
        </p:txBody>
      </p:sp>
      <p:sp>
        <p:nvSpPr>
          <p:cNvPr id="4105" name="Text Box 9"/>
          <p:cNvSpPr txBox="1">
            <a:spLocks noChangeArrowheads="1"/>
          </p:cNvSpPr>
          <p:nvPr/>
        </p:nvSpPr>
        <p:spPr bwMode="auto">
          <a:xfrm>
            <a:off x="4784725" y="4784725"/>
            <a:ext cx="24447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128"/>
              </a:defRPr>
            </a:lvl1pPr>
            <a:lvl2pPr marL="742950" indent="-285750">
              <a:defRPr sz="2400">
                <a:solidFill>
                  <a:schemeClr val="tx1"/>
                </a:solidFill>
                <a:latin typeface="Times" charset="0"/>
                <a:ea typeface="ＭＳ Ｐゴシック" charset="-128"/>
              </a:defRPr>
            </a:lvl2pPr>
            <a:lvl3pPr marL="1143000" indent="-228600">
              <a:defRPr sz="2400">
                <a:solidFill>
                  <a:schemeClr val="tx1"/>
                </a:solidFill>
                <a:latin typeface="Times" charset="0"/>
                <a:ea typeface="ＭＳ Ｐゴシック" charset="-128"/>
              </a:defRPr>
            </a:lvl3pPr>
            <a:lvl4pPr marL="1600200" indent="-228600">
              <a:defRPr sz="2400">
                <a:solidFill>
                  <a:schemeClr val="tx1"/>
                </a:solidFill>
                <a:latin typeface="Times" charset="0"/>
                <a:ea typeface="ＭＳ Ｐゴシック" charset="-128"/>
              </a:defRPr>
            </a:lvl4pPr>
            <a:lvl5pPr marL="2057400" indent="-228600">
              <a:defRPr sz="2400">
                <a:solidFill>
                  <a:schemeClr val="tx1"/>
                </a:solidFill>
                <a:latin typeface="Times" charset="0"/>
                <a:ea typeface="ＭＳ Ｐゴシック" charset="-128"/>
              </a:defRPr>
            </a:lvl5pPr>
            <a:lvl6pPr marL="2514600" indent="-228600" eaLnBrk="0" fontAlgn="base" hangingPunct="0">
              <a:spcBef>
                <a:spcPct val="0"/>
              </a:spcBef>
              <a:spcAft>
                <a:spcPct val="0"/>
              </a:spcAft>
              <a:defRPr sz="2400">
                <a:solidFill>
                  <a:schemeClr val="tx1"/>
                </a:solidFill>
                <a:latin typeface="Times" charset="0"/>
                <a:ea typeface="ＭＳ Ｐゴシック" charset="-128"/>
              </a:defRPr>
            </a:lvl6pPr>
            <a:lvl7pPr marL="2971800" indent="-228600" eaLnBrk="0" fontAlgn="base" hangingPunct="0">
              <a:spcBef>
                <a:spcPct val="0"/>
              </a:spcBef>
              <a:spcAft>
                <a:spcPct val="0"/>
              </a:spcAft>
              <a:defRPr sz="2400">
                <a:solidFill>
                  <a:schemeClr val="tx1"/>
                </a:solidFill>
                <a:latin typeface="Times" charset="0"/>
                <a:ea typeface="ＭＳ Ｐゴシック" charset="-128"/>
              </a:defRPr>
            </a:lvl7pPr>
            <a:lvl8pPr marL="3429000" indent="-228600" eaLnBrk="0" fontAlgn="base" hangingPunct="0">
              <a:spcBef>
                <a:spcPct val="0"/>
              </a:spcBef>
              <a:spcAft>
                <a:spcPct val="0"/>
              </a:spcAft>
              <a:defRPr sz="2400">
                <a:solidFill>
                  <a:schemeClr val="tx1"/>
                </a:solidFill>
                <a:latin typeface="Times" charset="0"/>
                <a:ea typeface="ＭＳ Ｐゴシック" charset="-128"/>
              </a:defRPr>
            </a:lvl8pPr>
            <a:lvl9pPr marL="3886200" indent="-228600" eaLnBrk="0" fontAlgn="base" hangingPunct="0">
              <a:spcBef>
                <a:spcPct val="0"/>
              </a:spcBef>
              <a:spcAft>
                <a:spcPct val="0"/>
              </a:spcAft>
              <a:defRPr sz="2400">
                <a:solidFill>
                  <a:schemeClr val="tx1"/>
                </a:solidFill>
                <a:latin typeface="Times" charset="0"/>
                <a:ea typeface="ＭＳ Ｐゴシック" charset="-128"/>
              </a:defRPr>
            </a:lvl9pPr>
          </a:lstStyle>
          <a:p>
            <a:r>
              <a:rPr lang="en-US"/>
              <a:t>Susceptible period</a:t>
            </a:r>
          </a:p>
        </p:txBody>
      </p:sp>
    </p:spTree>
    <p:extLst>
      <p:ext uri="{BB962C8B-B14F-4D97-AF65-F5344CB8AC3E}">
        <p14:creationId xmlns="" xmlns:p14="http://schemas.microsoft.com/office/powerpoint/2010/main" val="528817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r>
              <a:rPr lang="en-US" b="1" dirty="0" smtClean="0">
                <a:solidFill>
                  <a:srgbClr val="FF0000"/>
                </a:solidFill>
              </a:rPr>
              <a:t>Prevention of viral diarrhea in calves</a:t>
            </a:r>
          </a:p>
        </p:txBody>
      </p:sp>
      <p:sp>
        <p:nvSpPr>
          <p:cNvPr id="5123" name="Rectangle 3"/>
          <p:cNvSpPr>
            <a:spLocks noGrp="1" noChangeArrowheads="1"/>
          </p:cNvSpPr>
          <p:nvPr>
            <p:ph type="body" idx="4294967295"/>
          </p:nvPr>
        </p:nvSpPr>
        <p:spPr>
          <a:xfrm>
            <a:off x="0" y="2057400"/>
            <a:ext cx="7772400" cy="4114800"/>
          </a:xfrm>
        </p:spPr>
        <p:txBody>
          <a:bodyPr/>
          <a:lstStyle/>
          <a:p>
            <a:r>
              <a:rPr lang="en-US" dirty="0" smtClean="0">
                <a:latin typeface="Times New Roman" pitchFamily="18" charset="0"/>
                <a:cs typeface="Times New Roman" pitchFamily="18" charset="0"/>
              </a:rPr>
              <a:t>Vaccination of pregnant animals</a:t>
            </a:r>
          </a:p>
          <a:p>
            <a:r>
              <a:rPr lang="en-US" dirty="0" err="1" smtClean="0">
                <a:latin typeface="Times New Roman" pitchFamily="18" charset="0"/>
                <a:cs typeface="Times New Roman" pitchFamily="18" charset="0"/>
              </a:rPr>
              <a:t>Colostrum</a:t>
            </a:r>
            <a:r>
              <a:rPr lang="en-US" dirty="0" smtClean="0">
                <a:latin typeface="Times New Roman" pitchFamily="18" charset="0"/>
                <a:cs typeface="Times New Roman" pitchFamily="18" charset="0"/>
              </a:rPr>
              <a:t> for 2 weeks</a:t>
            </a:r>
          </a:p>
          <a:p>
            <a:r>
              <a:rPr lang="en-US" dirty="0" smtClean="0">
                <a:latin typeface="Times New Roman" pitchFamily="18" charset="0"/>
                <a:cs typeface="Times New Roman" pitchFamily="18" charset="0"/>
              </a:rPr>
              <a:t>Management</a:t>
            </a:r>
          </a:p>
        </p:txBody>
      </p:sp>
    </p:spTree>
    <p:extLst>
      <p:ext uri="{BB962C8B-B14F-4D97-AF65-F5344CB8AC3E}">
        <p14:creationId xmlns="" xmlns:p14="http://schemas.microsoft.com/office/powerpoint/2010/main" val="13458669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0"/>
            <a:ext cx="8229600" cy="1143000"/>
          </a:xfrm>
        </p:spPr>
        <p:txBody>
          <a:bodyPr/>
          <a:lstStyle/>
          <a:p>
            <a:r>
              <a:rPr lang="en-US" b="1" dirty="0" smtClean="0">
                <a:solidFill>
                  <a:srgbClr val="FF0000"/>
                </a:solidFill>
              </a:rPr>
              <a:t>Rotaviruses</a:t>
            </a:r>
          </a:p>
        </p:txBody>
      </p:sp>
      <p:sp>
        <p:nvSpPr>
          <p:cNvPr id="4" name="Content Placeholder 3"/>
          <p:cNvSpPr>
            <a:spLocks noGrp="1"/>
          </p:cNvSpPr>
          <p:nvPr>
            <p:ph idx="1"/>
          </p:nvPr>
        </p:nvSpPr>
        <p:spPr>
          <a:xfrm>
            <a:off x="0" y="914400"/>
            <a:ext cx="9144000" cy="5181600"/>
          </a:xfrm>
        </p:spPr>
        <p:txBody>
          <a:bodyPr>
            <a:noAutofit/>
          </a:bodyPr>
          <a:lstStyle/>
          <a:p>
            <a:pPr>
              <a:lnSpc>
                <a:spcPct val="120000"/>
              </a:lnSpc>
            </a:pPr>
            <a:r>
              <a:rPr lang="en-US" sz="2800" dirty="0" smtClean="0">
                <a:latin typeface="Times New Roman" pitchFamily="18" charset="0"/>
                <a:cs typeface="Times New Roman" pitchFamily="18" charset="0"/>
              </a:rPr>
              <a:t>Main viral cause of neonatal </a:t>
            </a:r>
            <a:r>
              <a:rPr lang="en-US" sz="2800" dirty="0" smtClean="0">
                <a:latin typeface="Times New Roman" pitchFamily="18" charset="0"/>
                <a:cs typeface="Times New Roman" pitchFamily="18" charset="0"/>
              </a:rPr>
              <a:t>diarrhea</a:t>
            </a:r>
            <a:endParaRPr lang="en-US" sz="2800" dirty="0" smtClean="0">
              <a:latin typeface="Times New Roman" pitchFamily="18" charset="0"/>
              <a:cs typeface="Times New Roman" pitchFamily="18" charset="0"/>
            </a:endParaRPr>
          </a:p>
          <a:p>
            <a:pPr>
              <a:lnSpc>
                <a:spcPct val="120000"/>
              </a:lnSpc>
            </a:pPr>
            <a:r>
              <a:rPr lang="en-GB" sz="2800" dirty="0" smtClean="0">
                <a:latin typeface="Times New Roman" pitchFamily="18" charset="0"/>
                <a:cs typeface="Times New Roman" pitchFamily="18" charset="0"/>
              </a:rPr>
              <a:t>Younger animals highly infected with </a:t>
            </a:r>
            <a:r>
              <a:rPr lang="en-GB" sz="2800" dirty="0" err="1" smtClean="0">
                <a:latin typeface="Times New Roman" pitchFamily="18" charset="0"/>
                <a:cs typeface="Times New Roman" pitchFamily="18" charset="0"/>
              </a:rPr>
              <a:t>Rota</a:t>
            </a:r>
            <a:r>
              <a:rPr lang="en-GB" sz="2800" dirty="0" smtClean="0">
                <a:latin typeface="Times New Roman" pitchFamily="18" charset="0"/>
                <a:cs typeface="Times New Roman" pitchFamily="18" charset="0"/>
              </a:rPr>
              <a:t> virus infection, mostly within the first 4 weeks</a:t>
            </a:r>
            <a:endParaRPr lang="en-US" sz="2800" dirty="0" smtClean="0">
              <a:latin typeface="Times New Roman" pitchFamily="18" charset="0"/>
              <a:cs typeface="Times New Roman" pitchFamily="18" charset="0"/>
            </a:endParaRPr>
          </a:p>
          <a:p>
            <a:pPr>
              <a:lnSpc>
                <a:spcPct val="120000"/>
              </a:lnSpc>
            </a:pPr>
            <a:r>
              <a:rPr lang="en-GB" sz="2800" dirty="0" smtClean="0">
                <a:latin typeface="Times New Roman" pitchFamily="18" charset="0"/>
                <a:cs typeface="Times New Roman" pitchFamily="18" charset="0"/>
              </a:rPr>
              <a:t>Transmitted by </a:t>
            </a:r>
            <a:r>
              <a:rPr lang="en-GB" sz="2800" dirty="0" err="1" smtClean="0">
                <a:latin typeface="Times New Roman" pitchFamily="18" charset="0"/>
                <a:cs typeface="Times New Roman" pitchFamily="18" charset="0"/>
              </a:rPr>
              <a:t>fecal</a:t>
            </a:r>
            <a:r>
              <a:rPr lang="en-GB" sz="2800" dirty="0" smtClean="0">
                <a:latin typeface="Times New Roman" pitchFamily="18" charset="0"/>
                <a:cs typeface="Times New Roman" pitchFamily="18" charset="0"/>
              </a:rPr>
              <a:t>-oral route or by direct contact.</a:t>
            </a:r>
          </a:p>
          <a:p>
            <a:pPr>
              <a:lnSpc>
                <a:spcPct val="120000"/>
              </a:lnSpc>
            </a:pPr>
            <a:r>
              <a:rPr lang="en-GB" sz="2800" b="1" dirty="0" smtClean="0">
                <a:latin typeface="Times New Roman" pitchFamily="18" charset="0"/>
                <a:cs typeface="Times New Roman" pitchFamily="18" charset="0"/>
              </a:rPr>
              <a:t>11 </a:t>
            </a:r>
            <a:r>
              <a:rPr lang="en-GB" sz="2800" b="1" dirty="0" err="1" smtClean="0">
                <a:latin typeface="Times New Roman" pitchFamily="18" charset="0"/>
                <a:cs typeface="Times New Roman" pitchFamily="18" charset="0"/>
              </a:rPr>
              <a:t>dsRNA</a:t>
            </a:r>
            <a:r>
              <a:rPr lang="en-GB" sz="2800" b="1" dirty="0" smtClean="0">
                <a:latin typeface="Times New Roman" pitchFamily="18" charset="0"/>
                <a:cs typeface="Times New Roman" pitchFamily="18" charset="0"/>
              </a:rPr>
              <a:t> segments </a:t>
            </a:r>
            <a:r>
              <a:rPr lang="en-GB" sz="2800" dirty="0" smtClean="0">
                <a:latin typeface="Times New Roman" pitchFamily="18" charset="0"/>
                <a:cs typeface="Times New Roman" pitchFamily="18" charset="0"/>
              </a:rPr>
              <a:t>and is very stable over a wide pH range with heat liability.</a:t>
            </a:r>
          </a:p>
          <a:p>
            <a:pPr>
              <a:lnSpc>
                <a:spcPct val="120000"/>
              </a:lnSpc>
            </a:pPr>
            <a:r>
              <a:rPr lang="en-GB" sz="2800" dirty="0" smtClean="0">
                <a:latin typeface="Times New Roman" pitchFamily="18" charset="0"/>
                <a:cs typeface="Times New Roman" pitchFamily="18" charset="0"/>
              </a:rPr>
              <a:t>There are six structural proteins (VP1 to VP4, VP6, and VP7) and six </a:t>
            </a:r>
            <a:r>
              <a:rPr lang="en-GB" sz="2800" dirty="0" err="1" smtClean="0">
                <a:latin typeface="Times New Roman" pitchFamily="18" charset="0"/>
                <a:cs typeface="Times New Roman" pitchFamily="18" charset="0"/>
              </a:rPr>
              <a:t>nonstructural</a:t>
            </a:r>
            <a:r>
              <a:rPr lang="en-GB" sz="2800" dirty="0" smtClean="0">
                <a:latin typeface="Times New Roman" pitchFamily="18" charset="0"/>
                <a:cs typeface="Times New Roman" pitchFamily="18" charset="0"/>
              </a:rPr>
              <a:t> proteins (NSP1 to NSP6). </a:t>
            </a:r>
          </a:p>
          <a:p>
            <a:pPr>
              <a:lnSpc>
                <a:spcPct val="120000"/>
              </a:lnSpc>
            </a:pPr>
            <a:r>
              <a:rPr lang="en-GB" sz="2800" dirty="0" smtClean="0">
                <a:latin typeface="Times New Roman" pitchFamily="18" charset="0"/>
                <a:cs typeface="Times New Roman" pitchFamily="18" charset="0"/>
              </a:rPr>
              <a:t> Each of the 11 segments of </a:t>
            </a:r>
            <a:r>
              <a:rPr lang="en-GB" sz="2800" dirty="0" err="1" smtClean="0">
                <a:latin typeface="Times New Roman" pitchFamily="18" charset="0"/>
                <a:cs typeface="Times New Roman" pitchFamily="18" charset="0"/>
              </a:rPr>
              <a:t>dsRNA</a:t>
            </a:r>
            <a:r>
              <a:rPr lang="en-GB" sz="2800" dirty="0" smtClean="0">
                <a:latin typeface="Times New Roman" pitchFamily="18" charset="0"/>
                <a:cs typeface="Times New Roman" pitchFamily="18" charset="0"/>
              </a:rPr>
              <a:t> encodes a single viral protein except segment 11 which encodes two proteins</a:t>
            </a:r>
            <a:endParaRPr lang="en-US"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9897646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1. Rotavirus"/>
          <p:cNvPicPr>
            <a:picLocks noChangeAspect="1" noChangeArrowheads="1"/>
          </p:cNvPicPr>
          <p:nvPr/>
        </p:nvPicPr>
        <p:blipFill>
          <a:blip r:embed="rId2"/>
          <a:srcRect/>
          <a:stretch>
            <a:fillRect/>
          </a:stretch>
        </p:blipFill>
        <p:spPr bwMode="auto">
          <a:xfrm>
            <a:off x="0" y="685800"/>
            <a:ext cx="9023350" cy="3733800"/>
          </a:xfrm>
          <a:prstGeom prst="rect">
            <a:avLst/>
          </a:prstGeom>
          <a:noFill/>
        </p:spPr>
      </p:pic>
      <p:sp>
        <p:nvSpPr>
          <p:cNvPr id="5" name="Rectangle 4"/>
          <p:cNvSpPr/>
          <p:nvPr/>
        </p:nvSpPr>
        <p:spPr>
          <a:xfrm>
            <a:off x="2743200" y="5410200"/>
            <a:ext cx="4018216" cy="584775"/>
          </a:xfrm>
          <a:prstGeom prst="rect">
            <a:avLst/>
          </a:prstGeom>
        </p:spPr>
        <p:txBody>
          <a:bodyPr wrap="none">
            <a:spAutoFit/>
          </a:bodyPr>
          <a:lstStyle/>
          <a:p>
            <a:r>
              <a:rPr lang="en-US" sz="3200" b="1" dirty="0" smtClean="0"/>
              <a:t>Triple-layered particle.</a:t>
            </a:r>
            <a:endParaRPr lang="en-US" sz="32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28600"/>
            <a:ext cx="8229600" cy="1143000"/>
          </a:xfrm>
        </p:spPr>
        <p:txBody>
          <a:bodyPr/>
          <a:lstStyle/>
          <a:p>
            <a:r>
              <a:rPr lang="en-US" dirty="0" smtClean="0">
                <a:solidFill>
                  <a:srgbClr val="C00000"/>
                </a:solidFill>
              </a:rPr>
              <a:t>Rotaviruses</a:t>
            </a:r>
          </a:p>
        </p:txBody>
      </p:sp>
      <p:sp>
        <p:nvSpPr>
          <p:cNvPr id="9219" name="Rectangle 3"/>
          <p:cNvSpPr>
            <a:spLocks noGrp="1" noChangeArrowheads="1"/>
          </p:cNvSpPr>
          <p:nvPr>
            <p:ph type="body" idx="4294967295"/>
          </p:nvPr>
        </p:nvSpPr>
        <p:spPr>
          <a:xfrm>
            <a:off x="152400" y="1219200"/>
            <a:ext cx="8991600" cy="5257800"/>
          </a:xfrm>
        </p:spPr>
        <p:txBody>
          <a:bodyPr>
            <a:normAutofit/>
          </a:bodyPr>
          <a:lstStyle/>
          <a:p>
            <a:pPr>
              <a:lnSpc>
                <a:spcPct val="120000"/>
              </a:lnSpc>
            </a:pPr>
            <a:r>
              <a:rPr lang="en-GB" sz="2800" dirty="0" smtClean="0">
                <a:latin typeface="Times New Roman" pitchFamily="18" charset="0"/>
                <a:cs typeface="Times New Roman" pitchFamily="18" charset="0"/>
              </a:rPr>
              <a:t>The genus has </a:t>
            </a:r>
            <a:r>
              <a:rPr lang="en-GB" sz="2800" b="1" dirty="0" smtClean="0">
                <a:latin typeface="Times New Roman" pitchFamily="18" charset="0"/>
                <a:cs typeface="Times New Roman" pitchFamily="18" charset="0"/>
              </a:rPr>
              <a:t>9 species (A to D; F to J) </a:t>
            </a:r>
            <a:r>
              <a:rPr lang="en-GB" sz="2800" dirty="0" smtClean="0">
                <a:latin typeface="Times New Roman" pitchFamily="18" charset="0"/>
                <a:cs typeface="Times New Roman" pitchFamily="18" charset="0"/>
              </a:rPr>
              <a:t>or sometimes called groups based on antigenic and genetic similarities of the intermediate </a:t>
            </a:r>
            <a:r>
              <a:rPr lang="en-GB" sz="2800" dirty="0" err="1" smtClean="0">
                <a:latin typeface="Times New Roman" pitchFamily="18" charset="0"/>
                <a:cs typeface="Times New Roman" pitchFamily="18" charset="0"/>
              </a:rPr>
              <a:t>capsid</a:t>
            </a:r>
            <a:r>
              <a:rPr lang="en-GB" sz="2800" dirty="0" smtClean="0">
                <a:latin typeface="Times New Roman" pitchFamily="18" charset="0"/>
                <a:cs typeface="Times New Roman" pitchFamily="18" charset="0"/>
              </a:rPr>
              <a:t> protein of VP6. </a:t>
            </a:r>
          </a:p>
          <a:p>
            <a:pPr>
              <a:lnSpc>
                <a:spcPct val="120000"/>
              </a:lnSpc>
            </a:pPr>
            <a:r>
              <a:rPr lang="en-GB" sz="2800" dirty="0" smtClean="0">
                <a:latin typeface="Times New Roman" pitchFamily="18" charset="0"/>
                <a:cs typeface="Times New Roman" pitchFamily="18" charset="0"/>
              </a:rPr>
              <a:t>Group A rotaviruses are the major cause of rotavirus infection in domestic animals.</a:t>
            </a:r>
          </a:p>
          <a:p>
            <a:pPr>
              <a:lnSpc>
                <a:spcPct val="120000"/>
              </a:lnSpc>
            </a:pPr>
            <a:r>
              <a:rPr lang="en-GB" sz="2800" dirty="0" smtClean="0">
                <a:latin typeface="Times New Roman" pitchFamily="18" charset="0"/>
                <a:cs typeface="Times New Roman" pitchFamily="18" charset="0"/>
              </a:rPr>
              <a:t>Group A rotaviruses (RVA) can be further classified into P or G </a:t>
            </a:r>
            <a:r>
              <a:rPr lang="en-GB" sz="2800" dirty="0" err="1" smtClean="0">
                <a:latin typeface="Times New Roman" pitchFamily="18" charset="0"/>
                <a:cs typeface="Times New Roman" pitchFamily="18" charset="0"/>
              </a:rPr>
              <a:t>sero</a:t>
            </a:r>
            <a:r>
              <a:rPr lang="en-GB" sz="2800" dirty="0" smtClean="0">
                <a:latin typeface="Times New Roman" pitchFamily="18" charset="0"/>
                <a:cs typeface="Times New Roman" pitchFamily="18" charset="0"/>
              </a:rPr>
              <a:t> types based on genetic and antigenic similarities of VP4 and VP7. </a:t>
            </a:r>
          </a:p>
          <a:p>
            <a:pPr>
              <a:lnSpc>
                <a:spcPct val="120000"/>
              </a:lnSpc>
              <a:buNone/>
            </a:pPr>
            <a:endParaRPr lang="en-US" sz="2800"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413210357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normAutofit/>
          </a:bodyPr>
          <a:lstStyle/>
          <a:p>
            <a:pPr>
              <a:lnSpc>
                <a:spcPct val="120000"/>
              </a:lnSpc>
            </a:pPr>
            <a:r>
              <a:rPr lang="en-GB" sz="2800" dirty="0" smtClean="0">
                <a:latin typeface="Times New Roman" pitchFamily="18" charset="0"/>
                <a:cs typeface="Times New Roman" pitchFamily="18" charset="0"/>
              </a:rPr>
              <a:t>VP4 (P protein for “protease-sensitive” due to its </a:t>
            </a:r>
            <a:r>
              <a:rPr lang="en-GB" sz="2800" dirty="0" err="1" smtClean="0">
                <a:latin typeface="Times New Roman" pitchFamily="18" charset="0"/>
                <a:cs typeface="Times New Roman" pitchFamily="18" charset="0"/>
              </a:rPr>
              <a:t>trypsin</a:t>
            </a:r>
            <a:r>
              <a:rPr lang="en-GB" sz="2800" dirty="0" smtClean="0">
                <a:latin typeface="Times New Roman" pitchFamily="18" charset="0"/>
                <a:cs typeface="Times New Roman" pitchFamily="18" charset="0"/>
              </a:rPr>
              <a:t> mediated cleavage required for virus adsorption into cells) determines the P serotypes. </a:t>
            </a:r>
          </a:p>
          <a:p>
            <a:pPr>
              <a:lnSpc>
                <a:spcPct val="120000"/>
              </a:lnSpc>
            </a:pPr>
            <a:endParaRPr lang="en-GB" sz="2800" dirty="0" smtClean="0">
              <a:latin typeface="Times New Roman" pitchFamily="18" charset="0"/>
              <a:cs typeface="Times New Roman" pitchFamily="18" charset="0"/>
            </a:endParaRPr>
          </a:p>
          <a:p>
            <a:pPr>
              <a:lnSpc>
                <a:spcPct val="120000"/>
              </a:lnSpc>
            </a:pPr>
            <a:r>
              <a:rPr lang="en-GB" sz="2800" dirty="0" smtClean="0">
                <a:latin typeface="Times New Roman" pitchFamily="18" charset="0"/>
                <a:cs typeface="Times New Roman" pitchFamily="18" charset="0"/>
              </a:rPr>
              <a:t>VP7 </a:t>
            </a:r>
            <a:r>
              <a:rPr lang="en-GB" sz="2800" dirty="0" smtClean="0">
                <a:latin typeface="Times New Roman" pitchFamily="18" charset="0"/>
                <a:cs typeface="Times New Roman" pitchFamily="18" charset="0"/>
              </a:rPr>
              <a:t>(G protein for “glycoprotein” forming the matrix of the </a:t>
            </a:r>
            <a:r>
              <a:rPr lang="en-GB" sz="2800" dirty="0" err="1" smtClean="0">
                <a:latin typeface="Times New Roman" pitchFamily="18" charset="0"/>
                <a:cs typeface="Times New Roman" pitchFamily="18" charset="0"/>
              </a:rPr>
              <a:t>capsid</a:t>
            </a:r>
            <a:r>
              <a:rPr lang="en-GB" sz="2800" dirty="0" smtClean="0">
                <a:latin typeface="Times New Roman" pitchFamily="18" charset="0"/>
                <a:cs typeface="Times New Roman" pitchFamily="18" charset="0"/>
              </a:rPr>
              <a:t>) defines G serotypes </a:t>
            </a:r>
          </a:p>
          <a:p>
            <a:endParaRPr lang="en-US"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normAutofit lnSpcReduction="10000"/>
          </a:bodyPr>
          <a:lstStyle/>
          <a:p>
            <a:r>
              <a:rPr lang="en-GB" sz="2800" b="1" i="1" dirty="0" smtClean="0">
                <a:latin typeface="Times New Roman" pitchFamily="18" charset="0"/>
                <a:cs typeface="Times New Roman" pitchFamily="18" charset="0"/>
              </a:rPr>
              <a:t>Rotavirus A</a:t>
            </a:r>
            <a:r>
              <a:rPr lang="en-GB" sz="2800" b="1" dirty="0" smtClean="0">
                <a:latin typeface="Times New Roman" pitchFamily="18" charset="0"/>
                <a:cs typeface="Times New Roman" pitchFamily="18" charset="0"/>
              </a:rPr>
              <a:t>, </a:t>
            </a:r>
            <a:r>
              <a:rPr lang="en-GB" sz="2800" b="1" i="1" dirty="0" smtClean="0">
                <a:latin typeface="Times New Roman" pitchFamily="18" charset="0"/>
                <a:cs typeface="Times New Roman" pitchFamily="18" charset="0"/>
              </a:rPr>
              <a:t>Rotavirus</a:t>
            </a:r>
            <a:r>
              <a:rPr lang="en-GB" sz="2800" b="1" dirty="0" smtClean="0">
                <a:latin typeface="Times New Roman" pitchFamily="18" charset="0"/>
                <a:cs typeface="Times New Roman" pitchFamily="18" charset="0"/>
              </a:rPr>
              <a:t> </a:t>
            </a:r>
            <a:r>
              <a:rPr lang="en-GB" sz="2800" b="1" i="1" dirty="0" smtClean="0">
                <a:latin typeface="Times New Roman" pitchFamily="18" charset="0"/>
                <a:cs typeface="Times New Roman" pitchFamily="18" charset="0"/>
              </a:rPr>
              <a:t>B, Rotavirus C and Rotavirus H</a:t>
            </a:r>
            <a:r>
              <a:rPr lang="en-GB" sz="2800" b="1" dirty="0" smtClean="0">
                <a:latin typeface="Times New Roman" pitchFamily="18" charset="0"/>
                <a:cs typeface="Times New Roman" pitchFamily="18" charset="0"/>
              </a:rPr>
              <a:t> </a:t>
            </a:r>
            <a:r>
              <a:rPr lang="en-GB" sz="2800" dirty="0" smtClean="0">
                <a:latin typeface="Times New Roman" pitchFamily="18" charset="0"/>
                <a:cs typeface="Times New Roman" pitchFamily="18" charset="0"/>
              </a:rPr>
              <a:t>viruses can infect humans, with </a:t>
            </a:r>
            <a:r>
              <a:rPr lang="en-GB" sz="2800" i="1" dirty="0" smtClean="0">
                <a:latin typeface="Times New Roman" pitchFamily="18" charset="0"/>
                <a:cs typeface="Times New Roman" pitchFamily="18" charset="0"/>
              </a:rPr>
              <a:t>Rotavirus A</a:t>
            </a:r>
            <a:r>
              <a:rPr lang="en-GB" sz="2800" dirty="0" smtClean="0">
                <a:latin typeface="Times New Roman" pitchFamily="18" charset="0"/>
                <a:cs typeface="Times New Roman" pitchFamily="18" charset="0"/>
              </a:rPr>
              <a:t> viruses being responsible for the majority of seasonal endemic diarrheal disease in young children. </a:t>
            </a:r>
          </a:p>
          <a:p>
            <a:endParaRPr lang="en-GB" sz="2800" dirty="0" smtClean="0">
              <a:latin typeface="Times New Roman" pitchFamily="18" charset="0"/>
              <a:cs typeface="Times New Roman" pitchFamily="18" charset="0"/>
            </a:endParaRPr>
          </a:p>
          <a:p>
            <a:r>
              <a:rPr lang="en-GB" sz="2800" dirty="0" smtClean="0">
                <a:latin typeface="Times New Roman" pitchFamily="18" charset="0"/>
                <a:cs typeface="Times New Roman" pitchFamily="18" charset="0"/>
              </a:rPr>
              <a:t>Members </a:t>
            </a:r>
            <a:r>
              <a:rPr lang="en-GB" sz="2800" dirty="0" smtClean="0">
                <a:latin typeface="Times New Roman" pitchFamily="18" charset="0"/>
                <a:cs typeface="Times New Roman" pitchFamily="18" charset="0"/>
              </a:rPr>
              <a:t>of </a:t>
            </a:r>
            <a:r>
              <a:rPr lang="en-GB" sz="2800" b="1" i="1" dirty="0" smtClean="0">
                <a:latin typeface="Times New Roman" pitchFamily="18" charset="0"/>
                <a:cs typeface="Times New Roman" pitchFamily="18" charset="0"/>
              </a:rPr>
              <a:t>Rotavirus A</a:t>
            </a:r>
            <a:r>
              <a:rPr lang="en-GB" sz="2800" dirty="0" smtClean="0">
                <a:latin typeface="Times New Roman" pitchFamily="18" charset="0"/>
                <a:cs typeface="Times New Roman" pitchFamily="18" charset="0"/>
              </a:rPr>
              <a:t> can also infect other mammals (e.g., pig, cattle, horse, rat, mouse and bat) in which they cause </a:t>
            </a:r>
            <a:r>
              <a:rPr lang="en-GB" sz="2800" dirty="0" err="1" smtClean="0">
                <a:latin typeface="Times New Roman" pitchFamily="18" charset="0"/>
                <a:cs typeface="Times New Roman" pitchFamily="18" charset="0"/>
              </a:rPr>
              <a:t>diarrhea</a:t>
            </a:r>
            <a:r>
              <a:rPr lang="en-GB" sz="2800" dirty="0" smtClean="0">
                <a:latin typeface="Times New Roman" pitchFamily="18" charset="0"/>
                <a:cs typeface="Times New Roman" pitchFamily="18" charset="0"/>
              </a:rPr>
              <a:t>, and birds (e.g., chicken, turkey and pigeon) in which they cause enteric signs and </a:t>
            </a:r>
            <a:r>
              <a:rPr lang="en-GB" sz="2800" dirty="0" err="1" smtClean="0">
                <a:latin typeface="Times New Roman" pitchFamily="18" charset="0"/>
                <a:cs typeface="Times New Roman" pitchFamily="18" charset="0"/>
              </a:rPr>
              <a:t>R</a:t>
            </a:r>
            <a:r>
              <a:rPr lang="en-GB" sz="2800" dirty="0" err="1" smtClean="0">
                <a:latin typeface="Times New Roman" pitchFamily="18" charset="0"/>
                <a:cs typeface="Times New Roman" pitchFamily="18" charset="0"/>
              </a:rPr>
              <a:t>unting</a:t>
            </a:r>
            <a:r>
              <a:rPr lang="en-GB" sz="2800" dirty="0" smtClean="0">
                <a:latin typeface="Times New Roman" pitchFamily="18" charset="0"/>
                <a:cs typeface="Times New Roman" pitchFamily="18" charset="0"/>
              </a:rPr>
              <a:t> </a:t>
            </a:r>
            <a:r>
              <a:rPr lang="en-GB" sz="2800" dirty="0" smtClean="0">
                <a:latin typeface="Times New Roman" pitchFamily="18" charset="0"/>
                <a:cs typeface="Times New Roman" pitchFamily="18" charset="0"/>
              </a:rPr>
              <a:t>and </a:t>
            </a:r>
            <a:r>
              <a:rPr lang="en-GB" sz="2800" dirty="0" smtClean="0">
                <a:latin typeface="Times New Roman" pitchFamily="18" charset="0"/>
                <a:cs typeface="Times New Roman" pitchFamily="18" charset="0"/>
              </a:rPr>
              <a:t>Stunting </a:t>
            </a:r>
            <a:r>
              <a:rPr lang="en-GB" sz="2800" dirty="0" smtClean="0">
                <a:latin typeface="Times New Roman" pitchFamily="18" charset="0"/>
                <a:cs typeface="Times New Roman" pitchFamily="18" charset="0"/>
              </a:rPr>
              <a:t>syndrome.</a:t>
            </a:r>
            <a:endParaRPr lang="en-US" sz="2800" dirty="0">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Pathogenesis </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pPr algn="just"/>
            <a:r>
              <a:rPr lang="en-GB" sz="2800" dirty="0" smtClean="0">
                <a:latin typeface="Times New Roman" pitchFamily="18" charset="0"/>
                <a:cs typeface="Times New Roman" pitchFamily="18" charset="0"/>
              </a:rPr>
              <a:t>Virus replication is typically restricted to the </a:t>
            </a:r>
            <a:r>
              <a:rPr lang="en-GB" sz="2800" b="1" dirty="0" smtClean="0">
                <a:latin typeface="Times New Roman" pitchFamily="18" charset="0"/>
                <a:cs typeface="Times New Roman" pitchFamily="18" charset="0"/>
              </a:rPr>
              <a:t>terminally-differentiated </a:t>
            </a:r>
            <a:r>
              <a:rPr lang="en-GB" sz="2800" b="1" dirty="0" err="1" smtClean="0">
                <a:latin typeface="Times New Roman" pitchFamily="18" charset="0"/>
                <a:cs typeface="Times New Roman" pitchFamily="18" charset="0"/>
              </a:rPr>
              <a:t>enterocytes</a:t>
            </a:r>
            <a:r>
              <a:rPr lang="en-GB" sz="2800" b="1" dirty="0" smtClean="0">
                <a:latin typeface="Times New Roman" pitchFamily="18" charset="0"/>
                <a:cs typeface="Times New Roman" pitchFamily="18" charset="0"/>
              </a:rPr>
              <a:t> </a:t>
            </a:r>
            <a:r>
              <a:rPr lang="en-GB" sz="2800" dirty="0" smtClean="0">
                <a:latin typeface="Times New Roman" pitchFamily="18" charset="0"/>
                <a:cs typeface="Times New Roman" pitchFamily="18" charset="0"/>
              </a:rPr>
              <a:t>lining the tips of the </a:t>
            </a:r>
            <a:r>
              <a:rPr lang="en-GB" sz="2800" dirty="0" err="1" smtClean="0">
                <a:latin typeface="Times New Roman" pitchFamily="18" charset="0"/>
                <a:cs typeface="Times New Roman" pitchFamily="18" charset="0"/>
              </a:rPr>
              <a:t>microvilli</a:t>
            </a:r>
            <a:r>
              <a:rPr lang="en-GB" sz="2800" dirty="0" smtClean="0">
                <a:latin typeface="Times New Roman" pitchFamily="18" charset="0"/>
                <a:cs typeface="Times New Roman" pitchFamily="18" charset="0"/>
              </a:rPr>
              <a:t> and enzyme producing </a:t>
            </a:r>
            <a:r>
              <a:rPr lang="en-GB" sz="2800" dirty="0" err="1" smtClean="0">
                <a:latin typeface="Times New Roman" pitchFamily="18" charset="0"/>
                <a:cs typeface="Times New Roman" pitchFamily="18" charset="0"/>
              </a:rPr>
              <a:t>enterocytes</a:t>
            </a:r>
            <a:r>
              <a:rPr lang="en-GB" sz="2800" dirty="0" smtClean="0">
                <a:latin typeface="Times New Roman" pitchFamily="18" charset="0"/>
                <a:cs typeface="Times New Roman" pitchFamily="18" charset="0"/>
              </a:rPr>
              <a:t> in the small intestine.</a:t>
            </a:r>
          </a:p>
          <a:p>
            <a:pPr algn="just"/>
            <a:r>
              <a:rPr lang="en-GB" sz="2800" dirty="0" smtClean="0">
                <a:latin typeface="Times New Roman" pitchFamily="18" charset="0"/>
                <a:cs typeface="Times New Roman" pitchFamily="18" charset="0"/>
              </a:rPr>
              <a:t>At the cellular level, the infection is characterized by vacuolization, blunting, and shortening of the </a:t>
            </a:r>
            <a:r>
              <a:rPr lang="en-GB" sz="2800" dirty="0" err="1" smtClean="0">
                <a:latin typeface="Times New Roman" pitchFamily="18" charset="0"/>
                <a:cs typeface="Times New Roman" pitchFamily="18" charset="0"/>
              </a:rPr>
              <a:t>villi</a:t>
            </a:r>
            <a:r>
              <a:rPr lang="en-GB" sz="2800" dirty="0" smtClean="0">
                <a:latin typeface="Times New Roman" pitchFamily="18" charset="0"/>
                <a:cs typeface="Times New Roman" pitchFamily="18" charset="0"/>
              </a:rPr>
              <a:t>. </a:t>
            </a:r>
          </a:p>
          <a:p>
            <a:pPr algn="just"/>
            <a:r>
              <a:rPr lang="en-GB" sz="2800" dirty="0" smtClean="0">
                <a:latin typeface="Times New Roman" pitchFamily="18" charset="0"/>
                <a:cs typeface="Times New Roman" pitchFamily="18" charset="0"/>
              </a:rPr>
              <a:t>Rotavirus also produces the </a:t>
            </a:r>
            <a:r>
              <a:rPr lang="en-GB" sz="2800" dirty="0" err="1" smtClean="0">
                <a:latin typeface="Times New Roman" pitchFamily="18" charset="0"/>
                <a:cs typeface="Times New Roman" pitchFamily="18" charset="0"/>
              </a:rPr>
              <a:t>enterotoxin</a:t>
            </a:r>
            <a:r>
              <a:rPr lang="en-GB" sz="2800" dirty="0" smtClean="0">
                <a:latin typeface="Times New Roman" pitchFamily="18" charset="0"/>
                <a:cs typeface="Times New Roman" pitchFamily="18" charset="0"/>
              </a:rPr>
              <a:t> </a:t>
            </a:r>
            <a:r>
              <a:rPr lang="en-GB" sz="2800" b="1" dirty="0" smtClean="0">
                <a:solidFill>
                  <a:srgbClr val="FF0000"/>
                </a:solidFill>
                <a:latin typeface="Times New Roman" pitchFamily="18" charset="0"/>
                <a:cs typeface="Times New Roman" pitchFamily="18" charset="0"/>
              </a:rPr>
              <a:t>NSP4.</a:t>
            </a:r>
          </a:p>
          <a:p>
            <a:pPr algn="just"/>
            <a:r>
              <a:rPr lang="en-GB" sz="2800" dirty="0" smtClean="0">
                <a:latin typeface="Times New Roman" pitchFamily="18" charset="0"/>
                <a:cs typeface="Times New Roman" pitchFamily="18" charset="0"/>
              </a:rPr>
              <a:t>Destruction of mature </a:t>
            </a:r>
            <a:r>
              <a:rPr lang="en-GB" sz="2800" dirty="0" err="1" smtClean="0">
                <a:latin typeface="Times New Roman" pitchFamily="18" charset="0"/>
                <a:cs typeface="Times New Roman" pitchFamily="18" charset="0"/>
              </a:rPr>
              <a:t>enterocotes</a:t>
            </a:r>
            <a:r>
              <a:rPr lang="en-GB" sz="2800" dirty="0" smtClean="0">
                <a:latin typeface="Times New Roman" pitchFamily="18" charset="0"/>
                <a:cs typeface="Times New Roman" pitchFamily="18" charset="0"/>
              </a:rPr>
              <a:t> in the </a:t>
            </a:r>
            <a:r>
              <a:rPr lang="en-GB" sz="2800" dirty="0" err="1" smtClean="0">
                <a:latin typeface="Times New Roman" pitchFamily="18" charset="0"/>
                <a:cs typeface="Times New Roman" pitchFamily="18" charset="0"/>
              </a:rPr>
              <a:t>villi</a:t>
            </a:r>
            <a:r>
              <a:rPr lang="en-GB" sz="2800" dirty="0" smtClean="0">
                <a:latin typeface="Times New Roman" pitchFamily="18" charset="0"/>
                <a:cs typeface="Times New Roman" pitchFamily="18" charset="0"/>
              </a:rPr>
              <a:t> leads to rupture and sloughing of the </a:t>
            </a:r>
            <a:r>
              <a:rPr lang="en-GB" sz="2800" dirty="0" err="1" smtClean="0">
                <a:latin typeface="Times New Roman" pitchFamily="18" charset="0"/>
                <a:cs typeface="Times New Roman" pitchFamily="18" charset="0"/>
              </a:rPr>
              <a:t>enterocytes</a:t>
            </a:r>
            <a:r>
              <a:rPr lang="en-GB" sz="2800" dirty="0" smtClean="0">
                <a:latin typeface="Times New Roman" pitchFamily="18" charset="0"/>
                <a:cs typeface="Times New Roman" pitchFamily="18" charset="0"/>
              </a:rPr>
              <a:t> with release of virus to infect adjacent cells.</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Pathogenesis </a:t>
            </a:r>
            <a:endParaRPr lang="en-US" dirty="0"/>
          </a:p>
        </p:txBody>
      </p:sp>
      <p:sp>
        <p:nvSpPr>
          <p:cNvPr id="3" name="Content Placeholder 2"/>
          <p:cNvSpPr>
            <a:spLocks noGrp="1"/>
          </p:cNvSpPr>
          <p:nvPr>
            <p:ph idx="1"/>
          </p:nvPr>
        </p:nvSpPr>
        <p:spPr/>
        <p:txBody>
          <a:bodyPr>
            <a:normAutofit/>
          </a:bodyPr>
          <a:lstStyle/>
          <a:p>
            <a:r>
              <a:rPr lang="en-GB" sz="2800" dirty="0" smtClean="0">
                <a:latin typeface="Times New Roman" pitchFamily="18" charset="0"/>
                <a:cs typeface="Times New Roman" pitchFamily="18" charset="0"/>
              </a:rPr>
              <a:t>Rotavirus may cause diarrhoea </a:t>
            </a:r>
            <a:r>
              <a:rPr lang="en-GB" sz="2800" b="1" dirty="0" smtClean="0">
                <a:latin typeface="Times New Roman" pitchFamily="18" charset="0"/>
                <a:cs typeface="Times New Roman" pitchFamily="18" charset="0"/>
              </a:rPr>
              <a:t>by three different mechanisms</a:t>
            </a:r>
            <a:r>
              <a:rPr lang="en-GB" sz="2800" dirty="0" smtClean="0">
                <a:latin typeface="Times New Roman" pitchFamily="18" charset="0"/>
                <a:cs typeface="Times New Roman" pitchFamily="18" charset="0"/>
              </a:rPr>
              <a:t>. </a:t>
            </a:r>
          </a:p>
          <a:p>
            <a:r>
              <a:rPr lang="en-GB" sz="2800" b="1" dirty="0" smtClean="0">
                <a:latin typeface="Times New Roman" pitchFamily="18" charset="0"/>
                <a:cs typeface="Times New Roman" pitchFamily="18" charset="0"/>
              </a:rPr>
              <a:t>First,</a:t>
            </a:r>
            <a:r>
              <a:rPr lang="en-GB" sz="2800" dirty="0" smtClean="0">
                <a:latin typeface="Times New Roman" pitchFamily="18" charset="0"/>
                <a:cs typeface="Times New Roman" pitchFamily="18" charset="0"/>
              </a:rPr>
              <a:t> within 12–24 hours after infection, </a:t>
            </a:r>
            <a:r>
              <a:rPr lang="en-GB" sz="2800" dirty="0" err="1" smtClean="0">
                <a:latin typeface="Times New Roman" pitchFamily="18" charset="0"/>
                <a:cs typeface="Times New Roman" pitchFamily="18" charset="0"/>
              </a:rPr>
              <a:t>enterocytes</a:t>
            </a:r>
            <a:r>
              <a:rPr lang="en-GB" sz="2800" dirty="0" smtClean="0">
                <a:latin typeface="Times New Roman" pitchFamily="18" charset="0"/>
                <a:cs typeface="Times New Roman" pitchFamily="18" charset="0"/>
              </a:rPr>
              <a:t> are intact but the levels of the </a:t>
            </a:r>
            <a:r>
              <a:rPr lang="en-GB" sz="2800" b="1" dirty="0" smtClean="0">
                <a:latin typeface="Times New Roman" pitchFamily="18" charset="0"/>
                <a:cs typeface="Times New Roman" pitchFamily="18" charset="0"/>
              </a:rPr>
              <a:t>brush-border </a:t>
            </a:r>
            <a:r>
              <a:rPr lang="en-GB" sz="2800" b="1" dirty="0" err="1" smtClean="0">
                <a:latin typeface="Times New Roman" pitchFamily="18" charset="0"/>
                <a:cs typeface="Times New Roman" pitchFamily="18" charset="0"/>
              </a:rPr>
              <a:t>disaccharidases</a:t>
            </a:r>
            <a:r>
              <a:rPr lang="en-GB" sz="2800" b="1" dirty="0" smtClean="0">
                <a:latin typeface="Times New Roman" pitchFamily="18" charset="0"/>
                <a:cs typeface="Times New Roman" pitchFamily="18" charset="0"/>
              </a:rPr>
              <a:t> </a:t>
            </a:r>
            <a:r>
              <a:rPr lang="en-GB" sz="2800" dirty="0" smtClean="0">
                <a:latin typeface="Times New Roman" pitchFamily="18" charset="0"/>
                <a:cs typeface="Times New Roman" pitchFamily="18" charset="0"/>
              </a:rPr>
              <a:t>(</a:t>
            </a:r>
            <a:r>
              <a:rPr lang="en-GB" sz="2800" dirty="0" err="1" smtClean="0">
                <a:latin typeface="Times New Roman" pitchFamily="18" charset="0"/>
                <a:cs typeface="Times New Roman" pitchFamily="18" charset="0"/>
              </a:rPr>
              <a:t>sucrase</a:t>
            </a:r>
            <a:r>
              <a:rPr lang="en-GB" sz="2800" dirty="0" smtClean="0">
                <a:latin typeface="Times New Roman" pitchFamily="18" charset="0"/>
                <a:cs typeface="Times New Roman" pitchFamily="18" charset="0"/>
              </a:rPr>
              <a:t>, maltase, and lactase) are greatly reduced. </a:t>
            </a:r>
          </a:p>
          <a:p>
            <a:r>
              <a:rPr lang="en-GB" sz="2800" dirty="0" smtClean="0">
                <a:latin typeface="Times New Roman" pitchFamily="18" charset="0"/>
                <a:cs typeface="Times New Roman" pitchFamily="18" charset="0"/>
              </a:rPr>
              <a:t>As a result, disaccharides in the diet cannot be hydrolysed to </a:t>
            </a:r>
            <a:r>
              <a:rPr lang="en-GB" sz="2800" dirty="0" err="1" smtClean="0">
                <a:latin typeface="Times New Roman" pitchFamily="18" charset="0"/>
                <a:cs typeface="Times New Roman" pitchFamily="18" charset="0"/>
              </a:rPr>
              <a:t>monosaccharides</a:t>
            </a:r>
            <a:r>
              <a:rPr lang="en-GB" sz="2800" dirty="0" smtClean="0">
                <a:latin typeface="Times New Roman" pitchFamily="18" charset="0"/>
                <a:cs typeface="Times New Roman" pitchFamily="18" charset="0"/>
              </a:rPr>
              <a:t> and thus cannot be absorbed, leading to osmotic diarrhoea.</a:t>
            </a:r>
          </a:p>
          <a:p>
            <a:endParaRPr lang="en-US" sz="2800" dirty="0">
              <a:latin typeface="Times New Roman" pitchFamily="18" charset="0"/>
              <a:cs typeface="Times New Roman"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GB" b="1" dirty="0" smtClean="0">
                <a:latin typeface="Times New Roman" pitchFamily="18" charset="0"/>
                <a:cs typeface="Times New Roman" pitchFamily="18" charset="0"/>
              </a:rPr>
              <a:t>Second,</a:t>
            </a:r>
            <a:r>
              <a:rPr lang="en-GB" dirty="0" smtClean="0">
                <a:latin typeface="Times New Roman" pitchFamily="18" charset="0"/>
                <a:cs typeface="Times New Roman" pitchFamily="18" charset="0"/>
              </a:rPr>
              <a:t> NSP4 has an effect in opening calcium channels in the </a:t>
            </a:r>
            <a:r>
              <a:rPr lang="en-GB" dirty="0" err="1" smtClean="0">
                <a:latin typeface="Times New Roman" pitchFamily="18" charset="0"/>
                <a:cs typeface="Times New Roman" pitchFamily="18" charset="0"/>
              </a:rPr>
              <a:t>enterocytes</a:t>
            </a:r>
            <a:r>
              <a:rPr lang="en-GB" dirty="0" smtClean="0">
                <a:latin typeface="Times New Roman" pitchFamily="18" charset="0"/>
                <a:cs typeface="Times New Roman" pitchFamily="18" charset="0"/>
              </a:rPr>
              <a:t>. This causes an efflux of sodium and water, producing </a:t>
            </a:r>
            <a:r>
              <a:rPr lang="en-GB" dirty="0" err="1" smtClean="0">
                <a:latin typeface="Times New Roman" pitchFamily="18" charset="0"/>
                <a:cs typeface="Times New Roman" pitchFamily="18" charset="0"/>
              </a:rPr>
              <a:t>secretory</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diarrhea</a:t>
            </a:r>
            <a:r>
              <a:rPr lang="en-GB" dirty="0" smtClean="0">
                <a:latin typeface="Times New Roman" pitchFamily="18" charset="0"/>
                <a:cs typeface="Times New Roman" pitchFamily="18" charset="0"/>
              </a:rPr>
              <a:t> .</a:t>
            </a:r>
          </a:p>
          <a:p>
            <a:pPr>
              <a:buNone/>
            </a:pPr>
            <a:r>
              <a:rPr lang="en-GB" dirty="0" smtClean="0">
                <a:latin typeface="Times New Roman" pitchFamily="18" charset="0"/>
                <a:cs typeface="Times New Roman" pitchFamily="18" charset="0"/>
              </a:rPr>
              <a:t> </a:t>
            </a:r>
          </a:p>
          <a:p>
            <a:r>
              <a:rPr lang="en-GB" b="1" dirty="0" smtClean="0">
                <a:latin typeface="Times New Roman" pitchFamily="18" charset="0"/>
                <a:cs typeface="Times New Roman" pitchFamily="18" charset="0"/>
              </a:rPr>
              <a:t>Finally,</a:t>
            </a:r>
            <a:r>
              <a:rPr lang="en-GB" dirty="0" smtClean="0">
                <a:latin typeface="Times New Roman" pitchFamily="18" charset="0"/>
                <a:cs typeface="Times New Roman" pitchFamily="18" charset="0"/>
              </a:rPr>
              <a:t> the higher intra-</a:t>
            </a:r>
            <a:r>
              <a:rPr lang="en-GB" dirty="0" err="1" smtClean="0">
                <a:latin typeface="Times New Roman" pitchFamily="18" charset="0"/>
                <a:cs typeface="Times New Roman" pitchFamily="18" charset="0"/>
              </a:rPr>
              <a:t>enterocyte</a:t>
            </a:r>
            <a:r>
              <a:rPr lang="en-GB" dirty="0" smtClean="0">
                <a:latin typeface="Times New Roman" pitchFamily="18" charset="0"/>
                <a:cs typeface="Times New Roman" pitchFamily="18" charset="0"/>
              </a:rPr>
              <a:t> calcium concentration causes </a:t>
            </a:r>
            <a:r>
              <a:rPr lang="en-GB" dirty="0" err="1" smtClean="0">
                <a:latin typeface="Times New Roman" pitchFamily="18" charset="0"/>
                <a:cs typeface="Times New Roman" pitchFamily="18" charset="0"/>
              </a:rPr>
              <a:t>enterocytes</a:t>
            </a:r>
            <a:r>
              <a:rPr lang="en-GB" dirty="0" smtClean="0">
                <a:latin typeface="Times New Roman" pitchFamily="18" charset="0"/>
                <a:cs typeface="Times New Roman" pitchFamily="18" charset="0"/>
              </a:rPr>
              <a:t> to die by </a:t>
            </a:r>
            <a:r>
              <a:rPr lang="en-GB" dirty="0" err="1" smtClean="0">
                <a:latin typeface="Times New Roman" pitchFamily="18" charset="0"/>
                <a:cs typeface="Times New Roman" pitchFamily="18" charset="0"/>
              </a:rPr>
              <a:t>oncosis</a:t>
            </a:r>
            <a:r>
              <a:rPr lang="en-GB" dirty="0" smtClean="0">
                <a:latin typeface="Times New Roman" pitchFamily="18" charset="0"/>
                <a:cs typeface="Times New Roman" pitchFamily="18" charset="0"/>
              </a:rPr>
              <a:t>. </a:t>
            </a:r>
          </a:p>
          <a:p>
            <a:endParaRPr lang="en-GB" dirty="0" smtClean="0">
              <a:latin typeface="Times New Roman" pitchFamily="18" charset="0"/>
              <a:cs typeface="Times New Roman" pitchFamily="18" charset="0"/>
            </a:endParaRPr>
          </a:p>
          <a:p>
            <a:r>
              <a:rPr lang="en-GB" dirty="0" smtClean="0">
                <a:latin typeface="Times New Roman" pitchFamily="18" charset="0"/>
                <a:cs typeface="Times New Roman" pitchFamily="18" charset="0"/>
              </a:rPr>
              <a:t>The rate of death of the mature villous tip </a:t>
            </a:r>
            <a:r>
              <a:rPr lang="en-GB" dirty="0" err="1" smtClean="0">
                <a:latin typeface="Times New Roman" pitchFamily="18" charset="0"/>
                <a:cs typeface="Times New Roman" pitchFamily="18" charset="0"/>
              </a:rPr>
              <a:t>enterocytes</a:t>
            </a:r>
            <a:r>
              <a:rPr lang="en-GB" dirty="0" smtClean="0">
                <a:latin typeface="Times New Roman" pitchFamily="18" charset="0"/>
                <a:cs typeface="Times New Roman" pitchFamily="18" charset="0"/>
              </a:rPr>
              <a:t> exceeds the rate of growth of immature </a:t>
            </a:r>
            <a:r>
              <a:rPr lang="en-GB" dirty="0" err="1" smtClean="0">
                <a:latin typeface="Times New Roman" pitchFamily="18" charset="0"/>
                <a:cs typeface="Times New Roman" pitchFamily="18" charset="0"/>
              </a:rPr>
              <a:t>enterocytes</a:t>
            </a:r>
            <a:r>
              <a:rPr lang="en-GB" dirty="0" smtClean="0">
                <a:latin typeface="Times New Roman" pitchFamily="18" charset="0"/>
                <a:cs typeface="Times New Roman" pitchFamily="18" charset="0"/>
              </a:rPr>
              <a:t> that are regenerated from the stem cells in the crypt, causing villous blunting and thus </a:t>
            </a:r>
            <a:r>
              <a:rPr lang="en-GB" dirty="0" err="1" smtClean="0">
                <a:latin typeface="Times New Roman" pitchFamily="18" charset="0"/>
                <a:cs typeface="Times New Roman" pitchFamily="18" charset="0"/>
              </a:rPr>
              <a:t>malabsorption</a:t>
            </a:r>
            <a:endParaRPr lang="en-GB" dirty="0" smtClean="0">
              <a:latin typeface="Times New Roman" pitchFamily="18" charset="0"/>
              <a:cs typeface="Times New Roman" pitchFamily="18" charset="0"/>
            </a:endParaRP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r>
              <a:rPr lang="en-US" sz="3200" b="1" dirty="0" smtClean="0">
                <a:solidFill>
                  <a:srgbClr val="C00000"/>
                </a:solidFill>
              </a:rPr>
              <a:t>Maintenance of rotaviruses in populations </a:t>
            </a:r>
          </a:p>
        </p:txBody>
      </p:sp>
      <p:sp>
        <p:nvSpPr>
          <p:cNvPr id="14339" name="Rectangle 3"/>
          <p:cNvSpPr>
            <a:spLocks noGrp="1" noChangeArrowheads="1"/>
          </p:cNvSpPr>
          <p:nvPr>
            <p:ph idx="1"/>
          </p:nvPr>
        </p:nvSpPr>
        <p:spPr/>
        <p:txBody>
          <a:bodyPr>
            <a:normAutofit/>
          </a:bodyPr>
          <a:lstStyle/>
          <a:p>
            <a:r>
              <a:rPr lang="en-US" dirty="0" smtClean="0">
                <a:latin typeface="Times New Roman" pitchFamily="18" charset="0"/>
                <a:cs typeface="Times New Roman" pitchFamily="18" charset="0"/>
              </a:rPr>
              <a:t>stable in environment</a:t>
            </a:r>
          </a:p>
          <a:p>
            <a:r>
              <a:rPr lang="en-US" dirty="0" smtClean="0">
                <a:latin typeface="Times New Roman" pitchFamily="18" charset="0"/>
                <a:cs typeface="Times New Roman" pitchFamily="18" charset="0"/>
              </a:rPr>
              <a:t>mucosal antibody more important than systemic antibody</a:t>
            </a:r>
          </a:p>
          <a:p>
            <a:r>
              <a:rPr lang="en-US" dirty="0" smtClean="0">
                <a:latin typeface="Times New Roman" pitchFamily="18" charset="0"/>
                <a:cs typeface="Times New Roman" pitchFamily="18" charset="0"/>
              </a:rPr>
              <a:t>persistence and periodic shedding</a:t>
            </a:r>
          </a:p>
          <a:p>
            <a:endParaRPr lang="en-US" dirty="0" smtClean="0">
              <a:latin typeface="Times New Roman" pitchFamily="18" charset="0"/>
              <a:cs typeface="Times New Roman" pitchFamily="18" charset="0"/>
            </a:endParaRPr>
          </a:p>
          <a:p>
            <a:r>
              <a:rPr lang="en-GB" dirty="0" smtClean="0">
                <a:latin typeface="Times New Roman" pitchFamily="18" charset="0"/>
                <a:cs typeface="Times New Roman" pitchFamily="18" charset="0"/>
              </a:rPr>
              <a:t>Rotavirus is not only a significant cause of </a:t>
            </a:r>
            <a:r>
              <a:rPr lang="en-GB" dirty="0" err="1" smtClean="0">
                <a:latin typeface="Times New Roman" pitchFamily="18" charset="0"/>
                <a:cs typeface="Times New Roman" pitchFamily="18" charset="0"/>
              </a:rPr>
              <a:t>diarrhea</a:t>
            </a:r>
            <a:r>
              <a:rPr lang="en-GB" dirty="0" smtClean="0">
                <a:latin typeface="Times New Roman" pitchFamily="18" charset="0"/>
                <a:cs typeface="Times New Roman" pitchFamily="18" charset="0"/>
              </a:rPr>
              <a:t> in calves but also has </a:t>
            </a:r>
            <a:r>
              <a:rPr lang="en-GB" b="1" dirty="0" err="1" smtClean="0">
                <a:latin typeface="Times New Roman" pitchFamily="18" charset="0"/>
                <a:cs typeface="Times New Roman" pitchFamily="18" charset="0"/>
              </a:rPr>
              <a:t>zoonotic</a:t>
            </a:r>
            <a:r>
              <a:rPr lang="en-GB" b="1" dirty="0" smtClean="0">
                <a:latin typeface="Times New Roman" pitchFamily="18" charset="0"/>
                <a:cs typeface="Times New Roman" pitchFamily="18" charset="0"/>
              </a:rPr>
              <a:t> potential</a:t>
            </a:r>
            <a:endParaRPr lang="en-GB"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19758928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b="1" dirty="0" smtClean="0">
                <a:solidFill>
                  <a:srgbClr val="C00000"/>
                </a:solidFill>
              </a:rPr>
              <a:t>Diagnosis</a:t>
            </a:r>
          </a:p>
        </p:txBody>
      </p:sp>
      <p:sp>
        <p:nvSpPr>
          <p:cNvPr id="15363" name="Rectangle 3"/>
          <p:cNvSpPr>
            <a:spLocks noGrp="1" noChangeArrowheads="1"/>
          </p:cNvSpPr>
          <p:nvPr>
            <p:ph type="body" idx="4294967295"/>
          </p:nvPr>
        </p:nvSpPr>
        <p:spPr>
          <a:xfrm>
            <a:off x="457200" y="1371600"/>
            <a:ext cx="8229600" cy="4530725"/>
          </a:xfrm>
        </p:spPr>
        <p:txBody>
          <a:bodyPr/>
          <a:lstStyle/>
          <a:p>
            <a:r>
              <a:rPr lang="en-US" sz="2800" dirty="0" smtClean="0">
                <a:latin typeface="Times New Roman" pitchFamily="18" charset="0"/>
                <a:cs typeface="Times New Roman" pitchFamily="18" charset="0"/>
              </a:rPr>
              <a:t>Detection of virus in fecal smears by FAT</a:t>
            </a:r>
          </a:p>
          <a:p>
            <a:pPr lvl="1"/>
            <a:r>
              <a:rPr lang="en-US" sz="2400" dirty="0" smtClean="0">
                <a:latin typeface="Times New Roman" pitchFamily="18" charset="0"/>
                <a:ea typeface="ＭＳ Ｐゴシック" charset="-128"/>
                <a:cs typeface="Times New Roman" pitchFamily="18" charset="0"/>
              </a:rPr>
              <a:t>FAT for </a:t>
            </a:r>
            <a:r>
              <a:rPr lang="en-US" sz="2400" dirty="0" err="1" smtClean="0">
                <a:latin typeface="Times New Roman" pitchFamily="18" charset="0"/>
                <a:ea typeface="ＭＳ Ｐゴシック" charset="-128"/>
                <a:cs typeface="Times New Roman" pitchFamily="18" charset="0"/>
              </a:rPr>
              <a:t>GrA</a:t>
            </a:r>
            <a:r>
              <a:rPr lang="en-US" sz="2400" dirty="0" smtClean="0">
                <a:latin typeface="Times New Roman" pitchFamily="18" charset="0"/>
                <a:ea typeface="ＭＳ Ｐゴシック" charset="-128"/>
                <a:cs typeface="Times New Roman" pitchFamily="18" charset="0"/>
              </a:rPr>
              <a:t> </a:t>
            </a:r>
            <a:endParaRPr lang="en-US" sz="2400" b="1" dirty="0" smtClean="0">
              <a:solidFill>
                <a:srgbClr val="FF0000"/>
              </a:solidFill>
              <a:latin typeface="Times New Roman" pitchFamily="18" charset="0"/>
              <a:ea typeface="ＭＳ Ｐゴシック" charset="-128"/>
              <a:cs typeface="Times New Roman" pitchFamily="18" charset="0"/>
            </a:endParaRPr>
          </a:p>
          <a:p>
            <a:pPr lvl="2"/>
            <a:r>
              <a:rPr lang="en-US" sz="2800" dirty="0" smtClean="0">
                <a:latin typeface="Times New Roman" pitchFamily="18" charset="0"/>
                <a:ea typeface="ＭＳ Ｐゴシック" charset="-128"/>
                <a:cs typeface="Times New Roman" pitchFamily="18" charset="0"/>
              </a:rPr>
              <a:t>feces, </a:t>
            </a:r>
          </a:p>
          <a:p>
            <a:pPr lvl="2"/>
            <a:r>
              <a:rPr lang="en-US" sz="2800" dirty="0" smtClean="0">
                <a:latin typeface="Times New Roman" pitchFamily="18" charset="0"/>
                <a:ea typeface="ＭＳ Ｐゴシック" charset="-128"/>
                <a:cs typeface="Times New Roman" pitchFamily="18" charset="0"/>
              </a:rPr>
              <a:t>jejunum, ileum, </a:t>
            </a:r>
          </a:p>
          <a:p>
            <a:r>
              <a:rPr lang="en-US" sz="2800" dirty="0" smtClean="0">
                <a:latin typeface="Times New Roman" pitchFamily="18" charset="0"/>
                <a:cs typeface="Times New Roman" pitchFamily="18" charset="0"/>
              </a:rPr>
              <a:t>EM and immune EM</a:t>
            </a:r>
          </a:p>
          <a:p>
            <a:r>
              <a:rPr lang="en-US" sz="2800" dirty="0" smtClean="0">
                <a:latin typeface="Times New Roman" pitchFamily="18" charset="0"/>
                <a:cs typeface="Times New Roman" pitchFamily="18" charset="0"/>
              </a:rPr>
              <a:t>antigen capture ELISAs (human test for </a:t>
            </a:r>
            <a:r>
              <a:rPr lang="en-US" sz="2800" dirty="0" err="1" smtClean="0">
                <a:latin typeface="Times New Roman" pitchFamily="18" charset="0"/>
                <a:cs typeface="Times New Roman" pitchFamily="18" charset="0"/>
              </a:rPr>
              <a:t>Gr</a:t>
            </a:r>
            <a:r>
              <a:rPr lang="en-US" sz="2800" dirty="0" smtClean="0">
                <a:latin typeface="Times New Roman" pitchFamily="18" charset="0"/>
                <a:cs typeface="Times New Roman" pitchFamily="18" charset="0"/>
              </a:rPr>
              <a:t> A rotaviruses)</a:t>
            </a:r>
          </a:p>
          <a:p>
            <a:pPr lvl="1"/>
            <a:r>
              <a:rPr lang="en-US" sz="2400" dirty="0" smtClean="0">
                <a:latin typeface="Times New Roman" pitchFamily="18" charset="0"/>
                <a:ea typeface="ＭＳ Ｐゴシック" charset="-128"/>
                <a:cs typeface="Times New Roman" pitchFamily="18" charset="0"/>
              </a:rPr>
              <a:t>80 to 95% sensitivity and specificity compared to RT-PCR</a:t>
            </a:r>
          </a:p>
        </p:txBody>
      </p:sp>
    </p:spTree>
    <p:extLst>
      <p:ext uri="{BB962C8B-B14F-4D97-AF65-F5344CB8AC3E}">
        <p14:creationId xmlns="" xmlns:p14="http://schemas.microsoft.com/office/powerpoint/2010/main" val="36838642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a:bodyPr>
          <a:lstStyle/>
          <a:p>
            <a:r>
              <a:rPr lang="en-US" sz="3200" b="1" dirty="0" smtClean="0">
                <a:solidFill>
                  <a:schemeClr val="accent2">
                    <a:lumMod val="75000"/>
                  </a:schemeClr>
                </a:solidFill>
                <a:latin typeface="Arial" pitchFamily="34" charset="0"/>
                <a:cs typeface="Arial" pitchFamily="34" charset="0"/>
              </a:rPr>
              <a:t>EMERGING INFECTIOUS DISEASES</a:t>
            </a:r>
            <a:endParaRPr lang="en-US" sz="3200" b="1"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0" y="990600"/>
            <a:ext cx="9144000" cy="5638800"/>
          </a:xfrm>
        </p:spPr>
        <p:txBody>
          <a:bodyPr>
            <a:normAutofit fontScale="92500"/>
          </a:bodyPr>
          <a:lstStyle/>
          <a:p>
            <a:r>
              <a:rPr lang="en-US" sz="2800" dirty="0" smtClean="0">
                <a:latin typeface="Arial" pitchFamily="34" charset="0"/>
                <a:cs typeface="Arial" pitchFamily="34" charset="0"/>
              </a:rPr>
              <a:t>These are infections that have recently appeared within a population or those whose incidence or geographic range is rapidly increasing or threatens to increase in the near future.</a:t>
            </a:r>
          </a:p>
          <a:p>
            <a:r>
              <a:rPr lang="en-US" sz="2800" b="1" dirty="0" smtClean="0">
                <a:latin typeface="Arial" pitchFamily="34" charset="0"/>
                <a:cs typeface="Arial" pitchFamily="34" charset="0"/>
              </a:rPr>
              <a:t>Causes</a:t>
            </a:r>
            <a:r>
              <a:rPr lang="en-US" sz="2800" dirty="0" smtClean="0">
                <a:latin typeface="Arial" pitchFamily="34" charset="0"/>
                <a:cs typeface="Arial" pitchFamily="34" charset="0"/>
              </a:rPr>
              <a:t>:</a:t>
            </a:r>
          </a:p>
          <a:p>
            <a:r>
              <a:rPr lang="en-US" sz="2800" dirty="0" smtClean="0">
                <a:latin typeface="Arial" pitchFamily="34" charset="0"/>
                <a:cs typeface="Arial" pitchFamily="34" charset="0"/>
              </a:rPr>
              <a:t>Previously undetected or unknown infectious agents</a:t>
            </a:r>
          </a:p>
          <a:p>
            <a:r>
              <a:rPr lang="en-US" sz="2800" dirty="0" smtClean="0">
                <a:latin typeface="Arial" pitchFamily="34" charset="0"/>
                <a:cs typeface="Arial" pitchFamily="34" charset="0"/>
              </a:rPr>
              <a:t>Known agents that have spread to new geographic locations or new populations</a:t>
            </a:r>
          </a:p>
          <a:p>
            <a:r>
              <a:rPr lang="en-US" sz="2800" dirty="0" smtClean="0">
                <a:latin typeface="Arial" pitchFamily="34" charset="0"/>
                <a:cs typeface="Arial" pitchFamily="34" charset="0"/>
              </a:rPr>
              <a:t>Previously known agents whose role in specific diseases has previously gone unrecognized.</a:t>
            </a:r>
          </a:p>
          <a:p>
            <a:pPr algn="just"/>
            <a:r>
              <a:rPr lang="en-US" sz="2800" dirty="0" smtClean="0">
                <a:solidFill>
                  <a:srgbClr val="002060"/>
                </a:solidFill>
                <a:latin typeface="Arial" pitchFamily="34" charset="0"/>
                <a:cs typeface="Arial" pitchFamily="34" charset="0"/>
              </a:rPr>
              <a:t>Newly identified &amp; previously unknown infectious agents that cause public health problems either locally or internationally are called emerging infectious disease</a:t>
            </a:r>
          </a:p>
          <a:p>
            <a:endParaRPr lang="en-US" sz="2800" dirty="0">
              <a:latin typeface="Arial" pitchFamily="34" charset="0"/>
              <a:cs typeface="Arial"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chemeClr val="accent2">
                    <a:lumMod val="75000"/>
                  </a:schemeClr>
                </a:solidFill>
                <a:latin typeface="Arial" pitchFamily="34" charset="0"/>
                <a:cs typeface="Arial" pitchFamily="34" charset="0"/>
              </a:rPr>
              <a:t>Factors in the Emergence or Re-emergence of Infectious Diseases</a:t>
            </a:r>
            <a:br>
              <a:rPr lang="en-US" sz="2800" b="1" dirty="0" smtClean="0">
                <a:solidFill>
                  <a:schemeClr val="accent2">
                    <a:lumMod val="75000"/>
                  </a:schemeClr>
                </a:solidFill>
                <a:latin typeface="Arial" pitchFamily="34" charset="0"/>
                <a:cs typeface="Arial" pitchFamily="34" charset="0"/>
              </a:rPr>
            </a:br>
            <a:endParaRPr lang="en-US" sz="2800" b="1"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For an emerging disease to become established at least two events have to occur – </a:t>
            </a:r>
          </a:p>
          <a:p>
            <a:pPr>
              <a:buNone/>
            </a:pPr>
            <a:r>
              <a:rPr lang="en-US" dirty="0" smtClean="0">
                <a:latin typeface="Times New Roman" pitchFamily="18" charset="0"/>
                <a:cs typeface="Times New Roman" pitchFamily="18" charset="0"/>
              </a:rPr>
              <a:t>(1) the infectious agent has to be introduced into a vulnerable population and</a:t>
            </a:r>
          </a:p>
          <a:p>
            <a:pPr>
              <a:buNone/>
            </a:pPr>
            <a:r>
              <a:rPr lang="en-US" dirty="0" smtClean="0">
                <a:latin typeface="Times New Roman" pitchFamily="18" charset="0"/>
                <a:cs typeface="Times New Roman" pitchFamily="18" charset="0"/>
              </a:rPr>
              <a:t>(2) the agent has to have the ability to spread readily from person-to-person and cause disease. </a:t>
            </a:r>
          </a:p>
          <a:p>
            <a:r>
              <a:rPr lang="en-US" dirty="0" smtClean="0">
                <a:latin typeface="Times New Roman" pitchFamily="18" charset="0"/>
                <a:cs typeface="Times New Roman" pitchFamily="18" charset="0"/>
              </a:rPr>
              <a:t>Mutations </a:t>
            </a:r>
          </a:p>
          <a:p>
            <a:r>
              <a:rPr lang="en-US" dirty="0" smtClean="0">
                <a:latin typeface="Times New Roman" pitchFamily="18" charset="0"/>
                <a:cs typeface="Times New Roman" pitchFamily="18" charset="0"/>
              </a:rPr>
              <a:t> Development of resistance to drugs </a:t>
            </a:r>
          </a:p>
          <a:p>
            <a:r>
              <a:rPr lang="en-US" dirty="0" smtClean="0">
                <a:latin typeface="Times New Roman" pitchFamily="18" charset="0"/>
                <a:cs typeface="Times New Roman" pitchFamily="18" charset="0"/>
              </a:rPr>
              <a:t> Resistance of vectors to pesticides</a:t>
            </a:r>
            <a:endParaRPr lang="en-US" dirty="0">
              <a:latin typeface="Times New Roman" pitchFamily="18" charset="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762000"/>
            <a:ext cx="8534400" cy="5105400"/>
          </a:xfrm>
        </p:spPr>
        <p:txBody>
          <a:bodyPr>
            <a:normAutofit/>
          </a:bodyPr>
          <a:lstStyle/>
          <a:p>
            <a:r>
              <a:rPr lang="en-US" sz="2800" b="1" dirty="0" smtClean="0">
                <a:latin typeface="Times New Roman" pitchFamily="18" charset="0"/>
                <a:cs typeface="Times New Roman" pitchFamily="18" charset="0"/>
              </a:rPr>
              <a:t>Climate change </a:t>
            </a:r>
            <a:r>
              <a:rPr lang="en-US" sz="2800" dirty="0" smtClean="0">
                <a:latin typeface="Times New Roman" pitchFamily="18" charset="0"/>
                <a:cs typeface="Times New Roman" pitchFamily="18" charset="0"/>
              </a:rPr>
              <a:t>is increasingly becoming a concern as a factor in the emergence of infectious diseases.</a:t>
            </a:r>
          </a:p>
          <a:p>
            <a:pPr>
              <a:buNone/>
            </a:pP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As </a:t>
            </a:r>
            <a:r>
              <a:rPr lang="en-US" sz="2800" dirty="0" smtClean="0">
                <a:latin typeface="Times New Roman" pitchFamily="18" charset="0"/>
                <a:cs typeface="Times New Roman" pitchFamily="18" charset="0"/>
              </a:rPr>
              <a:t>Earth's climate warms and habitats are altered, diseases can spread into new geographic areas.</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For example, warming temperatures allow mosquitoes - and the diseases they transmit - to expand their range into regions where they previously have not been </a:t>
            </a:r>
            <a:r>
              <a:rPr lang="en-US" sz="2800" dirty="0" smtClean="0">
                <a:latin typeface="Times New Roman" pitchFamily="18" charset="0"/>
                <a:cs typeface="Times New Roman" pitchFamily="18" charset="0"/>
              </a:rPr>
              <a:t>found</a:t>
            </a:r>
          </a:p>
          <a:p>
            <a:endParaRPr lang="en-GB" sz="2800" b="1" dirty="0" smtClean="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457200"/>
            <a:ext cx="8229600" cy="4525963"/>
          </a:xfrm>
        </p:spPr>
        <p:txBody>
          <a:bodyPr>
            <a:noAutofit/>
          </a:bodyPr>
          <a:lstStyle/>
          <a:p>
            <a:pPr>
              <a:buNone/>
            </a:pPr>
            <a:r>
              <a:rPr lang="en-GB" sz="2400" b="1" dirty="0" smtClean="0">
                <a:latin typeface="Times New Roman" pitchFamily="18" charset="0"/>
                <a:cs typeface="Times New Roman" pitchFamily="18" charset="0"/>
              </a:rPr>
              <a:t>Human Factors</a:t>
            </a:r>
            <a:r>
              <a:rPr lang="en-GB" sz="2400" dirty="0" smtClean="0">
                <a:latin typeface="Times New Roman" pitchFamily="18" charset="0"/>
                <a:cs typeface="Times New Roman" pitchFamily="18" charset="0"/>
              </a:rPr>
              <a:t>:</a:t>
            </a:r>
          </a:p>
          <a:p>
            <a:pPr>
              <a:lnSpc>
                <a:spcPct val="120000"/>
              </a:lnSpc>
            </a:pPr>
            <a:r>
              <a:rPr lang="en-GB" sz="2400" dirty="0" smtClean="0">
                <a:latin typeface="Times New Roman" pitchFamily="18" charset="0"/>
                <a:cs typeface="Times New Roman" pitchFamily="18" charset="0"/>
              </a:rPr>
              <a:t>Population growth</a:t>
            </a:r>
            <a:r>
              <a:rPr lang="en-GB" sz="2400" dirty="0" smtClean="0">
                <a:latin typeface="Times New Roman" pitchFamily="18" charset="0"/>
                <a:cs typeface="Times New Roman" pitchFamily="18" charset="0"/>
              </a:rPr>
              <a:t>,</a:t>
            </a:r>
          </a:p>
          <a:p>
            <a:pPr>
              <a:lnSpc>
                <a:spcPct val="120000"/>
              </a:lnSpc>
            </a:pPr>
            <a:r>
              <a:rPr lang="en-GB" sz="2400" dirty="0" smtClean="0">
                <a:latin typeface="Times New Roman" pitchFamily="18" charset="0"/>
                <a:cs typeface="Times New Roman" pitchFamily="18" charset="0"/>
              </a:rPr>
              <a:t>Urbanization</a:t>
            </a:r>
            <a:r>
              <a:rPr lang="en-GB" sz="2400" dirty="0" smtClean="0">
                <a:latin typeface="Times New Roman" pitchFamily="18" charset="0"/>
                <a:cs typeface="Times New Roman" pitchFamily="18" charset="0"/>
              </a:rPr>
              <a:t>, globalization, </a:t>
            </a:r>
            <a:r>
              <a:rPr lang="en-GB" sz="2400" dirty="0" smtClean="0">
                <a:latin typeface="Times New Roman" pitchFamily="18" charset="0"/>
                <a:cs typeface="Times New Roman" pitchFamily="18" charset="0"/>
              </a:rPr>
              <a:t>and</a:t>
            </a:r>
          </a:p>
          <a:p>
            <a:pPr>
              <a:lnSpc>
                <a:spcPct val="120000"/>
              </a:lnSpc>
            </a:pPr>
            <a:r>
              <a:rPr lang="en-GB" sz="2400" dirty="0" smtClean="0">
                <a:latin typeface="Times New Roman" pitchFamily="18" charset="0"/>
                <a:cs typeface="Times New Roman" pitchFamily="18" charset="0"/>
              </a:rPr>
              <a:t>changes </a:t>
            </a:r>
            <a:r>
              <a:rPr lang="en-GB" sz="2400" dirty="0" smtClean="0">
                <a:latin typeface="Times New Roman" pitchFamily="18" charset="0"/>
                <a:cs typeface="Times New Roman" pitchFamily="18" charset="0"/>
              </a:rPr>
              <a:t>in human </a:t>
            </a:r>
            <a:r>
              <a:rPr lang="en-GB" sz="2400" dirty="0" err="1" smtClean="0">
                <a:latin typeface="Times New Roman" pitchFamily="18" charset="0"/>
                <a:cs typeface="Times New Roman" pitchFamily="18" charset="0"/>
              </a:rPr>
              <a:t>behavior</a:t>
            </a:r>
            <a:r>
              <a:rPr lang="en-GB" sz="2400" dirty="0" smtClean="0">
                <a:latin typeface="Times New Roman" pitchFamily="18" charset="0"/>
                <a:cs typeface="Times New Roman" pitchFamily="18" charset="0"/>
              </a:rPr>
              <a:t> can all contribute to the spread of infectious </a:t>
            </a:r>
            <a:r>
              <a:rPr lang="en-GB" sz="2400" dirty="0" smtClean="0">
                <a:latin typeface="Times New Roman" pitchFamily="18" charset="0"/>
                <a:cs typeface="Times New Roman" pitchFamily="18" charset="0"/>
              </a:rPr>
              <a:t>diseases</a:t>
            </a:r>
            <a:endParaRPr lang="en-GB" sz="2400" b="1" dirty="0" smtClean="0">
              <a:latin typeface="Times New Roman" pitchFamily="18" charset="0"/>
              <a:cs typeface="Times New Roman" pitchFamily="18" charset="0"/>
            </a:endParaRPr>
          </a:p>
          <a:p>
            <a:pPr>
              <a:buNone/>
            </a:pPr>
            <a:endParaRPr lang="en-GB" sz="2400" b="1" dirty="0" smtClean="0">
              <a:latin typeface="Times New Roman" pitchFamily="18" charset="0"/>
              <a:cs typeface="Times New Roman" pitchFamily="18" charset="0"/>
            </a:endParaRPr>
          </a:p>
          <a:p>
            <a:pPr>
              <a:buNone/>
            </a:pPr>
            <a:r>
              <a:rPr lang="en-GB" sz="2400" b="1" dirty="0" smtClean="0">
                <a:latin typeface="Times New Roman" pitchFamily="18" charset="0"/>
                <a:cs typeface="Times New Roman" pitchFamily="18" charset="0"/>
              </a:rPr>
              <a:t>Public </a:t>
            </a:r>
            <a:r>
              <a:rPr lang="en-GB" sz="2400" b="1" dirty="0" smtClean="0">
                <a:latin typeface="Times New Roman" pitchFamily="18" charset="0"/>
                <a:cs typeface="Times New Roman" pitchFamily="18" charset="0"/>
              </a:rPr>
              <a:t>Health Infrastructure:</a:t>
            </a:r>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Weak surveillance systems, </a:t>
            </a:r>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lack </a:t>
            </a:r>
            <a:r>
              <a:rPr lang="en-GB" sz="2400" dirty="0" smtClean="0">
                <a:latin typeface="Times New Roman" pitchFamily="18" charset="0"/>
                <a:cs typeface="Times New Roman" pitchFamily="18" charset="0"/>
              </a:rPr>
              <a:t>of access to healthcare, and </a:t>
            </a:r>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inadequate </a:t>
            </a:r>
            <a:r>
              <a:rPr lang="en-GB" sz="2400" dirty="0" smtClean="0">
                <a:latin typeface="Times New Roman" pitchFamily="18" charset="0"/>
                <a:cs typeface="Times New Roman" pitchFamily="18" charset="0"/>
              </a:rPr>
              <a:t>infection control measures </a:t>
            </a:r>
            <a:endParaRPr lang="en-GB" sz="2400" dirty="0" smtClean="0">
              <a:latin typeface="Times New Roman" pitchFamily="18" charset="0"/>
              <a:cs typeface="Times New Roman" pitchFamily="18" charset="0"/>
            </a:endParaRPr>
          </a:p>
          <a:p>
            <a:pPr>
              <a:buNone/>
            </a:pPr>
            <a:endParaRPr lang="en-GB" sz="2400" dirty="0" smtClean="0">
              <a:latin typeface="Times New Roman" pitchFamily="18" charset="0"/>
              <a:cs typeface="Times New Roman" pitchFamily="18" charset="0"/>
            </a:endParaRPr>
          </a:p>
          <a:p>
            <a:pPr>
              <a:buNone/>
            </a:pPr>
            <a:r>
              <a:rPr lang="en-GB"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fontScale="90000"/>
          </a:bodyPr>
          <a:lstStyle/>
          <a:p>
            <a:r>
              <a:rPr lang="en-US" sz="3600" b="1" dirty="0" err="1" smtClean="0">
                <a:solidFill>
                  <a:schemeClr val="accent2">
                    <a:lumMod val="75000"/>
                  </a:schemeClr>
                </a:solidFill>
                <a:latin typeface="Arial" pitchFamily="34" charset="0"/>
                <a:cs typeface="Arial" pitchFamily="34" charset="0"/>
              </a:rPr>
              <a:t>Zoonotic</a:t>
            </a:r>
            <a:r>
              <a:rPr lang="en-US" sz="3600" b="1" dirty="0" smtClean="0">
                <a:solidFill>
                  <a:schemeClr val="accent2">
                    <a:lumMod val="75000"/>
                  </a:schemeClr>
                </a:solidFill>
                <a:latin typeface="Arial" pitchFamily="34" charset="0"/>
                <a:cs typeface="Arial" pitchFamily="34" charset="0"/>
              </a:rPr>
              <a:t> potential of animal pathogens</a:t>
            </a:r>
            <a:endParaRPr lang="en-US" sz="3600"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0" y="990600"/>
            <a:ext cx="8991600" cy="5257800"/>
          </a:xfrm>
        </p:spPr>
        <p:txBody>
          <a:bodyPr>
            <a:noAutofit/>
          </a:bodyPr>
          <a:lstStyle/>
          <a:p>
            <a:r>
              <a:rPr lang="en-US" sz="2800" dirty="0" smtClean="0">
                <a:latin typeface="Times New Roman" pitchFamily="18" charset="0"/>
                <a:cs typeface="Times New Roman" pitchFamily="18" charset="0"/>
              </a:rPr>
              <a:t>Many emerging diseases arise when infectious agents in animals are passed to humans </a:t>
            </a:r>
          </a:p>
          <a:p>
            <a:r>
              <a:rPr lang="en-US" sz="2800" dirty="0" smtClean="0">
                <a:latin typeface="Times New Roman" pitchFamily="18" charset="0"/>
                <a:cs typeface="Times New Roman" pitchFamily="18" charset="0"/>
              </a:rPr>
              <a:t>60% of human pathogens are </a:t>
            </a:r>
            <a:r>
              <a:rPr lang="en-US" sz="2800" dirty="0" err="1" smtClean="0">
                <a:latin typeface="Times New Roman" pitchFamily="18" charset="0"/>
                <a:cs typeface="Times New Roman" pitchFamily="18" charset="0"/>
              </a:rPr>
              <a:t>zoonotic</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80% of animal pathogens are multi-host</a:t>
            </a:r>
          </a:p>
          <a:p>
            <a:r>
              <a:rPr lang="en-US" sz="2800" dirty="0" smtClean="0">
                <a:latin typeface="Times New Roman" pitchFamily="18" charset="0"/>
                <a:cs typeface="Times New Roman" pitchFamily="18" charset="0"/>
              </a:rPr>
              <a:t>75% of emerging diseases are </a:t>
            </a:r>
            <a:r>
              <a:rPr lang="en-US" sz="2800" dirty="0" err="1" smtClean="0">
                <a:latin typeface="Times New Roman" pitchFamily="18" charset="0"/>
                <a:cs typeface="Times New Roman" pitchFamily="18" charset="0"/>
              </a:rPr>
              <a:t>zoonotic</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80% of agents having a potential bioterrorist use are </a:t>
            </a:r>
            <a:r>
              <a:rPr lang="en-US" sz="2800" dirty="0" err="1" smtClean="0">
                <a:latin typeface="Times New Roman" pitchFamily="18" charset="0"/>
                <a:cs typeface="Times New Roman" pitchFamily="18" charset="0"/>
              </a:rPr>
              <a:t>zoonotic</a:t>
            </a:r>
            <a:r>
              <a:rPr lang="en-US" sz="2800" dirty="0" smtClean="0">
                <a:latin typeface="Times New Roman" pitchFamily="18" charset="0"/>
                <a:cs typeface="Times New Roman" pitchFamily="18" charset="0"/>
              </a:rPr>
              <a:t> pathogens</a:t>
            </a:r>
          </a:p>
          <a:p>
            <a:r>
              <a:rPr lang="en-US" sz="2800" dirty="0" smtClean="0">
                <a:latin typeface="Times New Roman" pitchFamily="18" charset="0"/>
                <a:cs typeface="Times New Roman" pitchFamily="18" charset="0"/>
              </a:rPr>
              <a:t>Nearly all emerging (new) human diseases originate from animal reservoirs</a:t>
            </a:r>
          </a:p>
          <a:p>
            <a:r>
              <a:rPr lang="en-US" sz="2800" dirty="0" smtClean="0">
                <a:latin typeface="Times New Roman" pitchFamily="18" charset="0"/>
                <a:cs typeface="Times New Roman" pitchFamily="18" charset="0"/>
              </a:rPr>
              <a:t>Diseases can now spread faster across the world than the average incubation period of most diseases</a:t>
            </a:r>
            <a:endParaRPr lang="en-US" sz="2800" dirty="0">
              <a:latin typeface="Times New Roman" pitchFamily="18" charset="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chemeClr val="accent2">
                    <a:lumMod val="75000"/>
                  </a:schemeClr>
                </a:solidFill>
                <a:latin typeface="Arial" pitchFamily="34" charset="0"/>
                <a:cs typeface="Arial" pitchFamily="34" charset="0"/>
              </a:rPr>
              <a:t>RE‐EMERGING INFECTIOUS DISEASE</a:t>
            </a:r>
            <a:endParaRPr lang="en-US" sz="3600" b="1"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p:txBody>
          <a:bodyPr>
            <a:normAutofit lnSpcReduction="10000"/>
          </a:bodyPr>
          <a:lstStyle/>
          <a:p>
            <a:r>
              <a:rPr lang="en-US" sz="2800" dirty="0" smtClean="0">
                <a:latin typeface="Times New Roman" pitchFamily="18" charset="0"/>
                <a:cs typeface="Times New Roman" pitchFamily="18" charset="0"/>
              </a:rPr>
              <a:t>Infectious agents that have been known for some time, had fallen to such low levels that they were no longer considered public health problems &amp; are now showing upward trends in incidence or prevalence worldwide or have appeared in areas where they were not previously found.</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Re-emergence </a:t>
            </a:r>
            <a:r>
              <a:rPr lang="en-US" sz="2800" dirty="0" smtClean="0">
                <a:latin typeface="Times New Roman" pitchFamily="18" charset="0"/>
                <a:cs typeface="Times New Roman" pitchFamily="18" charset="0"/>
              </a:rPr>
              <a:t>of agents whose incidence of disease had significantly declined in the past, but whose incidence of disease has reappeared.</a:t>
            </a:r>
            <a:endParaRPr lang="en-US" sz="2800" dirty="0">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81000" y="304800"/>
            <a:ext cx="4040188" cy="639762"/>
          </a:xfrm>
        </p:spPr>
        <p:txBody>
          <a:bodyPr/>
          <a:lstStyle/>
          <a:p>
            <a:r>
              <a:rPr lang="en-US" dirty="0" smtClean="0">
                <a:solidFill>
                  <a:schemeClr val="accent2">
                    <a:lumMod val="75000"/>
                  </a:schemeClr>
                </a:solidFill>
              </a:rPr>
              <a:t>Emerging Virus</a:t>
            </a:r>
            <a:endParaRPr lang="en-US" dirty="0">
              <a:solidFill>
                <a:schemeClr val="accent2">
                  <a:lumMod val="75000"/>
                </a:schemeClr>
              </a:solidFill>
            </a:endParaRPr>
          </a:p>
        </p:txBody>
      </p:sp>
      <p:sp>
        <p:nvSpPr>
          <p:cNvPr id="6" name="Content Placeholder 5"/>
          <p:cNvSpPr>
            <a:spLocks noGrp="1"/>
          </p:cNvSpPr>
          <p:nvPr>
            <p:ph sz="half" idx="2"/>
          </p:nvPr>
        </p:nvSpPr>
        <p:spPr>
          <a:xfrm>
            <a:off x="457200" y="1219200"/>
            <a:ext cx="4040188" cy="4906963"/>
          </a:xfrm>
        </p:spPr>
        <p:txBody>
          <a:bodyPr>
            <a:normAutofit fontScale="92500" lnSpcReduction="20000"/>
          </a:bodyPr>
          <a:lstStyle/>
          <a:p>
            <a:r>
              <a:rPr lang="en-US" dirty="0" smtClean="0"/>
              <a:t>2001 - </a:t>
            </a:r>
            <a:r>
              <a:rPr lang="en-US" dirty="0" err="1" smtClean="0"/>
              <a:t>Nipah</a:t>
            </a:r>
            <a:r>
              <a:rPr lang="en-US" dirty="0" smtClean="0"/>
              <a:t> Virus(Bangladesh, India) </a:t>
            </a:r>
          </a:p>
          <a:p>
            <a:r>
              <a:rPr lang="en-US" dirty="0" smtClean="0"/>
              <a:t>2003 - SARS </a:t>
            </a:r>
            <a:r>
              <a:rPr lang="en-US" dirty="0" err="1" smtClean="0"/>
              <a:t>Coronavirus</a:t>
            </a:r>
            <a:r>
              <a:rPr lang="en-US" dirty="0" smtClean="0"/>
              <a:t> </a:t>
            </a:r>
          </a:p>
          <a:p>
            <a:r>
              <a:rPr lang="en-US" dirty="0" smtClean="0"/>
              <a:t>2004 - Avian Influenza(H5N1), Thailand, Vietnam </a:t>
            </a:r>
          </a:p>
          <a:p>
            <a:r>
              <a:rPr lang="en-US" dirty="0" smtClean="0"/>
              <a:t>2006 - Influenza H5N1(Egypt, Iraq) - New Human Rhinovirus(USA) </a:t>
            </a:r>
          </a:p>
          <a:p>
            <a:r>
              <a:rPr lang="en-US" dirty="0" smtClean="0"/>
              <a:t>2007 - </a:t>
            </a:r>
            <a:r>
              <a:rPr lang="en-US" dirty="0" err="1" smtClean="0"/>
              <a:t>Nipah</a:t>
            </a:r>
            <a:r>
              <a:rPr lang="en-US" dirty="0" smtClean="0"/>
              <a:t> Virus(Bangladesh) - LCM like Virus(Australia) - </a:t>
            </a:r>
            <a:r>
              <a:rPr lang="en-US" dirty="0" err="1" smtClean="0"/>
              <a:t>Polyoma</a:t>
            </a:r>
            <a:r>
              <a:rPr lang="en-US" dirty="0" smtClean="0"/>
              <a:t> like virus(Australia) </a:t>
            </a:r>
          </a:p>
          <a:p>
            <a:r>
              <a:rPr lang="en-US" dirty="0" smtClean="0"/>
              <a:t>2009 - Influenza H1N1 </a:t>
            </a:r>
          </a:p>
          <a:p>
            <a:r>
              <a:rPr lang="en-US" dirty="0" smtClean="0"/>
              <a:t>2011 - Crimean Congo Hemorrhagic Fever (India</a:t>
            </a:r>
            <a:r>
              <a:rPr lang="en-US" dirty="0" smtClean="0"/>
              <a:t>)</a:t>
            </a:r>
          </a:p>
          <a:p>
            <a:r>
              <a:rPr lang="en-US" dirty="0" err="1" smtClean="0"/>
              <a:t>Covid</a:t>
            </a:r>
            <a:r>
              <a:rPr lang="en-US" dirty="0" smtClean="0"/>
              <a:t> -19</a:t>
            </a:r>
            <a:endParaRPr lang="en-US" dirty="0"/>
          </a:p>
        </p:txBody>
      </p:sp>
      <p:sp>
        <p:nvSpPr>
          <p:cNvPr id="7" name="Text Placeholder 6"/>
          <p:cNvSpPr>
            <a:spLocks noGrp="1"/>
          </p:cNvSpPr>
          <p:nvPr>
            <p:ph type="body" sz="quarter" idx="3"/>
          </p:nvPr>
        </p:nvSpPr>
        <p:spPr>
          <a:xfrm>
            <a:off x="4876800" y="304800"/>
            <a:ext cx="4041775" cy="639762"/>
          </a:xfrm>
        </p:spPr>
        <p:txBody>
          <a:bodyPr/>
          <a:lstStyle/>
          <a:p>
            <a:r>
              <a:rPr lang="en-US" dirty="0" smtClean="0">
                <a:solidFill>
                  <a:schemeClr val="accent2">
                    <a:lumMod val="75000"/>
                  </a:schemeClr>
                </a:solidFill>
              </a:rPr>
              <a:t>Re-emerging Virus</a:t>
            </a:r>
            <a:endParaRPr lang="en-US" dirty="0">
              <a:solidFill>
                <a:schemeClr val="accent2">
                  <a:lumMod val="75000"/>
                </a:schemeClr>
              </a:solidFill>
            </a:endParaRPr>
          </a:p>
        </p:txBody>
      </p:sp>
      <p:sp>
        <p:nvSpPr>
          <p:cNvPr id="8" name="Content Placeholder 7"/>
          <p:cNvSpPr>
            <a:spLocks noGrp="1"/>
          </p:cNvSpPr>
          <p:nvPr>
            <p:ph sz="quarter" idx="4"/>
          </p:nvPr>
        </p:nvSpPr>
        <p:spPr>
          <a:xfrm>
            <a:off x="4645025" y="1219200"/>
            <a:ext cx="4041775" cy="4906963"/>
          </a:xfrm>
        </p:spPr>
        <p:txBody>
          <a:bodyPr/>
          <a:lstStyle/>
          <a:p>
            <a:r>
              <a:rPr lang="en-US" dirty="0" smtClean="0"/>
              <a:t>Ebola </a:t>
            </a:r>
          </a:p>
          <a:p>
            <a:r>
              <a:rPr lang="en-US" dirty="0" smtClean="0"/>
              <a:t> Marburg </a:t>
            </a:r>
          </a:p>
          <a:p>
            <a:r>
              <a:rPr lang="en-US" dirty="0" smtClean="0"/>
              <a:t>Dengue </a:t>
            </a:r>
          </a:p>
          <a:p>
            <a:r>
              <a:rPr lang="en-US" dirty="0" smtClean="0"/>
              <a:t> Yellow fever  </a:t>
            </a:r>
          </a:p>
          <a:p>
            <a:r>
              <a:rPr lang="en-US" dirty="0" err="1" smtClean="0"/>
              <a:t>Chikungunya</a:t>
            </a:r>
            <a:r>
              <a:rPr lang="en-US" dirty="0" smtClean="0"/>
              <a:t> </a:t>
            </a:r>
          </a:p>
          <a:p>
            <a:r>
              <a:rPr lang="en-US" dirty="0" smtClean="0"/>
              <a:t> </a:t>
            </a:r>
            <a:r>
              <a:rPr lang="en-US" dirty="0" err="1" smtClean="0"/>
              <a:t>Chandipura</a:t>
            </a:r>
            <a:r>
              <a:rPr lang="en-US" dirty="0" smtClean="0"/>
              <a:t> </a:t>
            </a:r>
          </a:p>
          <a:p>
            <a:r>
              <a:rPr lang="en-US" dirty="0" smtClean="0"/>
              <a:t> West Nile Virus </a:t>
            </a:r>
          </a:p>
          <a:p>
            <a:r>
              <a:rPr lang="en-US" dirty="0" smtClean="0"/>
              <a:t> Rift Valley Fever </a:t>
            </a:r>
          </a:p>
          <a:p>
            <a:r>
              <a:rPr lang="en-US" dirty="0" smtClean="0"/>
              <a:t> Human Monkey Pox</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228600"/>
            <a:ext cx="4040188" cy="639762"/>
          </a:xfrm>
        </p:spPr>
        <p:txBody>
          <a:bodyPr/>
          <a:lstStyle/>
          <a:p>
            <a:r>
              <a:rPr lang="en-US" dirty="0" smtClean="0">
                <a:solidFill>
                  <a:schemeClr val="accent2">
                    <a:lumMod val="75000"/>
                  </a:schemeClr>
                </a:solidFill>
              </a:rPr>
              <a:t>Emerging Bacteria</a:t>
            </a:r>
            <a:endParaRPr lang="en-US" dirty="0">
              <a:solidFill>
                <a:schemeClr val="accent2">
                  <a:lumMod val="75000"/>
                </a:schemeClr>
              </a:solidFill>
            </a:endParaRPr>
          </a:p>
        </p:txBody>
      </p:sp>
      <p:sp>
        <p:nvSpPr>
          <p:cNvPr id="4" name="Content Placeholder 3"/>
          <p:cNvSpPr>
            <a:spLocks noGrp="1"/>
          </p:cNvSpPr>
          <p:nvPr>
            <p:ph sz="half" idx="2"/>
          </p:nvPr>
        </p:nvSpPr>
        <p:spPr>
          <a:xfrm>
            <a:off x="457200" y="914400"/>
            <a:ext cx="4040188" cy="5211763"/>
          </a:xfrm>
        </p:spPr>
        <p:txBody>
          <a:bodyPr/>
          <a:lstStyle/>
          <a:p>
            <a:r>
              <a:rPr lang="en-US" dirty="0" smtClean="0"/>
              <a:t>Drug resistant MTB- Both MDR and XDR </a:t>
            </a:r>
          </a:p>
          <a:p>
            <a:r>
              <a:rPr lang="en-US" dirty="0" smtClean="0"/>
              <a:t> </a:t>
            </a:r>
            <a:r>
              <a:rPr lang="en-US" dirty="0" smtClean="0"/>
              <a:t>L</a:t>
            </a:r>
            <a:r>
              <a:rPr lang="en-US" dirty="0" smtClean="0"/>
              <a:t>yme disease </a:t>
            </a:r>
          </a:p>
          <a:p>
            <a:r>
              <a:rPr lang="en-US" dirty="0" smtClean="0"/>
              <a:t>MRSA </a:t>
            </a:r>
            <a:endParaRPr lang="en-US" dirty="0" smtClean="0"/>
          </a:p>
          <a:p>
            <a:r>
              <a:rPr lang="en-US" dirty="0" smtClean="0"/>
              <a:t>VRE </a:t>
            </a:r>
            <a:r>
              <a:rPr lang="en-US" dirty="0" smtClean="0"/>
              <a:t>(</a:t>
            </a:r>
            <a:r>
              <a:rPr lang="en-US" dirty="0" err="1" smtClean="0"/>
              <a:t>Vancomycin</a:t>
            </a:r>
            <a:r>
              <a:rPr lang="en-US" dirty="0" smtClean="0"/>
              <a:t>-resistant </a:t>
            </a:r>
            <a:r>
              <a:rPr lang="en-US" dirty="0" err="1" smtClean="0"/>
              <a:t>enterococcus</a:t>
            </a:r>
            <a:r>
              <a:rPr lang="en-US" dirty="0" smtClean="0"/>
              <a:t>) </a:t>
            </a:r>
          </a:p>
          <a:p>
            <a:r>
              <a:rPr lang="en-US" dirty="0" smtClean="0"/>
              <a:t> </a:t>
            </a:r>
            <a:r>
              <a:rPr lang="en-US" i="1" dirty="0" smtClean="0"/>
              <a:t>E. coli </a:t>
            </a:r>
            <a:r>
              <a:rPr lang="en-US" dirty="0" smtClean="0"/>
              <a:t>O104: H4</a:t>
            </a:r>
          </a:p>
          <a:p>
            <a:r>
              <a:rPr lang="en-US" dirty="0" smtClean="0"/>
              <a:t> </a:t>
            </a:r>
            <a:r>
              <a:rPr lang="en-US" dirty="0" err="1" smtClean="0"/>
              <a:t>Stenotrophomonas</a:t>
            </a:r>
            <a:r>
              <a:rPr lang="en-US" dirty="0" smtClean="0"/>
              <a:t> </a:t>
            </a:r>
            <a:r>
              <a:rPr lang="en-US" dirty="0" smtClean="0"/>
              <a:t>spp. </a:t>
            </a:r>
          </a:p>
          <a:p>
            <a:r>
              <a:rPr lang="en-US" dirty="0" smtClean="0"/>
              <a:t>Extended </a:t>
            </a:r>
            <a:r>
              <a:rPr lang="en-US" dirty="0" smtClean="0"/>
              <a:t>spectrum </a:t>
            </a:r>
            <a:r>
              <a:rPr lang="en-US" dirty="0" err="1" smtClean="0"/>
              <a:t>betalactamase</a:t>
            </a:r>
            <a:r>
              <a:rPr lang="en-US" dirty="0" smtClean="0"/>
              <a:t> producing pathogens</a:t>
            </a:r>
            <a:endParaRPr lang="en-US" dirty="0"/>
          </a:p>
        </p:txBody>
      </p:sp>
      <p:sp>
        <p:nvSpPr>
          <p:cNvPr id="5" name="Text Placeholder 4"/>
          <p:cNvSpPr>
            <a:spLocks noGrp="1"/>
          </p:cNvSpPr>
          <p:nvPr>
            <p:ph type="body" sz="quarter" idx="3"/>
          </p:nvPr>
        </p:nvSpPr>
        <p:spPr>
          <a:xfrm>
            <a:off x="4648200" y="152400"/>
            <a:ext cx="4041775" cy="639762"/>
          </a:xfrm>
        </p:spPr>
        <p:txBody>
          <a:bodyPr/>
          <a:lstStyle/>
          <a:p>
            <a:r>
              <a:rPr lang="en-US" dirty="0" smtClean="0">
                <a:solidFill>
                  <a:schemeClr val="accent2">
                    <a:lumMod val="75000"/>
                  </a:schemeClr>
                </a:solidFill>
              </a:rPr>
              <a:t>Re-emerging Bacteria</a:t>
            </a:r>
            <a:endParaRPr lang="en-US" dirty="0">
              <a:solidFill>
                <a:schemeClr val="accent2">
                  <a:lumMod val="75000"/>
                </a:schemeClr>
              </a:solidFill>
            </a:endParaRPr>
          </a:p>
        </p:txBody>
      </p:sp>
      <p:sp>
        <p:nvSpPr>
          <p:cNvPr id="6" name="Content Placeholder 5"/>
          <p:cNvSpPr>
            <a:spLocks noGrp="1"/>
          </p:cNvSpPr>
          <p:nvPr>
            <p:ph sz="quarter" idx="4"/>
          </p:nvPr>
        </p:nvSpPr>
        <p:spPr>
          <a:xfrm>
            <a:off x="4645025" y="990600"/>
            <a:ext cx="4041775" cy="5135563"/>
          </a:xfrm>
        </p:spPr>
        <p:txBody>
          <a:bodyPr>
            <a:normAutofit lnSpcReduction="10000"/>
          </a:bodyPr>
          <a:lstStyle/>
          <a:p>
            <a:r>
              <a:rPr lang="en-US" dirty="0" smtClean="0"/>
              <a:t>TB</a:t>
            </a:r>
          </a:p>
          <a:p>
            <a:r>
              <a:rPr lang="en-US" dirty="0" err="1" smtClean="0"/>
              <a:t>Pertussis</a:t>
            </a:r>
            <a:r>
              <a:rPr lang="en-US" dirty="0" smtClean="0"/>
              <a:t> </a:t>
            </a:r>
          </a:p>
          <a:p>
            <a:r>
              <a:rPr lang="en-US" dirty="0" smtClean="0"/>
              <a:t>Cholera</a:t>
            </a:r>
            <a:r>
              <a:rPr lang="en-US" dirty="0" smtClean="0"/>
              <a:t>, </a:t>
            </a:r>
          </a:p>
          <a:p>
            <a:r>
              <a:rPr lang="en-US" i="1" dirty="0" smtClean="0"/>
              <a:t>H. pylori</a:t>
            </a:r>
            <a:r>
              <a:rPr lang="en-US" dirty="0" smtClean="0"/>
              <a:t>,</a:t>
            </a:r>
          </a:p>
          <a:p>
            <a:r>
              <a:rPr lang="en-US" dirty="0" smtClean="0"/>
              <a:t> Neonatal tetanus</a:t>
            </a:r>
          </a:p>
          <a:p>
            <a:r>
              <a:rPr lang="en-US" dirty="0" smtClean="0"/>
              <a:t> </a:t>
            </a:r>
            <a:r>
              <a:rPr lang="en-US" i="1" dirty="0" err="1" smtClean="0"/>
              <a:t>Yersinia</a:t>
            </a:r>
            <a:r>
              <a:rPr lang="en-US" i="1" dirty="0" smtClean="0"/>
              <a:t> </a:t>
            </a:r>
            <a:r>
              <a:rPr lang="en-US" i="1" dirty="0" err="1" smtClean="0"/>
              <a:t>pestis</a:t>
            </a:r>
            <a:r>
              <a:rPr lang="en-US" i="1" dirty="0" smtClean="0"/>
              <a:t> </a:t>
            </a:r>
          </a:p>
          <a:p>
            <a:r>
              <a:rPr lang="en-US" dirty="0" err="1" smtClean="0"/>
              <a:t>Rickettsia</a:t>
            </a:r>
            <a:r>
              <a:rPr lang="en-US" dirty="0" smtClean="0"/>
              <a:t> </a:t>
            </a:r>
          </a:p>
          <a:p>
            <a:r>
              <a:rPr lang="en-US" i="1" dirty="0" smtClean="0"/>
              <a:t> Cl. </a:t>
            </a:r>
            <a:r>
              <a:rPr lang="en-US" i="1" dirty="0" err="1" smtClean="0"/>
              <a:t>difficile</a:t>
            </a:r>
            <a:r>
              <a:rPr lang="en-US" i="1" dirty="0" smtClean="0"/>
              <a:t> </a:t>
            </a:r>
          </a:p>
          <a:p>
            <a:r>
              <a:rPr lang="en-US" dirty="0" smtClean="0"/>
              <a:t> </a:t>
            </a:r>
            <a:r>
              <a:rPr lang="en-US" i="1" dirty="0" smtClean="0"/>
              <a:t>Cl. </a:t>
            </a:r>
            <a:r>
              <a:rPr lang="en-US" i="1" dirty="0" err="1" smtClean="0"/>
              <a:t>botulinum</a:t>
            </a:r>
            <a:r>
              <a:rPr lang="en-US" i="1" dirty="0" smtClean="0"/>
              <a:t> </a:t>
            </a:r>
          </a:p>
          <a:p>
            <a:r>
              <a:rPr lang="en-US" i="1" dirty="0" smtClean="0"/>
              <a:t>Bacillus </a:t>
            </a:r>
            <a:r>
              <a:rPr lang="en-US" i="1" dirty="0" err="1" smtClean="0"/>
              <a:t>anthracis</a:t>
            </a:r>
            <a:r>
              <a:rPr lang="en-US" i="1" dirty="0" smtClean="0"/>
              <a:t> </a:t>
            </a:r>
            <a:r>
              <a:rPr lang="en-US" dirty="0" smtClean="0"/>
              <a:t>(due to </a:t>
            </a:r>
            <a:r>
              <a:rPr lang="en-US" dirty="0" err="1" smtClean="0"/>
              <a:t>bioterrorim</a:t>
            </a:r>
            <a:r>
              <a:rPr lang="en-US" dirty="0" smtClean="0"/>
              <a:t>) </a:t>
            </a:r>
          </a:p>
          <a:p>
            <a:r>
              <a:rPr lang="en-US" dirty="0" err="1" smtClean="0"/>
              <a:t>Fransciella</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381000"/>
            <a:ext cx="4040188" cy="639762"/>
          </a:xfrm>
        </p:spPr>
        <p:txBody>
          <a:bodyPr/>
          <a:lstStyle/>
          <a:p>
            <a:r>
              <a:rPr lang="en-US" dirty="0" smtClean="0">
                <a:solidFill>
                  <a:schemeClr val="accent2">
                    <a:lumMod val="75000"/>
                  </a:schemeClr>
                </a:solidFill>
              </a:rPr>
              <a:t>Emerging Fungi</a:t>
            </a:r>
            <a:endParaRPr lang="en-US" dirty="0">
              <a:solidFill>
                <a:schemeClr val="accent2">
                  <a:lumMod val="75000"/>
                </a:schemeClr>
              </a:solidFill>
            </a:endParaRPr>
          </a:p>
        </p:txBody>
      </p:sp>
      <p:sp>
        <p:nvSpPr>
          <p:cNvPr id="4" name="Content Placeholder 3"/>
          <p:cNvSpPr>
            <a:spLocks noGrp="1"/>
          </p:cNvSpPr>
          <p:nvPr>
            <p:ph sz="half" idx="2"/>
          </p:nvPr>
        </p:nvSpPr>
        <p:spPr>
          <a:xfrm>
            <a:off x="457200" y="1143000"/>
            <a:ext cx="4040188" cy="4983163"/>
          </a:xfrm>
        </p:spPr>
        <p:txBody>
          <a:bodyPr/>
          <a:lstStyle/>
          <a:p>
            <a:pPr>
              <a:buNone/>
            </a:pPr>
            <a:r>
              <a:rPr lang="en-US" dirty="0" smtClean="0"/>
              <a:t>Non </a:t>
            </a:r>
            <a:r>
              <a:rPr lang="en-US" dirty="0" err="1" smtClean="0"/>
              <a:t>albicans</a:t>
            </a:r>
            <a:r>
              <a:rPr lang="en-US" dirty="0" smtClean="0"/>
              <a:t> Candida</a:t>
            </a:r>
          </a:p>
          <a:p>
            <a:pPr>
              <a:buNone/>
            </a:pPr>
            <a:r>
              <a:rPr lang="en-US" dirty="0" smtClean="0"/>
              <a:t> • </a:t>
            </a:r>
            <a:r>
              <a:rPr lang="en-US" i="1" dirty="0" err="1" smtClean="0"/>
              <a:t>Penicillium</a:t>
            </a:r>
            <a:r>
              <a:rPr lang="en-US" i="1" dirty="0" smtClean="0"/>
              <a:t> </a:t>
            </a:r>
            <a:r>
              <a:rPr lang="en-US" i="1" dirty="0" err="1" smtClean="0"/>
              <a:t>marneffi</a:t>
            </a:r>
            <a:r>
              <a:rPr lang="en-US" i="1" dirty="0" smtClean="0"/>
              <a:t> </a:t>
            </a:r>
          </a:p>
          <a:p>
            <a:pPr>
              <a:buNone/>
            </a:pPr>
            <a:r>
              <a:rPr lang="en-US" dirty="0" smtClean="0"/>
              <a:t>• </a:t>
            </a:r>
            <a:r>
              <a:rPr lang="en-US" i="1" dirty="0" err="1" smtClean="0"/>
              <a:t>Apophysomyces</a:t>
            </a:r>
            <a:r>
              <a:rPr lang="en-US" i="1" dirty="0" smtClean="0"/>
              <a:t> spp.</a:t>
            </a:r>
          </a:p>
          <a:p>
            <a:pPr>
              <a:buNone/>
            </a:pPr>
            <a:r>
              <a:rPr lang="en-US" dirty="0" smtClean="0"/>
              <a:t> • </a:t>
            </a:r>
            <a:r>
              <a:rPr lang="en-US" i="1" dirty="0" err="1" smtClean="0"/>
              <a:t>Fusarium</a:t>
            </a:r>
            <a:r>
              <a:rPr lang="en-US" i="1" dirty="0" smtClean="0"/>
              <a:t> </a:t>
            </a:r>
          </a:p>
          <a:p>
            <a:pPr>
              <a:buNone/>
            </a:pPr>
            <a:r>
              <a:rPr lang="en-US" dirty="0" smtClean="0"/>
              <a:t>• </a:t>
            </a:r>
            <a:r>
              <a:rPr lang="en-US" dirty="0" err="1" smtClean="0"/>
              <a:t>Trichosporon</a:t>
            </a:r>
            <a:r>
              <a:rPr lang="en-US" dirty="0" smtClean="0"/>
              <a:t> </a:t>
            </a:r>
          </a:p>
          <a:p>
            <a:pPr>
              <a:buNone/>
            </a:pPr>
            <a:r>
              <a:rPr lang="en-US" dirty="0" smtClean="0"/>
              <a:t>• </a:t>
            </a:r>
            <a:r>
              <a:rPr lang="en-US" dirty="0" err="1" smtClean="0"/>
              <a:t>Curvularia</a:t>
            </a:r>
            <a:r>
              <a:rPr lang="en-US" dirty="0" smtClean="0"/>
              <a:t>, </a:t>
            </a:r>
          </a:p>
          <a:p>
            <a:pPr>
              <a:buNone/>
            </a:pPr>
            <a:r>
              <a:rPr lang="en-US" dirty="0" err="1" smtClean="0"/>
              <a:t>Alternaria</a:t>
            </a:r>
            <a:endParaRPr lang="en-US" dirty="0"/>
          </a:p>
        </p:txBody>
      </p:sp>
      <p:sp>
        <p:nvSpPr>
          <p:cNvPr id="5" name="Text Placeholder 4"/>
          <p:cNvSpPr>
            <a:spLocks noGrp="1"/>
          </p:cNvSpPr>
          <p:nvPr>
            <p:ph type="body" sz="quarter" idx="3"/>
          </p:nvPr>
        </p:nvSpPr>
        <p:spPr>
          <a:xfrm>
            <a:off x="4876800" y="457200"/>
            <a:ext cx="4041775" cy="639762"/>
          </a:xfrm>
        </p:spPr>
        <p:txBody>
          <a:bodyPr/>
          <a:lstStyle/>
          <a:p>
            <a:r>
              <a:rPr lang="en-US" dirty="0" smtClean="0">
                <a:solidFill>
                  <a:schemeClr val="accent2">
                    <a:lumMod val="75000"/>
                  </a:schemeClr>
                </a:solidFill>
              </a:rPr>
              <a:t>Re-emerging fungi</a:t>
            </a:r>
            <a:endParaRPr lang="en-US" dirty="0">
              <a:solidFill>
                <a:schemeClr val="accent2">
                  <a:lumMod val="75000"/>
                </a:schemeClr>
              </a:solidFill>
            </a:endParaRPr>
          </a:p>
        </p:txBody>
      </p:sp>
      <p:sp>
        <p:nvSpPr>
          <p:cNvPr id="6" name="Content Placeholder 5"/>
          <p:cNvSpPr>
            <a:spLocks noGrp="1"/>
          </p:cNvSpPr>
          <p:nvPr>
            <p:ph sz="quarter" idx="4"/>
          </p:nvPr>
        </p:nvSpPr>
        <p:spPr>
          <a:xfrm>
            <a:off x="4645025" y="1219200"/>
            <a:ext cx="4041775" cy="4906963"/>
          </a:xfrm>
        </p:spPr>
        <p:txBody>
          <a:bodyPr/>
          <a:lstStyle/>
          <a:p>
            <a:pPr>
              <a:buNone/>
            </a:pPr>
            <a:r>
              <a:rPr lang="en-US" dirty="0" err="1" smtClean="0"/>
              <a:t>Zygomycosis</a:t>
            </a:r>
            <a:r>
              <a:rPr lang="en-US" dirty="0" smtClean="0"/>
              <a:t> </a:t>
            </a:r>
          </a:p>
          <a:p>
            <a:pPr>
              <a:buNone/>
            </a:pPr>
            <a:r>
              <a:rPr lang="en-US" dirty="0" smtClean="0"/>
              <a:t>• </a:t>
            </a:r>
            <a:r>
              <a:rPr lang="en-US" dirty="0" err="1" smtClean="0"/>
              <a:t>Aspergillosis</a:t>
            </a:r>
            <a:endParaRPr lang="en-US" dirty="0" smtClean="0"/>
          </a:p>
          <a:p>
            <a:pPr>
              <a:buNone/>
            </a:pPr>
            <a:r>
              <a:rPr lang="en-US" dirty="0" smtClean="0"/>
              <a:t> • </a:t>
            </a:r>
            <a:r>
              <a:rPr lang="en-US" dirty="0" err="1" smtClean="0"/>
              <a:t>Penicilliosis</a:t>
            </a:r>
            <a:r>
              <a:rPr lang="en-US" dirty="0" smtClean="0"/>
              <a:t> </a:t>
            </a:r>
          </a:p>
          <a:p>
            <a:pPr>
              <a:buNone/>
            </a:pPr>
            <a:r>
              <a:rPr lang="en-US" dirty="0" smtClean="0"/>
              <a:t>• </a:t>
            </a:r>
            <a:r>
              <a:rPr lang="en-US" dirty="0" err="1" smtClean="0"/>
              <a:t>Histoplasmosis</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chemeClr val="accent2">
                    <a:lumMod val="75000"/>
                  </a:schemeClr>
                </a:solidFill>
                <a:latin typeface="Arial" pitchFamily="34" charset="0"/>
                <a:cs typeface="Arial" pitchFamily="34" charset="0"/>
              </a:rPr>
              <a:t>TRANSBOUNDARY DISEASES </a:t>
            </a:r>
            <a:endParaRPr lang="en-US" sz="2800" b="1"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 T</a:t>
            </a:r>
            <a:r>
              <a:rPr lang="en-US" sz="2800" dirty="0" smtClean="0">
                <a:latin typeface="Times New Roman" pitchFamily="18" charset="0"/>
                <a:cs typeface="Times New Roman" pitchFamily="18" charset="0"/>
              </a:rPr>
              <a:t>he diseases</a:t>
            </a: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that have very high probability of easily spreading across national, regional and international borders, they are often highly contagious in nature affecting domestic animals, wildlife and humans leading to enormous socioeconomic and public health challenge, significant economic, trade and/or food security issues</a:t>
            </a:r>
            <a:endParaRPr lang="en-US" sz="2800" dirty="0">
              <a:latin typeface="Times New Roman" pitchFamily="18" charset="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1066800"/>
            <a:ext cx="8686800" cy="4953000"/>
          </a:xfrm>
        </p:spPr>
        <p:txBody>
          <a:bodyPr numCol="2">
            <a:normAutofit/>
          </a:bodyPr>
          <a:lstStyle/>
          <a:p>
            <a:r>
              <a:rPr lang="en-US" dirty="0" smtClean="0">
                <a:latin typeface="Times New Roman" pitchFamily="18" charset="0"/>
                <a:cs typeface="Times New Roman" pitchFamily="18" charset="0"/>
              </a:rPr>
              <a:t>FMD</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CBPP</a:t>
            </a:r>
          </a:p>
          <a:p>
            <a:r>
              <a:rPr lang="en-US" dirty="0" smtClean="0">
                <a:latin typeface="Times New Roman" pitchFamily="18" charset="0"/>
                <a:cs typeface="Times New Roman" pitchFamily="18" charset="0"/>
              </a:rPr>
              <a:t>BSE</a:t>
            </a:r>
          </a:p>
          <a:p>
            <a:r>
              <a:rPr lang="en-US" dirty="0" smtClean="0">
                <a:latin typeface="Times New Roman" pitchFamily="18" charset="0"/>
                <a:cs typeface="Times New Roman" pitchFamily="18" charset="0"/>
              </a:rPr>
              <a:t>Rift valley fever</a:t>
            </a:r>
          </a:p>
          <a:p>
            <a:r>
              <a:rPr lang="en-US" dirty="0" smtClean="0">
                <a:latin typeface="Times New Roman" pitchFamily="18" charset="0"/>
                <a:cs typeface="Times New Roman" pitchFamily="18" charset="0"/>
              </a:rPr>
              <a:t>PPR</a:t>
            </a:r>
          </a:p>
          <a:p>
            <a:r>
              <a:rPr lang="en-US" dirty="0" smtClean="0">
                <a:latin typeface="Times New Roman" pitchFamily="18" charset="0"/>
                <a:cs typeface="Times New Roman" pitchFamily="18" charset="0"/>
              </a:rPr>
              <a:t>African swine fever</a:t>
            </a:r>
          </a:p>
          <a:p>
            <a:r>
              <a:rPr lang="en-US" dirty="0" smtClean="0">
                <a:latin typeface="Times New Roman" pitchFamily="18" charset="0"/>
                <a:cs typeface="Times New Roman" pitchFamily="18" charset="0"/>
              </a:rPr>
              <a:t>Newcastle disease</a:t>
            </a:r>
          </a:p>
          <a:p>
            <a:r>
              <a:rPr lang="en-US" dirty="0" smtClean="0">
                <a:latin typeface="Times New Roman" pitchFamily="18" charset="0"/>
                <a:cs typeface="Times New Roman" pitchFamily="18" charset="0"/>
              </a:rPr>
              <a:t>Avian Influenza</a:t>
            </a:r>
          </a:p>
          <a:p>
            <a:r>
              <a:rPr lang="en-US" dirty="0" smtClean="0">
                <a:latin typeface="Times New Roman" pitchFamily="18" charset="0"/>
                <a:cs typeface="Times New Roman" pitchFamily="18" charset="0"/>
              </a:rPr>
              <a:t>Rabies </a:t>
            </a:r>
          </a:p>
          <a:p>
            <a:r>
              <a:rPr lang="en-US" dirty="0" smtClean="0">
                <a:latin typeface="Times New Roman" pitchFamily="18" charset="0"/>
                <a:cs typeface="Times New Roman" pitchFamily="18" charset="0"/>
              </a:rPr>
              <a:t>Botulism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1718</TotalTime>
  <Words>4212</Words>
  <Application>Microsoft Office PowerPoint</Application>
  <PresentationFormat>On-screen Show (4:3)</PresentationFormat>
  <Paragraphs>644</Paragraphs>
  <Slides>80</Slides>
  <Notes>35</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Office Theme</vt:lpstr>
      <vt:lpstr>REOVIRidae</vt:lpstr>
      <vt:lpstr>Characteristics </vt:lpstr>
      <vt:lpstr>Slide 3</vt:lpstr>
      <vt:lpstr>Slide 4</vt:lpstr>
      <vt:lpstr>Structure </vt:lpstr>
      <vt:lpstr>Replication </vt:lpstr>
      <vt:lpstr>Slide 7</vt:lpstr>
      <vt:lpstr>Slide 8</vt:lpstr>
      <vt:lpstr>Blue-tongue</vt:lpstr>
      <vt:lpstr>Bluetongue Virus</vt:lpstr>
      <vt:lpstr>Morbidity/Mortality: Sheep</vt:lpstr>
      <vt:lpstr>Animal Transmission</vt:lpstr>
      <vt:lpstr>Pathogenesis</vt:lpstr>
      <vt:lpstr>Clinical signs of BT</vt:lpstr>
      <vt:lpstr>Clinical Signs: Sheep</vt:lpstr>
      <vt:lpstr>Clinical Signs: Sheep</vt:lpstr>
      <vt:lpstr>Clinical Signs</vt:lpstr>
      <vt:lpstr>Post Mortem Lesions</vt:lpstr>
      <vt:lpstr>Diagnosis</vt:lpstr>
      <vt:lpstr>Slide 20</vt:lpstr>
      <vt:lpstr>Vaccination</vt:lpstr>
      <vt:lpstr>Slide 22</vt:lpstr>
      <vt:lpstr> Etiology</vt:lpstr>
      <vt:lpstr>Serotypes</vt:lpstr>
      <vt:lpstr>Host Range</vt:lpstr>
      <vt:lpstr>Host Range  </vt:lpstr>
      <vt:lpstr>Transmission</vt:lpstr>
      <vt:lpstr>Transmission</vt:lpstr>
      <vt:lpstr>Pathogenesis</vt:lpstr>
      <vt:lpstr>Clinical Signs</vt:lpstr>
      <vt:lpstr>Clinical Signs</vt:lpstr>
      <vt:lpstr>Clinical Signs</vt:lpstr>
      <vt:lpstr>Clinical Signs</vt:lpstr>
      <vt:lpstr>Clinical Signs</vt:lpstr>
      <vt:lpstr>Clinical Signs: Pulmonary or Dunkop form</vt:lpstr>
      <vt:lpstr>Clinical Signs: Pulmonary</vt:lpstr>
      <vt:lpstr>Clinical Signs: Pulmonary</vt:lpstr>
      <vt:lpstr>Clinical Signs: Pulmonary</vt:lpstr>
      <vt:lpstr>Clinical Signs: Cardiac or Dikkop form</vt:lpstr>
      <vt:lpstr>Clinical Signs: Cardiac </vt:lpstr>
      <vt:lpstr>Clinical Signs: Cardiac </vt:lpstr>
      <vt:lpstr>Clinical Signs: Cardiac</vt:lpstr>
      <vt:lpstr>Clinical Signs: Cardiac</vt:lpstr>
      <vt:lpstr>Clinical Signs: Cardiac</vt:lpstr>
      <vt:lpstr>Recovery: Cardiac</vt:lpstr>
      <vt:lpstr>Clinical Signs: Mixed Form (acute)</vt:lpstr>
      <vt:lpstr>Clinical Signs:  Mixed Form (fever)</vt:lpstr>
      <vt:lpstr>Clinical Signs:  Mixed Form (fever)</vt:lpstr>
      <vt:lpstr>Slide 49</vt:lpstr>
      <vt:lpstr>Slide 50</vt:lpstr>
      <vt:lpstr>Slide 51</vt:lpstr>
      <vt:lpstr>Slide 52</vt:lpstr>
      <vt:lpstr>Slide 53</vt:lpstr>
      <vt:lpstr>Diagnosis</vt:lpstr>
      <vt:lpstr>Laboratory diagnosis </vt:lpstr>
      <vt:lpstr>Bovine Rota Virus </vt:lpstr>
      <vt:lpstr>Viral causes of diarrhoea in neonates</vt:lpstr>
      <vt:lpstr>Susceptibility of Neonates</vt:lpstr>
      <vt:lpstr>Prevention of viral diarrhea in calves</vt:lpstr>
      <vt:lpstr>Rotaviruses</vt:lpstr>
      <vt:lpstr>Slide 61</vt:lpstr>
      <vt:lpstr>Rotaviruses</vt:lpstr>
      <vt:lpstr>Slide 63</vt:lpstr>
      <vt:lpstr>Slide 64</vt:lpstr>
      <vt:lpstr>Pathogenesis </vt:lpstr>
      <vt:lpstr>Pathogenesis </vt:lpstr>
      <vt:lpstr>Slide 67</vt:lpstr>
      <vt:lpstr>Maintenance of rotaviruses in populations </vt:lpstr>
      <vt:lpstr>Diagnosis</vt:lpstr>
      <vt:lpstr>EMERGING INFECTIOUS DISEASES</vt:lpstr>
      <vt:lpstr>Factors in the Emergence or Re-emergence of Infectious Diseases </vt:lpstr>
      <vt:lpstr>Slide 72</vt:lpstr>
      <vt:lpstr>Slide 73</vt:lpstr>
      <vt:lpstr>Zoonotic potential of animal pathogens</vt:lpstr>
      <vt:lpstr>RE‐EMERGING INFECTIOUS DISEASE</vt:lpstr>
      <vt:lpstr>Slide 76</vt:lpstr>
      <vt:lpstr>Slide 77</vt:lpstr>
      <vt:lpstr>Slide 78</vt:lpstr>
      <vt:lpstr>TRANSBOUNDARY DISEASES </vt:lpstr>
      <vt:lpstr>Slide 80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REOVIRUS</dc:title>
  <dc:creator>Sunil Maherchandani</dc:creator>
  <cp:lastModifiedBy>RATHORE</cp:lastModifiedBy>
  <cp:revision>136</cp:revision>
  <dcterms:created xsi:type="dcterms:W3CDTF">2006-08-16T00:00:00Z</dcterms:created>
  <dcterms:modified xsi:type="dcterms:W3CDTF">2025-08-07T05:59:01Z</dcterms:modified>
</cp:coreProperties>
</file>