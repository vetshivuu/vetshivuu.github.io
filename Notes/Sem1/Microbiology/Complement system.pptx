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98" r:id="rId2"/>
    <p:sldId id="299" r:id="rId3"/>
    <p:sldId id="257" r:id="rId4"/>
    <p:sldId id="258" r:id="rId5"/>
    <p:sldId id="263" r:id="rId6"/>
    <p:sldId id="281" r:id="rId7"/>
    <p:sldId id="300" r:id="rId8"/>
    <p:sldId id="290" r:id="rId9"/>
    <p:sldId id="306" r:id="rId10"/>
    <p:sldId id="307" r:id="rId11"/>
    <p:sldId id="264" r:id="rId12"/>
    <p:sldId id="301" r:id="rId13"/>
    <p:sldId id="302" r:id="rId14"/>
    <p:sldId id="259" r:id="rId15"/>
    <p:sldId id="265" r:id="rId16"/>
    <p:sldId id="308" r:id="rId17"/>
    <p:sldId id="309" r:id="rId18"/>
    <p:sldId id="267" r:id="rId19"/>
    <p:sldId id="282" r:id="rId20"/>
    <p:sldId id="303" r:id="rId21"/>
    <p:sldId id="305" r:id="rId22"/>
    <p:sldId id="304" r:id="rId23"/>
    <p:sldId id="323" r:id="rId24"/>
    <p:sldId id="310" r:id="rId25"/>
    <p:sldId id="311" r:id="rId26"/>
    <p:sldId id="292" r:id="rId27"/>
    <p:sldId id="312" r:id="rId28"/>
    <p:sldId id="313" r:id="rId29"/>
    <p:sldId id="314" r:id="rId30"/>
    <p:sldId id="279" r:id="rId31"/>
    <p:sldId id="261" r:id="rId32"/>
    <p:sldId id="271" r:id="rId33"/>
    <p:sldId id="319" r:id="rId34"/>
    <p:sldId id="315" r:id="rId35"/>
    <p:sldId id="316" r:id="rId36"/>
    <p:sldId id="317" r:id="rId37"/>
    <p:sldId id="291" r:id="rId38"/>
    <p:sldId id="318" r:id="rId39"/>
    <p:sldId id="272" r:id="rId40"/>
    <p:sldId id="320" r:id="rId41"/>
    <p:sldId id="286" r:id="rId42"/>
    <p:sldId id="295" r:id="rId43"/>
    <p:sldId id="321" r:id="rId44"/>
    <p:sldId id="32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4" autoAdjust="0"/>
    <p:restoredTop sz="92683" autoAdjust="0"/>
  </p:normalViewPr>
  <p:slideViewPr>
    <p:cSldViewPr snapToGrid="0">
      <p:cViewPr varScale="1">
        <p:scale>
          <a:sx n="105" d="100"/>
          <a:sy n="105" d="100"/>
        </p:scale>
        <p:origin x="904"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2EB8AA-D109-4378-B2FC-3AC2CCFC0079}" type="datetimeFigureOut">
              <a:rPr lang="en-US" smtClean="0"/>
              <a:t>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DCC66-D3D5-4605-8530-A1EAB7110751}" type="slidenum">
              <a:rPr lang="en-US" smtClean="0"/>
              <a:t>‹#›</a:t>
            </a:fld>
            <a:endParaRPr lang="en-US"/>
          </a:p>
        </p:txBody>
      </p:sp>
    </p:spTree>
    <p:extLst>
      <p:ext uri="{BB962C8B-B14F-4D97-AF65-F5344CB8AC3E}">
        <p14:creationId xmlns:p14="http://schemas.microsoft.com/office/powerpoint/2010/main" val="2764926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2DDCC66-D3D5-4605-8530-A1EAB7110751}" type="slidenum">
              <a:rPr lang="en-US" smtClean="0"/>
              <a:t>16</a:t>
            </a:fld>
            <a:endParaRPr lang="en-US"/>
          </a:p>
        </p:txBody>
      </p:sp>
    </p:spTree>
    <p:extLst>
      <p:ext uri="{BB962C8B-B14F-4D97-AF65-F5344CB8AC3E}">
        <p14:creationId xmlns:p14="http://schemas.microsoft.com/office/powerpoint/2010/main" val="496271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48000" y="3124200"/>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8000" y="5003322"/>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fld id="{1A96B3DF-8420-43AA-932D-3879862A3CC4}" type="datetimeFigureOut">
              <a:rPr lang="en-US" smtClean="0"/>
              <a:t>3/20/24</a:t>
            </a:fld>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767392" y="4928702"/>
            <a:ext cx="812800" cy="517524"/>
          </a:xfrm>
        </p:spPr>
        <p:txBody>
          <a:bodyPr/>
          <a:lstStyle/>
          <a:p>
            <a:fld id="{DE7B3141-7A80-421F-9C3C-4609423D9C9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1A96B3DF-8420-43AA-932D-3879862A3CC4}" type="datetimeFigureOut">
              <a:rPr lang="en-US" smtClean="0"/>
              <a:t>3/20/24</a:t>
            </a:fld>
            <a:endParaRPr lang="en-US"/>
          </a:p>
        </p:txBody>
      </p:sp>
      <p:sp>
        <p:nvSpPr>
          <p:cNvPr id="9" name="Slide Number Placeholder 8"/>
          <p:cNvSpPr>
            <a:spLocks noGrp="1"/>
          </p:cNvSpPr>
          <p:nvPr>
            <p:ph type="sldNum" sz="quarter" idx="15"/>
          </p:nvPr>
        </p:nvSpPr>
        <p:spPr/>
        <p:txBody>
          <a:bodyPr rtlCol="0"/>
          <a:lstStyle/>
          <a:p>
            <a:fld id="{DE7B3141-7A80-421F-9C3C-4609423D9C92}"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0" y="2895600"/>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48000" y="5010150"/>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fld id="{1A96B3DF-8420-43AA-932D-3879862A3CC4}" type="datetimeFigureOut">
              <a:rPr lang="en-US" smtClean="0"/>
              <a:t>3/20/24</a:t>
            </a:fld>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787488" y="4928702"/>
            <a:ext cx="812800" cy="517524"/>
          </a:xfrm>
        </p:spPr>
        <p:txBody>
          <a:bodyPr/>
          <a:lstStyle/>
          <a:p>
            <a:fld id="{DE7B3141-7A80-421F-9C3C-4609423D9C92}"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A96B3DF-8420-43AA-932D-3879862A3CC4}" type="datetimeFigureOut">
              <a:rPr lang="en-US" smtClean="0"/>
              <a:t>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7B3141-7A80-421F-9C3C-4609423D9C92}"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1A96B3DF-8420-43AA-932D-3879862A3CC4}" type="datetimeFigureOut">
              <a:rPr lang="en-US" smtClean="0"/>
              <a:t>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7B3141-7A80-421F-9C3C-4609423D9C92}"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A96B3DF-8420-43AA-932D-3879862A3CC4}" type="datetimeFigureOut">
              <a:rPr lang="en-US" smtClean="0"/>
              <a:t>3/20/24</a:t>
            </a:fld>
            <a:endParaRPr lang="en-US"/>
          </a:p>
        </p:txBody>
      </p:sp>
      <p:sp>
        <p:nvSpPr>
          <p:cNvPr id="7" name="Slide Number Placeholder 6"/>
          <p:cNvSpPr>
            <a:spLocks noGrp="1"/>
          </p:cNvSpPr>
          <p:nvPr>
            <p:ph type="sldNum" sz="quarter" idx="11"/>
          </p:nvPr>
        </p:nvSpPr>
        <p:spPr/>
        <p:txBody>
          <a:bodyPr rtlCol="0"/>
          <a:lstStyle/>
          <a:p>
            <a:fld id="{DE7B3141-7A80-421F-9C3C-4609423D9C92}"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96B3DF-8420-43AA-932D-3879862A3CC4}" type="datetimeFigureOut">
              <a:rPr lang="en-US" smtClean="0"/>
              <a:t>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7B3141-7A80-421F-9C3C-4609423D9C9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A96B3DF-8420-43AA-932D-3879862A3CC4}" type="datetimeFigureOut">
              <a:rPr lang="en-US" smtClean="0"/>
              <a:t>3/20/24</a:t>
            </a:fld>
            <a:endParaRPr lang="en-US"/>
          </a:p>
        </p:txBody>
      </p:sp>
      <p:sp>
        <p:nvSpPr>
          <p:cNvPr id="22" name="Slide Number Placeholder 21"/>
          <p:cNvSpPr>
            <a:spLocks noGrp="1"/>
          </p:cNvSpPr>
          <p:nvPr>
            <p:ph type="sldNum" sz="quarter" idx="15"/>
          </p:nvPr>
        </p:nvSpPr>
        <p:spPr/>
        <p:txBody>
          <a:bodyPr rtlCol="0"/>
          <a:lstStyle/>
          <a:p>
            <a:fld id="{DE7B3141-7A80-421F-9C3C-4609423D9C92}"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A96B3DF-8420-43AA-932D-3879862A3CC4}" type="datetimeFigureOut">
              <a:rPr lang="en-US" smtClean="0"/>
              <a:t>3/20/24</a:t>
            </a:fld>
            <a:endParaRPr lang="en-US"/>
          </a:p>
        </p:txBody>
      </p:sp>
      <p:sp>
        <p:nvSpPr>
          <p:cNvPr id="18" name="Slide Number Placeholder 17"/>
          <p:cNvSpPr>
            <a:spLocks noGrp="1"/>
          </p:cNvSpPr>
          <p:nvPr>
            <p:ph type="sldNum" sz="quarter" idx="11"/>
          </p:nvPr>
        </p:nvSpPr>
        <p:spPr/>
        <p:txBody>
          <a:bodyPr rtlCol="0"/>
          <a:lstStyle/>
          <a:p>
            <a:fld id="{DE7B3141-7A80-421F-9C3C-4609423D9C92}"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96B3DF-8420-43AA-932D-3879862A3CC4}" type="datetimeFigureOut">
              <a:rPr lang="en-US" smtClean="0"/>
              <a:t>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B3141-7A80-421F-9C3C-4609423D9C9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96B3DF-8420-43AA-932D-3879862A3CC4}" type="datetimeFigureOut">
              <a:rPr lang="en-US" smtClean="0"/>
              <a:t>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7B3141-7A80-421F-9C3C-4609423D9C9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fld id="{1A96B3DF-8420-43AA-932D-3879862A3CC4}" type="datetimeFigureOut">
              <a:rPr lang="en-US" smtClean="0"/>
              <a:t>3/20/24</a:t>
            </a:fld>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fld id="{DE7B3141-7A80-421F-9C3C-4609423D9C9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4500" y="1077913"/>
            <a:ext cx="8229600" cy="674687"/>
          </a:xfrm>
        </p:spPr>
        <p:txBody>
          <a:bodyPr>
            <a:noAutofit/>
          </a:bodyPr>
          <a:lstStyle/>
          <a:p>
            <a:pPr algn="ctr">
              <a:defRPr/>
            </a:pPr>
            <a:r>
              <a:rPr lang="en-IN" sz="4200" dirty="0">
                <a:solidFill>
                  <a:schemeClr val="accent1"/>
                </a:solidFill>
              </a:rPr>
              <a:t>COMPLEMENT SYSTEM</a:t>
            </a:r>
          </a:p>
        </p:txBody>
      </p:sp>
      <p:sp>
        <p:nvSpPr>
          <p:cNvPr id="4" name="Subtitle 2"/>
          <p:cNvSpPr>
            <a:spLocks noGrp="1"/>
          </p:cNvSpPr>
          <p:nvPr>
            <p:ph type="subTitle" idx="1"/>
          </p:nvPr>
        </p:nvSpPr>
        <p:spPr>
          <a:xfrm>
            <a:off x="3074988" y="4267200"/>
            <a:ext cx="8147050" cy="1295400"/>
          </a:xfrm>
        </p:spPr>
        <p:txBody>
          <a:bodyPr>
            <a:normAutofit lnSpcReduction="10000"/>
          </a:bodyPr>
          <a:lstStyle/>
          <a:p>
            <a:pPr algn="ctr" eaLnBrk="1" fontAlgn="auto" hangingPunct="1">
              <a:spcBef>
                <a:spcPct val="0"/>
              </a:spcBef>
              <a:spcAft>
                <a:spcPts val="0"/>
              </a:spcAft>
              <a:buFont typeface="Wingdings"/>
              <a:buNone/>
              <a:defRPr/>
            </a:pPr>
            <a:r>
              <a:rPr lang="en-US" altLang="en-US" sz="2000" dirty="0"/>
              <a:t>Dr. Sandeep Kumar Sharma, </a:t>
            </a:r>
            <a:r>
              <a:rPr lang="en-IN" altLang="en-US" sz="1400" dirty="0" err="1"/>
              <a:t>BVSc</a:t>
            </a:r>
            <a:r>
              <a:rPr lang="en-IN" altLang="en-US" sz="1400" dirty="0"/>
              <a:t> &amp; AH, </a:t>
            </a:r>
            <a:r>
              <a:rPr lang="en-IN" altLang="en-US" sz="1400" dirty="0" err="1"/>
              <a:t>MVSc</a:t>
            </a:r>
            <a:r>
              <a:rPr lang="en-IN" altLang="en-US" sz="1400" dirty="0"/>
              <a:t> and PhD </a:t>
            </a:r>
          </a:p>
          <a:p>
            <a:pPr algn="ctr" eaLnBrk="1" fontAlgn="auto" hangingPunct="1">
              <a:spcBef>
                <a:spcPct val="0"/>
              </a:spcBef>
              <a:spcAft>
                <a:spcPts val="0"/>
              </a:spcAft>
              <a:buFont typeface="Wingdings"/>
              <a:buNone/>
              <a:defRPr/>
            </a:pPr>
            <a:r>
              <a:rPr lang="en-IN" altLang="en-US" sz="2000" dirty="0"/>
              <a:t>Assistant Professor, PGIVER</a:t>
            </a:r>
          </a:p>
          <a:p>
            <a:pPr algn="ctr" eaLnBrk="1" fontAlgn="auto" hangingPunct="1">
              <a:spcBef>
                <a:spcPct val="0"/>
              </a:spcBef>
              <a:spcAft>
                <a:spcPts val="0"/>
              </a:spcAft>
              <a:buFont typeface="Wingdings"/>
              <a:buNone/>
              <a:defRPr/>
            </a:pPr>
            <a:r>
              <a:rPr lang="en-IN" altLang="en-US" sz="2000" dirty="0"/>
              <a:t>drsharmask01@hotmail.com</a:t>
            </a:r>
            <a:endParaRPr lang="en-US" altLang="en-US" sz="2000" dirty="0"/>
          </a:p>
          <a:p>
            <a:pPr algn="ctr" eaLnBrk="1" fontAlgn="auto" hangingPunct="1">
              <a:spcBef>
                <a:spcPct val="0"/>
              </a:spcBef>
              <a:spcAft>
                <a:spcPts val="0"/>
              </a:spcAft>
              <a:buFont typeface="Arial" charset="0"/>
              <a:buNone/>
              <a:defRPr/>
            </a:pPr>
            <a:r>
              <a:rPr lang="en-US" altLang="en-US" sz="2000" dirty="0"/>
              <a:t>Mob. 9414775879</a:t>
            </a:r>
          </a:p>
        </p:txBody>
      </p:sp>
    </p:spTree>
    <p:extLst>
      <p:ext uri="{BB962C8B-B14F-4D97-AF65-F5344CB8AC3E}">
        <p14:creationId xmlns:p14="http://schemas.microsoft.com/office/powerpoint/2010/main" val="2371630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18655" y="990600"/>
            <a:ext cx="11097490" cy="4873752"/>
          </a:xfrm>
        </p:spPr>
        <p:txBody>
          <a:bodyPr/>
          <a:lstStyle/>
          <a:p>
            <a:pPr algn="just">
              <a:lnSpc>
                <a:spcPct val="150000"/>
              </a:lnSpc>
              <a:buFont typeface="Wingdings" pitchFamily="2" charset="2"/>
              <a:buChar char="q"/>
            </a:pPr>
            <a:r>
              <a:rPr lang="en-US" sz="2600" dirty="0">
                <a:latin typeface="Times New Roman" panose="02020603050405020304" pitchFamily="18" charset="0"/>
                <a:cs typeface="Times New Roman" panose="02020603050405020304" pitchFamily="18" charset="0"/>
              </a:rPr>
              <a:t>The complement system is a part of the immune system, consists of a </a:t>
            </a: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series of proteins that interact with one another in a highly regulated (cascade) manner</a:t>
            </a:r>
            <a:r>
              <a:rPr lang="en-US" sz="2600" dirty="0">
                <a:latin typeface="Times New Roman" panose="02020603050405020304" pitchFamily="18" charset="0"/>
                <a:cs typeface="Times New Roman" panose="02020603050405020304" pitchFamily="18" charset="0"/>
              </a:rPr>
              <a:t>, in order to eliminate pathogens. </a:t>
            </a:r>
          </a:p>
          <a:p>
            <a:pPr algn="just">
              <a:lnSpc>
                <a:spcPct val="150000"/>
              </a:lnSpc>
              <a:buFont typeface="Wingdings" pitchFamily="2" charset="2"/>
              <a:buChar char="q"/>
            </a:pPr>
            <a:r>
              <a:rPr lang="en-US" sz="2600" dirty="0">
                <a:latin typeface="Times New Roman" panose="02020603050405020304" pitchFamily="18" charset="0"/>
                <a:cs typeface="Times New Roman" panose="02020603050405020304" pitchFamily="18" charset="0"/>
              </a:rPr>
              <a:t>It helps antibodies and phagocytic cells to clear pathogens and damaged cells; promote inflammation and attack pathogen’s plasma membrane.</a:t>
            </a:r>
          </a:p>
          <a:p>
            <a:pPr algn="just">
              <a:lnSpc>
                <a:spcPct val="150000"/>
              </a:lnSpc>
              <a:buFont typeface="Wingdings" pitchFamily="2" charset="2"/>
              <a:buChar char="q"/>
            </a:pPr>
            <a:r>
              <a:rPr lang="en-IN" sz="2600" dirty="0">
                <a:latin typeface="Times New Roman" panose="02020603050405020304" pitchFamily="18" charset="0"/>
                <a:cs typeface="Times New Roman" panose="02020603050405020304" pitchFamily="18" charset="0"/>
              </a:rPr>
              <a:t>Complements are </a:t>
            </a:r>
            <a:r>
              <a:rPr lang="en-IN" sz="2600" dirty="0">
                <a:solidFill>
                  <a:schemeClr val="accent3">
                    <a:lumMod val="60000"/>
                    <a:lumOff val="40000"/>
                  </a:schemeClr>
                </a:solidFill>
                <a:latin typeface="Times New Roman" panose="02020603050405020304" pitchFamily="18" charset="0"/>
                <a:cs typeface="Times New Roman" panose="02020603050405020304" pitchFamily="18" charset="0"/>
              </a:rPr>
              <a:t>soluble glycoproteins mostly produced by hepatocytes</a:t>
            </a:r>
            <a:r>
              <a:rPr lang="en-IN"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endParaRPr lang="en-IN" dirty="0"/>
          </a:p>
        </p:txBody>
      </p:sp>
      <p:sp>
        <p:nvSpPr>
          <p:cNvPr id="4" name="Title 1"/>
          <p:cNvSpPr>
            <a:spLocks noGrp="1"/>
          </p:cNvSpPr>
          <p:nvPr>
            <p:ph type="title"/>
          </p:nvPr>
        </p:nvSpPr>
        <p:spPr>
          <a:xfrm>
            <a:off x="318655" y="221672"/>
            <a:ext cx="9956800" cy="683347"/>
          </a:xfrm>
        </p:spPr>
        <p:txBody>
          <a:bodyPr>
            <a:noAutofit/>
          </a:bodyPr>
          <a:lstStyle/>
          <a:p>
            <a:r>
              <a:rPr lang="en-US" sz="3200" dirty="0">
                <a:solidFill>
                  <a:schemeClr val="accent6"/>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202806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49383" y="554997"/>
            <a:ext cx="11249890" cy="5901221"/>
          </a:xfrm>
        </p:spPr>
        <p:txBody>
          <a:bodyPr>
            <a:normAutofit lnSpcReduction="10000"/>
          </a:bodyPr>
          <a:lstStyle/>
          <a:p>
            <a:pPr algn="just">
              <a:lnSpc>
                <a:spcPct val="150000"/>
              </a:lnSpc>
            </a:pPr>
            <a:r>
              <a:rPr lang="en-US" sz="2600" dirty="0">
                <a:latin typeface="Times New Roman" panose="02020603050405020304" pitchFamily="18" charset="0"/>
                <a:cs typeface="Times New Roman" panose="02020603050405020304" pitchFamily="18" charset="0"/>
              </a:rPr>
              <a:t>Proteins that take part in the complement system are called complements that collectively work as a biological cascade; the sequence of reactions, each being the catalyst for the next.</a:t>
            </a:r>
          </a:p>
          <a:p>
            <a:pPr algn="just">
              <a:lnSpc>
                <a:spcPct val="150000"/>
              </a:lnSpc>
            </a:pPr>
            <a:r>
              <a:rPr lang="en-US" sz="2600" b="1" dirty="0">
                <a:latin typeface="Times New Roman" panose="02020603050405020304" pitchFamily="18" charset="0"/>
                <a:cs typeface="Times New Roman" panose="02020603050405020304" pitchFamily="18" charset="0"/>
              </a:rPr>
              <a:t>Jules Bordet (1895) </a:t>
            </a:r>
            <a:r>
              <a:rPr lang="en-US" sz="2600" dirty="0">
                <a:solidFill>
                  <a:srgbClr val="FF0000"/>
                </a:solidFill>
                <a:latin typeface="Times New Roman" panose="02020603050405020304" pitchFamily="18" charset="0"/>
                <a:cs typeface="Times New Roman" panose="02020603050405020304" pitchFamily="18" charset="0"/>
              </a:rPr>
              <a:t>identified complements </a:t>
            </a:r>
            <a:r>
              <a:rPr lang="en-US" sz="2600" dirty="0">
                <a:latin typeface="Times New Roman" panose="02020603050405020304" pitchFamily="18" charset="0"/>
                <a:cs typeface="Times New Roman" panose="02020603050405020304" pitchFamily="18" charset="0"/>
              </a:rPr>
              <a:t>as heat-sensitive components in the blood, bearing non-specific antimicrobial activity.</a:t>
            </a:r>
          </a:p>
          <a:p>
            <a:pPr algn="just">
              <a:lnSpc>
                <a:spcPct val="150000"/>
              </a:lnSpc>
            </a:pPr>
            <a:r>
              <a:rPr lang="de-DE" sz="2600" b="1" dirty="0">
                <a:latin typeface="Times New Roman" panose="02020603050405020304" pitchFamily="18" charset="0"/>
              </a:rPr>
              <a:t>Paul Ehrlich</a:t>
            </a:r>
            <a:r>
              <a:rPr lang="de-DE" sz="2600" dirty="0">
                <a:latin typeface="Times New Roman" panose="02020603050405020304" pitchFamily="18" charset="0"/>
              </a:rPr>
              <a:t> in Berlin independently </a:t>
            </a:r>
            <a:r>
              <a:rPr lang="en-US" sz="2600" dirty="0">
                <a:latin typeface="Times New Roman" panose="02020603050405020304" pitchFamily="18" charset="0"/>
              </a:rPr>
              <a:t>carried out similar experiments and </a:t>
            </a:r>
            <a:r>
              <a:rPr lang="en-US" sz="2600" dirty="0">
                <a:solidFill>
                  <a:srgbClr val="FF0000"/>
                </a:solidFill>
                <a:latin typeface="Times New Roman" panose="02020603050405020304" pitchFamily="18" charset="0"/>
              </a:rPr>
              <a:t>coined the term </a:t>
            </a:r>
            <a:r>
              <a:rPr lang="en-US" sz="2600" i="1" dirty="0">
                <a:solidFill>
                  <a:srgbClr val="FF0000"/>
                </a:solidFill>
                <a:latin typeface="Times New Roman" panose="02020603050405020304" pitchFamily="18" charset="0"/>
              </a:rPr>
              <a:t>complement</a:t>
            </a:r>
            <a:r>
              <a:rPr lang="en-US" sz="2600" i="1" dirty="0">
                <a:latin typeface="Times New Roman" panose="02020603050405020304" pitchFamily="18" charset="0"/>
              </a:rPr>
              <a:t>, </a:t>
            </a:r>
            <a:r>
              <a:rPr lang="en-US" sz="2600" dirty="0">
                <a:latin typeface="Times New Roman" panose="02020603050405020304" pitchFamily="18" charset="0"/>
              </a:rPr>
              <a:t>defining it as “the activity of blood serum that completes the action of antibody.” In ensuing years, researchers discovered that the action of complement was the result of interactions of a large and complex group of proteins.</a:t>
            </a:r>
            <a:endParaRPr lang="en-US" sz="2600" dirty="0"/>
          </a:p>
        </p:txBody>
      </p:sp>
    </p:spTree>
    <p:extLst>
      <p:ext uri="{BB962C8B-B14F-4D97-AF65-F5344CB8AC3E}">
        <p14:creationId xmlns:p14="http://schemas.microsoft.com/office/powerpoint/2010/main" val="3976243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90945" y="475129"/>
            <a:ext cx="11360727" cy="5701834"/>
          </a:xfrm>
        </p:spPr>
        <p:txBody>
          <a:bodyPr>
            <a:noAutofit/>
          </a:bodyPr>
          <a:lstStyle/>
          <a:p>
            <a:pPr algn="just">
              <a:lnSpc>
                <a:spcPct val="150000"/>
              </a:lnSpc>
            </a:pPr>
            <a:r>
              <a:rPr lang="en-US" sz="2500" dirty="0">
                <a:latin typeface="Times New Roman" panose="02020603050405020304" pitchFamily="18" charset="0"/>
                <a:cs typeface="Times New Roman" panose="02020603050405020304" pitchFamily="18" charset="0"/>
              </a:rPr>
              <a:t>More than </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34 types of complements are present in serum</a:t>
            </a:r>
            <a:r>
              <a:rPr lang="en-US" sz="2500" dirty="0">
                <a:latin typeface="Times New Roman" panose="02020603050405020304" pitchFamily="18" charset="0"/>
                <a:cs typeface="Times New Roman" panose="02020603050405020304" pitchFamily="18" charset="0"/>
              </a:rPr>
              <a:t>, found circulating normally in human body in </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inactive forms (called as zymogens or </a:t>
            </a:r>
            <a:r>
              <a:rPr lang="en-US" sz="2500" dirty="0" err="1">
                <a:solidFill>
                  <a:schemeClr val="accent3">
                    <a:lumMod val="60000"/>
                    <a:lumOff val="40000"/>
                  </a:schemeClr>
                </a:solidFill>
                <a:latin typeface="Times New Roman" panose="02020603050405020304" pitchFamily="18" charset="0"/>
                <a:cs typeface="Times New Roman" panose="02020603050405020304" pitchFamily="18" charset="0"/>
              </a:rPr>
              <a:t>proenzymes</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a:t>
            </a:r>
            <a:r>
              <a:rPr lang="en-US" sz="2500" dirty="0">
                <a:latin typeface="Times New Roman" panose="02020603050405020304" pitchFamily="18" charset="0"/>
                <a:cs typeface="Times New Roman" panose="02020603050405020304" pitchFamily="18" charset="0"/>
              </a:rPr>
              <a:t>. </a:t>
            </a:r>
          </a:p>
          <a:p>
            <a:pPr algn="just">
              <a:lnSpc>
                <a:spcPct val="150000"/>
              </a:lnSpc>
            </a:pPr>
            <a:r>
              <a:rPr lang="en-US" sz="2500" dirty="0">
                <a:latin typeface="Times New Roman" panose="02020603050405020304" pitchFamily="18" charset="0"/>
                <a:cs typeface="Times New Roman" panose="02020603050405020304" pitchFamily="18" charset="0"/>
              </a:rPr>
              <a:t>Complement activation is </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triggered by an antibody when it is bound to the antigen</a:t>
            </a:r>
            <a:r>
              <a:rPr lang="en-US" sz="2500" dirty="0">
                <a:latin typeface="Times New Roman" panose="02020603050405020304" pitchFamily="18" charset="0"/>
                <a:cs typeface="Times New Roman" panose="02020603050405020304" pitchFamily="18" charset="0"/>
              </a:rPr>
              <a:t>. </a:t>
            </a:r>
          </a:p>
          <a:p>
            <a:pPr algn="just">
              <a:lnSpc>
                <a:spcPct val="150000"/>
              </a:lnSpc>
            </a:pPr>
            <a:r>
              <a:rPr lang="en-US" sz="2500" dirty="0">
                <a:latin typeface="Times New Roman" panose="02020603050405020304" pitchFamily="18" charset="0"/>
                <a:cs typeface="Times New Roman" panose="02020603050405020304" pitchFamily="18" charset="0"/>
              </a:rPr>
              <a:t>It can also be triggered by </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some components of innate immunity</a:t>
            </a:r>
            <a:r>
              <a:rPr lang="en-US" sz="2500" dirty="0">
                <a:latin typeface="Times New Roman" panose="02020603050405020304" pitchFamily="18" charset="0"/>
                <a:cs typeface="Times New Roman" panose="02020603050405020304" pitchFamily="18" charset="0"/>
              </a:rPr>
              <a:t>. Thus the complement system </a:t>
            </a:r>
            <a:r>
              <a:rPr lang="en-US" sz="2500" dirty="0">
                <a:solidFill>
                  <a:schemeClr val="accent3">
                    <a:lumMod val="60000"/>
                    <a:lumOff val="40000"/>
                  </a:schemeClr>
                </a:solidFill>
                <a:latin typeface="Times New Roman" panose="02020603050405020304" pitchFamily="18" charset="0"/>
                <a:cs typeface="Times New Roman" panose="02020603050405020304" pitchFamily="18" charset="0"/>
              </a:rPr>
              <a:t>works in both innate and acquired immunity</a:t>
            </a:r>
            <a:r>
              <a:rPr lang="en-US" sz="2500" dirty="0">
                <a:latin typeface="Times New Roman" panose="02020603050405020304" pitchFamily="18" charset="0"/>
                <a:cs typeface="Times New Roman" panose="02020603050405020304" pitchFamily="18" charset="0"/>
              </a:rPr>
              <a:t>.</a:t>
            </a:r>
          </a:p>
          <a:p>
            <a:pPr algn="just">
              <a:lnSpc>
                <a:spcPct val="150000"/>
              </a:lnSpc>
            </a:pPr>
            <a:r>
              <a:rPr lang="en-US" sz="2500" dirty="0">
                <a:latin typeface="Times New Roman" panose="02020603050405020304" pitchFamily="18" charset="0"/>
                <a:cs typeface="Times New Roman" panose="02020603050405020304" pitchFamily="18" charset="0"/>
              </a:rPr>
              <a:t>Complements are activated only during inflammatory reactions. During the inflammation, more amount of complements reaches to the interstitial area of the infected tissue through dilated blood vessels, which are then activated by </a:t>
            </a:r>
            <a:r>
              <a:rPr lang="en-US" sz="2500" dirty="0" err="1">
                <a:latin typeface="Times New Roman" panose="02020603050405020304" pitchFamily="18" charset="0"/>
                <a:cs typeface="Times New Roman" panose="02020603050405020304" pitchFamily="18" charset="0"/>
              </a:rPr>
              <a:t>proteolytic</a:t>
            </a:r>
            <a:r>
              <a:rPr lang="en-US" sz="2500" dirty="0">
                <a:latin typeface="Times New Roman" panose="02020603050405020304" pitchFamily="18" charset="0"/>
                <a:cs typeface="Times New Roman" panose="02020603050405020304" pitchFamily="18" charset="0"/>
              </a:rPr>
              <a:t> cleavage; this exposes the active site of the complements.</a:t>
            </a:r>
          </a:p>
        </p:txBody>
      </p:sp>
    </p:spTree>
    <p:extLst>
      <p:ext uri="{BB962C8B-B14F-4D97-AF65-F5344CB8AC3E}">
        <p14:creationId xmlns:p14="http://schemas.microsoft.com/office/powerpoint/2010/main" val="4212961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91" y="34238"/>
            <a:ext cx="3173109" cy="612028"/>
          </a:xfrm>
        </p:spPr>
        <p:txBody>
          <a:bodyPr>
            <a:normAutofit/>
          </a:bodyPr>
          <a:lstStyle/>
          <a:p>
            <a:pPr algn="ctr"/>
            <a:r>
              <a:rPr lang="en-US" b="1" dirty="0">
                <a:latin typeface="Times New Roman" panose="02020603050405020304" pitchFamily="18" charset="0"/>
                <a:cs typeface="Times New Roman" panose="02020603050405020304" pitchFamily="18" charset="0"/>
              </a:rPr>
              <a:t>Nomenclature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368368" y="608870"/>
            <a:ext cx="11144760" cy="5542548"/>
          </a:xfrm>
        </p:spPr>
        <p:txBody>
          <a:bodyPr>
            <a:noAutofit/>
          </a:bodyPr>
          <a:lstStyle/>
          <a:p>
            <a:pPr algn="just">
              <a:lnSpc>
                <a:spcPct val="150000"/>
              </a:lnSpc>
            </a:pPr>
            <a:r>
              <a:rPr lang="en-US" sz="2600" dirty="0">
                <a:latin typeface="Times New Roman" panose="02020603050405020304" pitchFamily="18" charset="0"/>
                <a:cs typeface="Times New Roman" panose="02020603050405020304" pitchFamily="18" charset="0"/>
              </a:rPr>
              <a:t>A particular pattern of naming is followed for the components. </a:t>
            </a:r>
          </a:p>
          <a:p>
            <a:pPr algn="just">
              <a:lnSpc>
                <a:spcPct val="150000"/>
              </a:lnSpc>
            </a:pPr>
            <a:r>
              <a:rPr lang="en-IN" sz="2600" dirty="0">
                <a:latin typeface="Times New Roman" panose="02020603050405020304" pitchFamily="18" charset="0"/>
                <a:cs typeface="Times New Roman" panose="02020603050405020304" pitchFamily="18" charset="0"/>
              </a:rPr>
              <a:t>Complement components are designated by numerals (C1–C9), by letter  symbols  (e.g.,  factor  D), or  by  trivial names  (e.g., homologous  restriction  factor).</a:t>
            </a:r>
          </a:p>
          <a:p>
            <a:pPr algn="just">
              <a:lnSpc>
                <a:spcPct val="150000"/>
              </a:lnSpc>
            </a:pPr>
            <a:r>
              <a:rPr lang="en-IN" sz="2600" dirty="0">
                <a:latin typeface="Times New Roman" panose="02020603050405020304" pitchFamily="18" charset="0"/>
                <a:cs typeface="Times New Roman" panose="02020603050405020304" pitchFamily="18" charset="0"/>
              </a:rPr>
              <a:t>Peptide  fragments formed by activation of a component are denoted by small  letters. In  most  cases, the  smaller  fragment  resulting from cleavage of a component is designated “a” and the larger fragment designated “b” (e.g., C3a, C3b; but </a:t>
            </a:r>
            <a:r>
              <a:rPr lang="en-IN" sz="2600" dirty="0">
                <a:solidFill>
                  <a:srgbClr val="FF0000"/>
                </a:solidFill>
                <a:latin typeface="Times New Roman" panose="02020603050405020304" pitchFamily="18" charset="0"/>
                <a:cs typeface="Times New Roman" panose="02020603050405020304" pitchFamily="18" charset="0"/>
              </a:rPr>
              <a:t>C2 is an exception: C2a  is  the  larger  and C2b is smaller</a:t>
            </a:r>
            <a:r>
              <a:rPr lang="en-IN" sz="2600" dirty="0">
                <a:latin typeface="Times New Roman" panose="02020603050405020304" pitchFamily="18" charset="0"/>
                <a:cs typeface="Times New Roman" panose="02020603050405020304" pitchFamily="18" charset="0"/>
              </a:rPr>
              <a:t> cleavage  fragment)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996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21341" y="206189"/>
            <a:ext cx="11133350" cy="4407376"/>
          </a:xfrm>
        </p:spPr>
        <p:txBody>
          <a:bodyPr>
            <a:noAutofit/>
          </a:bodyPr>
          <a:lstStyle/>
          <a:p>
            <a:pPr algn="just">
              <a:lnSpc>
                <a:spcPct val="150000"/>
              </a:lnSpc>
            </a:pP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Activated components or complexes have a bar over them to indicate activation </a:t>
            </a:r>
            <a:r>
              <a:rPr lang="en-US" sz="2600" dirty="0">
                <a:latin typeface="Times New Roman" panose="02020603050405020304" pitchFamily="18" charset="0"/>
                <a:cs typeface="Times New Roman" panose="02020603050405020304" pitchFamily="18" charset="0"/>
              </a:rPr>
              <a:t>(</a:t>
            </a:r>
            <a:r>
              <a:rPr lang="en-US" sz="2600" dirty="0" err="1">
                <a:latin typeface="Times New Roman" panose="02020603050405020304" pitchFamily="18" charset="0"/>
                <a:cs typeface="Times New Roman" panose="02020603050405020304" pitchFamily="18" charset="0"/>
              </a:rPr>
              <a:t>eg</a:t>
            </a:r>
            <a:r>
              <a:rPr lang="en-US" sz="2600" dirty="0">
                <a:latin typeface="Times New Roman" panose="02020603050405020304" pitchFamily="18" charset="0"/>
                <a:cs typeface="Times New Roman" panose="02020603050405020304" pitchFamily="18" charset="0"/>
              </a:rPr>
              <a:t>, C1, C1r, C3bBb). Cleavage fragments are designated with a small letter after the component (</a:t>
            </a:r>
            <a:r>
              <a:rPr lang="en-US" sz="2600" dirty="0" err="1">
                <a:latin typeface="Times New Roman" panose="02020603050405020304" pitchFamily="18" charset="0"/>
                <a:cs typeface="Times New Roman" panose="02020603050405020304" pitchFamily="18" charset="0"/>
              </a:rPr>
              <a:t>eg</a:t>
            </a:r>
            <a:r>
              <a:rPr lang="en-US" sz="2600" dirty="0">
                <a:latin typeface="Times New Roman" panose="02020603050405020304" pitchFamily="18" charset="0"/>
                <a:cs typeface="Times New Roman" panose="02020603050405020304" pitchFamily="18" charset="0"/>
              </a:rPr>
              <a:t>, C3a and C3b are fragments of C3). </a:t>
            </a:r>
          </a:p>
          <a:p>
            <a:pPr algn="just">
              <a:lnSpc>
                <a:spcPct val="150000"/>
              </a:lnSpc>
            </a:pP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Inactive C3b is designated iC3b</a:t>
            </a:r>
            <a:r>
              <a:rPr lang="en-US" sz="2600" dirty="0">
                <a:latin typeface="Times New Roman" panose="02020603050405020304" pitchFamily="18" charset="0"/>
                <a:cs typeface="Times New Roman" panose="02020603050405020304" pitchFamily="18" charset="0"/>
              </a:rPr>
              <a:t>.</a:t>
            </a:r>
          </a:p>
          <a:p>
            <a:pPr algn="just">
              <a:lnSpc>
                <a:spcPct val="150000"/>
              </a:lnSpc>
            </a:pPr>
            <a:r>
              <a:rPr lang="en-US" sz="2600" dirty="0">
                <a:latin typeface="Times New Roman" panose="02020603050405020304" pitchFamily="18" charset="0"/>
                <a:cs typeface="Times New Roman" panose="02020603050405020304" pitchFamily="18" charset="0"/>
              </a:rPr>
              <a:t>Cell membrane receptors for C3 are abbreviated CR1, CR2, CR3, and CR4.</a:t>
            </a:r>
          </a:p>
        </p:txBody>
      </p:sp>
      <p:cxnSp>
        <p:nvCxnSpPr>
          <p:cNvPr id="4" name="Straight Connector 3"/>
          <p:cNvCxnSpPr/>
          <p:nvPr/>
        </p:nvCxnSpPr>
        <p:spPr>
          <a:xfrm>
            <a:off x="2770942" y="997524"/>
            <a:ext cx="8728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20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46362" y="214745"/>
            <a:ext cx="11139055" cy="4873752"/>
          </a:xfrm>
        </p:spPr>
        <p:txBody>
          <a:bodyPr>
            <a:normAutofit/>
          </a:bodyPr>
          <a:lstStyle/>
          <a:p>
            <a:pPr algn="just">
              <a:lnSpc>
                <a:spcPct val="150000"/>
              </a:lnSpc>
            </a:pPr>
            <a:r>
              <a:rPr lang="en-IN" sz="2600" dirty="0"/>
              <a:t>The </a:t>
            </a:r>
            <a:r>
              <a:rPr lang="en-IN" sz="2600" dirty="0">
                <a:solidFill>
                  <a:schemeClr val="accent3">
                    <a:lumMod val="60000"/>
                    <a:lumOff val="40000"/>
                  </a:schemeClr>
                </a:solidFill>
              </a:rPr>
              <a:t>larger fragments bind to the target near the site of activation</a:t>
            </a:r>
            <a:r>
              <a:rPr lang="en-IN" sz="2600" dirty="0"/>
              <a:t>, and the </a:t>
            </a:r>
            <a:r>
              <a:rPr lang="en-IN" sz="2600" dirty="0">
                <a:solidFill>
                  <a:schemeClr val="accent3">
                    <a:lumMod val="60000"/>
                    <a:lumOff val="40000"/>
                  </a:schemeClr>
                </a:solidFill>
              </a:rPr>
              <a:t>smaller fragments diffuse from the site and can initiate localized inflammatory responses by binding to specific receptors</a:t>
            </a:r>
            <a:r>
              <a:rPr lang="en-IN" sz="2600" dirty="0"/>
              <a:t>.</a:t>
            </a:r>
          </a:p>
          <a:p>
            <a:pPr algn="just">
              <a:lnSpc>
                <a:spcPct val="150000"/>
              </a:lnSpc>
            </a:pPr>
            <a:r>
              <a:rPr lang="en-IN" sz="2600" dirty="0"/>
              <a:t>The complement  fragments interact with one another to form functional complexes.</a:t>
            </a:r>
          </a:p>
          <a:p>
            <a:pPr algn="just">
              <a:lnSpc>
                <a:spcPct val="150000"/>
              </a:lnSpc>
            </a:pPr>
            <a:r>
              <a:rPr lang="en-IN" sz="2600" dirty="0"/>
              <a:t>Those complexes that have enzymatic activity are designated by a bar over the number or symbol (e.g., </a:t>
            </a:r>
            <a:r>
              <a:rPr lang="en-IN" sz="2600" dirty="0">
                <a:solidFill>
                  <a:schemeClr val="accent3">
                    <a:lumMod val="60000"/>
                    <a:lumOff val="40000"/>
                  </a:schemeClr>
                </a:solidFill>
              </a:rPr>
              <a:t>C4b2a, C3bBb</a:t>
            </a:r>
            <a:r>
              <a:rPr lang="en-IN" sz="2600" dirty="0"/>
              <a:t>)</a:t>
            </a:r>
          </a:p>
        </p:txBody>
      </p:sp>
      <p:cxnSp>
        <p:nvCxnSpPr>
          <p:cNvPr id="5" name="Straight Connector 4"/>
          <p:cNvCxnSpPr/>
          <p:nvPr/>
        </p:nvCxnSpPr>
        <p:spPr>
          <a:xfrm>
            <a:off x="6386945" y="4114801"/>
            <a:ext cx="8728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536905" y="4142506"/>
            <a:ext cx="8728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4075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50172" y="2191573"/>
            <a:ext cx="4948517" cy="3730515"/>
          </a:xfrm>
        </p:spPr>
      </p:pic>
      <p:sp>
        <p:nvSpPr>
          <p:cNvPr id="8" name="Rectangle 7"/>
          <p:cNvSpPr/>
          <p:nvPr/>
        </p:nvSpPr>
        <p:spPr>
          <a:xfrm>
            <a:off x="289954" y="245238"/>
            <a:ext cx="4750018" cy="369332"/>
          </a:xfrm>
          <a:prstGeom prst="rect">
            <a:avLst/>
          </a:prstGeom>
        </p:spPr>
        <p:txBody>
          <a:bodyPr wrap="none">
            <a:spAutoFit/>
          </a:bodyPr>
          <a:lstStyle/>
          <a:p>
            <a:r>
              <a:rPr lang="en-US" dirty="0">
                <a:latin typeface="Arial" panose="020B0604020202020204" pitchFamily="34" charset="0"/>
              </a:rPr>
              <a:t>Structure of the C1 macromolecular complex</a:t>
            </a:r>
            <a:endParaRPr lang="en-US" dirty="0"/>
          </a:p>
        </p:txBody>
      </p:sp>
      <p:sp>
        <p:nvSpPr>
          <p:cNvPr id="2" name="Rectangle 1"/>
          <p:cNvSpPr/>
          <p:nvPr/>
        </p:nvSpPr>
        <p:spPr>
          <a:xfrm>
            <a:off x="6303818" y="2191573"/>
            <a:ext cx="6096000" cy="369332"/>
          </a:xfrm>
          <a:prstGeom prst="rect">
            <a:avLst/>
          </a:prstGeom>
        </p:spPr>
        <p:txBody>
          <a:bodyPr>
            <a:spAutoFit/>
          </a:bodyPr>
          <a:lstStyle/>
          <a:p>
            <a:r>
              <a:rPr lang="en-IN" dirty="0"/>
              <a:t> </a:t>
            </a:r>
          </a:p>
        </p:txBody>
      </p:sp>
      <p:sp>
        <p:nvSpPr>
          <p:cNvPr id="5" name="Content Placeholder 2"/>
          <p:cNvSpPr txBox="1">
            <a:spLocks/>
          </p:cNvSpPr>
          <p:nvPr/>
        </p:nvSpPr>
        <p:spPr>
          <a:xfrm>
            <a:off x="6303818" y="599753"/>
            <a:ext cx="5278582" cy="571792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IN" dirty="0"/>
              <a:t>C1q molecule consists of 18 polypeptide chains arranged into six triplets, each of which contains one A, one B, and one C chain.</a:t>
            </a:r>
          </a:p>
          <a:p>
            <a:pPr algn="just"/>
            <a:r>
              <a:rPr lang="en-IN" dirty="0"/>
              <a:t>Each C1r and C1s monomer contains a catalytic domain with enzymatic activity and an interaction domain that facilitates binding with C1q or with each other.</a:t>
            </a:r>
          </a:p>
          <a:p>
            <a:pPr algn="just"/>
            <a:r>
              <a:rPr lang="en-IN" dirty="0"/>
              <a:t>Electron micrograph of C1q molecule showing stalk and six globular heads.</a:t>
            </a:r>
          </a:p>
        </p:txBody>
      </p:sp>
    </p:spTree>
    <p:extLst>
      <p:ext uri="{BB962C8B-B14F-4D97-AF65-F5344CB8AC3E}">
        <p14:creationId xmlns:p14="http://schemas.microsoft.com/office/powerpoint/2010/main" val="3038111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7926" y="346363"/>
            <a:ext cx="11180619" cy="6386945"/>
          </a:xfrm>
        </p:spPr>
        <p:txBody>
          <a:bodyPr>
            <a:normAutofit lnSpcReduction="10000"/>
          </a:bodyPr>
          <a:lstStyle/>
          <a:p>
            <a:pPr algn="just">
              <a:lnSpc>
                <a:spcPct val="150000"/>
              </a:lnSpc>
            </a:pPr>
            <a:r>
              <a:rPr lang="en-IN" sz="2600" dirty="0"/>
              <a:t>C1 in serum is a macromolecular complex consisting of C1q and two molecules each of C1r and C1s, held together in a complex (C1qr</a:t>
            </a:r>
            <a:r>
              <a:rPr lang="en-IN" sz="2600" baseline="-25000" dirty="0"/>
              <a:t>2</a:t>
            </a:r>
            <a:r>
              <a:rPr lang="en-IN" sz="2600" dirty="0"/>
              <a:t>s</a:t>
            </a:r>
            <a:r>
              <a:rPr lang="en-IN" sz="2600" baseline="-25000" dirty="0"/>
              <a:t>2</a:t>
            </a:r>
            <a:r>
              <a:rPr lang="en-IN" sz="2600" dirty="0"/>
              <a:t> ) </a:t>
            </a:r>
            <a:r>
              <a:rPr lang="en-IN" sz="2600" dirty="0">
                <a:solidFill>
                  <a:srgbClr val="FF0000"/>
                </a:solidFill>
              </a:rPr>
              <a:t>stabilized by Ca</a:t>
            </a:r>
            <a:r>
              <a:rPr lang="en-IN" sz="2600" baseline="30000" dirty="0">
                <a:solidFill>
                  <a:srgbClr val="FF0000"/>
                </a:solidFill>
              </a:rPr>
              <a:t>2+</a:t>
            </a:r>
            <a:r>
              <a:rPr lang="en-IN" sz="2600" dirty="0">
                <a:solidFill>
                  <a:srgbClr val="FF0000"/>
                </a:solidFill>
              </a:rPr>
              <a:t>ions</a:t>
            </a:r>
            <a:r>
              <a:rPr lang="en-IN" sz="2600" dirty="0"/>
              <a:t>.</a:t>
            </a:r>
          </a:p>
          <a:p>
            <a:pPr algn="just">
              <a:lnSpc>
                <a:spcPct val="150000"/>
              </a:lnSpc>
            </a:pPr>
            <a:r>
              <a:rPr lang="en-IN" sz="2600" dirty="0"/>
              <a:t>The C1q molecule is composed of 18 polypeptide chains that associate to form six collagen-like triple helical arms, the tips of which bind to exposed C1q-binding sites in the C</a:t>
            </a:r>
            <a:r>
              <a:rPr lang="en-IN" sz="2600" baseline="-25000" dirty="0"/>
              <a:t>H</a:t>
            </a:r>
            <a:r>
              <a:rPr lang="en-IN" sz="2600" dirty="0"/>
              <a:t>2 domain of the antibody molecule</a:t>
            </a:r>
          </a:p>
          <a:p>
            <a:pPr algn="just">
              <a:lnSpc>
                <a:spcPct val="150000"/>
              </a:lnSpc>
            </a:pPr>
            <a:r>
              <a:rPr lang="en-IN" sz="2600" dirty="0"/>
              <a:t>Each </a:t>
            </a:r>
            <a:r>
              <a:rPr lang="en-IN" sz="2600" dirty="0">
                <a:solidFill>
                  <a:srgbClr val="FF0000"/>
                </a:solidFill>
              </a:rPr>
              <a:t>C1r and C1s monomer contains a catalytic domain and an interaction domain</a:t>
            </a:r>
            <a:r>
              <a:rPr lang="en-IN" sz="2600" dirty="0"/>
              <a:t>; the latter facilitates interaction with C1q or with each other.</a:t>
            </a:r>
          </a:p>
          <a:p>
            <a:pPr algn="just">
              <a:lnSpc>
                <a:spcPct val="150000"/>
              </a:lnSpc>
            </a:pPr>
            <a:r>
              <a:rPr lang="en-IN" sz="2600" dirty="0"/>
              <a:t>Each C1 molecule must bind by its </a:t>
            </a:r>
            <a:r>
              <a:rPr lang="en-IN" sz="2600" dirty="0">
                <a:solidFill>
                  <a:srgbClr val="FF0000"/>
                </a:solidFill>
              </a:rPr>
              <a:t>C1q globular heads to at least two Fc sites for a stable C1-antibody interaction to occur</a:t>
            </a:r>
            <a:r>
              <a:rPr lang="en-IN" sz="2600" dirty="0"/>
              <a:t>.</a:t>
            </a:r>
          </a:p>
        </p:txBody>
      </p:sp>
    </p:spTree>
    <p:extLst>
      <p:ext uri="{BB962C8B-B14F-4D97-AF65-F5344CB8AC3E}">
        <p14:creationId xmlns:p14="http://schemas.microsoft.com/office/powerpoint/2010/main" val="10324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15635" y="297871"/>
            <a:ext cx="11263747" cy="6463147"/>
          </a:xfrm>
        </p:spPr>
        <p:txBody>
          <a:bodyPr>
            <a:normAutofit lnSpcReduction="10000"/>
          </a:bodyPr>
          <a:lstStyle/>
          <a:p>
            <a:pPr algn="just">
              <a:lnSpc>
                <a:spcPct val="150000"/>
              </a:lnSpc>
            </a:pPr>
            <a:r>
              <a:rPr lang="en-IN" sz="2600" dirty="0"/>
              <a:t>When </a:t>
            </a:r>
            <a:r>
              <a:rPr lang="en-IN" sz="2600" dirty="0" err="1"/>
              <a:t>pentameric</a:t>
            </a:r>
            <a:r>
              <a:rPr lang="en-IN" sz="2600" dirty="0"/>
              <a:t> </a:t>
            </a:r>
            <a:r>
              <a:rPr lang="en-IN" sz="2600" dirty="0" err="1">
                <a:solidFill>
                  <a:srgbClr val="FF0000"/>
                </a:solidFill>
              </a:rPr>
              <a:t>IgM</a:t>
            </a:r>
            <a:r>
              <a:rPr lang="en-IN" sz="2600" dirty="0">
                <a:solidFill>
                  <a:srgbClr val="FF0000"/>
                </a:solidFill>
              </a:rPr>
              <a:t> is bound to </a:t>
            </a:r>
            <a:r>
              <a:rPr lang="en-IN" sz="2600" dirty="0"/>
              <a:t>antigen on a target surface  it  assumes  the  </a:t>
            </a:r>
            <a:r>
              <a:rPr lang="en-IN" sz="2600" dirty="0">
                <a:solidFill>
                  <a:srgbClr val="FF0000"/>
                </a:solidFill>
              </a:rPr>
              <a:t>so-called  “staple” configuration</a:t>
            </a:r>
            <a:r>
              <a:rPr lang="en-IN" sz="2600" dirty="0"/>
              <a:t>, in which at least three binding sites for C1q are exposed.</a:t>
            </a:r>
          </a:p>
          <a:p>
            <a:pPr algn="just">
              <a:lnSpc>
                <a:spcPct val="150000"/>
              </a:lnSpc>
            </a:pPr>
            <a:r>
              <a:rPr lang="en-IN" sz="2600" dirty="0"/>
              <a:t>Circulating </a:t>
            </a:r>
            <a:r>
              <a:rPr lang="en-IN" sz="2600" dirty="0" err="1"/>
              <a:t>IgM</a:t>
            </a:r>
            <a:r>
              <a:rPr lang="en-IN" sz="2600" dirty="0"/>
              <a:t>, however, exists as a planar configuration in which the C1q-binding sites are not exposed and therefore cannot activate the complement cascade.</a:t>
            </a:r>
          </a:p>
          <a:p>
            <a:pPr algn="just">
              <a:lnSpc>
                <a:spcPct val="150000"/>
              </a:lnSpc>
            </a:pPr>
            <a:r>
              <a:rPr lang="en-IN" sz="2600" dirty="0"/>
              <a:t>An  </a:t>
            </a:r>
            <a:r>
              <a:rPr lang="en-IN" sz="2600" dirty="0" err="1"/>
              <a:t>IgG</a:t>
            </a:r>
            <a:r>
              <a:rPr lang="en-IN" sz="2600" dirty="0"/>
              <a:t>  molecule, on  the  other  hand, contains  only  a  single C1q-binding site in the C</a:t>
            </a:r>
            <a:r>
              <a:rPr lang="en-IN" sz="2600" baseline="-25000" dirty="0"/>
              <a:t>H</a:t>
            </a:r>
            <a:r>
              <a:rPr lang="en-IN" sz="2600" dirty="0"/>
              <a:t>2 domain of the Fc, so that firm C1q binding is achieved only </a:t>
            </a:r>
            <a:r>
              <a:rPr lang="en-IN" sz="2600" dirty="0">
                <a:solidFill>
                  <a:srgbClr val="FF0000"/>
                </a:solidFill>
              </a:rPr>
              <a:t>when two </a:t>
            </a:r>
            <a:r>
              <a:rPr lang="en-IN" sz="2600" dirty="0" err="1">
                <a:solidFill>
                  <a:srgbClr val="FF0000"/>
                </a:solidFill>
              </a:rPr>
              <a:t>IgG</a:t>
            </a:r>
            <a:r>
              <a:rPr lang="en-IN" sz="2600" dirty="0">
                <a:solidFill>
                  <a:srgbClr val="FF0000"/>
                </a:solidFill>
              </a:rPr>
              <a:t> molecules are within 30–40 nm of each </a:t>
            </a:r>
            <a:r>
              <a:rPr lang="en-IN" sz="2600" dirty="0"/>
              <a:t>other on a target surface or in a complex providing  two  attachment  sites  for  C1q.</a:t>
            </a:r>
          </a:p>
        </p:txBody>
      </p:sp>
    </p:spTree>
    <p:extLst>
      <p:ext uri="{BB962C8B-B14F-4D97-AF65-F5344CB8AC3E}">
        <p14:creationId xmlns:p14="http://schemas.microsoft.com/office/powerpoint/2010/main" val="3856623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873" y="166255"/>
            <a:ext cx="6504709" cy="689467"/>
          </a:xfrm>
        </p:spPr>
        <p:txBody>
          <a:bodyPr>
            <a:normAutofit/>
          </a:bodyPr>
          <a:lstStyle/>
          <a:p>
            <a:pPr algn="just"/>
            <a:r>
              <a:rPr lang="en-US" sz="3200" b="1" dirty="0">
                <a:latin typeface="Times New Roman" panose="02020603050405020304" pitchFamily="18" charset="0"/>
                <a:cs typeface="Times New Roman" panose="02020603050405020304" pitchFamily="18" charset="0"/>
              </a:rPr>
              <a:t>Pathways of complement system</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342290" y="882618"/>
            <a:ext cx="11156983" cy="5476618"/>
          </a:xfrm>
        </p:spPr>
        <p:txBody>
          <a:bodyPr>
            <a:noAutofit/>
          </a:bodyPr>
          <a:lstStyle/>
          <a:p>
            <a:pPr algn="just">
              <a:lnSpc>
                <a:spcPct val="150000"/>
              </a:lnSpc>
            </a:pPr>
            <a:r>
              <a:rPr lang="en-US" sz="2600" dirty="0">
                <a:latin typeface="Times New Roman" panose="02020603050405020304" pitchFamily="18" charset="0"/>
                <a:cs typeface="Times New Roman" panose="02020603050405020304" pitchFamily="18" charset="0"/>
              </a:rPr>
              <a:t>The three pathways of complement activation are</a:t>
            </a:r>
          </a:p>
          <a:p>
            <a:pPr marL="937260" lvl="1" indent="-571500" algn="just">
              <a:lnSpc>
                <a:spcPct val="150000"/>
              </a:lnSpc>
              <a:buFont typeface="+mj-lt"/>
              <a:buAutoNum type="romanLcPeriod"/>
            </a:pPr>
            <a:r>
              <a:rPr lang="en-US" sz="2600" dirty="0">
                <a:latin typeface="Times New Roman" panose="02020603050405020304" pitchFamily="18" charset="0"/>
                <a:cs typeface="Times New Roman" panose="02020603050405020304" pitchFamily="18" charset="0"/>
              </a:rPr>
              <a:t>Classical pathway,</a:t>
            </a:r>
          </a:p>
          <a:p>
            <a:pPr marL="937260" lvl="1" indent="-571500" algn="just">
              <a:lnSpc>
                <a:spcPct val="150000"/>
              </a:lnSpc>
              <a:buFont typeface="+mj-lt"/>
              <a:buAutoNum type="romanLcPeriod"/>
            </a:pPr>
            <a:r>
              <a:rPr lang="en-US" sz="2600" dirty="0">
                <a:latin typeface="Times New Roman" panose="02020603050405020304" pitchFamily="18" charset="0"/>
                <a:cs typeface="Times New Roman" panose="02020603050405020304" pitchFamily="18" charset="0"/>
              </a:rPr>
              <a:t>Alternative pathway and</a:t>
            </a:r>
          </a:p>
          <a:p>
            <a:pPr marL="937260" lvl="1" indent="-571500" algn="just">
              <a:lnSpc>
                <a:spcPct val="150000"/>
              </a:lnSpc>
              <a:buFont typeface="+mj-lt"/>
              <a:buAutoNum type="romanLcPeriod"/>
            </a:pPr>
            <a:r>
              <a:rPr lang="en-US" sz="2600" dirty="0" err="1">
                <a:latin typeface="Times New Roman" panose="02020603050405020304" pitchFamily="18" charset="0"/>
                <a:cs typeface="Times New Roman" panose="02020603050405020304" pitchFamily="18" charset="0"/>
              </a:rPr>
              <a:t>Mannan</a:t>
            </a:r>
            <a:r>
              <a:rPr lang="en-US" sz="2600" dirty="0">
                <a:latin typeface="Times New Roman" panose="02020603050405020304" pitchFamily="18" charset="0"/>
                <a:cs typeface="Times New Roman" panose="02020603050405020304" pitchFamily="18" charset="0"/>
              </a:rPr>
              <a:t> Binding </a:t>
            </a:r>
            <a:r>
              <a:rPr lang="en-US" sz="2600" dirty="0" err="1">
                <a:latin typeface="Times New Roman" panose="02020603050405020304" pitchFamily="18" charset="0"/>
                <a:cs typeface="Times New Roman" panose="02020603050405020304" pitchFamily="18" charset="0"/>
              </a:rPr>
              <a:t>Lectin</a:t>
            </a:r>
            <a:r>
              <a:rPr lang="en-US" sz="2600" dirty="0">
                <a:latin typeface="Times New Roman" panose="02020603050405020304" pitchFamily="18" charset="0"/>
                <a:cs typeface="Times New Roman" panose="02020603050405020304" pitchFamily="18" charset="0"/>
              </a:rPr>
              <a:t> (MBL) pathway</a:t>
            </a:r>
          </a:p>
          <a:p>
            <a:pPr algn="just">
              <a:lnSpc>
                <a:spcPct val="150000"/>
              </a:lnSpc>
            </a:pPr>
            <a:r>
              <a:rPr lang="en-US" sz="2600" dirty="0">
                <a:latin typeface="Times New Roman" panose="02020603050405020304" pitchFamily="18" charset="0"/>
                <a:cs typeface="Times New Roman" panose="02020603050405020304" pitchFamily="18" charset="0"/>
              </a:rPr>
              <a:t>All these pathways end in a common final pathway called the terminal pathway, or the Membrane Attack Complex (MAC).</a:t>
            </a:r>
          </a:p>
          <a:p>
            <a:pPr algn="just">
              <a:lnSpc>
                <a:spcPct val="150000"/>
              </a:lnSpc>
            </a:pPr>
            <a:r>
              <a:rPr lang="en-US" sz="2600" dirty="0">
                <a:latin typeface="Times New Roman" panose="02020603050405020304" pitchFamily="18" charset="0"/>
                <a:cs typeface="Times New Roman" panose="02020603050405020304" pitchFamily="18" charset="0"/>
              </a:rPr>
              <a:t>The MAC is responsible for the </a:t>
            </a:r>
            <a:r>
              <a:rPr lang="en-US" sz="2600" dirty="0" err="1">
                <a:latin typeface="Times New Roman" panose="02020603050405020304" pitchFamily="18" charset="0"/>
                <a:cs typeface="Times New Roman" panose="02020603050405020304" pitchFamily="18" charset="0"/>
              </a:rPr>
              <a:t>lysis</a:t>
            </a:r>
            <a:r>
              <a:rPr lang="en-US" sz="2600" dirty="0">
                <a:latin typeface="Times New Roman" panose="02020603050405020304" pitchFamily="18" charset="0"/>
                <a:cs typeface="Times New Roman" panose="02020603050405020304" pitchFamily="18" charset="0"/>
              </a:rPr>
              <a:t> of extracellular pathogen by forming pores in microorganism’s membrane.</a:t>
            </a:r>
          </a:p>
        </p:txBody>
      </p:sp>
    </p:spTree>
    <p:extLst>
      <p:ext uri="{BB962C8B-B14F-4D97-AF65-F5344CB8AC3E}">
        <p14:creationId xmlns:p14="http://schemas.microsoft.com/office/powerpoint/2010/main" val="2565025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l="22751" t="5936" r="17602" b="11678"/>
          <a:stretch/>
        </p:blipFill>
        <p:spPr>
          <a:xfrm>
            <a:off x="1025237" y="263236"/>
            <a:ext cx="9421092" cy="6517973"/>
          </a:xfrm>
        </p:spPr>
      </p:pic>
      <p:sp>
        <p:nvSpPr>
          <p:cNvPr id="2" name="Rectangle 1"/>
          <p:cNvSpPr/>
          <p:nvPr/>
        </p:nvSpPr>
        <p:spPr>
          <a:xfrm>
            <a:off x="6192970" y="6375468"/>
            <a:ext cx="5652655" cy="338554"/>
          </a:xfrm>
          <a:prstGeom prst="rect">
            <a:avLst/>
          </a:prstGeom>
        </p:spPr>
        <p:txBody>
          <a:bodyPr wrap="square">
            <a:spAutoFit/>
          </a:bodyPr>
          <a:lstStyle/>
          <a:p>
            <a:r>
              <a:rPr lang="en-IN" sz="1600" b="1" dirty="0"/>
              <a:t>Overview of the complement activation pathways</a:t>
            </a:r>
          </a:p>
        </p:txBody>
      </p:sp>
    </p:spTree>
    <p:extLst>
      <p:ext uri="{BB962C8B-B14F-4D97-AF65-F5344CB8AC3E}">
        <p14:creationId xmlns:p14="http://schemas.microsoft.com/office/powerpoint/2010/main" val="2564197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399" y="166254"/>
            <a:ext cx="11610109" cy="6691745"/>
          </a:xfrm>
        </p:spPr>
        <p:txBody>
          <a:bodyPr>
            <a:noAutofit/>
          </a:bodyPr>
          <a:lstStyle/>
          <a:p>
            <a:pPr algn="just">
              <a:lnSpc>
                <a:spcPct val="150000"/>
              </a:lnSpc>
            </a:pPr>
            <a:r>
              <a:rPr lang="en-IN" sz="2300" dirty="0"/>
              <a:t>The classical pathway is </a:t>
            </a:r>
            <a:r>
              <a:rPr lang="en-IN" sz="2300" dirty="0">
                <a:solidFill>
                  <a:schemeClr val="accent3">
                    <a:lumMod val="60000"/>
                    <a:lumOff val="40000"/>
                  </a:schemeClr>
                </a:solidFill>
              </a:rPr>
              <a:t>initiated when C1 binds to antigen-antibody complexes</a:t>
            </a:r>
            <a:r>
              <a:rPr lang="en-IN" sz="2300" dirty="0"/>
              <a:t>.</a:t>
            </a:r>
          </a:p>
          <a:p>
            <a:pPr algn="just">
              <a:lnSpc>
                <a:spcPct val="150000"/>
              </a:lnSpc>
            </a:pPr>
            <a:r>
              <a:rPr lang="en-IN" sz="2300" dirty="0"/>
              <a:t>The alternative pathway is initiated by binding of </a:t>
            </a:r>
            <a:r>
              <a:rPr lang="en-IN" sz="2300" dirty="0">
                <a:solidFill>
                  <a:schemeClr val="accent3">
                    <a:lumMod val="60000"/>
                    <a:lumOff val="40000"/>
                  </a:schemeClr>
                </a:solidFill>
              </a:rPr>
              <a:t>spontaneously generated C3b to activating surfaces such as</a:t>
            </a:r>
            <a:r>
              <a:rPr lang="en-IN" sz="2300" dirty="0"/>
              <a:t> </a:t>
            </a:r>
            <a:r>
              <a:rPr lang="en-IN" sz="2300" dirty="0">
                <a:solidFill>
                  <a:schemeClr val="accent3">
                    <a:lumMod val="60000"/>
                    <a:lumOff val="40000"/>
                  </a:schemeClr>
                </a:solidFill>
              </a:rPr>
              <a:t>microbial cell walls</a:t>
            </a:r>
            <a:r>
              <a:rPr lang="en-IN" sz="2300" dirty="0"/>
              <a:t>.</a:t>
            </a:r>
          </a:p>
          <a:p>
            <a:pPr algn="just">
              <a:lnSpc>
                <a:spcPct val="150000"/>
              </a:lnSpc>
            </a:pPr>
            <a:r>
              <a:rPr lang="en-IN" sz="2300" dirty="0"/>
              <a:t>The </a:t>
            </a:r>
            <a:r>
              <a:rPr lang="en-IN" sz="2300" dirty="0" err="1"/>
              <a:t>lectin</a:t>
            </a:r>
            <a:r>
              <a:rPr lang="en-IN" sz="2300" dirty="0"/>
              <a:t> pathway is initiated by </a:t>
            </a:r>
            <a:r>
              <a:rPr lang="en-IN" sz="2300" dirty="0">
                <a:solidFill>
                  <a:schemeClr val="accent3">
                    <a:lumMod val="60000"/>
                    <a:lumOff val="40000"/>
                  </a:schemeClr>
                </a:solidFill>
              </a:rPr>
              <a:t>binding of the serum protein MBL to the surface of a pathogen</a:t>
            </a:r>
            <a:r>
              <a:rPr lang="en-IN" sz="2300" dirty="0"/>
              <a:t>.</a:t>
            </a:r>
          </a:p>
          <a:p>
            <a:pPr algn="just">
              <a:lnSpc>
                <a:spcPct val="150000"/>
              </a:lnSpc>
            </a:pPr>
            <a:r>
              <a:rPr lang="en-IN" sz="2300" dirty="0"/>
              <a:t> All three pathways generate C3 and C5 </a:t>
            </a:r>
            <a:r>
              <a:rPr lang="en-IN" sz="2300" dirty="0" err="1"/>
              <a:t>convertases</a:t>
            </a:r>
            <a:r>
              <a:rPr lang="en-IN" sz="2300" dirty="0"/>
              <a:t> and bound C5b, which is converted into a membrane-attack  complex  (MAC)  by  a  common  sequence  of  terminal reactions.</a:t>
            </a:r>
          </a:p>
          <a:p>
            <a:pPr algn="just">
              <a:lnSpc>
                <a:spcPct val="150000"/>
              </a:lnSpc>
            </a:pPr>
            <a:r>
              <a:rPr lang="en-IN" sz="2300" dirty="0">
                <a:solidFill>
                  <a:srgbClr val="FF0000"/>
                </a:solidFill>
              </a:rPr>
              <a:t>Hydrolysis of C3 is the major amplification step in all pathways</a:t>
            </a:r>
            <a:r>
              <a:rPr lang="en-IN" sz="2300" dirty="0"/>
              <a:t>, generating large amounts of C3b, which forms part of C5 convertase. C3b also can diffuse away from the activating surface and bind to immune complexes or foreign cell surfaces, where it functions as an </a:t>
            </a:r>
            <a:r>
              <a:rPr lang="en-IN" sz="2300" dirty="0" err="1">
                <a:solidFill>
                  <a:srgbClr val="FF0000"/>
                </a:solidFill>
              </a:rPr>
              <a:t>opsonin</a:t>
            </a:r>
            <a:r>
              <a:rPr lang="en-IN" sz="2300" dirty="0"/>
              <a:t>.</a:t>
            </a:r>
          </a:p>
        </p:txBody>
      </p:sp>
    </p:spTree>
    <p:extLst>
      <p:ext uri="{BB962C8B-B14F-4D97-AF65-F5344CB8AC3E}">
        <p14:creationId xmlns:p14="http://schemas.microsoft.com/office/powerpoint/2010/main" val="251123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
            <p:extLst>
              <p:ext uri="{D42A27DB-BD31-4B8C-83A1-F6EECF244321}">
                <p14:modId xmlns:p14="http://schemas.microsoft.com/office/powerpoint/2010/main" val="1196845329"/>
              </p:ext>
            </p:extLst>
          </p:nvPr>
        </p:nvGraphicFramePr>
        <p:xfrm>
          <a:off x="138545" y="829603"/>
          <a:ext cx="11963808" cy="5868955"/>
        </p:xfrm>
        <a:graphic>
          <a:graphicData uri="http://schemas.openxmlformats.org/drawingml/2006/table">
            <a:tbl>
              <a:tblPr firstRow="1" firstCol="1" bandRow="1">
                <a:tableStyleId>{93296810-A885-4BE3-A3E7-6D5BEEA58F35}</a:tableStyleId>
              </a:tblPr>
              <a:tblGrid>
                <a:gridCol w="1687433">
                  <a:extLst>
                    <a:ext uri="{9D8B030D-6E8A-4147-A177-3AD203B41FA5}">
                      <a16:colId xmlns:a16="http://schemas.microsoft.com/office/drawing/2014/main" val="20000"/>
                    </a:ext>
                  </a:extLst>
                </a:gridCol>
                <a:gridCol w="2074431">
                  <a:extLst>
                    <a:ext uri="{9D8B030D-6E8A-4147-A177-3AD203B41FA5}">
                      <a16:colId xmlns:a16="http://schemas.microsoft.com/office/drawing/2014/main" val="20001"/>
                    </a:ext>
                  </a:extLst>
                </a:gridCol>
                <a:gridCol w="8201944">
                  <a:extLst>
                    <a:ext uri="{9D8B030D-6E8A-4147-A177-3AD203B41FA5}">
                      <a16:colId xmlns:a16="http://schemas.microsoft.com/office/drawing/2014/main" val="20002"/>
                    </a:ext>
                  </a:extLst>
                </a:gridCol>
              </a:tblGrid>
              <a:tr h="438365">
                <a:tc gridSpan="3">
                  <a:txBody>
                    <a:bodyPr/>
                    <a:lstStyle/>
                    <a:p>
                      <a:pPr marL="0" marR="0" algn="ctr">
                        <a:lnSpc>
                          <a:spcPct val="115000"/>
                        </a:lnSpc>
                        <a:spcBef>
                          <a:spcPts val="0"/>
                        </a:spcBef>
                        <a:spcAft>
                          <a:spcPts val="0"/>
                        </a:spcAft>
                      </a:pPr>
                      <a:r>
                        <a:rPr lang="en-IN" sz="2800" dirty="0">
                          <a:effectLst/>
                          <a:latin typeface="Times New Roman" panose="02020603050405020304" pitchFamily="18" charset="0"/>
                          <a:cs typeface="Times New Roman" panose="02020603050405020304" pitchFamily="18" charset="0"/>
                        </a:rPr>
                        <a:t>Components of the Classical Pathway</a:t>
                      </a:r>
                      <a:endParaRPr lang="en-US" sz="2800" dirty="0">
                        <a:effectLst/>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0000"/>
                  </a:ext>
                </a:extLst>
              </a:tr>
              <a:tr h="803999">
                <a:tc>
                  <a:txBody>
                    <a:bodyPr/>
                    <a:lstStyle/>
                    <a:p>
                      <a:pPr marL="0" marR="0" algn="ctr">
                        <a:lnSpc>
                          <a:spcPts val="112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Native</a:t>
                      </a:r>
                      <a:endParaRPr lang="en-US"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component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indent="0" algn="ctr" defTabSz="914400" rtl="0" eaLnBrk="1" fontAlgn="auto" latinLnBrk="0" hangingPunct="1">
                        <a:lnSpc>
                          <a:spcPts val="112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Active </a:t>
                      </a:r>
                    </a:p>
                    <a:p>
                      <a:pPr marL="241300" marR="0" indent="0" algn="ctr" defTabSz="914400" rtl="0" eaLnBrk="1" fontAlgn="auto" latinLnBrk="0" hangingPunct="1">
                        <a:lnSpc>
                          <a:spcPts val="1120"/>
                        </a:lnSpc>
                        <a:spcBef>
                          <a:spcPts val="0"/>
                        </a:spcBef>
                        <a:spcAft>
                          <a:spcPts val="0"/>
                        </a:spcAft>
                        <a:buClrTx/>
                        <a:buSzTx/>
                        <a:buFontTx/>
                        <a:buNone/>
                        <a:tabLst/>
                        <a:defRPr/>
                      </a:pPr>
                      <a:endParaRPr lang="en-IN" sz="2400" dirty="0">
                        <a:effectLst/>
                        <a:latin typeface="Times New Roman" panose="02020603050405020304" pitchFamily="18" charset="0"/>
                        <a:cs typeface="Times New Roman" panose="02020603050405020304" pitchFamily="18" charset="0"/>
                      </a:endParaRPr>
                    </a:p>
                    <a:p>
                      <a:pPr marL="241300" marR="0" indent="0" algn="ctr" defTabSz="914400" rtl="0" eaLnBrk="1" fontAlgn="auto" latinLnBrk="0" hangingPunct="1">
                        <a:lnSpc>
                          <a:spcPts val="112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Component</a:t>
                      </a:r>
                    </a:p>
                    <a:p>
                      <a:pPr marL="241300" marR="0" indent="0" algn="ctr" defTabSz="914400" rtl="0" eaLnBrk="1" fontAlgn="auto" latinLnBrk="0" hangingPunct="1">
                        <a:lnSpc>
                          <a:spcPts val="1120"/>
                        </a:lnSpc>
                        <a:spcBef>
                          <a:spcPts val="0"/>
                        </a:spcBef>
                        <a:spcAft>
                          <a:spcPts val="0"/>
                        </a:spcAft>
                        <a:buClrTx/>
                        <a:buSzTx/>
                        <a:buFontTx/>
                        <a:buNone/>
                        <a:tabLst/>
                        <a:defRPr/>
                      </a:pPr>
                      <a:endParaRPr lang="en-IN" sz="2400" dirty="0">
                        <a:effectLst/>
                        <a:latin typeface="Times New Roman" panose="02020603050405020304" pitchFamily="18" charset="0"/>
                        <a:cs typeface="Times New Roman" panose="02020603050405020304" pitchFamily="18" charset="0"/>
                      </a:endParaRPr>
                    </a:p>
                    <a:p>
                      <a:pPr marL="241300" marR="0" indent="0" algn="ctr" defTabSz="914400" rtl="0" eaLnBrk="1" fontAlgn="auto" latinLnBrk="0" hangingPunct="1">
                        <a:lnSpc>
                          <a:spcPts val="112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(s)</a:t>
                      </a:r>
                      <a:endParaRPr lang="en-US" sz="2400" dirty="0">
                        <a:effectLst/>
                        <a:latin typeface="Times New Roman" panose="02020603050405020304" pitchFamily="18" charset="0"/>
                        <a:cs typeface="Times New Roman" panose="02020603050405020304" pitchFamily="18" charset="0"/>
                      </a:endParaRPr>
                    </a:p>
                    <a:p>
                      <a:pPr marL="241300" marR="0" algn="ctr">
                        <a:lnSpc>
                          <a:spcPts val="1120"/>
                        </a:lnSpc>
                        <a:spcBef>
                          <a:spcPts val="0"/>
                        </a:spcBef>
                        <a:spcAft>
                          <a:spcPts val="0"/>
                        </a:spcAft>
                      </a:pP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8590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Function(s)</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5648">
                <a:tc rowSpan="3">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C1(</a:t>
                      </a:r>
                      <a:r>
                        <a:rPr lang="en-IN" sz="2400" dirty="0" err="1">
                          <a:effectLst/>
                          <a:latin typeface="Times New Roman" panose="02020603050405020304" pitchFamily="18" charset="0"/>
                          <a:cs typeface="Times New Roman" panose="02020603050405020304" pitchFamily="18" charset="0"/>
                        </a:rPr>
                        <a:t>q,r,s</a:t>
                      </a:r>
                      <a:r>
                        <a:rPr lang="en-IN" sz="2400" dirty="0">
                          <a:effectLst/>
                          <a:latin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     C1q</a:t>
                      </a:r>
                      <a:endParaRPr lang="en-US" sz="2400" b="1"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to antibody that has bound antigen, activates C1r.</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7749">
                <a:tc vMerge="1">
                  <a:txBody>
                    <a:bodyPr/>
                    <a:lstStyle/>
                    <a:p>
                      <a:endParaRPr lang="en-US"/>
                    </a:p>
                  </a:txBody>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C1r</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Cleaves C1s to activate protease function.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37749">
                <a:tc vMerge="1">
                  <a:txBody>
                    <a:bodyPr/>
                    <a:lstStyle/>
                    <a:p>
                      <a:pPr marL="0" marR="0">
                        <a:lnSpc>
                          <a:spcPct val="115000"/>
                        </a:lnSpc>
                        <a:spcBef>
                          <a:spcPts val="0"/>
                        </a:spcBef>
                        <a:spcAft>
                          <a:spcPts val="0"/>
                        </a:spcAft>
                      </a:pPr>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C1s</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Cleaves C2 and C4.</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37749">
                <a:tc rowSpan="2">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C2</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C2a</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Active enzyme Large fragment.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75648">
                <a:tc vMerge="1">
                  <a:txBody>
                    <a:bodyPr/>
                    <a:lstStyle/>
                    <a:p>
                      <a:endParaRPr lang="en-US"/>
                    </a:p>
                  </a:txBody>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C2b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Small part enzyme of classical pathway; cleaves C3 and C5.</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37749">
                <a:tc rowSpan="2">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C3a</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Mediates inflammation; </a:t>
                      </a:r>
                      <a:r>
                        <a:rPr lang="en-IN" sz="2400" dirty="0" err="1">
                          <a:effectLst/>
                          <a:latin typeface="Times New Roman" panose="02020603050405020304" pitchFamily="18" charset="0"/>
                          <a:cs typeface="Times New Roman" panose="02020603050405020304" pitchFamily="18" charset="0"/>
                        </a:rPr>
                        <a:t>anaphylatoxin</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767869">
                <a:tc vMerge="1">
                  <a:txBody>
                    <a:bodyPr/>
                    <a:lstStyle/>
                    <a:p>
                      <a:endParaRPr lang="en-US"/>
                    </a:p>
                  </a:txBody>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C3b</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C5 for cleavage by C2b. Binds cell surfaces for</a:t>
                      </a:r>
                      <a:r>
                        <a:rPr lang="en-US" sz="2400" baseline="0" dirty="0">
                          <a:effectLst/>
                          <a:latin typeface="Times New Roman" panose="02020603050405020304" pitchFamily="18" charset="0"/>
                          <a:cs typeface="Times New Roman" panose="02020603050405020304" pitchFamily="18" charset="0"/>
                        </a:rPr>
                        <a:t> </a:t>
                      </a:r>
                      <a:r>
                        <a:rPr lang="en-IN" sz="2400" dirty="0" err="1">
                          <a:effectLst/>
                          <a:latin typeface="Times New Roman" panose="02020603050405020304" pitchFamily="18" charset="0"/>
                          <a:cs typeface="Times New Roman" panose="02020603050405020304" pitchFamily="18" charset="0"/>
                        </a:rPr>
                        <a:t>opsonization</a:t>
                      </a:r>
                      <a:r>
                        <a:rPr lang="en-IN" sz="2400" dirty="0">
                          <a:effectLst/>
                          <a:latin typeface="Times New Roman" panose="02020603050405020304" pitchFamily="18" charset="0"/>
                          <a:cs typeface="Times New Roman" panose="02020603050405020304" pitchFamily="18" charset="0"/>
                        </a:rPr>
                        <a:t> and activation of alternate pathway.</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37749">
                <a:tc rowSpan="2">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C4</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C4a</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Mediates inflammation.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510058">
                <a:tc vMerge="1">
                  <a:txBody>
                    <a:bodyPr/>
                    <a:lstStyle/>
                    <a:p>
                      <a:endParaRPr lang="en-US"/>
                    </a:p>
                  </a:txBody>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C4b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ts val="1120"/>
                        </a:lnSpc>
                        <a:spcBef>
                          <a:spcPts val="0"/>
                        </a:spcBef>
                        <a:spcAft>
                          <a:spcPts val="0"/>
                        </a:spcAft>
                      </a:pPr>
                      <a:endParaRPr lang="en-IN" sz="2400" dirty="0">
                        <a:effectLst/>
                        <a:latin typeface="Times New Roman" panose="02020603050405020304" pitchFamily="18" charset="0"/>
                        <a:cs typeface="Times New Roman" panose="02020603050405020304" pitchFamily="18" charset="0"/>
                      </a:endParaRPr>
                    </a:p>
                    <a:p>
                      <a:pPr marL="0" marR="0">
                        <a:lnSpc>
                          <a:spcPts val="112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C2 for cleavage by C1s. Binds cell surfaces for</a:t>
                      </a:r>
                      <a:r>
                        <a:rPr lang="en-US" sz="2400" baseline="0" dirty="0">
                          <a:effectLst/>
                          <a:latin typeface="Times New Roman" panose="02020603050405020304" pitchFamily="18" charset="0"/>
                          <a:cs typeface="Times New Roman" panose="02020603050405020304" pitchFamily="18" charset="0"/>
                        </a:rPr>
                        <a:t> </a:t>
                      </a:r>
                    </a:p>
                    <a:p>
                      <a:pPr marL="0" marR="0">
                        <a:lnSpc>
                          <a:spcPts val="1120"/>
                        </a:lnSpc>
                        <a:spcBef>
                          <a:spcPts val="0"/>
                        </a:spcBef>
                        <a:spcAft>
                          <a:spcPts val="0"/>
                        </a:spcAft>
                      </a:pPr>
                      <a:endParaRPr lang="en-US" sz="2400" baseline="0" dirty="0">
                        <a:effectLst/>
                        <a:latin typeface="Times New Roman" panose="02020603050405020304" pitchFamily="18" charset="0"/>
                        <a:cs typeface="Times New Roman" panose="02020603050405020304" pitchFamily="18" charset="0"/>
                      </a:endParaRPr>
                    </a:p>
                    <a:p>
                      <a:pPr marL="0" marR="0">
                        <a:lnSpc>
                          <a:spcPts val="1120"/>
                        </a:lnSpc>
                        <a:spcBef>
                          <a:spcPts val="0"/>
                        </a:spcBef>
                        <a:spcAft>
                          <a:spcPts val="0"/>
                        </a:spcAft>
                      </a:pPr>
                      <a:r>
                        <a:rPr lang="en-IN" sz="2400" dirty="0" err="1">
                          <a:effectLst/>
                          <a:latin typeface="Times New Roman" panose="02020603050405020304" pitchFamily="18" charset="0"/>
                          <a:cs typeface="Times New Roman" panose="02020603050405020304" pitchFamily="18" charset="0"/>
                        </a:rPr>
                        <a:t>opsonization</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Rectangle 2"/>
          <p:cNvSpPr/>
          <p:nvPr/>
        </p:nvSpPr>
        <p:spPr>
          <a:xfrm>
            <a:off x="392815" y="76603"/>
            <a:ext cx="6666633" cy="584775"/>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1.Classical pathway:</a:t>
            </a:r>
            <a:endParaRPr lang="en-US" sz="3200" dirty="0"/>
          </a:p>
        </p:txBody>
      </p:sp>
    </p:spTree>
    <p:extLst>
      <p:ext uri="{BB962C8B-B14F-4D97-AF65-F5344CB8AC3E}">
        <p14:creationId xmlns:p14="http://schemas.microsoft.com/office/powerpoint/2010/main" val="2057781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678" y="830"/>
            <a:ext cx="5867400" cy="656850"/>
          </a:xfrm>
        </p:spPr>
        <p:txBody>
          <a:bodyPr>
            <a:noAutofit/>
          </a:bodyPr>
          <a:lstStyle/>
          <a:p>
            <a:r>
              <a:rPr lang="en-US" sz="4000" b="1" dirty="0">
                <a:solidFill>
                  <a:schemeClr val="accent6"/>
                </a:solidFill>
                <a:latin typeface="Times New Roman" panose="02020603050405020304" pitchFamily="18" charset="0"/>
                <a:cs typeface="Times New Roman" panose="02020603050405020304" pitchFamily="18" charset="0"/>
              </a:rPr>
              <a:t> </a:t>
            </a:r>
            <a:r>
              <a:rPr lang="en-US" sz="2600" b="1" dirty="0">
                <a:solidFill>
                  <a:schemeClr val="accent6"/>
                </a:solidFill>
                <a:latin typeface="Times New Roman" panose="02020603050405020304" pitchFamily="18" charset="0"/>
                <a:cs typeface="Times New Roman" panose="02020603050405020304" pitchFamily="18" charset="0"/>
              </a:rPr>
              <a:t>Classical pathway:</a:t>
            </a:r>
            <a:endParaRPr lang="en-US" sz="2600"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235527" y="613671"/>
            <a:ext cx="11436520" cy="6147344"/>
          </a:xfrm>
        </p:spPr>
        <p:txBody>
          <a:bodyPr>
            <a:normAutofit fontScale="92500" lnSpcReduction="10000"/>
          </a:bodyPr>
          <a:lstStyle/>
          <a:p>
            <a:pPr algn="just">
              <a:lnSpc>
                <a:spcPct val="150000"/>
              </a:lnSpc>
            </a:pPr>
            <a:r>
              <a:rPr lang="en-US" sz="2600" dirty="0">
                <a:latin typeface="Times New Roman" panose="02020603050405020304" pitchFamily="18" charset="0"/>
                <a:cs typeface="Times New Roman" panose="02020603050405020304" pitchFamily="18" charset="0"/>
              </a:rPr>
              <a:t>Classical pathway of complement activation is initiated by the binding of </a:t>
            </a:r>
            <a:r>
              <a:rPr lang="en-US" sz="2600" dirty="0" err="1">
                <a:latin typeface="Times New Roman" panose="02020603050405020304" pitchFamily="18" charset="0"/>
                <a:cs typeface="Times New Roman" panose="02020603050405020304" pitchFamily="18" charset="0"/>
              </a:rPr>
              <a:t>IgG</a:t>
            </a:r>
            <a:r>
              <a:rPr lang="en-US" sz="2600" dirty="0">
                <a:latin typeface="Times New Roman" panose="02020603050405020304" pitchFamily="18" charset="0"/>
                <a:cs typeface="Times New Roman" panose="02020603050405020304" pitchFamily="18" charset="0"/>
              </a:rPr>
              <a:t> (IgG1, IgG2 or IgG3) or </a:t>
            </a:r>
            <a:r>
              <a:rPr lang="en-US" sz="2600" dirty="0" err="1">
                <a:latin typeface="Times New Roman" panose="02020603050405020304" pitchFamily="18" charset="0"/>
                <a:cs typeface="Times New Roman" panose="02020603050405020304" pitchFamily="18" charset="0"/>
              </a:rPr>
              <a:t>IgM</a:t>
            </a:r>
            <a:r>
              <a:rPr lang="en-US" sz="2600" dirty="0">
                <a:latin typeface="Times New Roman" panose="02020603050405020304" pitchFamily="18" charset="0"/>
                <a:cs typeface="Times New Roman" panose="02020603050405020304" pitchFamily="18" charset="0"/>
              </a:rPr>
              <a:t> to antigen. </a:t>
            </a:r>
          </a:p>
          <a:p>
            <a:pPr algn="just">
              <a:lnSpc>
                <a:spcPct val="150000"/>
              </a:lnSpc>
            </a:pPr>
            <a:r>
              <a:rPr lang="en-US" sz="2600" dirty="0">
                <a:latin typeface="Times New Roman" panose="02020603050405020304" pitchFamily="18" charset="0"/>
                <a:cs typeface="Times New Roman" panose="02020603050405020304" pitchFamily="18" charset="0"/>
              </a:rPr>
              <a:t>After antibody binds to antigen, </a:t>
            </a:r>
            <a:r>
              <a:rPr lang="en-US" sz="2600" dirty="0">
                <a:solidFill>
                  <a:srgbClr val="FF0000"/>
                </a:solidFill>
                <a:latin typeface="Times New Roman" panose="02020603050405020304" pitchFamily="18" charset="0"/>
                <a:cs typeface="Times New Roman" panose="02020603050405020304" pitchFamily="18" charset="0"/>
              </a:rPr>
              <a:t>conformational changes occur in constant region of the antibody</a:t>
            </a:r>
            <a:r>
              <a:rPr lang="en-US" sz="2600" dirty="0">
                <a:latin typeface="Times New Roman" panose="02020603050405020304" pitchFamily="18" charset="0"/>
                <a:cs typeface="Times New Roman" panose="02020603050405020304" pitchFamily="18" charset="0"/>
              </a:rPr>
              <a:t>, allowing C1q to bind </a:t>
            </a:r>
            <a:r>
              <a:rPr lang="en-US" sz="2600" dirty="0">
                <a:solidFill>
                  <a:srgbClr val="FF0000"/>
                </a:solidFill>
                <a:latin typeface="Times New Roman" panose="02020603050405020304" pitchFamily="18" charset="0"/>
                <a:cs typeface="Times New Roman" panose="02020603050405020304" pitchFamily="18" charset="0"/>
              </a:rPr>
              <a:t>(C1q binds to a single </a:t>
            </a:r>
            <a:r>
              <a:rPr lang="en-US" sz="2600" dirty="0" err="1">
                <a:solidFill>
                  <a:srgbClr val="FF0000"/>
                </a:solidFill>
                <a:latin typeface="Times New Roman" panose="02020603050405020304" pitchFamily="18" charset="0"/>
                <a:cs typeface="Times New Roman" panose="02020603050405020304" pitchFamily="18" charset="0"/>
              </a:rPr>
              <a:t>IgM</a:t>
            </a:r>
            <a:r>
              <a:rPr lang="en-US" sz="2600" dirty="0">
                <a:solidFill>
                  <a:srgbClr val="FF0000"/>
                </a:solidFill>
                <a:latin typeface="Times New Roman" panose="02020603050405020304" pitchFamily="18" charset="0"/>
                <a:cs typeface="Times New Roman" panose="02020603050405020304" pitchFamily="18" charset="0"/>
              </a:rPr>
              <a:t> molecule or aggregated </a:t>
            </a:r>
            <a:r>
              <a:rPr lang="en-US" sz="2600" dirty="0" err="1">
                <a:solidFill>
                  <a:srgbClr val="FF0000"/>
                </a:solidFill>
                <a:latin typeface="Times New Roman" panose="02020603050405020304" pitchFamily="18" charset="0"/>
                <a:cs typeface="Times New Roman" panose="02020603050405020304" pitchFamily="18" charset="0"/>
              </a:rPr>
              <a:t>IgG</a:t>
            </a:r>
            <a:r>
              <a:rPr lang="en-US" sz="2600" dirty="0">
                <a:solidFill>
                  <a:srgbClr val="FF0000"/>
                </a:solidFill>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a:t>
            </a:r>
          </a:p>
          <a:p>
            <a:pPr algn="just">
              <a:lnSpc>
                <a:spcPct val="150000"/>
              </a:lnSpc>
            </a:pPr>
            <a:r>
              <a:rPr lang="en-US" sz="2600" dirty="0">
                <a:latin typeface="Times New Roman" panose="02020603050405020304" pitchFamily="18" charset="0"/>
                <a:cs typeface="Times New Roman" panose="02020603050405020304" pitchFamily="18" charset="0"/>
              </a:rPr>
              <a:t>C1 is a </a:t>
            </a:r>
            <a:r>
              <a:rPr lang="en-US" sz="2600" dirty="0" err="1">
                <a:latin typeface="Times New Roman" panose="02020603050405020304" pitchFamily="18" charset="0"/>
                <a:cs typeface="Times New Roman" panose="02020603050405020304" pitchFamily="18" charset="0"/>
              </a:rPr>
              <a:t>pentameric</a:t>
            </a:r>
            <a:r>
              <a:rPr lang="en-US" sz="2600" dirty="0">
                <a:latin typeface="Times New Roman" panose="02020603050405020304" pitchFamily="18" charset="0"/>
                <a:cs typeface="Times New Roman" panose="02020603050405020304" pitchFamily="18" charset="0"/>
              </a:rPr>
              <a:t> molecular complex consisting of a single C1q, two C1r and two C1s peptides.</a:t>
            </a:r>
          </a:p>
          <a:p>
            <a:pPr algn="just">
              <a:lnSpc>
                <a:spcPct val="150000"/>
              </a:lnSpc>
            </a:pPr>
            <a:r>
              <a:rPr lang="en-US" sz="2800" dirty="0">
                <a:latin typeface="Times New Roman" panose="02020603050405020304" pitchFamily="18" charset="0"/>
                <a:cs typeface="Times New Roman" panose="02020603050405020304" pitchFamily="18" charset="0"/>
              </a:rPr>
              <a:t>The classical pathway can also be </a:t>
            </a:r>
            <a:r>
              <a:rPr lang="en-US" sz="2800" dirty="0">
                <a:solidFill>
                  <a:srgbClr val="FF0000"/>
                </a:solidFill>
                <a:latin typeface="Times New Roman" panose="02020603050405020304" pitchFamily="18" charset="0"/>
                <a:cs typeface="Times New Roman" panose="02020603050405020304" pitchFamily="18" charset="0"/>
              </a:rPr>
              <a:t>activated by mechanisms independent of Ab.</a:t>
            </a:r>
            <a:r>
              <a:rPr lang="en-US" sz="2800" dirty="0">
                <a:latin typeface="Times New Roman" panose="02020603050405020304" pitchFamily="18" charset="0"/>
                <a:cs typeface="Times New Roman" panose="02020603050405020304" pitchFamily="18" charset="0"/>
              </a:rPr>
              <a:t> </a:t>
            </a:r>
            <a:r>
              <a:rPr lang="en-US" sz="2800" dirty="0">
                <a:solidFill>
                  <a:schemeClr val="accent3">
                    <a:lumMod val="60000"/>
                    <a:lumOff val="40000"/>
                  </a:schemeClr>
                </a:solidFill>
                <a:latin typeface="Times New Roman" panose="02020603050405020304" pitchFamily="18" charset="0"/>
                <a:cs typeface="Times New Roman" panose="02020603050405020304" pitchFamily="18" charset="0"/>
              </a:rPr>
              <a:t>Heparin (a </a:t>
            </a:r>
            <a:r>
              <a:rPr lang="en-US" sz="2800" dirty="0" err="1">
                <a:solidFill>
                  <a:schemeClr val="accent3">
                    <a:lumMod val="60000"/>
                    <a:lumOff val="40000"/>
                  </a:schemeClr>
                </a:solidFill>
                <a:latin typeface="Times New Roman" panose="02020603050405020304" pitchFamily="18" charset="0"/>
                <a:cs typeface="Times New Roman" panose="02020603050405020304" pitchFamily="18" charset="0"/>
              </a:rPr>
              <a:t>polyanionic</a:t>
            </a:r>
            <a:r>
              <a:rPr lang="en-US" sz="2800" dirty="0">
                <a:solidFill>
                  <a:schemeClr val="accent3">
                    <a:lumMod val="60000"/>
                    <a:lumOff val="40000"/>
                  </a:schemeClr>
                </a:solidFill>
                <a:latin typeface="Times New Roman" panose="02020603050405020304" pitchFamily="18" charset="0"/>
                <a:cs typeface="Times New Roman" panose="02020603050405020304" pitchFamily="18" charset="0"/>
              </a:rPr>
              <a:t> anticoagulant) and protamine (a </a:t>
            </a:r>
            <a:r>
              <a:rPr lang="en-US" sz="2800" dirty="0" err="1">
                <a:solidFill>
                  <a:schemeClr val="accent3">
                    <a:lumMod val="60000"/>
                    <a:lumOff val="40000"/>
                  </a:schemeClr>
                </a:solidFill>
                <a:latin typeface="Times New Roman" panose="02020603050405020304" pitchFamily="18" charset="0"/>
                <a:cs typeface="Times New Roman" panose="02020603050405020304" pitchFamily="18" charset="0"/>
              </a:rPr>
              <a:t>polycation</a:t>
            </a:r>
            <a:r>
              <a:rPr lang="en-US" sz="2800" dirty="0">
                <a:solidFill>
                  <a:schemeClr val="accent3">
                    <a:lumMod val="60000"/>
                    <a:lumOff val="40000"/>
                  </a:schemeClr>
                </a:solidFill>
                <a:latin typeface="Times New Roman" panose="02020603050405020304" pitchFamily="18" charset="0"/>
                <a:cs typeface="Times New Roman" panose="02020603050405020304" pitchFamily="18" charset="0"/>
              </a:rPr>
              <a:t> that is used to block heparin)</a:t>
            </a:r>
            <a:r>
              <a:rPr lang="en-US" sz="2800" dirty="0">
                <a:latin typeface="Times New Roman" panose="02020603050405020304" pitchFamily="18" charset="0"/>
                <a:cs typeface="Times New Roman" panose="02020603050405020304" pitchFamily="18" charset="0"/>
              </a:rPr>
              <a:t>, when present in </a:t>
            </a:r>
            <a:r>
              <a:rPr lang="en-US" sz="2800" dirty="0" err="1">
                <a:latin typeface="Times New Roman" panose="02020603050405020304" pitchFamily="18" charset="0"/>
                <a:cs typeface="Times New Roman" panose="02020603050405020304" pitchFamily="18" charset="0"/>
              </a:rPr>
              <a:t>equimolar</a:t>
            </a:r>
            <a:r>
              <a:rPr lang="en-US" sz="2800" dirty="0">
                <a:latin typeface="Times New Roman" panose="02020603050405020304" pitchFamily="18" charset="0"/>
                <a:cs typeface="Times New Roman" panose="02020603050405020304" pitchFamily="18" charset="0"/>
              </a:rPr>
              <a:t> concentrations, can activate the classical pathway. Various other </a:t>
            </a:r>
            <a:r>
              <a:rPr lang="en-US" sz="2800" dirty="0" err="1">
                <a:latin typeface="Times New Roman" panose="02020603050405020304" pitchFamily="18" charset="0"/>
                <a:cs typeface="Times New Roman" panose="02020603050405020304" pitchFamily="18" charset="0"/>
              </a:rPr>
              <a:t>polyanions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DNA and RNA) are thought to be able to react directly with C1q to activate the classical pathway.</a:t>
            </a:r>
          </a:p>
        </p:txBody>
      </p:sp>
    </p:spTree>
    <p:extLst>
      <p:ext uri="{BB962C8B-B14F-4D97-AF65-F5344CB8AC3E}">
        <p14:creationId xmlns:p14="http://schemas.microsoft.com/office/powerpoint/2010/main" val="2306812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7927" y="297873"/>
            <a:ext cx="11277600" cy="6374776"/>
          </a:xfrm>
        </p:spPr>
        <p:txBody>
          <a:bodyPr>
            <a:normAutofit/>
          </a:bodyPr>
          <a:lstStyle/>
          <a:p>
            <a:pPr algn="just"/>
            <a:r>
              <a:rPr lang="en-IN" sz="2600" dirty="0">
                <a:solidFill>
                  <a:schemeClr val="accent3">
                    <a:lumMod val="60000"/>
                    <a:lumOff val="40000"/>
                  </a:schemeClr>
                </a:solidFill>
              </a:rPr>
              <a:t>Binding of C1q to Fc binding sites induces </a:t>
            </a:r>
            <a:r>
              <a:rPr lang="en-IN" sz="2600" dirty="0"/>
              <a:t>a conformational change in </a:t>
            </a:r>
            <a:r>
              <a:rPr lang="en-IN" sz="2600" dirty="0">
                <a:solidFill>
                  <a:schemeClr val="accent3">
                    <a:lumMod val="60000"/>
                    <a:lumOff val="40000"/>
                  </a:schemeClr>
                </a:solidFill>
              </a:rPr>
              <a:t>C1r that converts C1r to an active serine protease enzyme</a:t>
            </a:r>
            <a:r>
              <a:rPr lang="en-IN" sz="2600" dirty="0"/>
              <a:t>, C1r, which then cleaves C1s to a similar active enzyme, C1s. C1s has two substrates, C4 and C2.</a:t>
            </a:r>
          </a:p>
          <a:p>
            <a:pPr algn="just"/>
            <a:r>
              <a:rPr lang="en-IN" sz="2600" dirty="0"/>
              <a:t>Activated C1s cleaves C4 into two fragments, C4a (soluble, weak </a:t>
            </a:r>
            <a:r>
              <a:rPr lang="en-IN" sz="2600" dirty="0" err="1"/>
              <a:t>anaphylotoxin</a:t>
            </a:r>
            <a:r>
              <a:rPr lang="en-IN" sz="2600" dirty="0"/>
              <a:t>) and C4b (bound to cell surface, </a:t>
            </a:r>
            <a:r>
              <a:rPr lang="en-IN" sz="2600" dirty="0" err="1"/>
              <a:t>opsonin</a:t>
            </a:r>
            <a:r>
              <a:rPr lang="en-IN" sz="2600" dirty="0"/>
              <a:t>).</a:t>
            </a:r>
          </a:p>
          <a:p>
            <a:pPr algn="just"/>
            <a:r>
              <a:rPr lang="en-IN" sz="2600" dirty="0"/>
              <a:t>The C4b fragment attaches to the target surface in the vicinity of C1, and the C2 </a:t>
            </a:r>
            <a:r>
              <a:rPr lang="en-IN" sz="2600" dirty="0" err="1"/>
              <a:t>proenzyme</a:t>
            </a:r>
            <a:r>
              <a:rPr lang="en-IN" sz="2600" dirty="0"/>
              <a:t> then attaches to the exposed binding site on C4b, where the C2 is then cleaved by the </a:t>
            </a:r>
            <a:r>
              <a:rPr lang="en-IN" sz="2600" dirty="0" err="1"/>
              <a:t>neighboring</a:t>
            </a:r>
            <a:r>
              <a:rPr lang="en-IN" sz="2600" dirty="0"/>
              <a:t> C1s:  the smaller fragment (C2b) diffuses away.</a:t>
            </a:r>
          </a:p>
          <a:p>
            <a:pPr algn="just"/>
            <a:r>
              <a:rPr lang="en-IN" sz="2600" dirty="0">
                <a:solidFill>
                  <a:schemeClr val="accent3">
                    <a:lumMod val="60000"/>
                    <a:lumOff val="40000"/>
                  </a:schemeClr>
                </a:solidFill>
              </a:rPr>
              <a:t>The resulting C4b2a complex is called C3 convertase</a:t>
            </a:r>
            <a:r>
              <a:rPr lang="en-IN" sz="2600" dirty="0"/>
              <a:t>, referring to its role in converting the C3 into an active form.</a:t>
            </a:r>
          </a:p>
          <a:p>
            <a:pPr algn="just"/>
            <a:r>
              <a:rPr lang="en-IN" sz="2600" dirty="0"/>
              <a:t> The smaller fragment from C4 cleavage, </a:t>
            </a:r>
            <a:r>
              <a:rPr lang="en-IN" sz="2600" dirty="0">
                <a:solidFill>
                  <a:schemeClr val="accent3">
                    <a:lumMod val="60000"/>
                    <a:lumOff val="40000"/>
                  </a:schemeClr>
                </a:solidFill>
              </a:rPr>
              <a:t>C4a, is an </a:t>
            </a:r>
            <a:r>
              <a:rPr lang="en-IN" sz="2600" dirty="0" err="1">
                <a:solidFill>
                  <a:schemeClr val="accent3">
                    <a:lumMod val="60000"/>
                    <a:lumOff val="40000"/>
                  </a:schemeClr>
                </a:solidFill>
              </a:rPr>
              <a:t>anaphylatoxin</a:t>
            </a:r>
            <a:r>
              <a:rPr lang="en-IN" sz="2600" dirty="0">
                <a:solidFill>
                  <a:schemeClr val="accent3">
                    <a:lumMod val="60000"/>
                    <a:lumOff val="40000"/>
                  </a:schemeClr>
                </a:solidFill>
              </a:rPr>
              <a:t>, or mediator of inflammation</a:t>
            </a:r>
            <a:r>
              <a:rPr lang="en-IN" sz="2600" dirty="0"/>
              <a:t>, which does not participate directly in the complement cascade</a:t>
            </a:r>
          </a:p>
        </p:txBody>
      </p:sp>
      <p:cxnSp>
        <p:nvCxnSpPr>
          <p:cNvPr id="4" name="Straight Connector 3"/>
          <p:cNvCxnSpPr/>
          <p:nvPr/>
        </p:nvCxnSpPr>
        <p:spPr>
          <a:xfrm>
            <a:off x="10037627" y="761630"/>
            <a:ext cx="4364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9554777" y="1185503"/>
            <a:ext cx="4364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492702" y="2039616"/>
            <a:ext cx="4364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671461" y="1188499"/>
            <a:ext cx="4364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0037627" y="3707778"/>
            <a:ext cx="4364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041082" y="4552906"/>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4467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49379" y="768943"/>
            <a:ext cx="11360728" cy="5645729"/>
          </a:xfrm>
        </p:spPr>
        <p:txBody>
          <a:bodyPr>
            <a:normAutofit/>
          </a:bodyPr>
          <a:lstStyle/>
          <a:p>
            <a:pPr algn="just"/>
            <a:r>
              <a:rPr lang="en-IN" sz="2600" dirty="0"/>
              <a:t>The </a:t>
            </a:r>
            <a:r>
              <a:rPr lang="en-IN" sz="2600" dirty="0">
                <a:solidFill>
                  <a:schemeClr val="accent3">
                    <a:lumMod val="60000"/>
                    <a:lumOff val="40000"/>
                  </a:schemeClr>
                </a:solidFill>
              </a:rPr>
              <a:t>native C3 component consists of two polypeptide chains, </a:t>
            </a:r>
            <a:r>
              <a:rPr lang="el-GR" sz="2600" dirty="0">
                <a:solidFill>
                  <a:schemeClr val="accent3">
                    <a:lumMod val="60000"/>
                    <a:lumOff val="40000"/>
                  </a:schemeClr>
                </a:solidFill>
              </a:rPr>
              <a:t>α</a:t>
            </a:r>
            <a:r>
              <a:rPr lang="en-IN" sz="2600" dirty="0">
                <a:solidFill>
                  <a:schemeClr val="accent3">
                    <a:lumMod val="60000"/>
                    <a:lumOff val="40000"/>
                  </a:schemeClr>
                </a:solidFill>
              </a:rPr>
              <a:t> and </a:t>
            </a:r>
            <a:r>
              <a:rPr lang="el-GR" sz="2600" dirty="0">
                <a:solidFill>
                  <a:schemeClr val="accent3">
                    <a:lumMod val="60000"/>
                    <a:lumOff val="40000"/>
                  </a:schemeClr>
                </a:solidFill>
              </a:rPr>
              <a:t>β</a:t>
            </a:r>
            <a:r>
              <a:rPr lang="en-IN" sz="2600" dirty="0"/>
              <a:t>. Hydrolysis of a short fragment (C3a) from the amino terminus of the </a:t>
            </a:r>
            <a:r>
              <a:rPr lang="el-GR" sz="2600" dirty="0"/>
              <a:t>α</a:t>
            </a:r>
            <a:r>
              <a:rPr lang="en-IN" sz="2600" dirty="0"/>
              <a:t> chain by the C3 convertase generates C3b</a:t>
            </a:r>
          </a:p>
          <a:p>
            <a:pPr algn="just"/>
            <a:r>
              <a:rPr lang="en-IN" sz="2600" dirty="0"/>
              <a:t>A </a:t>
            </a:r>
            <a:r>
              <a:rPr lang="en-IN" sz="2600" dirty="0">
                <a:solidFill>
                  <a:schemeClr val="accent3">
                    <a:lumMod val="60000"/>
                    <a:lumOff val="40000"/>
                  </a:schemeClr>
                </a:solidFill>
              </a:rPr>
              <a:t>single C3 convertase molecule can generate over 200 molecules of C3b</a:t>
            </a:r>
            <a:r>
              <a:rPr lang="en-IN" sz="2600" dirty="0"/>
              <a:t>, resulting in tremendous amplification at this step of the sequence.</a:t>
            </a:r>
          </a:p>
          <a:p>
            <a:pPr algn="just"/>
            <a:r>
              <a:rPr lang="en-IN" sz="2600" dirty="0">
                <a:solidFill>
                  <a:schemeClr val="accent3">
                    <a:lumMod val="60000"/>
                    <a:lumOff val="40000"/>
                  </a:schemeClr>
                </a:solidFill>
              </a:rPr>
              <a:t>Some of the C3b binds to C4b2a to form a </a:t>
            </a:r>
            <a:r>
              <a:rPr lang="en-IN" sz="2600" dirty="0" err="1">
                <a:solidFill>
                  <a:schemeClr val="accent3">
                    <a:lumMod val="60000"/>
                    <a:lumOff val="40000"/>
                  </a:schemeClr>
                </a:solidFill>
              </a:rPr>
              <a:t>trimolecular</a:t>
            </a:r>
            <a:r>
              <a:rPr lang="en-IN" sz="2600" dirty="0">
                <a:solidFill>
                  <a:schemeClr val="accent3">
                    <a:lumMod val="60000"/>
                    <a:lumOff val="40000"/>
                  </a:schemeClr>
                </a:solidFill>
              </a:rPr>
              <a:t> complex  C4b2a3b, called C5 convertase</a:t>
            </a:r>
            <a:r>
              <a:rPr lang="en-IN" sz="2600" dirty="0"/>
              <a:t>.</a:t>
            </a:r>
          </a:p>
          <a:p>
            <a:pPr algn="just"/>
            <a:r>
              <a:rPr lang="en-IN" sz="2600" dirty="0"/>
              <a:t>The C3b component of this complex binds C5 and alters its conformation, so that the  C4b2a component can cleave C5 into C5a, which diffuses away, and C5b, which attaches to C6 and initiates formation of the membrane attack  complex in a sequence described later.</a:t>
            </a:r>
          </a:p>
        </p:txBody>
      </p:sp>
      <p:cxnSp>
        <p:nvCxnSpPr>
          <p:cNvPr id="4" name="Straight Connector 3"/>
          <p:cNvCxnSpPr/>
          <p:nvPr/>
        </p:nvCxnSpPr>
        <p:spPr>
          <a:xfrm>
            <a:off x="4928759" y="4663744"/>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85809" y="3785667"/>
            <a:ext cx="11707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292435" y="3361417"/>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4406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364" y="249385"/>
            <a:ext cx="6730864" cy="515874"/>
          </a:xfrm>
        </p:spPr>
        <p:txBody>
          <a:bodyPr>
            <a:noAutofit/>
          </a:bodyPr>
          <a:lstStyle/>
          <a:p>
            <a:r>
              <a:rPr lang="en-US" b="1" dirty="0">
                <a:latin typeface="Times New Roman" panose="02020603050405020304" pitchFamily="18" charset="0"/>
                <a:cs typeface="Times New Roman" panose="02020603050405020304" pitchFamily="18" charset="0"/>
              </a:rPr>
              <a:t>Steps in classical pathway: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66255" y="983673"/>
            <a:ext cx="11513127" cy="3976254"/>
          </a:xfrm>
        </p:spPr>
        <p:txBody>
          <a:bodyPr>
            <a:noAutofit/>
          </a:bodyPr>
          <a:lstStyle/>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Binding of C1 to antibody causes a conformation change in C1q. This results in the activation C1r that then activates C1s.</a:t>
            </a:r>
          </a:p>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Activated C1s cleaves C4 into two fragments, C4a (soluble, weak </a:t>
            </a:r>
            <a:r>
              <a:rPr lang="en-US" sz="2600" dirty="0" err="1">
                <a:latin typeface="Times New Roman" panose="02020603050405020304" pitchFamily="18" charset="0"/>
                <a:cs typeface="Times New Roman" panose="02020603050405020304" pitchFamily="18" charset="0"/>
              </a:rPr>
              <a:t>anaphylotoxin</a:t>
            </a:r>
            <a:r>
              <a:rPr lang="en-US" sz="2600" dirty="0">
                <a:latin typeface="Times New Roman" panose="02020603050405020304" pitchFamily="18" charset="0"/>
                <a:cs typeface="Times New Roman" panose="02020603050405020304" pitchFamily="18" charset="0"/>
              </a:rPr>
              <a:t>) and C4b (bound to cell surface, </a:t>
            </a:r>
            <a:r>
              <a:rPr lang="en-US" sz="2600" dirty="0" err="1">
                <a:latin typeface="Times New Roman" panose="02020603050405020304" pitchFamily="18" charset="0"/>
                <a:cs typeface="Times New Roman" panose="02020603050405020304" pitchFamily="18" charset="0"/>
              </a:rPr>
              <a:t>opsonin</a:t>
            </a:r>
            <a:r>
              <a:rPr lang="en-US" sz="2600" dirty="0">
                <a:latin typeface="Times New Roman" panose="02020603050405020304" pitchFamily="18" charset="0"/>
                <a:cs typeface="Times New Roman" panose="02020603050405020304" pitchFamily="18" charset="0"/>
              </a:rPr>
              <a:t>).</a:t>
            </a:r>
          </a:p>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C4b binds C2. C2 is cleaved by activated C1s to form C2b (remains bound to C4b) and C2a (soluble).</a:t>
            </a:r>
          </a:p>
          <a:p>
            <a:pPr marL="457200" indent="-457200" algn="just">
              <a:lnSpc>
                <a:spcPct val="150000"/>
              </a:lnSpc>
              <a:buAutoNum type="arabicPeriod"/>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681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18656" y="434366"/>
            <a:ext cx="11305308" cy="5710798"/>
          </a:xfrm>
        </p:spPr>
        <p:txBody>
          <a:bodyPr>
            <a:normAutofit/>
          </a:bodyPr>
          <a:lstStyle/>
          <a:p>
            <a:pPr marL="0" indent="0" algn="just">
              <a:lnSpc>
                <a:spcPct val="150000"/>
              </a:lnSpc>
              <a:buNone/>
            </a:pPr>
            <a:r>
              <a:rPr lang="en-US" sz="2600" dirty="0">
                <a:latin typeface="Times New Roman" panose="02020603050405020304" pitchFamily="18" charset="0"/>
                <a:cs typeface="Times New Roman" panose="02020603050405020304" pitchFamily="18" charset="0"/>
              </a:rPr>
              <a:t>4. </a:t>
            </a:r>
            <a:r>
              <a:rPr lang="en-US" sz="2600" b="1" dirty="0">
                <a:latin typeface="Times New Roman" panose="02020603050405020304" pitchFamily="18" charset="0"/>
                <a:cs typeface="Times New Roman" panose="02020603050405020304" pitchFamily="18" charset="0"/>
              </a:rPr>
              <a:t>C4b2a is the classical pathway C3 convertase</a:t>
            </a:r>
            <a:r>
              <a:rPr lang="en-US" sz="2600" dirty="0">
                <a:latin typeface="Times New Roman" panose="02020603050405020304" pitchFamily="18" charset="0"/>
                <a:cs typeface="Times New Roman" panose="02020603050405020304" pitchFamily="18" charset="0"/>
              </a:rPr>
              <a:t>. </a:t>
            </a: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C3 convertase (C4b2a)</a:t>
            </a:r>
            <a:r>
              <a:rPr lang="en-US" sz="2600" dirty="0">
                <a:latin typeface="Times New Roman" panose="02020603050405020304" pitchFamily="18" charset="0"/>
                <a:cs typeface="Times New Roman" panose="02020603050405020304" pitchFamily="18" charset="0"/>
              </a:rPr>
              <a:t> cleaves C3 into C3a (soluble, </a:t>
            </a:r>
            <a:r>
              <a:rPr lang="en-US" sz="2600" dirty="0" err="1">
                <a:latin typeface="Times New Roman" panose="02020603050405020304" pitchFamily="18" charset="0"/>
                <a:cs typeface="Times New Roman" panose="02020603050405020304" pitchFamily="18" charset="0"/>
              </a:rPr>
              <a:t>anaphylotoxin</a:t>
            </a:r>
            <a:r>
              <a:rPr lang="en-US" sz="2600" dirty="0">
                <a:latin typeface="Times New Roman" panose="02020603050405020304" pitchFamily="18" charset="0"/>
                <a:cs typeface="Times New Roman" panose="02020603050405020304" pitchFamily="18" charset="0"/>
              </a:rPr>
              <a:t>) and C3b. C3b either binds to membrane or remains bound to C3 convertase (C4b2b) resulting in formation of </a:t>
            </a:r>
            <a:r>
              <a:rPr lang="en-US" sz="2600" dirty="0">
                <a:solidFill>
                  <a:schemeClr val="accent3">
                    <a:lumMod val="60000"/>
                    <a:lumOff val="40000"/>
                  </a:schemeClr>
                </a:solidFill>
                <a:latin typeface="Times New Roman" panose="02020603050405020304" pitchFamily="18" charset="0"/>
                <a:cs typeface="Times New Roman" panose="02020603050405020304" pitchFamily="18" charset="0"/>
              </a:rPr>
              <a:t>C5 convertase (C4b2a3b)</a:t>
            </a:r>
            <a:r>
              <a:rPr lang="en-US" sz="26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2600" dirty="0">
                <a:latin typeface="Times New Roman" panose="02020603050405020304" pitchFamily="18" charset="0"/>
                <a:cs typeface="Times New Roman" panose="02020603050405020304" pitchFamily="18" charset="0"/>
              </a:rPr>
              <a:t>5. C5 </a:t>
            </a:r>
            <a:r>
              <a:rPr lang="en-US" sz="2600" dirty="0" err="1">
                <a:latin typeface="Times New Roman" panose="02020603050405020304" pitchFamily="18" charset="0"/>
                <a:cs typeface="Times New Roman" panose="02020603050405020304" pitchFamily="18" charset="0"/>
              </a:rPr>
              <a:t>convertase</a:t>
            </a:r>
            <a:r>
              <a:rPr lang="en-US" sz="2600" dirty="0">
                <a:latin typeface="Times New Roman" panose="02020603050405020304" pitchFamily="18" charset="0"/>
                <a:cs typeface="Times New Roman" panose="02020603050405020304" pitchFamily="18" charset="0"/>
              </a:rPr>
              <a:t> goes on to form membrane attack complex.</a:t>
            </a:r>
          </a:p>
        </p:txBody>
      </p:sp>
    </p:spTree>
    <p:extLst>
      <p:ext uri="{BB962C8B-B14F-4D97-AF65-F5344CB8AC3E}">
        <p14:creationId xmlns:p14="http://schemas.microsoft.com/office/powerpoint/2010/main" val="28252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164" t="16231" r="47320" b="66576"/>
          <a:stretch/>
        </p:blipFill>
        <p:spPr bwMode="auto">
          <a:xfrm>
            <a:off x="235526" y="124691"/>
            <a:ext cx="6068292" cy="508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164" t="33699" r="47320" b="40829"/>
          <a:stretch/>
        </p:blipFill>
        <p:spPr bwMode="auto">
          <a:xfrm>
            <a:off x="6197600" y="1146988"/>
            <a:ext cx="5994400" cy="50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547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164" t="59283" r="47320" b="19398"/>
          <a:stretch/>
        </p:blipFill>
        <p:spPr bwMode="auto">
          <a:xfrm>
            <a:off x="38259" y="25728"/>
            <a:ext cx="6055042" cy="4227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214" t="16093" r="8577" b="63963"/>
          <a:stretch/>
        </p:blipFill>
        <p:spPr bwMode="auto">
          <a:xfrm>
            <a:off x="5153227" y="1654347"/>
            <a:ext cx="6677894" cy="4510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5086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214" t="36450" r="7626" b="24350"/>
          <a:stretch/>
        </p:blipFill>
        <p:spPr bwMode="auto">
          <a:xfrm>
            <a:off x="304801" y="0"/>
            <a:ext cx="7121236" cy="6335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7381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3179673415"/>
              </p:ext>
            </p:extLst>
          </p:nvPr>
        </p:nvGraphicFramePr>
        <p:xfrm>
          <a:off x="367554" y="125505"/>
          <a:ext cx="11519646" cy="6260879"/>
        </p:xfrm>
        <a:graphic>
          <a:graphicData uri="http://schemas.openxmlformats.org/drawingml/2006/table">
            <a:tbl>
              <a:tblPr firstRow="1" firstCol="1" bandRow="1">
                <a:tableStyleId>{93296810-A885-4BE3-A3E7-6D5BEEA58F35}</a:tableStyleId>
              </a:tblPr>
              <a:tblGrid>
                <a:gridCol w="1687411">
                  <a:extLst>
                    <a:ext uri="{9D8B030D-6E8A-4147-A177-3AD203B41FA5}">
                      <a16:colId xmlns:a16="http://schemas.microsoft.com/office/drawing/2014/main" val="20000"/>
                    </a:ext>
                  </a:extLst>
                </a:gridCol>
                <a:gridCol w="2111621">
                  <a:extLst>
                    <a:ext uri="{9D8B030D-6E8A-4147-A177-3AD203B41FA5}">
                      <a16:colId xmlns:a16="http://schemas.microsoft.com/office/drawing/2014/main" val="20001"/>
                    </a:ext>
                  </a:extLst>
                </a:gridCol>
                <a:gridCol w="7720614">
                  <a:extLst>
                    <a:ext uri="{9D8B030D-6E8A-4147-A177-3AD203B41FA5}">
                      <a16:colId xmlns:a16="http://schemas.microsoft.com/office/drawing/2014/main" val="20002"/>
                    </a:ext>
                  </a:extLst>
                </a:gridCol>
              </a:tblGrid>
              <a:tr h="882371">
                <a:tc gridSpan="3">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cs typeface="Times New Roman" panose="02020603050405020304" pitchFamily="18" charset="0"/>
                      </a:endParaRPr>
                    </a:p>
                    <a:p>
                      <a:pPr marL="25400" marR="0" algn="ctr">
                        <a:lnSpc>
                          <a:spcPct val="115000"/>
                        </a:lnSpc>
                        <a:spcBef>
                          <a:spcPts val="0"/>
                        </a:spcBef>
                        <a:spcAft>
                          <a:spcPts val="0"/>
                        </a:spcAft>
                      </a:pPr>
                      <a:r>
                        <a:rPr lang="en-IN" sz="2000" dirty="0">
                          <a:effectLst/>
                          <a:latin typeface="Times New Roman" panose="02020603050405020304" pitchFamily="18" charset="0"/>
                          <a:cs typeface="Times New Roman" panose="02020603050405020304" pitchFamily="18" charset="0"/>
                        </a:rPr>
                        <a:t>Components of the Alternate Pathway</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0000"/>
                  </a:ext>
                </a:extLst>
              </a:tr>
              <a:tr h="763017">
                <a:tc>
                  <a:txBody>
                    <a:bodyPr/>
                    <a:lstStyle/>
                    <a:p>
                      <a:pPr marL="0" marR="0" algn="ctr">
                        <a:lnSpc>
                          <a:spcPts val="112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Native</a:t>
                      </a:r>
                      <a:endParaRPr lang="en-US"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component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indent="0" algn="ctr" defTabSz="914400" rtl="0" eaLnBrk="1" fontAlgn="auto" latinLnBrk="0" hangingPunct="1">
                        <a:lnSpc>
                          <a:spcPts val="112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Active</a:t>
                      </a:r>
                    </a:p>
                    <a:p>
                      <a:pPr marL="241300" marR="0" indent="0" algn="ctr" defTabSz="914400" rtl="0" eaLnBrk="1" fontAlgn="auto" latinLnBrk="0" hangingPunct="1">
                        <a:lnSpc>
                          <a:spcPts val="1120"/>
                        </a:lnSpc>
                        <a:spcBef>
                          <a:spcPts val="0"/>
                        </a:spcBef>
                        <a:spcAft>
                          <a:spcPts val="0"/>
                        </a:spcAft>
                        <a:buClrTx/>
                        <a:buSzTx/>
                        <a:buFontTx/>
                        <a:buNone/>
                        <a:tabLst/>
                        <a:defRPr/>
                      </a:pPr>
                      <a:endParaRPr lang="en-IN" sz="2400" dirty="0">
                        <a:effectLst/>
                        <a:latin typeface="Times New Roman" panose="02020603050405020304" pitchFamily="18" charset="0"/>
                        <a:cs typeface="Times New Roman" panose="02020603050405020304" pitchFamily="18" charset="0"/>
                      </a:endParaRPr>
                    </a:p>
                    <a:p>
                      <a:pPr marL="241300" marR="0" indent="0" algn="ctr" defTabSz="914400" rtl="0" eaLnBrk="1" fontAlgn="auto" latinLnBrk="0" hangingPunct="1">
                        <a:lnSpc>
                          <a:spcPts val="1120"/>
                        </a:lnSpc>
                        <a:spcBef>
                          <a:spcPts val="0"/>
                        </a:spcBef>
                        <a:spcAft>
                          <a:spcPts val="0"/>
                        </a:spcAft>
                        <a:buClrTx/>
                        <a:buSzTx/>
                        <a:buFontTx/>
                        <a:buNone/>
                        <a:tabLst/>
                        <a:defRPr/>
                      </a:pPr>
                      <a:r>
                        <a:rPr lang="en-IN" sz="2400" dirty="0">
                          <a:effectLst/>
                          <a:latin typeface="Times New Roman" panose="02020603050405020304" pitchFamily="18" charset="0"/>
                          <a:cs typeface="Times New Roman" panose="02020603050405020304" pitchFamily="18" charset="0"/>
                        </a:rPr>
                        <a:t> component(s)</a:t>
                      </a:r>
                      <a:endParaRPr lang="en-US" sz="2400" dirty="0">
                        <a:effectLst/>
                        <a:latin typeface="Times New Roman" panose="02020603050405020304" pitchFamily="18" charset="0"/>
                        <a:cs typeface="Times New Roman" panose="02020603050405020304" pitchFamily="18" charset="0"/>
                      </a:endParaRPr>
                    </a:p>
                    <a:p>
                      <a:pPr marL="241300" marR="0" algn="ctr">
                        <a:lnSpc>
                          <a:spcPts val="1120"/>
                        </a:lnSpc>
                        <a:spcBef>
                          <a:spcPts val="0"/>
                        </a:spcBef>
                        <a:spcAft>
                          <a:spcPts val="0"/>
                        </a:spcAft>
                      </a:pP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8590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Function(s)</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8248">
                <a:tc rowSpan="2">
                  <a:txBody>
                    <a:bodyPr/>
                    <a:lstStyle/>
                    <a:p>
                      <a:pPr marL="0" marR="0" algn="ctr">
                        <a:lnSpc>
                          <a:spcPct val="115000"/>
                        </a:lnSpc>
                        <a:spcBef>
                          <a:spcPts val="0"/>
                        </a:spcBef>
                        <a:spcAft>
                          <a:spcPts val="0"/>
                        </a:spcAft>
                      </a:pPr>
                      <a:endParaRPr lang="en-IN"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C3a</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Mediates inflammation; </a:t>
                      </a:r>
                      <a:r>
                        <a:rPr lang="en-IN" sz="2400" dirty="0" err="1">
                          <a:effectLst/>
                          <a:latin typeface="Times New Roman" panose="02020603050405020304" pitchFamily="18" charset="0"/>
                          <a:cs typeface="Times New Roman" panose="02020603050405020304" pitchFamily="18" charset="0"/>
                        </a:rPr>
                        <a:t>anaphylatoxin</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39918">
                <a:tc vMerge="1">
                  <a:txBody>
                    <a:bodyPr/>
                    <a:lstStyle/>
                    <a:p>
                      <a:endParaRPr lang="en-US"/>
                    </a:p>
                  </a:txBody>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C3b</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cell surfaces for </a:t>
                      </a:r>
                      <a:r>
                        <a:rPr lang="en-IN" sz="2400" dirty="0" err="1">
                          <a:effectLst/>
                          <a:latin typeface="Times New Roman" panose="02020603050405020304" pitchFamily="18" charset="0"/>
                          <a:cs typeface="Times New Roman" panose="02020603050405020304" pitchFamily="18" charset="0"/>
                        </a:rPr>
                        <a:t>opsonization</a:t>
                      </a:r>
                      <a:r>
                        <a:rPr lang="en-IN" sz="2400" dirty="0">
                          <a:effectLst/>
                          <a:latin typeface="Times New Roman" panose="02020603050405020304" pitchFamily="18" charset="0"/>
                          <a:cs typeface="Times New Roman" panose="02020603050405020304" pitchFamily="18" charset="0"/>
                        </a:rPr>
                        <a:t> and activation of alternate</a:t>
                      </a:r>
                      <a:r>
                        <a:rPr lang="en-US" sz="2400" baseline="0" dirty="0">
                          <a:effectLst/>
                          <a:latin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cs typeface="Times New Roman" panose="02020603050405020304" pitchFamily="18" charset="0"/>
                        </a:rPr>
                        <a:t>pathway.</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79399">
                <a:tc rowSpan="3">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Factor B</a:t>
                      </a:r>
                      <a:endParaRPr lang="en-US" sz="2400" dirty="0">
                        <a:effectLst/>
                        <a:latin typeface="Times New Roman" panose="02020603050405020304" pitchFamily="18" charset="0"/>
                        <a:cs typeface="Times New Roman" panose="02020603050405020304" pitchFamily="18" charset="0"/>
                      </a:endParaRPr>
                    </a:p>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membrane bound C3b. Cleaved by Factor D.</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94124">
                <a:tc vMerge="1">
                  <a:txBody>
                    <a:bodyPr/>
                    <a:lstStyle/>
                    <a:p>
                      <a:endParaRPr lang="en-US"/>
                    </a:p>
                  </a:txBody>
                  <a:tcPr/>
                </a:tc>
                <a:tc>
                  <a:txBody>
                    <a:bodyPr/>
                    <a:lstStyle/>
                    <a:p>
                      <a:pPr marL="24130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Ba</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Unknown.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79399">
                <a:tc vMerge="1">
                  <a:txBody>
                    <a:bodyPr/>
                    <a:lstStyle/>
                    <a:p>
                      <a:pPr marL="0" marR="0">
                        <a:lnSpc>
                          <a:spcPct val="115000"/>
                        </a:lnSpc>
                        <a:spcBef>
                          <a:spcPts val="0"/>
                        </a:spcBef>
                        <a:spcAft>
                          <a:spcPts val="0"/>
                        </a:spcAft>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Cleaved form stabilized by P produces C3 </a:t>
                      </a:r>
                      <a:r>
                        <a:rPr lang="en-IN" sz="2400" dirty="0" err="1">
                          <a:effectLst/>
                          <a:latin typeface="Times New Roman" panose="02020603050405020304" pitchFamily="18" charset="0"/>
                          <a:cs typeface="Times New Roman" panose="02020603050405020304" pitchFamily="18" charset="0"/>
                        </a:rPr>
                        <a:t>convertase</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88248">
                <a:tc>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Factor D</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D</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Cleaves Factor B when bound to C3b.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88248">
                <a:tc>
                  <a:txBody>
                    <a:bodyPr/>
                    <a:lstStyle/>
                    <a:p>
                      <a:pPr marL="0" marR="0" algn="ctr">
                        <a:lnSpc>
                          <a:spcPct val="115000"/>
                        </a:lnSpc>
                        <a:spcBef>
                          <a:spcPts val="0"/>
                        </a:spcBef>
                        <a:spcAft>
                          <a:spcPts val="0"/>
                        </a:spcAft>
                      </a:pPr>
                      <a:r>
                        <a:rPr lang="en-IN" sz="2400" dirty="0" err="1">
                          <a:effectLst/>
                          <a:latin typeface="Times New Roman" panose="02020603050405020304" pitchFamily="18" charset="0"/>
                          <a:cs typeface="Times New Roman" panose="02020603050405020304" pitchFamily="18" charset="0"/>
                        </a:rPr>
                        <a:t>Properdin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4130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P</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and stabilizes membrane bound C3bBb.</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 name="Rectangle 2">
            <a:extLst>
              <a:ext uri="{FF2B5EF4-FFF2-40B4-BE49-F238E27FC236}">
                <a16:creationId xmlns:a16="http://schemas.microsoft.com/office/drawing/2014/main" id="{B7911594-D96C-DF44-9C3B-76BF8C40605A}"/>
              </a:ext>
            </a:extLst>
          </p:cNvPr>
          <p:cNvSpPr/>
          <p:nvPr/>
        </p:nvSpPr>
        <p:spPr>
          <a:xfrm>
            <a:off x="367554" y="0"/>
            <a:ext cx="6789800" cy="646331"/>
          </a:xfrm>
          <a:prstGeom prst="rect">
            <a:avLst/>
          </a:prstGeom>
        </p:spPr>
        <p:txBody>
          <a:bodyPr wrap="square">
            <a:spAutoFit/>
          </a:bodyPr>
          <a:lstStyle/>
          <a:p>
            <a:r>
              <a:rPr lang="en-US" sz="3600" b="1" dirty="0">
                <a:solidFill>
                  <a:schemeClr val="accent3">
                    <a:lumMod val="60000"/>
                    <a:lumOff val="40000"/>
                  </a:schemeClr>
                </a:solidFill>
                <a:latin typeface="Times New Roman" panose="02020603050405020304" pitchFamily="18" charset="0"/>
                <a:cs typeface="Times New Roman" panose="02020603050405020304" pitchFamily="18" charset="0"/>
              </a:rPr>
              <a:t>2. Alternate pathway:</a:t>
            </a:r>
            <a:endParaRPr lang="en-US" sz="3600" dirty="0">
              <a:solidFill>
                <a:schemeClr val="accent3">
                  <a:lumMod val="60000"/>
                  <a:lumOff val="40000"/>
                </a:schemeClr>
              </a:solidFill>
            </a:endParaRPr>
          </a:p>
        </p:txBody>
      </p:sp>
    </p:spTree>
    <p:extLst>
      <p:ext uri="{BB962C8B-B14F-4D97-AF65-F5344CB8AC3E}">
        <p14:creationId xmlns:p14="http://schemas.microsoft.com/office/powerpoint/2010/main" val="3476944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18654" y="841106"/>
            <a:ext cx="11360727" cy="5822929"/>
          </a:xfrm>
        </p:spPr>
        <p:txBody>
          <a:bodyPr>
            <a:normAutofit/>
          </a:bodyPr>
          <a:lstStyle/>
          <a:p>
            <a:pPr algn="just"/>
            <a:r>
              <a:rPr lang="en-IN" dirty="0"/>
              <a:t>The Alternative Pathway is Antibody-Independent pathway</a:t>
            </a:r>
          </a:p>
          <a:p>
            <a:pPr algn="just"/>
            <a:r>
              <a:rPr lang="en-IN" dirty="0"/>
              <a:t>The alternative pathway is a component of the innate immune system.</a:t>
            </a:r>
          </a:p>
          <a:p>
            <a:pPr algn="just"/>
            <a:r>
              <a:rPr lang="en-IN" dirty="0"/>
              <a:t>This major pathway of complement activation involves four serum proteins: </a:t>
            </a:r>
            <a:r>
              <a:rPr lang="en-IN" dirty="0">
                <a:solidFill>
                  <a:srgbClr val="FF0000"/>
                </a:solidFill>
              </a:rPr>
              <a:t>C3, factor B, factor D, and </a:t>
            </a:r>
            <a:r>
              <a:rPr lang="en-IN" dirty="0" err="1">
                <a:solidFill>
                  <a:srgbClr val="FF0000"/>
                </a:solidFill>
              </a:rPr>
              <a:t>properdin</a:t>
            </a:r>
            <a:r>
              <a:rPr lang="en-IN" dirty="0"/>
              <a:t>.</a:t>
            </a:r>
          </a:p>
          <a:p>
            <a:pPr algn="just"/>
            <a:r>
              <a:rPr lang="en-IN" dirty="0"/>
              <a:t>The alternative pathway is initiated in most cases by cell-surface constituents that are foreign to the host.</a:t>
            </a:r>
          </a:p>
          <a:p>
            <a:pPr algn="just"/>
            <a:r>
              <a:rPr lang="en-IN" dirty="0"/>
              <a:t>In the alternative pathway, serum C3, which contains an unstable </a:t>
            </a:r>
            <a:r>
              <a:rPr lang="en-IN" dirty="0" err="1"/>
              <a:t>thioester</a:t>
            </a:r>
            <a:r>
              <a:rPr lang="en-IN" dirty="0"/>
              <a:t> bond, is subject to slow spontaneous hydrolysis to yield C3a and C3b.</a:t>
            </a:r>
          </a:p>
          <a:p>
            <a:pPr algn="just"/>
            <a:r>
              <a:rPr lang="en-IN" dirty="0"/>
              <a:t>The membranes of most mammalian cells have </a:t>
            </a:r>
            <a:r>
              <a:rPr lang="en-IN" dirty="0">
                <a:solidFill>
                  <a:srgbClr val="FF0000"/>
                </a:solidFill>
              </a:rPr>
              <a:t>high levels of </a:t>
            </a:r>
            <a:r>
              <a:rPr lang="en-IN" dirty="0" err="1">
                <a:solidFill>
                  <a:srgbClr val="FF0000"/>
                </a:solidFill>
              </a:rPr>
              <a:t>sialic</a:t>
            </a:r>
            <a:r>
              <a:rPr lang="en-IN" dirty="0">
                <a:solidFill>
                  <a:srgbClr val="FF0000"/>
                </a:solidFill>
              </a:rPr>
              <a:t> acid, which contributes to the rapid inactivation of bound C3b molecules on host cells</a:t>
            </a:r>
            <a:r>
              <a:rPr lang="en-IN" dirty="0"/>
              <a:t>; consequently this binding rarely leads to further reactions on the host  cell  membrane.</a:t>
            </a:r>
          </a:p>
        </p:txBody>
      </p:sp>
      <p:sp>
        <p:nvSpPr>
          <p:cNvPr id="4" name="Rectangle 3"/>
          <p:cNvSpPr/>
          <p:nvPr/>
        </p:nvSpPr>
        <p:spPr>
          <a:xfrm>
            <a:off x="466165" y="194776"/>
            <a:ext cx="6789800" cy="646331"/>
          </a:xfrm>
          <a:prstGeom prst="rect">
            <a:avLst/>
          </a:prstGeom>
        </p:spPr>
        <p:txBody>
          <a:bodyPr wrap="square">
            <a:spAutoFit/>
          </a:bodyPr>
          <a:lstStyle/>
          <a:p>
            <a:r>
              <a:rPr lang="en-US" sz="3600" b="1" dirty="0">
                <a:solidFill>
                  <a:schemeClr val="accent3">
                    <a:lumMod val="60000"/>
                    <a:lumOff val="40000"/>
                  </a:schemeClr>
                </a:solidFill>
                <a:latin typeface="Times New Roman" panose="02020603050405020304" pitchFamily="18" charset="0"/>
                <a:cs typeface="Times New Roman" panose="02020603050405020304" pitchFamily="18" charset="0"/>
              </a:rPr>
              <a:t>2. Alternate pathway:</a:t>
            </a:r>
            <a:endParaRPr lang="en-US" sz="3600" dirty="0">
              <a:solidFill>
                <a:schemeClr val="accent3">
                  <a:lumMod val="60000"/>
                  <a:lumOff val="40000"/>
                </a:schemeClr>
              </a:solidFill>
            </a:endParaRPr>
          </a:p>
        </p:txBody>
      </p:sp>
    </p:spTree>
    <p:extLst>
      <p:ext uri="{BB962C8B-B14F-4D97-AF65-F5344CB8AC3E}">
        <p14:creationId xmlns:p14="http://schemas.microsoft.com/office/powerpoint/2010/main" val="2097445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5527" y="207818"/>
            <a:ext cx="11554691" cy="6266134"/>
          </a:xfrm>
        </p:spPr>
        <p:txBody>
          <a:bodyPr>
            <a:normAutofit/>
          </a:bodyPr>
          <a:lstStyle/>
          <a:p>
            <a:pPr algn="just"/>
            <a:r>
              <a:rPr lang="en-IN" dirty="0"/>
              <a:t>The C3b present on the surface of the foreign cells can bind another serum protein called </a:t>
            </a:r>
            <a:r>
              <a:rPr lang="en-IN" dirty="0">
                <a:solidFill>
                  <a:srgbClr val="FF0000"/>
                </a:solidFill>
              </a:rPr>
              <a:t>factor B to form a complex stabilized by Mg</a:t>
            </a:r>
            <a:r>
              <a:rPr lang="en-IN" baseline="30000" dirty="0">
                <a:solidFill>
                  <a:srgbClr val="FF0000"/>
                </a:solidFill>
              </a:rPr>
              <a:t>+2</a:t>
            </a:r>
            <a:r>
              <a:rPr lang="en-IN" dirty="0">
                <a:solidFill>
                  <a:srgbClr val="FF0000"/>
                </a:solidFill>
              </a:rPr>
              <a:t>.</a:t>
            </a:r>
          </a:p>
          <a:p>
            <a:pPr algn="just"/>
            <a:r>
              <a:rPr lang="en-IN" dirty="0"/>
              <a:t>Binding to C3b exposes a site on factor B that serves as the substrate for an enzymatically active serum protein called factor D.</a:t>
            </a:r>
          </a:p>
          <a:p>
            <a:pPr algn="just"/>
            <a:r>
              <a:rPr lang="en-IN" dirty="0"/>
              <a:t>Factor D cleaves the C3b-bound factor B, releasing a small fragment (Ba) that diffuses away and generating C3bBb</a:t>
            </a:r>
          </a:p>
          <a:p>
            <a:pPr algn="just"/>
            <a:r>
              <a:rPr lang="en-IN" dirty="0">
                <a:solidFill>
                  <a:srgbClr val="FF0000"/>
                </a:solidFill>
              </a:rPr>
              <a:t>The C3bBb complex has C3 convertase activity</a:t>
            </a:r>
            <a:r>
              <a:rPr lang="en-IN" dirty="0"/>
              <a:t> and thus is analogous to the C4b2a complex in the classical pathway.</a:t>
            </a:r>
          </a:p>
          <a:p>
            <a:pPr algn="just"/>
            <a:r>
              <a:rPr lang="en-IN" dirty="0"/>
              <a:t> The C3 convertase activity of C3bBb has a half-life of only 5 minutes unless the serum protein </a:t>
            </a:r>
            <a:r>
              <a:rPr lang="en-IN" dirty="0" err="1"/>
              <a:t>properdin</a:t>
            </a:r>
            <a:r>
              <a:rPr lang="en-IN" dirty="0"/>
              <a:t> binds to it, stabilizing it and extending the half-life  of this  convertase  activity  to 30 minutes.</a:t>
            </a:r>
          </a:p>
          <a:p>
            <a:pPr algn="just"/>
            <a:r>
              <a:rPr lang="en-IN" dirty="0"/>
              <a:t>The C3 convertase activity of C3bBb generates the C3bBb3b complex, which  exhibits C5  convertase  activity, analogous to the C4b2a3b complex in the  classical pathway.</a:t>
            </a:r>
          </a:p>
        </p:txBody>
      </p:sp>
      <p:cxnSp>
        <p:nvCxnSpPr>
          <p:cNvPr id="4" name="Straight Connector 3"/>
          <p:cNvCxnSpPr/>
          <p:nvPr/>
        </p:nvCxnSpPr>
        <p:spPr>
          <a:xfrm>
            <a:off x="1323118" y="2682542"/>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4883736" y="2253051"/>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105409" y="3499961"/>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105409" y="4677596"/>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333518" y="4677596"/>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333518" y="5037815"/>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18E42D7-1417-D04E-AF5B-FC7BE4B45EA3}"/>
              </a:ext>
            </a:extLst>
          </p:cNvPr>
          <p:cNvCxnSpPr/>
          <p:nvPr/>
        </p:nvCxnSpPr>
        <p:spPr>
          <a:xfrm>
            <a:off x="646462" y="3078782"/>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935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95584" y="116541"/>
            <a:ext cx="9293122" cy="3567953"/>
          </a:xfrm>
        </p:spPr>
      </p:pic>
      <p:sp>
        <p:nvSpPr>
          <p:cNvPr id="5" name="Content Placeholder 2"/>
          <p:cNvSpPr txBox="1">
            <a:spLocks/>
          </p:cNvSpPr>
          <p:nvPr/>
        </p:nvSpPr>
        <p:spPr>
          <a:xfrm>
            <a:off x="193964" y="3830782"/>
            <a:ext cx="11430000" cy="3027218"/>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The alternative pathway is triggered by the hydrolysis of C3 which forms C3 and C3b. C3b becomes bound to the cell surface and is then able to interact with factor B, which is cleaved by factor D, creating the Bb fragment which binds to other surface-bound C3b molecules to form C3bBb; the C3 convertase of the alternative pathway triggers an amplification loop, with further hydrolysis of C3. Ultimately, there is further production of C3b which joins with C3 convertase to form C5 convertase which cleaves C5 to C5a and C5b, and this leads to formation of an membrane attack complex.</a:t>
            </a:r>
            <a:endParaRPr lang="en-IN" dirty="0"/>
          </a:p>
        </p:txBody>
      </p:sp>
      <p:cxnSp>
        <p:nvCxnSpPr>
          <p:cNvPr id="6" name="Straight Connector 5">
            <a:extLst>
              <a:ext uri="{FF2B5EF4-FFF2-40B4-BE49-F238E27FC236}">
                <a16:creationId xmlns:a16="http://schemas.microsoft.com/office/drawing/2014/main" id="{500DE6E2-C3B2-AE49-9C78-2714C19421A7}"/>
              </a:ext>
            </a:extLst>
          </p:cNvPr>
          <p:cNvCxnSpPr/>
          <p:nvPr/>
        </p:nvCxnSpPr>
        <p:spPr>
          <a:xfrm>
            <a:off x="3090958" y="4999022"/>
            <a:ext cx="8104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878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039" t="13480" r="25070" b="33428"/>
          <a:stretch/>
        </p:blipFill>
        <p:spPr bwMode="auto">
          <a:xfrm>
            <a:off x="1967345" y="1"/>
            <a:ext cx="7349837" cy="6761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0244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8788" y="969818"/>
            <a:ext cx="11385176" cy="5504134"/>
          </a:xfrm>
        </p:spPr>
        <p:txBody>
          <a:bodyPr/>
          <a:lstStyle/>
          <a:p>
            <a:pPr algn="just"/>
            <a:r>
              <a:rPr lang="en-IN" dirty="0" err="1"/>
              <a:t>Lectins</a:t>
            </a:r>
            <a:r>
              <a:rPr lang="en-IN" dirty="0"/>
              <a:t> are proteins that recognize and bind to specific carbohydrate targets.</a:t>
            </a:r>
          </a:p>
          <a:p>
            <a:pPr algn="just"/>
            <a:r>
              <a:rPr lang="en-IN" dirty="0"/>
              <a:t>The </a:t>
            </a:r>
            <a:r>
              <a:rPr lang="en-IN" dirty="0" err="1"/>
              <a:t>lectin</a:t>
            </a:r>
            <a:r>
              <a:rPr lang="en-IN" dirty="0"/>
              <a:t> pathway, like the alternative pathway, does not depend on antibody for its activation. However, the mechanism is more like that of the classical pathway, because after initiation, it proceeds, through the action of C4 and C2, to produce a C5 convertase.</a:t>
            </a:r>
          </a:p>
          <a:p>
            <a:pPr algn="just"/>
            <a:r>
              <a:rPr lang="en-IN" dirty="0"/>
              <a:t>The </a:t>
            </a:r>
            <a:r>
              <a:rPr lang="en-IN" dirty="0" err="1"/>
              <a:t>lectin</a:t>
            </a:r>
            <a:r>
              <a:rPr lang="en-IN" dirty="0"/>
              <a:t> pathway is activated by the binding of mannose-binding </a:t>
            </a:r>
            <a:r>
              <a:rPr lang="en-IN" dirty="0" err="1"/>
              <a:t>lectin</a:t>
            </a:r>
            <a:r>
              <a:rPr lang="en-IN" dirty="0"/>
              <a:t>  (MBL) to mannose residues on glycoproteins or carbohydrates on the surface of microorganisms including certain </a:t>
            </a:r>
            <a:r>
              <a:rPr lang="en-IN" i="1" dirty="0"/>
              <a:t>Salmonella</a:t>
            </a:r>
            <a:r>
              <a:rPr lang="en-IN" dirty="0"/>
              <a:t>, </a:t>
            </a:r>
            <a:r>
              <a:rPr lang="en-IN" i="1" dirty="0"/>
              <a:t>Listeria</a:t>
            </a:r>
            <a:r>
              <a:rPr lang="en-IN" dirty="0"/>
              <a:t>, and </a:t>
            </a:r>
            <a:r>
              <a:rPr lang="en-IN" i="1" dirty="0"/>
              <a:t>Neisseria</a:t>
            </a:r>
            <a:r>
              <a:rPr lang="en-IN" dirty="0"/>
              <a:t> strains, as well as </a:t>
            </a:r>
            <a:r>
              <a:rPr lang="en-IN" i="1" dirty="0"/>
              <a:t>Cryptococcus </a:t>
            </a:r>
            <a:r>
              <a:rPr lang="en-IN" i="1" dirty="0" err="1"/>
              <a:t>neoformans</a:t>
            </a:r>
            <a:r>
              <a:rPr lang="en-IN" dirty="0"/>
              <a:t> and </a:t>
            </a:r>
            <a:r>
              <a:rPr lang="en-IN" i="1" dirty="0"/>
              <a:t>Candida </a:t>
            </a:r>
            <a:r>
              <a:rPr lang="en-IN" i="1" dirty="0" err="1"/>
              <a:t>albicans</a:t>
            </a:r>
            <a:r>
              <a:rPr lang="en-IN" dirty="0"/>
              <a:t>.</a:t>
            </a:r>
          </a:p>
        </p:txBody>
      </p:sp>
      <p:sp>
        <p:nvSpPr>
          <p:cNvPr id="4" name="Rectangle 3"/>
          <p:cNvSpPr/>
          <p:nvPr/>
        </p:nvSpPr>
        <p:spPr>
          <a:xfrm>
            <a:off x="238788" y="161365"/>
            <a:ext cx="9753600"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3. </a:t>
            </a:r>
            <a:r>
              <a:rPr lang="en-US" sz="3600" b="1" dirty="0" err="1">
                <a:latin typeface="Times New Roman" panose="02020603050405020304" pitchFamily="18" charset="0"/>
                <a:cs typeface="Times New Roman" panose="02020603050405020304" pitchFamily="18" charset="0"/>
              </a:rPr>
              <a:t>Mannan</a:t>
            </a:r>
            <a:r>
              <a:rPr lang="en-US" sz="3600" b="1" dirty="0">
                <a:latin typeface="Times New Roman" panose="02020603050405020304" pitchFamily="18" charset="0"/>
                <a:cs typeface="Times New Roman" panose="02020603050405020304" pitchFamily="18" charset="0"/>
              </a:rPr>
              <a:t> binding </a:t>
            </a:r>
            <a:r>
              <a:rPr lang="en-US" sz="3600" b="1" dirty="0" err="1">
                <a:latin typeface="Times New Roman" panose="02020603050405020304" pitchFamily="18" charset="0"/>
                <a:cs typeface="Times New Roman" panose="02020603050405020304" pitchFamily="18" charset="0"/>
              </a:rPr>
              <a:t>lectin</a:t>
            </a:r>
            <a:r>
              <a:rPr lang="en-US" sz="3600" b="1" dirty="0">
                <a:latin typeface="Times New Roman" panose="02020603050405020304" pitchFamily="18" charset="0"/>
                <a:cs typeface="Times New Roman" panose="02020603050405020304" pitchFamily="18" charset="0"/>
              </a:rPr>
              <a:t> (MBL) pathway:</a:t>
            </a:r>
            <a:endParaRPr lang="en-US" sz="3600" dirty="0"/>
          </a:p>
        </p:txBody>
      </p:sp>
    </p:spTree>
    <p:extLst>
      <p:ext uri="{BB962C8B-B14F-4D97-AF65-F5344CB8AC3E}">
        <p14:creationId xmlns:p14="http://schemas.microsoft.com/office/powerpoint/2010/main" val="4243559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90945" y="256309"/>
            <a:ext cx="11374582" cy="4873752"/>
          </a:xfrm>
        </p:spPr>
        <p:txBody>
          <a:bodyPr>
            <a:normAutofit/>
          </a:bodyPr>
          <a:lstStyle/>
          <a:p>
            <a:pPr algn="just"/>
            <a:r>
              <a:rPr lang="en-IN" dirty="0"/>
              <a:t>MBL  is  an acute  phase  protein produced  in  inflammatory responses. Its function in the complement pathway is similar to that of C1q, which it resembles in structure.</a:t>
            </a:r>
          </a:p>
          <a:p>
            <a:pPr algn="just"/>
            <a:r>
              <a:rPr lang="en-IN" dirty="0"/>
              <a:t>After MBL binds  to  the  surface  of a  cell  or  pathogen, MBL-associated serine proteases, MASP-1 and MASP-2, bind to MBL.</a:t>
            </a:r>
          </a:p>
          <a:p>
            <a:pPr algn="just"/>
            <a:r>
              <a:rPr lang="en-IN" dirty="0"/>
              <a:t>The active complex formed by this association causes cleavage and activation of C4 and C2. The MASP-1 and-2 proteins have structural similarity to C1r and C1s and mimic their activities.</a:t>
            </a:r>
          </a:p>
          <a:p>
            <a:pPr algn="just"/>
            <a:r>
              <a:rPr lang="en-IN" dirty="0"/>
              <a:t>This means of activating  the  C2–C4  components  to form  a  C5  convertase without need  for  specific  antibody binding represents an important innate </a:t>
            </a:r>
            <a:r>
              <a:rPr lang="en-IN" dirty="0" err="1"/>
              <a:t>defense</a:t>
            </a:r>
            <a:r>
              <a:rPr lang="en-IN" dirty="0"/>
              <a:t> mechanism comparable to the alternative pathway, but utilizing the elements of the classical pathway except for the C1 proteins.</a:t>
            </a:r>
          </a:p>
        </p:txBody>
      </p:sp>
    </p:spTree>
    <p:extLst>
      <p:ext uri="{BB962C8B-B14F-4D97-AF65-F5344CB8AC3E}">
        <p14:creationId xmlns:p14="http://schemas.microsoft.com/office/powerpoint/2010/main" val="44844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413164" y="929241"/>
            <a:ext cx="8806601" cy="5238758"/>
          </a:xfrm>
        </p:spPr>
      </p:pic>
      <p:sp>
        <p:nvSpPr>
          <p:cNvPr id="2" name="Rectangle 1"/>
          <p:cNvSpPr/>
          <p:nvPr/>
        </p:nvSpPr>
        <p:spPr>
          <a:xfrm>
            <a:off x="502024" y="161365"/>
            <a:ext cx="9753600" cy="584775"/>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3. </a:t>
            </a:r>
            <a:r>
              <a:rPr lang="en-US" sz="3200" dirty="0" err="1">
                <a:latin typeface="Times New Roman" panose="02020603050405020304" pitchFamily="18" charset="0"/>
                <a:cs typeface="Times New Roman" panose="02020603050405020304" pitchFamily="18" charset="0"/>
              </a:rPr>
              <a:t>Mannan</a:t>
            </a:r>
            <a:r>
              <a:rPr lang="en-US" sz="3200" dirty="0">
                <a:latin typeface="Times New Roman" panose="02020603050405020304" pitchFamily="18" charset="0"/>
                <a:cs typeface="Times New Roman" panose="02020603050405020304" pitchFamily="18" charset="0"/>
              </a:rPr>
              <a:t> binding </a:t>
            </a:r>
            <a:r>
              <a:rPr lang="en-US" sz="3200" dirty="0" err="1">
                <a:latin typeface="Times New Roman" panose="02020603050405020304" pitchFamily="18" charset="0"/>
                <a:cs typeface="Times New Roman" panose="02020603050405020304" pitchFamily="18" charset="0"/>
              </a:rPr>
              <a:t>lectin</a:t>
            </a:r>
            <a:r>
              <a:rPr lang="en-US" sz="3200" dirty="0">
                <a:latin typeface="Times New Roman" panose="02020603050405020304" pitchFamily="18" charset="0"/>
                <a:cs typeface="Times New Roman" panose="02020603050405020304" pitchFamily="18" charset="0"/>
              </a:rPr>
              <a:t> (MBL) pathway:</a:t>
            </a:r>
            <a:endParaRPr lang="en-US" sz="3200" dirty="0"/>
          </a:p>
        </p:txBody>
      </p:sp>
    </p:spTree>
    <p:extLst>
      <p:ext uri="{BB962C8B-B14F-4D97-AF65-F5344CB8AC3E}">
        <p14:creationId xmlns:p14="http://schemas.microsoft.com/office/powerpoint/2010/main" val="2796181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3012564048"/>
              </p:ext>
            </p:extLst>
          </p:nvPr>
        </p:nvGraphicFramePr>
        <p:xfrm>
          <a:off x="251013" y="224118"/>
          <a:ext cx="11672046" cy="6284257"/>
        </p:xfrm>
        <a:graphic>
          <a:graphicData uri="http://schemas.openxmlformats.org/drawingml/2006/table">
            <a:tbl>
              <a:tblPr firstRow="1" firstCol="1" bandRow="1">
                <a:tableStyleId>{93296810-A885-4BE3-A3E7-6D5BEEA58F35}</a:tableStyleId>
              </a:tblPr>
              <a:tblGrid>
                <a:gridCol w="1700625">
                  <a:extLst>
                    <a:ext uri="{9D8B030D-6E8A-4147-A177-3AD203B41FA5}">
                      <a16:colId xmlns:a16="http://schemas.microsoft.com/office/drawing/2014/main" val="20000"/>
                    </a:ext>
                  </a:extLst>
                </a:gridCol>
                <a:gridCol w="2174569">
                  <a:extLst>
                    <a:ext uri="{9D8B030D-6E8A-4147-A177-3AD203B41FA5}">
                      <a16:colId xmlns:a16="http://schemas.microsoft.com/office/drawing/2014/main" val="20001"/>
                    </a:ext>
                  </a:extLst>
                </a:gridCol>
                <a:gridCol w="7796852">
                  <a:extLst>
                    <a:ext uri="{9D8B030D-6E8A-4147-A177-3AD203B41FA5}">
                      <a16:colId xmlns:a16="http://schemas.microsoft.com/office/drawing/2014/main" val="20002"/>
                    </a:ext>
                  </a:extLst>
                </a:gridCol>
              </a:tblGrid>
              <a:tr h="1083495">
                <a:tc gridSpan="3">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Components of the Membrane-Attack Complex</a:t>
                      </a:r>
                      <a:endParaRPr lang="en-US"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330200" marR="0" algn="ctr">
                        <a:lnSpc>
                          <a:spcPct val="115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hMerge="1">
                  <a:txBody>
                    <a:bodyPr/>
                    <a:lstStyle/>
                    <a:p>
                      <a:endParaRPr lang="en-US"/>
                    </a:p>
                  </a:txBody>
                  <a:tcPr/>
                </a:tc>
                <a:extLst>
                  <a:ext uri="{0D108BD9-81ED-4DB2-BD59-A6C34878D82A}">
                    <a16:rowId xmlns:a16="http://schemas.microsoft.com/office/drawing/2014/main" val="10000"/>
                  </a:ext>
                </a:extLst>
              </a:tr>
              <a:tr h="867792">
                <a:tc>
                  <a:txBody>
                    <a:bodyPr/>
                    <a:lstStyle/>
                    <a:p>
                      <a:pPr marL="0" marR="0" algn="ctr">
                        <a:lnSpc>
                          <a:spcPts val="112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Native</a:t>
                      </a:r>
                      <a:endParaRPr lang="en-US"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component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12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Active</a:t>
                      </a:r>
                      <a:endParaRPr lang="en-US" sz="2400" dirty="0">
                        <a:effectLst/>
                        <a:latin typeface="Times New Roman" panose="02020603050405020304" pitchFamily="18" charset="0"/>
                        <a:cs typeface="Times New Roman" panose="02020603050405020304" pitchFamily="18" charset="0"/>
                      </a:endParaRPr>
                    </a:p>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component(s)</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358900" marR="0" algn="l">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Function(s)</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5414">
                <a:tc rowSpan="2">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C5</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C5a</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Mediates inflammation; </a:t>
                      </a:r>
                      <a:r>
                        <a:rPr lang="en-IN" sz="2400" dirty="0" err="1">
                          <a:effectLst/>
                          <a:latin typeface="Times New Roman" panose="02020603050405020304" pitchFamily="18" charset="0"/>
                          <a:cs typeface="Times New Roman" panose="02020603050405020304" pitchFamily="18" charset="0"/>
                        </a:rPr>
                        <a:t>anaphylatoxin</a:t>
                      </a:r>
                      <a:r>
                        <a:rPr lang="en-IN" sz="2400" dirty="0">
                          <a:effectLst/>
                          <a:latin typeface="Times New Roman" panose="02020603050405020304" pitchFamily="18" charset="0"/>
                          <a:cs typeface="Times New Roman" panose="02020603050405020304" pitchFamily="18" charset="0"/>
                        </a:rPr>
                        <a:t>, </a:t>
                      </a:r>
                      <a:r>
                        <a:rPr lang="en-IN" sz="2400" dirty="0" err="1">
                          <a:effectLst/>
                          <a:latin typeface="Times New Roman" panose="02020603050405020304" pitchFamily="18" charset="0"/>
                          <a:cs typeface="Times New Roman" panose="02020603050405020304" pitchFamily="18" charset="0"/>
                        </a:rPr>
                        <a:t>chemotaxin</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2769">
                <a:tc vMerge="1">
                  <a:txBody>
                    <a:bodyPr/>
                    <a:lstStyle/>
                    <a:p>
                      <a:endParaRPr lang="en-US"/>
                    </a:p>
                  </a:txBody>
                  <a:tcPr/>
                </a:tc>
                <a:tc rowSpan="2">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C5b</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algn="just">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Initiates assembly of the membrane-attack complex (MAC).</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62646">
                <a:tc>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 </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541746">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C6</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C6</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C5b, forms acceptor for C7.</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15414">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C7</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C7</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C5b6, inserts into membrane, forms acceptor for C8.</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06826">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C8</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C8</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Binds C5b67, initiates C9 polymerization.</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938155">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C9</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2400">
                          <a:effectLst/>
                          <a:latin typeface="Times New Roman" panose="02020603050405020304" pitchFamily="18" charset="0"/>
                          <a:cs typeface="Times New Roman" panose="02020603050405020304" pitchFamily="18" charset="0"/>
                        </a:rPr>
                        <a:t>C9n</a:t>
                      </a:r>
                      <a:endParaRPr lang="en-US" sz="2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00000"/>
                        </a:lnSpc>
                        <a:spcBef>
                          <a:spcPts val="0"/>
                        </a:spcBef>
                        <a:spcAft>
                          <a:spcPts val="0"/>
                        </a:spcAft>
                      </a:pPr>
                      <a:r>
                        <a:rPr lang="en-IN" sz="2400" dirty="0">
                          <a:effectLst/>
                          <a:latin typeface="Times New Roman" panose="02020603050405020304" pitchFamily="18" charset="0"/>
                          <a:cs typeface="Times New Roman" panose="02020603050405020304" pitchFamily="18" charset="0"/>
                        </a:rPr>
                        <a:t>Polymerizes around C5b678 to form channel that causes</a:t>
                      </a:r>
                      <a:r>
                        <a:rPr lang="en-US" sz="2400" baseline="0" dirty="0">
                          <a:effectLst/>
                          <a:latin typeface="Times New Roman" panose="02020603050405020304" pitchFamily="18" charset="0"/>
                          <a:cs typeface="Times New Roman" panose="02020603050405020304" pitchFamily="18" charset="0"/>
                        </a:rPr>
                        <a:t> </a:t>
                      </a:r>
                      <a:r>
                        <a:rPr lang="en-IN" sz="2400" dirty="0">
                          <a:effectLst/>
                          <a:latin typeface="Times New Roman" panose="02020603050405020304" pitchFamily="18" charset="0"/>
                          <a:cs typeface="Times New Roman" panose="02020603050405020304" pitchFamily="18" charset="0"/>
                        </a:rPr>
                        <a:t>cell </a:t>
                      </a:r>
                      <a:r>
                        <a:rPr lang="en-IN" sz="2400" dirty="0" err="1">
                          <a:effectLst/>
                          <a:latin typeface="Times New Roman" panose="02020603050405020304" pitchFamily="18" charset="0"/>
                          <a:cs typeface="Times New Roman" panose="02020603050405020304" pitchFamily="18" charset="0"/>
                        </a:rPr>
                        <a:t>lysis</a:t>
                      </a:r>
                      <a:r>
                        <a:rPr lang="en-IN" sz="2400" dirty="0">
                          <a:effectLst/>
                          <a:latin typeface="Times New Roman" panose="02020603050405020304" pitchFamily="18" charset="0"/>
                          <a:cs typeface="Times New Roman" panose="02020603050405020304" pitchFamily="18" charset="0"/>
                        </a:rPr>
                        <a:t>.</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30618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311" y="149955"/>
            <a:ext cx="5746377" cy="618565"/>
          </a:xfrm>
        </p:spPr>
        <p:txBody>
          <a:bodyPr>
            <a:noAutofit/>
          </a:bodyPr>
          <a:lstStyle/>
          <a:p>
            <a:r>
              <a:rPr lang="en-US" sz="3200" b="1" dirty="0">
                <a:latin typeface="Times New Roman" panose="02020603050405020304" pitchFamily="18" charset="0"/>
                <a:cs typeface="Times New Roman" panose="02020603050405020304" pitchFamily="18" charset="0"/>
              </a:rPr>
              <a:t>Steps in formation of MAC:</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331695" y="726141"/>
            <a:ext cx="10793506" cy="5818095"/>
          </a:xfrm>
        </p:spPr>
        <p:txBody>
          <a:bodyPr>
            <a:normAutofit/>
          </a:bodyPr>
          <a:lstStyle/>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C5 </a:t>
            </a:r>
            <a:r>
              <a:rPr lang="en-US" sz="2600" dirty="0" err="1">
                <a:latin typeface="Times New Roman" panose="02020603050405020304" pitchFamily="18" charset="0"/>
                <a:cs typeface="Times New Roman" panose="02020603050405020304" pitchFamily="18" charset="0"/>
              </a:rPr>
              <a:t>convertase</a:t>
            </a:r>
            <a:r>
              <a:rPr lang="en-US" sz="2600" dirty="0">
                <a:latin typeface="Times New Roman" panose="02020603050405020304" pitchFamily="18" charset="0"/>
                <a:cs typeface="Times New Roman" panose="02020603050405020304" pitchFamily="18" charset="0"/>
              </a:rPr>
              <a:t> (classical or alternative) cleaves C5 into C5a (soluble, </a:t>
            </a:r>
            <a:r>
              <a:rPr lang="en-US" sz="2600" dirty="0" err="1">
                <a:latin typeface="Times New Roman" panose="02020603050405020304" pitchFamily="18" charset="0"/>
                <a:cs typeface="Times New Roman" panose="02020603050405020304" pitchFamily="18" charset="0"/>
              </a:rPr>
              <a:t>anaphylotoxin</a:t>
            </a:r>
            <a:r>
              <a:rPr lang="en-US" sz="2600" dirty="0">
                <a:latin typeface="Times New Roman" panose="02020603050405020304" pitchFamily="18" charset="0"/>
                <a:cs typeface="Times New Roman" panose="02020603050405020304" pitchFamily="18" charset="0"/>
              </a:rPr>
              <a:t>) and C5b (membrane bound).</a:t>
            </a:r>
          </a:p>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C5b binds C6, forming C5b6 and this binds C7 to form C5b67. C7 inserts into the membrane. Up to this point, the complement components have bound to surface of membrane.</a:t>
            </a:r>
          </a:p>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C8 binds to this complex (C5b678), also inserting into membrane.</a:t>
            </a:r>
          </a:p>
          <a:p>
            <a:pPr marL="457200" indent="-457200" algn="just">
              <a:lnSpc>
                <a:spcPct val="150000"/>
              </a:lnSpc>
              <a:buAutoNum type="arabicPeriod"/>
            </a:pPr>
            <a:r>
              <a:rPr lang="en-US" sz="2600" dirty="0">
                <a:latin typeface="Times New Roman" panose="02020603050405020304" pitchFamily="18" charset="0"/>
                <a:cs typeface="Times New Roman" panose="02020603050405020304" pitchFamily="18" charset="0"/>
              </a:rPr>
              <a:t>There is a stepwise addition of up to fourteen C9 molecules (C5b-9), resulting in the formation of a pore in the membrane. This “hole” results in lysis of cell.</a:t>
            </a:r>
          </a:p>
        </p:txBody>
      </p:sp>
    </p:spTree>
    <p:extLst>
      <p:ext uri="{BB962C8B-B14F-4D97-AF65-F5344CB8AC3E}">
        <p14:creationId xmlns:p14="http://schemas.microsoft.com/office/powerpoint/2010/main" val="2451206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l="22751" t="5936" r="17602" b="11678"/>
          <a:stretch/>
        </p:blipFill>
        <p:spPr>
          <a:xfrm>
            <a:off x="1025237" y="263236"/>
            <a:ext cx="9421092" cy="6517973"/>
          </a:xfrm>
        </p:spPr>
      </p:pic>
      <p:sp>
        <p:nvSpPr>
          <p:cNvPr id="2" name="Rectangle 1"/>
          <p:cNvSpPr/>
          <p:nvPr/>
        </p:nvSpPr>
        <p:spPr>
          <a:xfrm>
            <a:off x="6192970" y="6375468"/>
            <a:ext cx="5652655" cy="338554"/>
          </a:xfrm>
          <a:prstGeom prst="rect">
            <a:avLst/>
          </a:prstGeom>
        </p:spPr>
        <p:txBody>
          <a:bodyPr wrap="square">
            <a:spAutoFit/>
          </a:bodyPr>
          <a:lstStyle/>
          <a:p>
            <a:r>
              <a:rPr lang="en-IN" sz="1600" b="1" dirty="0"/>
              <a:t>Overview of the complement activation pathways</a:t>
            </a:r>
          </a:p>
        </p:txBody>
      </p:sp>
    </p:spTree>
    <p:extLst>
      <p:ext uri="{BB962C8B-B14F-4D97-AF65-F5344CB8AC3E}">
        <p14:creationId xmlns:p14="http://schemas.microsoft.com/office/powerpoint/2010/main" val="3148184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02" t="8322" r="12594" b="40839"/>
          <a:stretch/>
        </p:blipFill>
        <p:spPr bwMode="auto">
          <a:xfrm>
            <a:off x="309490" y="0"/>
            <a:ext cx="10480430" cy="6684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1920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399" t="11237" r="6259" b="46574"/>
          <a:stretch/>
        </p:blipFill>
        <p:spPr bwMode="auto">
          <a:xfrm>
            <a:off x="6752491" y="0"/>
            <a:ext cx="4994033" cy="683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16969" r="46441" b="74752"/>
          <a:stretch/>
        </p:blipFill>
        <p:spPr bwMode="auto">
          <a:xfrm>
            <a:off x="260159" y="-24618"/>
            <a:ext cx="6011687" cy="1740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28704" r="46441" b="65120"/>
          <a:stretch/>
        </p:blipFill>
        <p:spPr bwMode="auto">
          <a:xfrm>
            <a:off x="232023" y="1604133"/>
            <a:ext cx="6067959" cy="129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35059" r="46441" b="61048"/>
          <a:stretch/>
        </p:blipFill>
        <p:spPr bwMode="auto">
          <a:xfrm>
            <a:off x="260159" y="2955058"/>
            <a:ext cx="6067959" cy="1208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43124" r="46441" b="52015"/>
          <a:stretch/>
        </p:blipFill>
        <p:spPr bwMode="auto">
          <a:xfrm>
            <a:off x="260159" y="4080530"/>
            <a:ext cx="6067959" cy="1335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48239" r="46441" b="48194"/>
          <a:stretch/>
        </p:blipFill>
        <p:spPr bwMode="auto">
          <a:xfrm>
            <a:off x="232023" y="5359797"/>
            <a:ext cx="6011687" cy="970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4103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378" t="57063" r="6259" b="6853"/>
          <a:stretch/>
        </p:blipFill>
        <p:spPr bwMode="auto">
          <a:xfrm>
            <a:off x="365760" y="154744"/>
            <a:ext cx="11169748" cy="6490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8448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01" t="8533" r="12051" b="58041"/>
          <a:stretch/>
        </p:blipFill>
        <p:spPr bwMode="auto">
          <a:xfrm>
            <a:off x="-15847" y="0"/>
            <a:ext cx="11959318"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9616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682" t="61538" r="12413" b="6154"/>
          <a:stretch/>
        </p:blipFill>
        <p:spPr bwMode="auto">
          <a:xfrm>
            <a:off x="136759" y="1"/>
            <a:ext cx="11722314" cy="6443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2849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293" y="13431"/>
            <a:ext cx="6396387" cy="737534"/>
          </a:xfrm>
        </p:spPr>
        <p:txBody>
          <a:bodyPr>
            <a:normAutofit/>
          </a:bodyPr>
          <a:lstStyle/>
          <a:p>
            <a:r>
              <a:rPr lang="en-US" b="1" dirty="0">
                <a:latin typeface="Times New Roman" panose="02020603050405020304" pitchFamily="18" charset="0"/>
                <a:cs typeface="Times New Roman" panose="02020603050405020304" pitchFamily="18" charset="0"/>
              </a:rPr>
              <a:t>Functions of complement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247426" y="779102"/>
            <a:ext cx="11344352" cy="5818645"/>
          </a:xfrm>
        </p:spPr>
        <p:txBody>
          <a:bodyPr>
            <a:noAutofit/>
          </a:bodyPr>
          <a:lstStyle/>
          <a:p>
            <a:pPr marL="0" lvl="0" indent="0" algn="just">
              <a:buNone/>
            </a:pPr>
            <a:r>
              <a:rPr lang="en-US" dirty="0">
                <a:latin typeface="Times New Roman" panose="02020603050405020304" pitchFamily="18" charset="0"/>
                <a:cs typeface="Times New Roman" panose="02020603050405020304" pitchFamily="18" charset="0"/>
              </a:rPr>
              <a:t>The functions of complement include:</a:t>
            </a:r>
          </a:p>
          <a:p>
            <a:pPr marL="457200" lvl="0" indent="-457200" algn="just">
              <a:lnSpc>
                <a:spcPct val="160000"/>
              </a:lnSpc>
              <a:buFont typeface="+mj-lt"/>
              <a:buAutoNum type="arabicPeriod"/>
            </a:pPr>
            <a:r>
              <a:rPr lang="en-US" b="1" dirty="0" err="1">
                <a:latin typeface="Times New Roman" panose="02020603050405020304" pitchFamily="18" charset="0"/>
                <a:cs typeface="Times New Roman" panose="02020603050405020304" pitchFamily="18" charset="0"/>
              </a:rPr>
              <a:t>Opsonization</a:t>
            </a:r>
            <a:r>
              <a:rPr lang="en-US" b="1" dirty="0">
                <a:latin typeface="Times New Roman" panose="02020603050405020304" pitchFamily="18" charset="0"/>
                <a:cs typeface="Times New Roman" panose="02020603050405020304" pitchFamily="18" charset="0"/>
              </a:rPr>
              <a:t> and phagocytosis- </a:t>
            </a:r>
            <a:r>
              <a:rPr lang="en-US" dirty="0">
                <a:latin typeface="Times New Roman" panose="02020603050405020304" pitchFamily="18" charset="0"/>
                <a:cs typeface="Times New Roman" panose="02020603050405020304" pitchFamily="18" charset="0"/>
              </a:rPr>
              <a:t>C3b, bound to immune complex or coated on the surface of pathogen, activate phagocytic cells. These proteins bind to specific receptors on the phagocytic cells to get engulfed.</a:t>
            </a:r>
          </a:p>
          <a:p>
            <a:pPr marL="457200" lvl="0" indent="-457200" algn="just">
              <a:lnSpc>
                <a:spcPct val="160000"/>
              </a:lnSpc>
              <a:buFont typeface="+mj-lt"/>
              <a:buAutoNum type="arabicPeriod"/>
            </a:pPr>
            <a:r>
              <a:rPr lang="en-US" b="1" dirty="0">
                <a:latin typeface="Times New Roman" panose="02020603050405020304" pitchFamily="18" charset="0"/>
                <a:cs typeface="Times New Roman" panose="02020603050405020304" pitchFamily="18" charset="0"/>
              </a:rPr>
              <a:t>Cell lysis- </a:t>
            </a:r>
            <a:r>
              <a:rPr lang="en-US" dirty="0">
                <a:latin typeface="Times New Roman" panose="02020603050405020304" pitchFamily="18" charset="0"/>
                <a:cs typeface="Times New Roman" panose="02020603050405020304" pitchFamily="18" charset="0"/>
              </a:rPr>
              <a:t>Membrane attack complex formed by C5b6789 components ruptures the microbial cell surface which kills the cell.</a:t>
            </a:r>
          </a:p>
          <a:p>
            <a:pPr marL="457200" indent="-457200" algn="just">
              <a:lnSpc>
                <a:spcPct val="160000"/>
              </a:lnSpc>
              <a:buFont typeface="+mj-lt"/>
              <a:buAutoNum type="arabicPeriod"/>
            </a:pPr>
            <a:r>
              <a:rPr lang="en-US" b="1" dirty="0" err="1">
                <a:latin typeface="Times New Roman" panose="02020603050405020304" pitchFamily="18" charset="0"/>
                <a:cs typeface="Times New Roman" panose="02020603050405020304" pitchFamily="18" charset="0"/>
              </a:rPr>
              <a:t>Chemotaxis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Complement fragments attract neutrophils and macrophages to the area where the antigen is present. These cell surfaces have receptors for complements, like C5a, C3a, thus, run towards the site of inflammation, i.e. </a:t>
            </a:r>
            <a:r>
              <a:rPr lang="en-US" dirty="0" err="1">
                <a:latin typeface="Times New Roman" panose="02020603050405020304" pitchFamily="18" charset="0"/>
                <a:cs typeface="Times New Roman" panose="02020603050405020304" pitchFamily="18" charset="0"/>
              </a:rPr>
              <a:t>chemotaxis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21571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3358" y="202327"/>
            <a:ext cx="11344352" cy="5818645"/>
          </a:xfrm>
        </p:spPr>
        <p:txBody>
          <a:bodyPr>
            <a:noAutofit/>
          </a:bodyPr>
          <a:lstStyle/>
          <a:p>
            <a:pPr marL="457200" lvl="0" indent="-457200" algn="just">
              <a:lnSpc>
                <a:spcPct val="160000"/>
              </a:lnSpc>
              <a:buFont typeface="+mj-lt"/>
              <a:buAutoNum type="arabicPeriod" startAt="4"/>
            </a:pPr>
            <a:r>
              <a:rPr lang="en-IN" dirty="0">
                <a:latin typeface="Times New Roman" panose="02020603050405020304" pitchFamily="18" charset="0"/>
                <a:cs typeface="Times New Roman" panose="02020603050405020304" pitchFamily="18" charset="0"/>
              </a:rPr>
              <a:t>Activation of mast cells and basophils and enhancement of inflammation-</a:t>
            </a:r>
          </a:p>
          <a:p>
            <a:pPr lvl="0" algn="just">
              <a:lnSpc>
                <a:spcPct val="160000"/>
              </a:lnSpc>
              <a:buFont typeface="Wingdings" pitchFamily="2" charset="2"/>
              <a:buChar char="v"/>
            </a:pP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proteolytic</a:t>
            </a:r>
            <a:r>
              <a:rPr lang="en-IN" dirty="0">
                <a:latin typeface="Times New Roman" panose="02020603050405020304" pitchFamily="18" charset="0"/>
                <a:cs typeface="Times New Roman" panose="02020603050405020304" pitchFamily="18" charset="0"/>
              </a:rPr>
              <a:t> complement fragments, C5a, C4a, and C3a induce acute inflammation by activating mast cells and neutrophils.</a:t>
            </a:r>
          </a:p>
          <a:p>
            <a:pPr lvl="0" algn="just">
              <a:lnSpc>
                <a:spcPct val="160000"/>
              </a:lnSpc>
              <a:buFont typeface="Wingdings" pitchFamily="2" charset="2"/>
              <a:buChar char="v"/>
            </a:pPr>
            <a:r>
              <a:rPr lang="en-IN" dirty="0">
                <a:latin typeface="Times New Roman" panose="02020603050405020304" pitchFamily="18" charset="0"/>
                <a:cs typeface="Times New Roman" panose="02020603050405020304" pitchFamily="18" charset="0"/>
              </a:rPr>
              <a:t>All three peptides bind to mast cells and induce degranulation, with the release of vasoactive mediators such as histamine.</a:t>
            </a:r>
          </a:p>
          <a:p>
            <a:pPr algn="just">
              <a:lnSpc>
                <a:spcPct val="160000"/>
              </a:lnSpc>
              <a:buFont typeface="Wingdings" pitchFamily="2" charset="2"/>
              <a:buChar char="v"/>
            </a:pPr>
            <a:r>
              <a:rPr lang="en-US" dirty="0">
                <a:latin typeface="Times New Roman" panose="02020603050405020304" pitchFamily="18" charset="0"/>
                <a:cs typeface="Times New Roman" panose="02020603050405020304" pitchFamily="18" charset="0"/>
              </a:rPr>
              <a:t>These peptides are also called </a:t>
            </a:r>
            <a:r>
              <a:rPr lang="en-US" dirty="0" err="1">
                <a:latin typeface="Times New Roman" panose="02020603050405020304" pitchFamily="18" charset="0"/>
                <a:cs typeface="Times New Roman" panose="02020603050405020304" pitchFamily="18" charset="0"/>
              </a:rPr>
              <a:t>anaphylatoxins</a:t>
            </a:r>
            <a:r>
              <a:rPr lang="en-US" dirty="0">
                <a:latin typeface="Times New Roman" panose="02020603050405020304" pitchFamily="18" charset="0"/>
                <a:cs typeface="Times New Roman" panose="02020603050405020304" pitchFamily="18" charset="0"/>
              </a:rPr>
              <a:t> because the mast cell reactions they trigger are characteristic of anaphylaxis.</a:t>
            </a:r>
          </a:p>
          <a:p>
            <a:pPr lvl="0" algn="just">
              <a:lnSpc>
                <a:spcPct val="160000"/>
              </a:lnSpc>
              <a:buFont typeface="Wingdings" pitchFamily="2" charset="2"/>
              <a:buChar char="v"/>
            </a:pPr>
            <a:r>
              <a:rPr lang="en-US" dirty="0">
                <a:latin typeface="Times New Roman" panose="02020603050405020304" pitchFamily="18" charset="0"/>
                <a:cs typeface="Times New Roman" panose="02020603050405020304" pitchFamily="18" charset="0"/>
              </a:rPr>
              <a:t>Binding to specific complement receptors on cells of the immune system, they trigger specific cell functions, inflammation, and secretion of </a:t>
            </a:r>
            <a:r>
              <a:rPr lang="en-US" dirty="0" err="1">
                <a:latin typeface="Times New Roman" panose="02020603050405020304" pitchFamily="18" charset="0"/>
                <a:cs typeface="Times New Roman" panose="02020603050405020304" pitchFamily="18" charset="0"/>
              </a:rPr>
              <a:t>immunoregulatory</a:t>
            </a:r>
            <a:r>
              <a:rPr lang="en-US" dirty="0">
                <a:latin typeface="Times New Roman" panose="02020603050405020304" pitchFamily="18" charset="0"/>
                <a:cs typeface="Times New Roman" panose="02020603050405020304" pitchFamily="18" charset="0"/>
              </a:rPr>
              <a:t> molecules.</a:t>
            </a:r>
          </a:p>
        </p:txBody>
      </p:sp>
    </p:spTree>
    <p:extLst>
      <p:ext uri="{BB962C8B-B14F-4D97-AF65-F5344CB8AC3E}">
        <p14:creationId xmlns:p14="http://schemas.microsoft.com/office/powerpoint/2010/main" val="3964170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36098" y="265766"/>
            <a:ext cx="10818057" cy="6135034"/>
          </a:xfrm>
        </p:spPr>
        <p:txBody>
          <a:bodyPr>
            <a:normAutofit/>
          </a:bodyPr>
          <a:lstStyle/>
          <a:p>
            <a:pPr marL="457200" lvl="0" indent="-457200" algn="just">
              <a:lnSpc>
                <a:spcPct val="160000"/>
              </a:lnSpc>
              <a:buFont typeface="+mj-lt"/>
              <a:buAutoNum type="arabicPeriod" startAt="5"/>
            </a:pPr>
            <a:r>
              <a:rPr lang="en-US" sz="2600" b="1" dirty="0">
                <a:latin typeface="Times New Roman" panose="02020603050405020304" pitchFamily="18" charset="0"/>
                <a:cs typeface="Times New Roman" panose="02020603050405020304" pitchFamily="18" charset="0"/>
              </a:rPr>
              <a:t>Production of antibodies- </a:t>
            </a:r>
            <a:r>
              <a:rPr lang="en-US" sz="2600" dirty="0">
                <a:latin typeface="Times New Roman" panose="02020603050405020304" pitchFamily="18" charset="0"/>
                <a:cs typeface="Times New Roman" panose="02020603050405020304" pitchFamily="18" charset="0"/>
              </a:rPr>
              <a:t>B cells have receptor for C3b. When C3b binds to B-cell, it secretes more antibodies. Thus C3b is also an antibody producing amplifiers which converts it into an effective defense mechanism to destroy invading microorganism.</a:t>
            </a:r>
          </a:p>
          <a:p>
            <a:pPr marL="457200" lvl="0" indent="-457200" algn="just">
              <a:lnSpc>
                <a:spcPct val="160000"/>
              </a:lnSpc>
              <a:buFont typeface="+mj-lt"/>
              <a:buAutoNum type="arabicPeriod" startAt="5"/>
            </a:pPr>
            <a:r>
              <a:rPr lang="en-US" sz="2600" b="1" dirty="0">
                <a:latin typeface="Times New Roman" panose="02020603050405020304" pitchFamily="18" charset="0"/>
                <a:cs typeface="Times New Roman" panose="02020603050405020304" pitchFamily="18" charset="0"/>
              </a:rPr>
              <a:t>Immune clearance- </a:t>
            </a:r>
            <a:r>
              <a:rPr lang="en-US" sz="2600" dirty="0">
                <a:latin typeface="Times New Roman" panose="02020603050405020304" pitchFamily="18" charset="0"/>
                <a:cs typeface="Times New Roman" panose="02020603050405020304" pitchFamily="18" charset="0"/>
              </a:rPr>
              <a:t>The complement system removes immune complexes from the circulation and deposits them in the spleen and liver. Thus it acts as anti-inflammatory function. Complement proteins promote the </a:t>
            </a:r>
            <a:r>
              <a:rPr lang="en-US" sz="2600" dirty="0" err="1">
                <a:latin typeface="Times New Roman" panose="02020603050405020304" pitchFamily="18" charset="0"/>
                <a:cs typeface="Times New Roman" panose="02020603050405020304" pitchFamily="18" charset="0"/>
              </a:rPr>
              <a:t>solubilization</a:t>
            </a:r>
            <a:r>
              <a:rPr lang="en-US" sz="2600" dirty="0">
                <a:latin typeface="Times New Roman" panose="02020603050405020304" pitchFamily="18" charset="0"/>
                <a:cs typeface="Times New Roman" panose="02020603050405020304" pitchFamily="18" charset="0"/>
              </a:rPr>
              <a:t> of these complexes and their clearance by phagocytes.</a:t>
            </a:r>
          </a:p>
        </p:txBody>
      </p:sp>
    </p:spTree>
    <p:extLst>
      <p:ext uri="{BB962C8B-B14F-4D97-AF65-F5344CB8AC3E}">
        <p14:creationId xmlns:p14="http://schemas.microsoft.com/office/powerpoint/2010/main" val="2867946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7643" y="759710"/>
            <a:ext cx="3377754" cy="604856"/>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Canine C3 Deficiency</a:t>
            </a:r>
          </a:p>
        </p:txBody>
      </p:sp>
      <p:sp>
        <p:nvSpPr>
          <p:cNvPr id="4" name="Rectangle 3"/>
          <p:cNvSpPr/>
          <p:nvPr/>
        </p:nvSpPr>
        <p:spPr>
          <a:xfrm>
            <a:off x="792123" y="205712"/>
            <a:ext cx="4877157" cy="553998"/>
          </a:xfrm>
          <a:prstGeom prst="rect">
            <a:avLst/>
          </a:prstGeom>
        </p:spPr>
        <p:txBody>
          <a:bodyPr wrap="square">
            <a:spAutoFit/>
          </a:bodyPr>
          <a:lstStyle/>
          <a:p>
            <a:r>
              <a:rPr lang="en-US" sz="3000" b="1" dirty="0">
                <a:latin typeface="Times New Roman" panose="02020603050405020304" pitchFamily="18" charset="0"/>
                <a:cs typeface="Times New Roman" panose="02020603050405020304" pitchFamily="18" charset="0"/>
              </a:rPr>
              <a:t>Complement Deficiencies</a:t>
            </a:r>
            <a:endParaRPr lang="en-IN" sz="3000" b="1" dirty="0"/>
          </a:p>
        </p:txBody>
      </p:sp>
      <p:sp>
        <p:nvSpPr>
          <p:cNvPr id="5" name="Content Placeholder 2"/>
          <p:cNvSpPr txBox="1">
            <a:spLocks/>
          </p:cNvSpPr>
          <p:nvPr/>
        </p:nvSpPr>
        <p:spPr>
          <a:xfrm>
            <a:off x="412653" y="1375117"/>
            <a:ext cx="9956800" cy="2971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buFont typeface="Wingdings" pitchFamily="2" charset="2"/>
              <a:buChar char="v"/>
            </a:pPr>
            <a:r>
              <a:rPr lang="en-US">
                <a:latin typeface="Times New Roman" panose="02020603050405020304" pitchFamily="18" charset="0"/>
                <a:cs typeface="Times New Roman" panose="02020603050405020304" pitchFamily="18" charset="0"/>
              </a:rPr>
              <a:t>Heterozygous animals are clinically normal.</a:t>
            </a:r>
          </a:p>
          <a:p>
            <a:pPr algn="just">
              <a:buFont typeface="Wingdings" pitchFamily="2" charset="2"/>
              <a:buChar char="v"/>
            </a:pPr>
            <a:r>
              <a:rPr lang="en-US">
                <a:latin typeface="Times New Roman" panose="02020603050405020304" pitchFamily="18" charset="0"/>
                <a:cs typeface="Times New Roman" panose="02020603050405020304" pitchFamily="18" charset="0"/>
              </a:rPr>
              <a:t>The homozygous deficient animals have lower lgG level then normal and their ability to make against defined antigens is reduced.</a:t>
            </a:r>
          </a:p>
          <a:p>
            <a:pPr algn="just">
              <a:buFont typeface="Wingdings" pitchFamily="2" charset="2"/>
              <a:buChar char="v"/>
            </a:pPr>
            <a:r>
              <a:rPr lang="en-US">
                <a:latin typeface="Times New Roman" panose="02020603050405020304" pitchFamily="18" charset="0"/>
                <a:cs typeface="Times New Roman" panose="02020603050405020304" pitchFamily="18" charset="0"/>
              </a:rPr>
              <a:t>The dogs tend to make more IgM and less IgG. They experience recurrent sepsis, pneumonia, pyometra and wound infections.</a:t>
            </a:r>
          </a:p>
          <a:p>
            <a:pPr algn="just">
              <a:buFont typeface="Wingdings" pitchFamily="2" charset="2"/>
              <a:buChar char="v"/>
            </a:pPr>
            <a:r>
              <a:rPr lang="en-US">
                <a:latin typeface="Times New Roman" panose="02020603050405020304" pitchFamily="18" charset="0"/>
                <a:cs typeface="Times New Roman" panose="02020603050405020304" pitchFamily="18" charset="0"/>
              </a:rPr>
              <a:t>Some affected dogs develop amyloidosis and many  immune-complex mediated  kidney disease.</a:t>
            </a:r>
          </a:p>
          <a:p>
            <a:endParaRPr lang="en-IN" dirty="0"/>
          </a:p>
        </p:txBody>
      </p:sp>
    </p:spTree>
    <p:extLst>
      <p:ext uri="{BB962C8B-B14F-4D97-AF65-F5344CB8AC3E}">
        <p14:creationId xmlns:p14="http://schemas.microsoft.com/office/powerpoint/2010/main" val="138565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3683" y="953086"/>
            <a:ext cx="10954043" cy="2648243"/>
          </a:xfrm>
        </p:spPr>
        <p:txBody>
          <a:bodyPr/>
          <a:lstStyle/>
          <a:p>
            <a:pPr algn="just"/>
            <a:r>
              <a:rPr lang="en-US" dirty="0">
                <a:latin typeface="Times New Roman" panose="02020603050405020304" pitchFamily="18" charset="0"/>
                <a:cs typeface="Times New Roman" panose="02020603050405020304" pitchFamily="18" charset="0"/>
              </a:rPr>
              <a:t>Factor H is a critical component of the alternative pathway.</a:t>
            </a:r>
          </a:p>
          <a:p>
            <a:pPr algn="just"/>
            <a:r>
              <a:rPr lang="en-US" dirty="0">
                <a:latin typeface="Times New Roman" panose="02020603050405020304" pitchFamily="18" charset="0"/>
                <a:cs typeface="Times New Roman" panose="02020603050405020304" pitchFamily="18" charset="0"/>
              </a:rPr>
              <a:t>It normally inactivates C3b as soon as so prevents excessive alternative pathway.</a:t>
            </a:r>
          </a:p>
          <a:p>
            <a:pPr algn="just"/>
            <a:r>
              <a:rPr lang="en-US" dirty="0">
                <a:latin typeface="Times New Roman" panose="02020603050405020304" pitchFamily="18" charset="0"/>
                <a:cs typeface="Times New Roman" panose="02020603050405020304" pitchFamily="18" charset="0"/>
              </a:rPr>
              <a:t>If an animal fails to make factor H, then C3b will be generated in an uncontrolled fashion.</a:t>
            </a:r>
          </a:p>
          <a:p>
            <a:pPr algn="just"/>
            <a:r>
              <a:rPr lang="en-US" dirty="0">
                <a:latin typeface="Times New Roman" panose="02020603050405020304" pitchFamily="18" charset="0"/>
                <a:cs typeface="Times New Roman" panose="02020603050405020304" pitchFamily="18" charset="0"/>
              </a:rPr>
              <a:t>Factor H deficiency has been identified  as an autosomal recessive trait in Yorkshire pigs. Nephritic piglets are almost totally deficient in factor H.</a:t>
            </a:r>
          </a:p>
          <a:p>
            <a:endParaRPr lang="en-IN" dirty="0"/>
          </a:p>
        </p:txBody>
      </p:sp>
      <p:sp>
        <p:nvSpPr>
          <p:cNvPr id="4" name="Content Placeholder 2"/>
          <p:cNvSpPr txBox="1">
            <a:spLocks/>
          </p:cNvSpPr>
          <p:nvPr/>
        </p:nvSpPr>
        <p:spPr>
          <a:xfrm>
            <a:off x="353683" y="194822"/>
            <a:ext cx="5887460" cy="882359"/>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buFont typeface="Wingdings"/>
              <a:buNone/>
            </a:pPr>
            <a:r>
              <a:rPr lang="en-US" sz="4000">
                <a:solidFill>
                  <a:srgbClr val="FF0000"/>
                </a:solidFill>
                <a:latin typeface="Times New Roman" panose="02020603050405020304" pitchFamily="18" charset="0"/>
                <a:cs typeface="Times New Roman" panose="02020603050405020304" pitchFamily="18" charset="0"/>
              </a:rPr>
              <a:t>Porcine factor H deficiency</a:t>
            </a:r>
            <a:endParaRPr lang="en-US" sz="4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493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115418" y="1098358"/>
            <a:ext cx="5994400" cy="2844112"/>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en-IN" sz="8941"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cs typeface="+mn-cs"/>
              </a:rPr>
              <a:t>Thank You</a:t>
            </a:r>
            <a:r>
              <a:rPr lang="en-IN" sz="6035"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cs typeface="+mn-cs"/>
              </a:rPr>
              <a:t> </a:t>
            </a:r>
          </a:p>
        </p:txBody>
      </p:sp>
      <p:sp>
        <p:nvSpPr>
          <p:cNvPr id="11" name="Subtitle 2"/>
          <p:cNvSpPr txBox="1">
            <a:spLocks/>
          </p:cNvSpPr>
          <p:nvPr/>
        </p:nvSpPr>
        <p:spPr bwMode="auto">
          <a:xfrm>
            <a:off x="2433638" y="4279900"/>
            <a:ext cx="7580312" cy="1447800"/>
          </a:xfrm>
          <a:prstGeom prst="rect">
            <a:avLst/>
          </a:prstGeom>
          <a:noFill/>
          <a:ln>
            <a:noFill/>
          </a:ln>
        </p:spPr>
        <p:txBody>
          <a:bodyPr/>
          <a:lst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lgn="ctr">
              <a:spcBef>
                <a:spcPct val="0"/>
              </a:spcBef>
              <a:buFont typeface="Wingdings" pitchFamily="2" charset="2"/>
              <a:buNone/>
              <a:defRPr/>
            </a:pPr>
            <a:r>
              <a:rPr lang="en-US" altLang="en-US" sz="2235" dirty="0"/>
              <a:t>Dr. Sandeep Kumar Sharma, </a:t>
            </a:r>
            <a:r>
              <a:rPr lang="en-IN" sz="1565" dirty="0" err="1"/>
              <a:t>BVSc</a:t>
            </a:r>
            <a:r>
              <a:rPr lang="en-IN" sz="1565" dirty="0"/>
              <a:t> &amp; AH, </a:t>
            </a:r>
            <a:r>
              <a:rPr lang="en-IN" sz="1565" dirty="0" err="1"/>
              <a:t>MVSc</a:t>
            </a:r>
            <a:r>
              <a:rPr lang="en-IN" sz="1565" dirty="0"/>
              <a:t> and PhD </a:t>
            </a:r>
          </a:p>
          <a:p>
            <a:pPr marL="0" indent="0" algn="ctr">
              <a:spcBef>
                <a:spcPct val="0"/>
              </a:spcBef>
              <a:buFont typeface="Wingdings" pitchFamily="2" charset="2"/>
              <a:buNone/>
              <a:defRPr/>
            </a:pPr>
            <a:r>
              <a:rPr lang="en-IN" sz="2235" dirty="0"/>
              <a:t>Assistant Professor, PGIVER</a:t>
            </a:r>
          </a:p>
          <a:p>
            <a:pPr marL="0" indent="0" algn="ctr">
              <a:spcBef>
                <a:spcPct val="0"/>
              </a:spcBef>
              <a:buFont typeface="Wingdings" pitchFamily="2" charset="2"/>
              <a:buNone/>
              <a:defRPr/>
            </a:pPr>
            <a:r>
              <a:rPr lang="en-IN" sz="2235" dirty="0"/>
              <a:t>drsharmask01@hotmail.com</a:t>
            </a:r>
            <a:endParaRPr lang="en-US" altLang="en-US" sz="2235" dirty="0"/>
          </a:p>
          <a:p>
            <a:pPr algn="ctr">
              <a:spcBef>
                <a:spcPct val="0"/>
              </a:spcBef>
              <a:buFont typeface="Arial" charset="0"/>
              <a:buNone/>
              <a:defRPr/>
            </a:pPr>
            <a:r>
              <a:rPr lang="en-US" altLang="en-US" sz="2235" dirty="0"/>
              <a:t>Mob. 9414775879</a:t>
            </a:r>
          </a:p>
        </p:txBody>
      </p:sp>
    </p:spTree>
    <p:extLst>
      <p:ext uri="{BB962C8B-B14F-4D97-AF65-F5344CB8AC3E}">
        <p14:creationId xmlns:p14="http://schemas.microsoft.com/office/powerpoint/2010/main" val="1937841603"/>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328</TotalTime>
  <Words>3186</Words>
  <Application>Microsoft Macintosh PowerPoint</Application>
  <PresentationFormat>Widescreen</PresentationFormat>
  <Paragraphs>228</Paragraphs>
  <Slides>44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Century Schoolbook</vt:lpstr>
      <vt:lpstr>Times New Roman</vt:lpstr>
      <vt:lpstr>Wingdings</vt:lpstr>
      <vt:lpstr>Wingdings 2</vt:lpstr>
      <vt:lpstr>Oriel</vt:lpstr>
      <vt:lpstr>COMPLEMENT SYSTEM</vt:lpstr>
      <vt:lpstr>INTRODUCTION</vt:lpstr>
      <vt:lpstr>PowerPoint Presentation</vt:lpstr>
      <vt:lpstr>PowerPoint Presentation</vt:lpstr>
      <vt:lpstr>Nomenclature</vt:lpstr>
      <vt:lpstr>PowerPoint Presentation</vt:lpstr>
      <vt:lpstr>PowerPoint Presentation</vt:lpstr>
      <vt:lpstr>PowerPoint Presentation</vt:lpstr>
      <vt:lpstr>PowerPoint Presentation</vt:lpstr>
      <vt:lpstr>PowerPoint Presentation</vt:lpstr>
      <vt:lpstr>Pathways of complement system</vt:lpstr>
      <vt:lpstr>PowerPoint Presentation</vt:lpstr>
      <vt:lpstr>PowerPoint Presentation</vt:lpstr>
      <vt:lpstr>PowerPoint Presentation</vt:lpstr>
      <vt:lpstr> Classical pathway:</vt:lpstr>
      <vt:lpstr>PowerPoint Presentation</vt:lpstr>
      <vt:lpstr>PowerPoint Presentation</vt:lpstr>
      <vt:lpstr>Steps in classical pathway: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Steps in formation of MAC:</vt:lpstr>
      <vt:lpstr>PowerPoint Presentation</vt:lpstr>
      <vt:lpstr>PowerPoint Presentation</vt:lpstr>
      <vt:lpstr>PowerPoint Presentation</vt:lpstr>
      <vt:lpstr>PowerPoint Presentation</vt:lpstr>
      <vt:lpstr>PowerPoint Presentation</vt:lpstr>
      <vt:lpstr>PowerPoint Presentation</vt:lpstr>
      <vt:lpstr>Functions of complement system:</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COMPLEMENT SYSTEM</dc:title>
  <dc:creator>Microsoft account</dc:creator>
  <cp:lastModifiedBy>Dr Sandeep Sharma</cp:lastModifiedBy>
  <cp:revision>234</cp:revision>
  <dcterms:created xsi:type="dcterms:W3CDTF">2023-06-17T16:26:49Z</dcterms:created>
  <dcterms:modified xsi:type="dcterms:W3CDTF">2024-03-20T01:36:10Z</dcterms:modified>
</cp:coreProperties>
</file>