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A7B486F5-FCA2-4902-B3E9-14D49ED17DF7}" type="datetimeFigureOut">
              <a:rPr lang="en-US" smtClean="0"/>
              <a:t>1/25/2024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0683449E-2B8E-472D-AA21-A179173145E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7B486F5-FCA2-4902-B3E9-14D49ED17DF7}" type="datetimeFigureOut">
              <a:rPr lang="en-US" smtClean="0"/>
              <a:t>1/25/2024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683449E-2B8E-472D-AA21-A179173145E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A7B486F5-FCA2-4902-B3E9-14D49ED17DF7}" type="datetimeFigureOut">
              <a:rPr lang="en-US" smtClean="0"/>
              <a:t>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0683449E-2B8E-472D-AA21-A179173145E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486F5-FCA2-4902-B3E9-14D49ED17DF7}" type="datetimeFigureOut">
              <a:rPr lang="en-US" smtClean="0"/>
              <a:t>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449E-2B8E-472D-AA21-A179173145E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486F5-FCA2-4902-B3E9-14D49ED17DF7}" type="datetimeFigureOut">
              <a:rPr lang="en-US" smtClean="0"/>
              <a:t>1/25/2024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449E-2B8E-472D-AA21-A179173145E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7B486F5-FCA2-4902-B3E9-14D49ED17DF7}" type="datetimeFigureOut">
              <a:rPr lang="en-US" smtClean="0"/>
              <a:t>1/25/2024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683449E-2B8E-472D-AA21-A179173145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486F5-FCA2-4902-B3E9-14D49ED17DF7}" type="datetimeFigureOut">
              <a:rPr lang="en-US" smtClean="0"/>
              <a:t>1/25/2024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449E-2B8E-472D-AA21-A179173145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7B486F5-FCA2-4902-B3E9-14D49ED17DF7}" type="datetimeFigureOut">
              <a:rPr lang="en-US" smtClean="0"/>
              <a:t>1/25/2024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683449E-2B8E-472D-AA21-A179173145EB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7B486F5-FCA2-4902-B3E9-14D49ED17DF7}" type="datetimeFigureOut">
              <a:rPr lang="en-US" smtClean="0"/>
              <a:t>1/25/2024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683449E-2B8E-472D-AA21-A179173145EB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486F5-FCA2-4902-B3E9-14D49ED17DF7}" type="datetimeFigureOut">
              <a:rPr lang="en-US" smtClean="0"/>
              <a:t>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449E-2B8E-472D-AA21-A179173145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486F5-FCA2-4902-B3E9-14D49ED17DF7}" type="datetimeFigureOut">
              <a:rPr lang="en-US" smtClean="0"/>
              <a:t>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449E-2B8E-472D-AA21-A179173145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7B486F5-FCA2-4902-B3E9-14D49ED17DF7}" type="datetimeFigureOut">
              <a:rPr lang="en-US" smtClean="0"/>
              <a:t>1/25/2024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683449E-2B8E-472D-AA21-A179173145E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Bacterial </a:t>
            </a:r>
            <a:r>
              <a:rPr lang="en-IN" dirty="0" err="1"/>
              <a:t>endospore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Dr. </a:t>
            </a:r>
            <a:r>
              <a:rPr lang="en-IN" dirty="0" err="1"/>
              <a:t>Bincy</a:t>
            </a:r>
            <a:r>
              <a:rPr lang="en-IN" dirty="0"/>
              <a:t> Joseph</a:t>
            </a:r>
          </a:p>
          <a:p>
            <a:r>
              <a:rPr lang="en-IN" dirty="0"/>
              <a:t>Assistant Professor</a:t>
            </a:r>
          </a:p>
          <a:p>
            <a:r>
              <a:rPr lang="en-IN" dirty="0"/>
              <a:t>PGIVER, </a:t>
            </a:r>
            <a:r>
              <a:rPr lang="en-IN" dirty="0" err="1"/>
              <a:t>Jaipur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Bacterial </a:t>
            </a:r>
            <a:r>
              <a:rPr lang="en-IN" dirty="0" err="1"/>
              <a:t>endospore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number of gram-positive bacteria can form a special resistant, dormant structure called an </a:t>
            </a:r>
            <a:r>
              <a:rPr lang="en-US" b="1" dirty="0" err="1"/>
              <a:t>endospore</a:t>
            </a:r>
            <a:endParaRPr lang="en-US" b="1" dirty="0"/>
          </a:p>
          <a:p>
            <a:r>
              <a:rPr lang="en-US" b="1" dirty="0" err="1"/>
              <a:t>Endospores</a:t>
            </a:r>
            <a:r>
              <a:rPr lang="en-US" b="1" dirty="0"/>
              <a:t> develop </a:t>
            </a:r>
            <a:r>
              <a:rPr lang="en-US" dirty="0"/>
              <a:t>within vegetative bacterial cells of several genera: </a:t>
            </a:r>
          </a:p>
          <a:p>
            <a:r>
              <a:rPr lang="en-US" i="1" dirty="0"/>
              <a:t>Bacillus and Clostridium (rods), </a:t>
            </a:r>
            <a:r>
              <a:rPr lang="en-US" i="1" dirty="0" err="1"/>
              <a:t>Sporosarcina</a:t>
            </a:r>
            <a:r>
              <a:rPr lang="en-US" i="1" dirty="0"/>
              <a:t> (</a:t>
            </a:r>
            <a:r>
              <a:rPr lang="en-US" i="1" dirty="0" err="1"/>
              <a:t>cocci</a:t>
            </a:r>
            <a:r>
              <a:rPr lang="en-US" i="1" dirty="0"/>
              <a:t>), and others.</a:t>
            </a:r>
          </a:p>
          <a:p>
            <a:r>
              <a:rPr lang="en-US" i="1" dirty="0"/>
              <a:t> These structures </a:t>
            </a:r>
            <a:r>
              <a:rPr lang="en-US" dirty="0"/>
              <a:t>are extraordinarily resistant to environmental stresses such as </a:t>
            </a:r>
            <a:r>
              <a:rPr lang="fr-FR" dirty="0" err="1"/>
              <a:t>heat</a:t>
            </a:r>
            <a:r>
              <a:rPr lang="fr-FR" dirty="0"/>
              <a:t>, ultraviolet radiation, gamma radiation, </a:t>
            </a:r>
            <a:r>
              <a:rPr lang="fr-FR" dirty="0" err="1"/>
              <a:t>chemical</a:t>
            </a:r>
            <a:r>
              <a:rPr lang="fr-FR" dirty="0"/>
              <a:t>  </a:t>
            </a:r>
            <a:r>
              <a:rPr lang="fr-FR" dirty="0" err="1"/>
              <a:t>disinfectants</a:t>
            </a:r>
            <a:r>
              <a:rPr lang="fr-FR" dirty="0"/>
              <a:t>, </a:t>
            </a:r>
            <a:r>
              <a:rPr lang="en-US" dirty="0"/>
              <a:t>and desiccation. </a:t>
            </a:r>
          </a:p>
          <a:p>
            <a:r>
              <a:rPr lang="en-US" dirty="0"/>
              <a:t>Some </a:t>
            </a:r>
            <a:r>
              <a:rPr lang="en-US" dirty="0" err="1"/>
              <a:t>endospores</a:t>
            </a:r>
            <a:r>
              <a:rPr lang="en-US" dirty="0"/>
              <a:t> have remained viable</a:t>
            </a:r>
          </a:p>
          <a:p>
            <a:pPr>
              <a:buNone/>
            </a:pPr>
            <a:r>
              <a:rPr lang="en-US" dirty="0"/>
              <a:t>    for around 100,000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environment, </a:t>
            </a:r>
            <a:r>
              <a:rPr lang="en-US" dirty="0" err="1"/>
              <a:t>endospores</a:t>
            </a:r>
            <a:r>
              <a:rPr lang="en-US" dirty="0"/>
              <a:t> aid in survival when moisture or nutrients are scarce</a:t>
            </a:r>
          </a:p>
          <a:p>
            <a:r>
              <a:rPr lang="en-US" dirty="0" err="1"/>
              <a:t>Endospore</a:t>
            </a:r>
            <a:r>
              <a:rPr lang="en-US" dirty="0"/>
              <a:t> position in </a:t>
            </a:r>
            <a:r>
              <a:rPr lang="en-US" dirty="0" err="1"/>
              <a:t>themother</a:t>
            </a:r>
            <a:r>
              <a:rPr lang="en-US" dirty="0"/>
              <a:t> cell (</a:t>
            </a:r>
            <a:r>
              <a:rPr lang="en-US" b="1" dirty="0"/>
              <a:t>sporangium) frequently differs among species, making </a:t>
            </a:r>
            <a:r>
              <a:rPr lang="en-US" dirty="0"/>
              <a:t>it of considerable value in identification</a:t>
            </a:r>
          </a:p>
          <a:p>
            <a:r>
              <a:rPr lang="en-US" dirty="0"/>
              <a:t> </a:t>
            </a:r>
            <a:r>
              <a:rPr lang="en-US" dirty="0" err="1"/>
              <a:t>Endospores</a:t>
            </a:r>
            <a:r>
              <a:rPr lang="en-US" dirty="0"/>
              <a:t> may be centrally located, close to one end (</a:t>
            </a:r>
            <a:r>
              <a:rPr lang="en-US" dirty="0" err="1"/>
              <a:t>subterminal</a:t>
            </a:r>
            <a:r>
              <a:rPr lang="en-US" dirty="0"/>
              <a:t>), or definitely terminal</a:t>
            </a:r>
          </a:p>
          <a:p>
            <a:r>
              <a:rPr lang="en-US" b="1" dirty="0"/>
              <a:t> Sometimes an </a:t>
            </a:r>
            <a:r>
              <a:rPr lang="en-US" b="1" dirty="0" err="1"/>
              <a:t>endospore</a:t>
            </a:r>
            <a:r>
              <a:rPr lang="en-US" b="1" dirty="0"/>
              <a:t> is so large that it</a:t>
            </a:r>
          </a:p>
          <a:p>
            <a:pPr>
              <a:buNone/>
            </a:pPr>
            <a:r>
              <a:rPr lang="en-US" dirty="0"/>
              <a:t>     swells the sporangium.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28662" y="1442965"/>
            <a:ext cx="7143799" cy="4774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 of bacterial spore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43112" y="2432050"/>
            <a:ext cx="4295775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spore often is surrounded by a thin, delicate</a:t>
            </a:r>
          </a:p>
          <a:p>
            <a:pPr>
              <a:buNone/>
            </a:pPr>
            <a:r>
              <a:rPr lang="en-US" dirty="0"/>
              <a:t>   covering called the </a:t>
            </a:r>
            <a:r>
              <a:rPr lang="en-US" b="1" dirty="0" err="1"/>
              <a:t>exosporium</a:t>
            </a:r>
            <a:endParaRPr lang="en-US" b="1" dirty="0"/>
          </a:p>
          <a:p>
            <a:r>
              <a:rPr lang="en-US" b="1" dirty="0"/>
              <a:t> A spore coat lies beneath </a:t>
            </a:r>
            <a:r>
              <a:rPr lang="en-US" dirty="0"/>
              <a:t>the </a:t>
            </a:r>
            <a:r>
              <a:rPr lang="en-US" dirty="0" err="1"/>
              <a:t>exosporium</a:t>
            </a:r>
            <a:r>
              <a:rPr lang="en-US" dirty="0"/>
              <a:t>, is composed of several protein layers, and may</a:t>
            </a:r>
          </a:p>
          <a:p>
            <a:pPr>
              <a:buNone/>
            </a:pPr>
            <a:r>
              <a:rPr lang="en-US" dirty="0"/>
              <a:t>    be fairly thick</a:t>
            </a:r>
          </a:p>
          <a:p>
            <a:r>
              <a:rPr lang="en-US" dirty="0"/>
              <a:t> It is impermeable to many toxic molecules and is</a:t>
            </a:r>
          </a:p>
          <a:p>
            <a:pPr>
              <a:buNone/>
            </a:pPr>
            <a:r>
              <a:rPr lang="en-US" dirty="0"/>
              <a:t>    responsible for the spore’s resistance to chemicals.</a:t>
            </a:r>
          </a:p>
          <a:p>
            <a:r>
              <a:rPr lang="en-US" dirty="0"/>
              <a:t> The coat also is thought to contain enzymes that are involved in germination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</a:t>
            </a:r>
            <a:r>
              <a:rPr lang="en-US" b="1" dirty="0"/>
              <a:t>cortex, which may occupy as much as half the spore volume, </a:t>
            </a:r>
            <a:r>
              <a:rPr lang="en-US" dirty="0"/>
              <a:t>rests beneath the spore coat</a:t>
            </a:r>
          </a:p>
          <a:p>
            <a:r>
              <a:rPr lang="en-US" dirty="0"/>
              <a:t> It is made of a </a:t>
            </a:r>
            <a:r>
              <a:rPr lang="en-US" dirty="0" err="1"/>
              <a:t>peptidoglycan</a:t>
            </a:r>
            <a:r>
              <a:rPr lang="en-US" dirty="0"/>
              <a:t> that is less cross-linked than that in vegetative cells</a:t>
            </a:r>
          </a:p>
          <a:p>
            <a:r>
              <a:rPr lang="en-US" dirty="0"/>
              <a:t> The </a:t>
            </a:r>
            <a:r>
              <a:rPr lang="en-US" b="1" dirty="0"/>
              <a:t>spore cell wall </a:t>
            </a:r>
            <a:r>
              <a:rPr lang="en-US" dirty="0"/>
              <a:t>(or core wall) is inside the cortex and surrounds the protoplast or </a:t>
            </a:r>
            <a:r>
              <a:rPr lang="en-US" b="1" dirty="0"/>
              <a:t>spore core</a:t>
            </a:r>
          </a:p>
          <a:p>
            <a:r>
              <a:rPr lang="en-US" b="1" dirty="0"/>
              <a:t> The core has normal cell structures such as </a:t>
            </a:r>
            <a:r>
              <a:rPr lang="en-US" b="1" dirty="0" err="1"/>
              <a:t>ribosomes</a:t>
            </a:r>
            <a:r>
              <a:rPr lang="en-US" b="1" dirty="0"/>
              <a:t> </a:t>
            </a:r>
            <a:r>
              <a:rPr lang="en-US" dirty="0"/>
              <a:t>and a </a:t>
            </a:r>
            <a:r>
              <a:rPr lang="en-US" dirty="0" err="1"/>
              <a:t>nucleoid</a:t>
            </a:r>
            <a:r>
              <a:rPr lang="en-US" dirty="0"/>
              <a:t>, but is metabolically inactive</a:t>
            </a:r>
          </a:p>
          <a:p>
            <a:r>
              <a:rPr lang="en-US" dirty="0"/>
              <a:t>As much as 15% of the spore’s dry weight consists of </a:t>
            </a:r>
            <a:r>
              <a:rPr lang="en-US" dirty="0" err="1"/>
              <a:t>dipicolinic</a:t>
            </a:r>
            <a:r>
              <a:rPr lang="en-US" dirty="0"/>
              <a:t> acid </a:t>
            </a:r>
            <a:r>
              <a:rPr lang="en-US" dirty="0" err="1"/>
              <a:t>complexed</a:t>
            </a:r>
            <a:r>
              <a:rPr lang="en-US" dirty="0"/>
              <a:t> with calcium ions </a:t>
            </a:r>
            <a:r>
              <a:rPr lang="en-US" b="1" dirty="0"/>
              <a:t>which is located in the core 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spores are highly resistant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15328" cy="4873752"/>
          </a:xfrm>
        </p:spPr>
        <p:txBody>
          <a:bodyPr>
            <a:normAutofit fontScale="85000" lnSpcReduction="20000"/>
          </a:bodyPr>
          <a:lstStyle/>
          <a:p>
            <a:r>
              <a:rPr lang="en-US" sz="2300" dirty="0"/>
              <a:t>15% of the spore’s dry weight consists of </a:t>
            </a:r>
            <a:r>
              <a:rPr lang="en-US" sz="2300" dirty="0" err="1"/>
              <a:t>dipicolinic</a:t>
            </a:r>
            <a:r>
              <a:rPr lang="en-US" sz="2300" dirty="0"/>
              <a:t> acid </a:t>
            </a:r>
            <a:r>
              <a:rPr lang="en-US" sz="2300" dirty="0" err="1"/>
              <a:t>complexed</a:t>
            </a:r>
            <a:r>
              <a:rPr lang="en-US" sz="2300" dirty="0"/>
              <a:t> with calcium ions </a:t>
            </a:r>
            <a:r>
              <a:rPr lang="en-US" sz="2300" b="1" dirty="0"/>
              <a:t> which is located in the core play important role in heat resistance</a:t>
            </a:r>
          </a:p>
          <a:p>
            <a:r>
              <a:rPr lang="en-US" sz="2300" dirty="0"/>
              <a:t>Calcium does aid in resistance to wet heat, oxidizing agents, and sometimes dry heat</a:t>
            </a:r>
          </a:p>
          <a:p>
            <a:r>
              <a:rPr lang="en-US" sz="2300" dirty="0"/>
              <a:t>Calcium-</a:t>
            </a:r>
            <a:r>
              <a:rPr lang="en-US" sz="2300" dirty="0" err="1"/>
              <a:t>dipicolinate</a:t>
            </a:r>
            <a:r>
              <a:rPr lang="en-US" sz="2300" dirty="0"/>
              <a:t> stabilizes the spore’s nucleic acids </a:t>
            </a:r>
          </a:p>
          <a:p>
            <a:r>
              <a:rPr lang="en-US" sz="2300" dirty="0"/>
              <a:t>In addition, specialized </a:t>
            </a:r>
            <a:r>
              <a:rPr lang="en-US" sz="2300" i="1" dirty="0"/>
              <a:t>small, acid-soluble DNA-binding proteins </a:t>
            </a:r>
            <a:r>
              <a:rPr lang="en-US" sz="2300" dirty="0"/>
              <a:t>(SASPs), are found in the </a:t>
            </a:r>
            <a:r>
              <a:rPr lang="en-US" sz="2300" dirty="0" err="1"/>
              <a:t>endospore</a:t>
            </a:r>
            <a:endParaRPr lang="en-US" sz="2300" dirty="0"/>
          </a:p>
          <a:p>
            <a:r>
              <a:rPr lang="en-US" sz="2300" dirty="0"/>
              <a:t>They saturate spore DNA and protect it from heat, radiation, </a:t>
            </a:r>
            <a:r>
              <a:rPr lang="en-US" sz="2300" dirty="0" err="1"/>
              <a:t>dessication</a:t>
            </a:r>
            <a:r>
              <a:rPr lang="en-US" sz="2300" dirty="0"/>
              <a:t>, and chemicals.</a:t>
            </a:r>
          </a:p>
          <a:p>
            <a:r>
              <a:rPr lang="en-US" sz="2300" dirty="0"/>
              <a:t>Dehydration of the protoplast appears to be very important in heat resistance.</a:t>
            </a:r>
          </a:p>
          <a:p>
            <a:r>
              <a:rPr lang="en-US" sz="2300" dirty="0"/>
              <a:t>The cortex may </a:t>
            </a:r>
            <a:r>
              <a:rPr lang="en-US" sz="2300" dirty="0" err="1"/>
              <a:t>osmotically</a:t>
            </a:r>
            <a:r>
              <a:rPr lang="en-US" sz="2300" dirty="0"/>
              <a:t> remove water from the protoplast, thereby protecting it from both heat and radiation damage.</a:t>
            </a:r>
          </a:p>
          <a:p>
            <a:r>
              <a:rPr lang="en-US" sz="2300" dirty="0"/>
              <a:t>The spore coat also seems to protect against enzymes and chemicals such as hydrogen peroxide.</a:t>
            </a:r>
          </a:p>
          <a:p>
            <a:r>
              <a:rPr lang="en-IN" sz="2300" dirty="0"/>
              <a:t>Core also </a:t>
            </a:r>
            <a:r>
              <a:rPr lang="en-IN" sz="2300" dirty="0" err="1"/>
              <a:t>contatin</a:t>
            </a:r>
            <a:r>
              <a:rPr lang="en-IN" sz="2300" dirty="0"/>
              <a:t> DNA repairing enzymes</a:t>
            </a:r>
            <a:endParaRPr lang="en-US" sz="23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Sporogenesis</a:t>
            </a:r>
            <a:r>
              <a:rPr lang="en-IN" dirty="0"/>
              <a:t> or </a:t>
            </a:r>
            <a:r>
              <a:rPr lang="en-IN" dirty="0" err="1"/>
              <a:t>sporulation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86766" cy="487375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Normally commences when growth ceases due to lack of</a:t>
            </a:r>
          </a:p>
          <a:p>
            <a:pPr>
              <a:buNone/>
            </a:pPr>
            <a:r>
              <a:rPr lang="en-US" dirty="0"/>
              <a:t>     nutrients</a:t>
            </a:r>
          </a:p>
          <a:p>
            <a:pPr>
              <a:buNone/>
            </a:pPr>
            <a:r>
              <a:rPr lang="en-US" dirty="0"/>
              <a:t>    It is a complex process and may be divided into seven stages </a:t>
            </a:r>
          </a:p>
          <a:p>
            <a:pPr>
              <a:buNone/>
            </a:pPr>
            <a:endParaRPr lang="en-US" b="1" dirty="0"/>
          </a:p>
          <a:p>
            <a:pPr>
              <a:buFont typeface="Courier New" pitchFamily="49" charset="0"/>
              <a:buChar char="o"/>
            </a:pPr>
            <a:r>
              <a:rPr lang="en-US" b="1" dirty="0"/>
              <a:t>  Stage I An axial filament of nuclear material forms </a:t>
            </a:r>
            <a:endParaRPr lang="en-US" dirty="0"/>
          </a:p>
          <a:p>
            <a:pPr>
              <a:buFont typeface="Courier New" pitchFamily="49" charset="0"/>
              <a:buChar char="o"/>
            </a:pPr>
            <a:r>
              <a:rPr lang="en-US" dirty="0"/>
              <a:t>  Stage II inward folding of the cell membrane to enclose part of the DNA and produce the </a:t>
            </a:r>
            <a:r>
              <a:rPr lang="en-US" dirty="0" err="1"/>
              <a:t>forespore</a:t>
            </a:r>
            <a:r>
              <a:rPr lang="en-US" dirty="0"/>
              <a:t> septum</a:t>
            </a:r>
          </a:p>
          <a:p>
            <a:pPr>
              <a:buFont typeface="Courier New" pitchFamily="49" charset="0"/>
              <a:buChar char="o"/>
            </a:pPr>
            <a:r>
              <a:rPr lang="en-US" dirty="0"/>
              <a:t>Stage (III) The membrane continues to grow and engulfs the </a:t>
            </a:r>
            <a:r>
              <a:rPr lang="en-US" dirty="0" err="1"/>
              <a:t>immatureendospore</a:t>
            </a:r>
            <a:r>
              <a:rPr lang="en-US" dirty="0"/>
              <a:t> in a second membrane </a:t>
            </a:r>
          </a:p>
          <a:p>
            <a:pPr>
              <a:buFont typeface="Courier New" pitchFamily="49" charset="0"/>
              <a:buChar char="o"/>
            </a:pPr>
            <a:r>
              <a:rPr lang="en-US" dirty="0"/>
              <a:t>Stage IV Next, cortex is laid down in the space between the two membranes, and both calcium and </a:t>
            </a:r>
            <a:r>
              <a:rPr lang="en-US" dirty="0" err="1"/>
              <a:t>dipicolinic</a:t>
            </a:r>
            <a:r>
              <a:rPr lang="en-US" dirty="0"/>
              <a:t> acid are accumulated </a:t>
            </a:r>
          </a:p>
          <a:p>
            <a:pPr>
              <a:buFont typeface="Courier New" pitchFamily="49" charset="0"/>
              <a:buChar char="o"/>
            </a:pPr>
            <a:r>
              <a:rPr lang="en-US" dirty="0"/>
              <a:t>Stage V Protein coats then are formed around the cortex</a:t>
            </a:r>
          </a:p>
          <a:p>
            <a:pPr>
              <a:buFont typeface="Courier New" pitchFamily="49" charset="0"/>
              <a:buChar char="o"/>
            </a:pPr>
            <a:r>
              <a:rPr lang="en-US" dirty="0"/>
              <a:t>Stage VI maturation of the </a:t>
            </a:r>
            <a:r>
              <a:rPr lang="en-US" dirty="0" err="1"/>
              <a:t>endospore</a:t>
            </a:r>
            <a:r>
              <a:rPr lang="en-US" dirty="0"/>
              <a:t> occurs </a:t>
            </a:r>
          </a:p>
          <a:p>
            <a:pPr>
              <a:buFont typeface="Courier New" pitchFamily="49" charset="0"/>
              <a:buChar char="o"/>
            </a:pPr>
            <a:r>
              <a:rPr lang="en-US" dirty="0"/>
              <a:t>Stage VII Finally, </a:t>
            </a:r>
            <a:r>
              <a:rPr lang="en-US" dirty="0" err="1"/>
              <a:t>lytic</a:t>
            </a:r>
            <a:r>
              <a:rPr lang="en-US" dirty="0"/>
              <a:t> enzymes destroy the sporangium releasing the spore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Sporulation</a:t>
            </a:r>
            <a:r>
              <a:rPr lang="en-IN" dirty="0"/>
              <a:t> or </a:t>
            </a:r>
            <a:r>
              <a:rPr lang="en-IN" dirty="0" err="1"/>
              <a:t>sporogenesis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79043" y="1600200"/>
            <a:ext cx="5023913" cy="487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Spore germination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 transformation of dormant spores into active vegetative cells.</a:t>
            </a:r>
          </a:p>
          <a:p>
            <a:r>
              <a:rPr lang="en-US" dirty="0"/>
              <a:t> It occurs in three stages: (1) activation, (2) germination, and (3) outgrowth</a:t>
            </a:r>
          </a:p>
          <a:p>
            <a:r>
              <a:rPr lang="en-US" b="1" dirty="0"/>
              <a:t> Often a spore will not germinate successfully, even </a:t>
            </a:r>
            <a:r>
              <a:rPr lang="en-US" dirty="0"/>
              <a:t>in a nutrient-rich medium, unless it has been activated</a:t>
            </a:r>
          </a:p>
          <a:p>
            <a:r>
              <a:rPr lang="en-US" dirty="0"/>
              <a:t> </a:t>
            </a:r>
            <a:r>
              <a:rPr lang="en-US" b="1" dirty="0"/>
              <a:t>Activation </a:t>
            </a:r>
            <a:r>
              <a:rPr lang="en-US" dirty="0"/>
              <a:t>is a process that prepares spores for germination and usually results from treatments like heating. </a:t>
            </a:r>
          </a:p>
          <a:p>
            <a:r>
              <a:rPr lang="en-US" dirty="0"/>
              <a:t> </a:t>
            </a:r>
            <a:r>
              <a:rPr lang="en-US" b="1" dirty="0"/>
              <a:t>Germination, </a:t>
            </a:r>
            <a:r>
              <a:rPr lang="en-US" dirty="0"/>
              <a:t>the breaking of the spore’s dormant state</a:t>
            </a:r>
          </a:p>
          <a:p>
            <a:r>
              <a:rPr lang="en-US" dirty="0"/>
              <a:t> This process is characterized by spore swelling, rupture or absorption of the spore coat, loss of resistance to heat and other stresses, loss of </a:t>
            </a:r>
            <a:r>
              <a:rPr lang="en-US" dirty="0" err="1"/>
              <a:t>refractility</a:t>
            </a:r>
            <a:r>
              <a:rPr lang="en-US" dirty="0"/>
              <a:t>, release of spore components, and increase in metabolic activity.</a:t>
            </a:r>
          </a:p>
          <a:p>
            <a:r>
              <a:rPr lang="en-US" dirty="0"/>
              <a:t>Many normal metabolites or nutrients (e.g., amino acids and sugars)</a:t>
            </a:r>
          </a:p>
          <a:p>
            <a:pPr>
              <a:buNone/>
            </a:pPr>
            <a:r>
              <a:rPr lang="en-US" dirty="0"/>
              <a:t>     can trigger germination after activation. </a:t>
            </a:r>
          </a:p>
          <a:p>
            <a:r>
              <a:rPr lang="en-US" dirty="0"/>
              <a:t> </a:t>
            </a:r>
            <a:r>
              <a:rPr lang="en-US" b="1" dirty="0"/>
              <a:t>outgrowth. The spore protoplast makes </a:t>
            </a:r>
            <a:r>
              <a:rPr lang="en-US" dirty="0"/>
              <a:t>new components, emerges from the remains of the spore coat, and develops again into an active bacterium.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179</TotalTime>
  <Words>768</Words>
  <Application>Microsoft Office PowerPoint</Application>
  <PresentationFormat>On-screen Show (4:3)</PresentationFormat>
  <Paragraphs>62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Oriel</vt:lpstr>
      <vt:lpstr>Bacterial endospore</vt:lpstr>
      <vt:lpstr>Bacterial endospore</vt:lpstr>
      <vt:lpstr>PowerPoint Presentation</vt:lpstr>
      <vt:lpstr>PowerPoint Presentation</vt:lpstr>
      <vt:lpstr>Structure of bacterial spore</vt:lpstr>
      <vt:lpstr>PowerPoint Presentation</vt:lpstr>
      <vt:lpstr>PowerPoint Presentation</vt:lpstr>
      <vt:lpstr>Why spores are highly resistant</vt:lpstr>
      <vt:lpstr>Sporogenesis or sporulation</vt:lpstr>
      <vt:lpstr>Sporulation or sporogenesis</vt:lpstr>
      <vt:lpstr>Spore germination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Bacterial endospore</dc:title>
  <dc:creator>Bincy Joseph</dc:creator>
  <cp:lastModifiedBy>Bincy Joseph</cp:lastModifiedBy>
  <cp:revision>19</cp:revision>
  <dcterms:created xsi:type="dcterms:W3CDTF">2023-06-01T05:05:30Z</dcterms:created>
  <dcterms:modified xsi:type="dcterms:W3CDTF">2024-01-25T08:22:02Z</dcterms:modified>
</cp:coreProperties>
</file>