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EBEBD193-6E3E-484C-B8E0-3B2A562E6FAE}" type="datetimeFigureOut">
              <a:rPr lang="en-US" smtClean="0"/>
              <a:pPr/>
              <a:t>7/11/2025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12B869E8-AD82-4948-8357-99F6B1D7B03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EBEBD193-6E3E-484C-B8E0-3B2A562E6FAE}" type="datetimeFigureOut">
              <a:rPr lang="en-US" smtClean="0"/>
              <a:pPr/>
              <a:t>7/11/2025</a:t>
            </a:fld>
            <a:endParaRPr lang="en-US"/>
          </a:p>
        </p:txBody>
      </p:sp>
      <p:sp>
        <p:nvSpPr>
          <p:cNvPr id="9" name="Slide Number Placeholder 8"/>
          <p:cNvSpPr>
            <a:spLocks noGrp="1"/>
          </p:cNvSpPr>
          <p:nvPr>
            <p:ph type="sldNum" sz="quarter" idx="15"/>
          </p:nvPr>
        </p:nvSpPr>
        <p:spPr/>
        <p:txBody>
          <a:bodyPr rtlCol="0"/>
          <a:lstStyle/>
          <a:p>
            <a:fld id="{12B869E8-AD82-4948-8357-99F6B1D7B030}"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EBEBD193-6E3E-484C-B8E0-3B2A562E6FAE}" type="datetimeFigureOut">
              <a:rPr lang="en-US" smtClean="0"/>
              <a:pPr/>
              <a:t>7/11/2025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12B869E8-AD82-4948-8357-99F6B1D7B03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BEBD193-6E3E-484C-B8E0-3B2A562E6FAE}" type="datetimeFigureOut">
              <a:rPr lang="en-US" smtClean="0"/>
              <a:pPr/>
              <a:t>7/11/2025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B869E8-AD82-4948-8357-99F6B1D7B030}"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EBEBD193-6E3E-484C-B8E0-3B2A562E6FAE}" type="datetimeFigureOut">
              <a:rPr lang="en-US" smtClean="0"/>
              <a:pPr/>
              <a:t>7/11/2025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B869E8-AD82-4948-8357-99F6B1D7B030}"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EBEBD193-6E3E-484C-B8E0-3B2A562E6FAE}" type="datetimeFigureOut">
              <a:rPr lang="en-US" smtClean="0"/>
              <a:pPr/>
              <a:t>7/11/2025</a:t>
            </a:fld>
            <a:endParaRPr lang="en-US"/>
          </a:p>
        </p:txBody>
      </p:sp>
      <p:sp>
        <p:nvSpPr>
          <p:cNvPr id="7" name="Slide Number Placeholder 6"/>
          <p:cNvSpPr>
            <a:spLocks noGrp="1"/>
          </p:cNvSpPr>
          <p:nvPr>
            <p:ph type="sldNum" sz="quarter" idx="11"/>
          </p:nvPr>
        </p:nvSpPr>
        <p:spPr/>
        <p:txBody>
          <a:bodyPr rtlCol="0"/>
          <a:lstStyle/>
          <a:p>
            <a:fld id="{12B869E8-AD82-4948-8357-99F6B1D7B030}"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EBD193-6E3E-484C-B8E0-3B2A562E6FAE}" type="datetimeFigureOut">
              <a:rPr lang="en-US" smtClean="0"/>
              <a:pPr/>
              <a:t>7/11/2025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B869E8-AD82-4948-8357-99F6B1D7B03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EBEBD193-6E3E-484C-B8E0-3B2A562E6FAE}" type="datetimeFigureOut">
              <a:rPr lang="en-US" smtClean="0"/>
              <a:pPr/>
              <a:t>7/11/2025</a:t>
            </a:fld>
            <a:endParaRPr lang="en-US"/>
          </a:p>
        </p:txBody>
      </p:sp>
      <p:sp>
        <p:nvSpPr>
          <p:cNvPr id="22" name="Slide Number Placeholder 21"/>
          <p:cNvSpPr>
            <a:spLocks noGrp="1"/>
          </p:cNvSpPr>
          <p:nvPr>
            <p:ph type="sldNum" sz="quarter" idx="15"/>
          </p:nvPr>
        </p:nvSpPr>
        <p:spPr/>
        <p:txBody>
          <a:bodyPr rtlCol="0"/>
          <a:lstStyle/>
          <a:p>
            <a:fld id="{12B869E8-AD82-4948-8357-99F6B1D7B030}"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BEBD193-6E3E-484C-B8E0-3B2A562E6FAE}" type="datetimeFigureOut">
              <a:rPr lang="en-US" smtClean="0"/>
              <a:pPr/>
              <a:t>7/11/2025</a:t>
            </a:fld>
            <a:endParaRPr lang="en-US"/>
          </a:p>
        </p:txBody>
      </p:sp>
      <p:sp>
        <p:nvSpPr>
          <p:cNvPr id="18" name="Slide Number Placeholder 17"/>
          <p:cNvSpPr>
            <a:spLocks noGrp="1"/>
          </p:cNvSpPr>
          <p:nvPr>
            <p:ph type="sldNum" sz="quarter" idx="11"/>
          </p:nvPr>
        </p:nvSpPr>
        <p:spPr/>
        <p:txBody>
          <a:bodyPr rtlCol="0"/>
          <a:lstStyle/>
          <a:p>
            <a:fld id="{12B869E8-AD82-4948-8357-99F6B1D7B030}"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BEBD193-6E3E-484C-B8E0-3B2A562E6FAE}" type="datetimeFigureOut">
              <a:rPr lang="en-US" smtClean="0"/>
              <a:pPr/>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B869E8-AD82-4948-8357-99F6B1D7B03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BEBD193-6E3E-484C-B8E0-3B2A562E6FAE}" type="datetimeFigureOut">
              <a:rPr lang="en-US" smtClean="0"/>
              <a:pPr/>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B869E8-AD82-4948-8357-99F6B1D7B03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BEBD193-6E3E-484C-B8E0-3B2A562E6FAE}" type="datetimeFigureOut">
              <a:rPr lang="en-US" smtClean="0"/>
              <a:pPr/>
              <a:t>7/11/2025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12B869E8-AD82-4948-8357-99F6B1D7B03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Campylobacter</a:t>
            </a:r>
            <a:endParaRPr lang="en-US" dirty="0"/>
          </a:p>
        </p:txBody>
      </p:sp>
      <p:sp>
        <p:nvSpPr>
          <p:cNvPr id="3" name="Subtitle 2"/>
          <p:cNvSpPr>
            <a:spLocks noGrp="1"/>
          </p:cNvSpPr>
          <p:nvPr>
            <p:ph type="subTitle" idx="1"/>
          </p:nvPr>
        </p:nvSpPr>
        <p:spPr/>
        <p:txBody>
          <a:bodyPr/>
          <a:lstStyle/>
          <a:p>
            <a:r>
              <a:rPr lang="en-US" dirty="0" smtClean="0"/>
              <a:t>Dr. </a:t>
            </a:r>
            <a:r>
              <a:rPr lang="en-US" dirty="0" err="1" smtClean="0"/>
              <a:t>Bincy</a:t>
            </a:r>
            <a:r>
              <a:rPr lang="en-US" dirty="0" smtClean="0"/>
              <a:t> Joseph</a:t>
            </a:r>
          </a:p>
          <a:p>
            <a:r>
              <a:rPr lang="en-US" dirty="0" smtClean="0"/>
              <a:t>Assistant Professor</a:t>
            </a:r>
          </a:p>
          <a:p>
            <a:r>
              <a:rPr lang="en-US" dirty="0" smtClean="0"/>
              <a:t>PGIVER, </a:t>
            </a:r>
            <a:r>
              <a:rPr lang="en-US" dirty="0" err="1" smtClean="0"/>
              <a:t>Jaipur</a:t>
            </a:r>
            <a:endParaRPr lang="en-US" dirty="0"/>
          </a:p>
        </p:txBody>
      </p:sp>
      <p:sp>
        <p:nvSpPr>
          <p:cNvPr id="17410" name="AutoShape 2" descr="What is Campylobacterios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7411" name="Picture 3"/>
          <p:cNvPicPr>
            <a:picLocks noChangeAspect="1" noChangeArrowheads="1"/>
          </p:cNvPicPr>
          <p:nvPr/>
        </p:nvPicPr>
        <p:blipFill>
          <a:blip r:embed="rId2"/>
          <a:srcRect/>
          <a:stretch>
            <a:fillRect/>
          </a:stretch>
        </p:blipFill>
        <p:spPr bwMode="auto">
          <a:xfrm>
            <a:off x="2209801" y="-14599"/>
            <a:ext cx="6484496" cy="4315138"/>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10000"/>
          </a:bodyPr>
          <a:lstStyle/>
          <a:p>
            <a:r>
              <a:rPr lang="en-US" dirty="0" err="1" smtClean="0"/>
              <a:t>Campylobacteriosis</a:t>
            </a:r>
            <a:r>
              <a:rPr lang="en-US" dirty="0" smtClean="0"/>
              <a:t> is a bacterial disease caused by </a:t>
            </a:r>
            <a:r>
              <a:rPr lang="en-US" i="1" dirty="0" smtClean="0">
                <a:solidFill>
                  <a:srgbClr val="FF0000"/>
                </a:solidFill>
              </a:rPr>
              <a:t>Campylobacter </a:t>
            </a:r>
            <a:r>
              <a:rPr lang="en-US" i="1" dirty="0" err="1" smtClean="0">
                <a:solidFill>
                  <a:srgbClr val="FF0000"/>
                </a:solidFill>
              </a:rPr>
              <a:t>jejuni</a:t>
            </a:r>
            <a:r>
              <a:rPr lang="en-US" i="1" dirty="0" smtClean="0">
                <a:solidFill>
                  <a:srgbClr val="FF0000"/>
                </a:solidFill>
              </a:rPr>
              <a:t> </a:t>
            </a:r>
            <a:r>
              <a:rPr lang="en-US" dirty="0" smtClean="0">
                <a:solidFill>
                  <a:srgbClr val="FF0000"/>
                </a:solidFill>
              </a:rPr>
              <a:t>or </a:t>
            </a:r>
            <a:r>
              <a:rPr lang="en-US" i="1" dirty="0" smtClean="0">
                <a:solidFill>
                  <a:srgbClr val="FF0000"/>
                </a:solidFill>
              </a:rPr>
              <a:t>Campylobacter coli</a:t>
            </a:r>
            <a:r>
              <a:rPr lang="en-US" dirty="0" smtClean="0"/>
              <a:t>. </a:t>
            </a:r>
          </a:p>
          <a:p>
            <a:r>
              <a:rPr lang="en-US" i="1" dirty="0" err="1" smtClean="0">
                <a:solidFill>
                  <a:srgbClr val="FF0000"/>
                </a:solidFill>
              </a:rPr>
              <a:t>C.fetus</a:t>
            </a:r>
            <a:r>
              <a:rPr lang="en-US" i="1" dirty="0" smtClean="0"/>
              <a:t> </a:t>
            </a:r>
            <a:r>
              <a:rPr lang="en-US" dirty="0" smtClean="0"/>
              <a:t>causes abortion and genital infections in animals. </a:t>
            </a:r>
          </a:p>
          <a:p>
            <a:r>
              <a:rPr lang="en-US" i="1" dirty="0" smtClean="0"/>
              <a:t>Campylobacter </a:t>
            </a:r>
            <a:r>
              <a:rPr lang="en-US" i="1" dirty="0" err="1" smtClean="0"/>
              <a:t>jejuni</a:t>
            </a:r>
            <a:r>
              <a:rPr lang="en-US" i="1" dirty="0" smtClean="0"/>
              <a:t> </a:t>
            </a:r>
            <a:r>
              <a:rPr lang="en-US" dirty="0" smtClean="0"/>
              <a:t>and C. </a:t>
            </a:r>
            <a:r>
              <a:rPr lang="en-US" i="1" dirty="0" smtClean="0"/>
              <a:t>coli </a:t>
            </a:r>
            <a:r>
              <a:rPr lang="en-US" dirty="0" smtClean="0"/>
              <a:t>are the most frequently isolated Campylobacter species in infected and diseased humans and can be transmitted from animals to humans directly from contact with animals or through consumption and handling of animal food products. </a:t>
            </a:r>
          </a:p>
          <a:p>
            <a:r>
              <a:rPr lang="en-US" dirty="0" smtClean="0"/>
              <a:t>Both C. </a:t>
            </a:r>
            <a:r>
              <a:rPr lang="en-US" dirty="0" err="1" smtClean="0"/>
              <a:t>jejuni</a:t>
            </a:r>
            <a:r>
              <a:rPr lang="en-US" dirty="0" smtClean="0"/>
              <a:t> and C. coli are commonly present in the intestines and being shed.</a:t>
            </a:r>
          </a:p>
          <a:p>
            <a:r>
              <a:rPr lang="en-US" dirty="0" smtClean="0"/>
              <a:t> The </a:t>
            </a:r>
            <a:r>
              <a:rPr lang="en-US" dirty="0" err="1" smtClean="0"/>
              <a:t>faecal</a:t>
            </a:r>
            <a:r>
              <a:rPr lang="en-US" dirty="0" smtClean="0"/>
              <a:t> contamination of meat (especially poultry meat) during processing is considered to be a major source of human food-borne disease.</a:t>
            </a:r>
          </a:p>
          <a:p>
            <a:r>
              <a:rPr lang="en-US" dirty="0" smtClean="0"/>
              <a:t> Both </a:t>
            </a:r>
            <a:r>
              <a:rPr lang="en-US" i="1" dirty="0" smtClean="0"/>
              <a:t>C. </a:t>
            </a:r>
            <a:r>
              <a:rPr lang="en-US" i="1" dirty="0" err="1" smtClean="0"/>
              <a:t>jejuni</a:t>
            </a:r>
            <a:r>
              <a:rPr lang="en-US" i="1" dirty="0" smtClean="0"/>
              <a:t> </a:t>
            </a:r>
            <a:r>
              <a:rPr lang="en-US" dirty="0" smtClean="0"/>
              <a:t>and </a:t>
            </a:r>
            <a:r>
              <a:rPr lang="en-US" dirty="0" err="1" smtClean="0"/>
              <a:t>C.</a:t>
            </a:r>
            <a:r>
              <a:rPr lang="en-US" i="1" dirty="0" err="1" smtClean="0"/>
              <a:t>coli</a:t>
            </a:r>
            <a:r>
              <a:rPr lang="en-US" dirty="0" smtClean="0"/>
              <a:t>, like </a:t>
            </a:r>
            <a:r>
              <a:rPr lang="en-US" dirty="0" err="1" smtClean="0"/>
              <a:t>C.</a:t>
            </a:r>
            <a:r>
              <a:rPr lang="en-US" i="1" dirty="0" err="1" smtClean="0"/>
              <a:t>fetus</a:t>
            </a:r>
            <a:r>
              <a:rPr lang="en-US" dirty="0" smtClean="0"/>
              <a:t>, can also be isolated from bovine and ovine aborted </a:t>
            </a:r>
            <a:r>
              <a:rPr lang="en-US" dirty="0" err="1" smtClean="0"/>
              <a:t>foetuses</a:t>
            </a:r>
            <a:r>
              <a:rPr lang="en-US" dirty="0" smtClean="0"/>
              <a:t> due to translocation across the intestinal mucosa or by ascending infections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Morphology</a:t>
            </a:r>
            <a:endParaRPr lang="en-US" dirty="0"/>
          </a:p>
        </p:txBody>
      </p:sp>
      <p:sp>
        <p:nvSpPr>
          <p:cNvPr id="3" name="Content Placeholder 2"/>
          <p:cNvSpPr>
            <a:spLocks noGrp="1"/>
          </p:cNvSpPr>
          <p:nvPr>
            <p:ph sz="quarter" idx="1"/>
          </p:nvPr>
        </p:nvSpPr>
        <p:spPr/>
        <p:txBody>
          <a:bodyPr>
            <a:normAutofit fontScale="92500" lnSpcReduction="10000"/>
          </a:bodyPr>
          <a:lstStyle/>
          <a:p>
            <a:pPr lvl="0"/>
            <a:r>
              <a:rPr lang="en-US" dirty="0" smtClean="0"/>
              <a:t>Members of the genus are typically Gram-negative, S- shaped or spiral shaped bacteria (0.2–0.8 µm wide and 0.5–5 µm long). </a:t>
            </a:r>
          </a:p>
          <a:p>
            <a:pPr lvl="0"/>
            <a:r>
              <a:rPr lang="en-US" dirty="0" smtClean="0"/>
              <a:t>The organisms may have two or more curvatures. The shape is also referred as comma shaped, S shaped or flying seagull like appearance. </a:t>
            </a:r>
          </a:p>
          <a:p>
            <a:pPr lvl="0"/>
            <a:r>
              <a:rPr lang="en-US" dirty="0" smtClean="0"/>
              <a:t>They are </a:t>
            </a:r>
            <a:r>
              <a:rPr lang="en-US" dirty="0" err="1" smtClean="0"/>
              <a:t>pleomorphic</a:t>
            </a:r>
            <a:r>
              <a:rPr lang="en-US" dirty="0" smtClean="0"/>
              <a:t> rods. </a:t>
            </a:r>
          </a:p>
          <a:p>
            <a:pPr lvl="0"/>
            <a:r>
              <a:rPr lang="en-US" dirty="0" smtClean="0"/>
              <a:t>They are motile by polar flagella at one or both ends, conferring a characteristic corkscrew- like motility. </a:t>
            </a:r>
          </a:p>
          <a:p>
            <a:pPr lvl="0"/>
            <a:r>
              <a:rPr lang="en-US" dirty="0" smtClean="0"/>
              <a:t>They are capsulated and non </a:t>
            </a:r>
            <a:r>
              <a:rPr lang="en-US" dirty="0" err="1" smtClean="0"/>
              <a:t>sporulative</a:t>
            </a:r>
            <a:r>
              <a:rPr lang="en-US" dirty="0" smtClean="0"/>
              <a:t>. </a:t>
            </a:r>
          </a:p>
          <a:p>
            <a:pPr lvl="0"/>
            <a:r>
              <a:rPr lang="en-US" dirty="0" smtClean="0"/>
              <a:t>They are </a:t>
            </a:r>
            <a:r>
              <a:rPr lang="en-US" dirty="0" err="1" smtClean="0"/>
              <a:t>microaerophilic</a:t>
            </a:r>
            <a:r>
              <a:rPr lang="en-US" dirty="0" smtClean="0"/>
              <a:t> organisms requiring 3- 15% C0</a:t>
            </a:r>
            <a:r>
              <a:rPr lang="en-US" baseline="-25000" dirty="0" smtClean="0"/>
              <a:t>2</a:t>
            </a:r>
            <a:r>
              <a:rPr lang="en-US" dirty="0" smtClean="0"/>
              <a:t> tension.</a:t>
            </a:r>
          </a:p>
          <a:p>
            <a:pPr lvl="0"/>
            <a:r>
              <a:rPr lang="en-US" dirty="0" smtClean="0"/>
              <a:t>They </a:t>
            </a:r>
            <a:r>
              <a:rPr lang="en-US" dirty="0" err="1" smtClean="0"/>
              <a:t>oxidase</a:t>
            </a:r>
            <a:r>
              <a:rPr lang="en-US" dirty="0" smtClean="0"/>
              <a:t> positive</a:t>
            </a:r>
          </a:p>
          <a:p>
            <a:r>
              <a:rPr lang="en-US" dirty="0" smtClean="0"/>
              <a:t> Do not attack carbohydrates.</a:t>
            </a:r>
            <a:endParaRPr lang="en-US" dirty="0"/>
          </a:p>
        </p:txBody>
      </p:sp>
      <p:pic>
        <p:nvPicPr>
          <p:cNvPr id="15361" name="Picture 1"/>
          <p:cNvPicPr>
            <a:picLocks noChangeAspect="1" noChangeArrowheads="1"/>
          </p:cNvPicPr>
          <p:nvPr/>
        </p:nvPicPr>
        <p:blipFill>
          <a:blip r:embed="rId2"/>
          <a:srcRect/>
          <a:stretch>
            <a:fillRect/>
          </a:stretch>
        </p:blipFill>
        <p:spPr bwMode="auto">
          <a:xfrm>
            <a:off x="5953125" y="76200"/>
            <a:ext cx="2047875" cy="1596375"/>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b="1" dirty="0" smtClean="0"/>
              <a:t>Habitat: </a:t>
            </a:r>
            <a:r>
              <a:rPr lang="en-US" dirty="0" smtClean="0"/>
              <a:t>These organisms are commonly found on the mucous membrane of reproductive and digestive tracts.</a:t>
            </a:r>
          </a:p>
          <a:p>
            <a:pPr lvl="0"/>
            <a:r>
              <a:rPr lang="en-US" b="1" dirty="0" smtClean="0"/>
              <a:t>Classification: </a:t>
            </a:r>
            <a:r>
              <a:rPr lang="en-US" dirty="0" smtClean="0"/>
              <a:t>The species </a:t>
            </a:r>
            <a:r>
              <a:rPr lang="en-US" i="1" dirty="0" err="1" smtClean="0"/>
              <a:t>C.fetus</a:t>
            </a:r>
            <a:r>
              <a:rPr lang="en-US" i="1" dirty="0" smtClean="0"/>
              <a:t> </a:t>
            </a:r>
            <a:r>
              <a:rPr lang="en-US" dirty="0" smtClean="0"/>
              <a:t>is grouped into two sub species </a:t>
            </a:r>
            <a:r>
              <a:rPr lang="en-US" i="1" dirty="0" err="1" smtClean="0">
                <a:solidFill>
                  <a:srgbClr val="FF0000"/>
                </a:solidFill>
              </a:rPr>
              <a:t>C.fetus</a:t>
            </a:r>
            <a:r>
              <a:rPr lang="en-US" i="1" dirty="0" smtClean="0">
                <a:solidFill>
                  <a:srgbClr val="FF0000"/>
                </a:solidFill>
              </a:rPr>
              <a:t> </a:t>
            </a:r>
            <a:r>
              <a:rPr lang="en-US" dirty="0" smtClean="0">
                <a:solidFill>
                  <a:srgbClr val="FF0000"/>
                </a:solidFill>
              </a:rPr>
              <a:t>subsp</a:t>
            </a:r>
            <a:r>
              <a:rPr lang="en-US" i="1" dirty="0" smtClean="0">
                <a:solidFill>
                  <a:srgbClr val="FF0000"/>
                </a:solidFill>
              </a:rPr>
              <a:t>. fetus </a:t>
            </a:r>
            <a:r>
              <a:rPr lang="en-US" dirty="0" smtClean="0"/>
              <a:t>and </a:t>
            </a:r>
            <a:r>
              <a:rPr lang="en-US" i="1" dirty="0" err="1" smtClean="0">
                <a:solidFill>
                  <a:srgbClr val="FF0000"/>
                </a:solidFill>
              </a:rPr>
              <a:t>C.fetus</a:t>
            </a:r>
            <a:r>
              <a:rPr lang="en-US" i="1" dirty="0" smtClean="0">
                <a:solidFill>
                  <a:srgbClr val="FF0000"/>
                </a:solidFill>
              </a:rPr>
              <a:t> </a:t>
            </a:r>
            <a:r>
              <a:rPr lang="en-US" dirty="0" smtClean="0">
                <a:solidFill>
                  <a:srgbClr val="FF0000"/>
                </a:solidFill>
              </a:rPr>
              <a:t>subsp</a:t>
            </a:r>
            <a:r>
              <a:rPr lang="en-US" i="1" dirty="0" smtClean="0">
                <a:solidFill>
                  <a:srgbClr val="FF0000"/>
                </a:solidFill>
              </a:rPr>
              <a:t>. </a:t>
            </a:r>
            <a:r>
              <a:rPr lang="en-US" i="1" dirty="0" err="1" smtClean="0">
                <a:solidFill>
                  <a:srgbClr val="FF0000"/>
                </a:solidFill>
              </a:rPr>
              <a:t>venerealis</a:t>
            </a:r>
            <a:r>
              <a:rPr lang="en-US" i="1" dirty="0" smtClean="0">
                <a:solidFill>
                  <a:srgbClr val="FF0000"/>
                </a:solidFill>
              </a:rPr>
              <a:t>. </a:t>
            </a:r>
          </a:p>
          <a:p>
            <a:pPr lvl="0"/>
            <a:r>
              <a:rPr lang="en-US" dirty="0" smtClean="0"/>
              <a:t>The sub species </a:t>
            </a:r>
            <a:r>
              <a:rPr lang="en-US" i="1" dirty="0" err="1" smtClean="0"/>
              <a:t>venerealis</a:t>
            </a:r>
            <a:r>
              <a:rPr lang="en-US" i="1" dirty="0" smtClean="0"/>
              <a:t> </a:t>
            </a:r>
            <a:r>
              <a:rPr lang="en-US" dirty="0" smtClean="0"/>
              <a:t>is further subdivided into two biotypes based on hydrogen </a:t>
            </a:r>
            <a:r>
              <a:rPr lang="en-US" dirty="0" err="1" smtClean="0"/>
              <a:t>sulphide</a:t>
            </a:r>
            <a:r>
              <a:rPr lang="en-US" dirty="0" smtClean="0"/>
              <a:t> production into </a:t>
            </a:r>
            <a:r>
              <a:rPr lang="en-US" i="1" dirty="0" err="1" smtClean="0"/>
              <a:t>venerealis</a:t>
            </a:r>
            <a:r>
              <a:rPr lang="en-US" i="1" dirty="0" smtClean="0"/>
              <a:t> </a:t>
            </a:r>
            <a:r>
              <a:rPr lang="en-US" dirty="0" smtClean="0"/>
              <a:t>and </a:t>
            </a:r>
            <a:r>
              <a:rPr lang="en-US" i="1" dirty="0" err="1" smtClean="0"/>
              <a:t>intermedius</a:t>
            </a:r>
            <a:r>
              <a:rPr lang="en-US" i="1" dirty="0" smtClean="0"/>
              <a:t>.</a:t>
            </a:r>
          </a:p>
          <a:p>
            <a:pPr lvl="0"/>
            <a:r>
              <a:rPr lang="en-US" i="1" dirty="0" smtClean="0"/>
              <a:t> </a:t>
            </a:r>
            <a:r>
              <a:rPr lang="en-US" i="1" dirty="0" err="1" smtClean="0"/>
              <a:t>C.fetus</a:t>
            </a:r>
            <a:r>
              <a:rPr lang="en-US" i="1" dirty="0" smtClean="0"/>
              <a:t> </a:t>
            </a:r>
            <a:r>
              <a:rPr lang="en-US" i="1" dirty="0" err="1" smtClean="0"/>
              <a:t>subsp</a:t>
            </a:r>
            <a:r>
              <a:rPr lang="en-US" i="1" dirty="0" smtClean="0"/>
              <a:t> fetus </a:t>
            </a:r>
            <a:r>
              <a:rPr lang="en-US" dirty="0" smtClean="0"/>
              <a:t>causes abortion and </a:t>
            </a:r>
            <a:r>
              <a:rPr lang="en-US" i="1" dirty="0" err="1" smtClean="0"/>
              <a:t>C.fetus</a:t>
            </a:r>
            <a:r>
              <a:rPr lang="en-US" i="1" dirty="0" smtClean="0"/>
              <a:t> </a:t>
            </a:r>
            <a:r>
              <a:rPr lang="en-US" i="1" dirty="0" err="1" smtClean="0"/>
              <a:t>subsp</a:t>
            </a:r>
            <a:r>
              <a:rPr lang="en-US" i="1" dirty="0" smtClean="0"/>
              <a:t> </a:t>
            </a:r>
            <a:r>
              <a:rPr lang="en-US" i="1" dirty="0" err="1" smtClean="0"/>
              <a:t>venerealis</a:t>
            </a:r>
            <a:r>
              <a:rPr lang="en-US" i="1" dirty="0" smtClean="0"/>
              <a:t> </a:t>
            </a:r>
            <a:r>
              <a:rPr lang="en-US" dirty="0" smtClean="0"/>
              <a:t>causes bovine genital infections.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Cultural characteristics</a:t>
            </a:r>
            <a:endParaRPr lang="en-US" dirty="0"/>
          </a:p>
        </p:txBody>
      </p:sp>
      <p:sp>
        <p:nvSpPr>
          <p:cNvPr id="3" name="Content Placeholder 2"/>
          <p:cNvSpPr>
            <a:spLocks noGrp="1"/>
          </p:cNvSpPr>
          <p:nvPr>
            <p:ph sz="quarter" idx="1"/>
          </p:nvPr>
        </p:nvSpPr>
        <p:spPr>
          <a:xfrm>
            <a:off x="457200" y="1600200"/>
            <a:ext cx="8077200" cy="4873752"/>
          </a:xfrm>
        </p:spPr>
        <p:txBody>
          <a:bodyPr>
            <a:normAutofit fontScale="92500" lnSpcReduction="20000"/>
          </a:bodyPr>
          <a:lstStyle/>
          <a:p>
            <a:r>
              <a:rPr lang="en-US" dirty="0" smtClean="0"/>
              <a:t>They are </a:t>
            </a:r>
            <a:r>
              <a:rPr lang="en-US" dirty="0" err="1" smtClean="0"/>
              <a:t>microaerophilic</a:t>
            </a:r>
            <a:r>
              <a:rPr lang="en-US" dirty="0" smtClean="0"/>
              <a:t> organisms requiring reduced oxygen tension and 3-15 % C0</a:t>
            </a:r>
            <a:r>
              <a:rPr lang="en-US" baseline="-25000" dirty="0" smtClean="0"/>
              <a:t>2</a:t>
            </a:r>
            <a:r>
              <a:rPr lang="en-US" dirty="0" smtClean="0"/>
              <a:t> tension for growth. </a:t>
            </a:r>
          </a:p>
          <a:p>
            <a:r>
              <a:rPr lang="en-US" dirty="0" smtClean="0"/>
              <a:t>The optimum temperature for growth is 37</a:t>
            </a:r>
            <a:r>
              <a:rPr lang="en-US" baseline="30000" dirty="0" smtClean="0"/>
              <a:t>o</a:t>
            </a:r>
            <a:r>
              <a:rPr lang="en-US" dirty="0" smtClean="0"/>
              <a:t>C. </a:t>
            </a:r>
          </a:p>
          <a:p>
            <a:r>
              <a:rPr lang="en-US" dirty="0" smtClean="0"/>
              <a:t>They are also slow growing organisms.</a:t>
            </a:r>
          </a:p>
          <a:p>
            <a:r>
              <a:rPr lang="en-US" dirty="0" smtClean="0"/>
              <a:t> The media commonly used for isolation are blood agar with or without </a:t>
            </a:r>
            <a:r>
              <a:rPr lang="en-US" dirty="0" err="1" smtClean="0"/>
              <a:t>thioglycollate</a:t>
            </a:r>
            <a:r>
              <a:rPr lang="en-US" dirty="0" smtClean="0"/>
              <a:t>,  serum-dextrose agar, </a:t>
            </a:r>
          </a:p>
          <a:p>
            <a:r>
              <a:rPr lang="en-US" dirty="0" err="1" smtClean="0"/>
              <a:t>Thiol</a:t>
            </a:r>
            <a:r>
              <a:rPr lang="en-US" dirty="0" smtClean="0"/>
              <a:t> medium, Clark and </a:t>
            </a:r>
            <a:r>
              <a:rPr lang="en-US" dirty="0" err="1" smtClean="0"/>
              <a:t>Dufty</a:t>
            </a:r>
            <a:r>
              <a:rPr lang="en-US" dirty="0" smtClean="0"/>
              <a:t> medium and chocolate agar. </a:t>
            </a:r>
          </a:p>
          <a:p>
            <a:r>
              <a:rPr lang="en-US" dirty="0" smtClean="0"/>
              <a:t>Colonies appear after 2-6 days as pinpoint, delicate, circular and opaque. </a:t>
            </a:r>
          </a:p>
          <a:p>
            <a:r>
              <a:rPr lang="en-US" dirty="0" smtClean="0"/>
              <a:t>The colonies fuse together to produce a large </a:t>
            </a:r>
            <a:r>
              <a:rPr lang="en-US" dirty="0" err="1" smtClean="0"/>
              <a:t>mucoid</a:t>
            </a:r>
            <a:r>
              <a:rPr lang="en-US" dirty="0" smtClean="0"/>
              <a:t> colony. </a:t>
            </a:r>
          </a:p>
          <a:p>
            <a:r>
              <a:rPr lang="en-US" dirty="0" smtClean="0"/>
              <a:t>The surface of the colonies may have a frosted appearance. </a:t>
            </a:r>
          </a:p>
          <a:p>
            <a:r>
              <a:rPr lang="en-US" dirty="0" smtClean="0"/>
              <a:t>Organisms without capsule produce rough colonies.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Pathogenesis:</a:t>
            </a:r>
            <a:endParaRPr lang="en-US" dirty="0"/>
          </a:p>
        </p:txBody>
      </p:sp>
      <p:sp>
        <p:nvSpPr>
          <p:cNvPr id="3" name="Content Placeholder 2"/>
          <p:cNvSpPr>
            <a:spLocks noGrp="1"/>
          </p:cNvSpPr>
          <p:nvPr>
            <p:ph sz="quarter" idx="1"/>
          </p:nvPr>
        </p:nvSpPr>
        <p:spPr/>
        <p:txBody>
          <a:bodyPr>
            <a:normAutofit fontScale="62500" lnSpcReduction="20000"/>
          </a:bodyPr>
          <a:lstStyle/>
          <a:p>
            <a:r>
              <a:rPr lang="en-US" i="1" dirty="0" err="1" smtClean="0"/>
              <a:t>C.fetus</a:t>
            </a:r>
            <a:r>
              <a:rPr lang="en-US" i="1" dirty="0" smtClean="0"/>
              <a:t> </a:t>
            </a:r>
            <a:r>
              <a:rPr lang="en-US" dirty="0" err="1" smtClean="0"/>
              <a:t>subsp</a:t>
            </a:r>
            <a:r>
              <a:rPr lang="en-US" dirty="0" smtClean="0"/>
              <a:t> </a:t>
            </a:r>
            <a:r>
              <a:rPr lang="en-US" i="1" dirty="0" err="1" smtClean="0"/>
              <a:t>venerealis</a:t>
            </a:r>
            <a:r>
              <a:rPr lang="en-US" i="1" dirty="0" smtClean="0"/>
              <a:t> </a:t>
            </a:r>
            <a:r>
              <a:rPr lang="en-US" dirty="0" smtClean="0"/>
              <a:t>cause venereal infection in cattle. </a:t>
            </a:r>
          </a:p>
          <a:p>
            <a:r>
              <a:rPr lang="en-US" dirty="0" smtClean="0"/>
              <a:t>The main mode of infection is through coitus and </a:t>
            </a:r>
            <a:r>
              <a:rPr lang="en-US" dirty="0" err="1" smtClean="0"/>
              <a:t>fomites</a:t>
            </a:r>
            <a:r>
              <a:rPr lang="en-US" dirty="0" smtClean="0"/>
              <a:t>. </a:t>
            </a:r>
          </a:p>
          <a:p>
            <a:r>
              <a:rPr lang="en-US" dirty="0" smtClean="0"/>
              <a:t>Bulls get the infection from infected cows through coitus and the affected bulls remain as main source of infection to other animals. </a:t>
            </a:r>
          </a:p>
          <a:p>
            <a:r>
              <a:rPr lang="en-US" dirty="0" smtClean="0"/>
              <a:t>In cows, the duration of the carrier state is also variable; some clear the infection rapidly, while others can carry </a:t>
            </a:r>
            <a:r>
              <a:rPr lang="en-US" i="1" dirty="0" smtClean="0"/>
              <a:t>C fetus </a:t>
            </a:r>
            <a:r>
              <a:rPr lang="en-US" dirty="0" smtClean="0"/>
              <a:t>for ≥2 yr. </a:t>
            </a:r>
          </a:p>
          <a:p>
            <a:r>
              <a:rPr lang="en-US" dirty="0" smtClean="0"/>
              <a:t>The organisms produce both acute and chronic infections. </a:t>
            </a:r>
          </a:p>
          <a:p>
            <a:r>
              <a:rPr lang="en-US" dirty="0" smtClean="0"/>
              <a:t>During acute infections the inflammatory changes in the uterus cause death of fertilized ovum leading to either its expulsion (abortion) or absorption. </a:t>
            </a:r>
          </a:p>
          <a:p>
            <a:r>
              <a:rPr lang="en-US" dirty="0" smtClean="0"/>
              <a:t>This infection occurs 3-4 week after </a:t>
            </a:r>
            <a:r>
              <a:rPr lang="en-US" dirty="0" err="1" smtClean="0"/>
              <a:t>fertilisation</a:t>
            </a:r>
            <a:r>
              <a:rPr lang="en-US" dirty="0" smtClean="0"/>
              <a:t>. In cows with immunity abortion occurs in later stage of pregnancy (fifth month) due to inflammation of uterus and placenta.</a:t>
            </a:r>
          </a:p>
          <a:p>
            <a:r>
              <a:rPr lang="en-US" dirty="0" smtClean="0"/>
              <a:t> </a:t>
            </a:r>
            <a:r>
              <a:rPr lang="en-US" i="1" dirty="0" err="1" smtClean="0"/>
              <a:t>C.fetus</a:t>
            </a:r>
            <a:r>
              <a:rPr lang="en-US" i="1" dirty="0" smtClean="0"/>
              <a:t> </a:t>
            </a:r>
            <a:r>
              <a:rPr lang="en-US" dirty="0" err="1" smtClean="0"/>
              <a:t>subsp</a:t>
            </a:r>
            <a:r>
              <a:rPr lang="en-US" dirty="0" smtClean="0"/>
              <a:t> </a:t>
            </a:r>
            <a:r>
              <a:rPr lang="en-US" i="1" dirty="0" err="1" smtClean="0"/>
              <a:t>venerealis</a:t>
            </a:r>
            <a:r>
              <a:rPr lang="en-US" i="1" dirty="0" smtClean="0"/>
              <a:t> </a:t>
            </a:r>
            <a:r>
              <a:rPr lang="en-US" dirty="0" smtClean="0"/>
              <a:t>biotype </a:t>
            </a:r>
            <a:r>
              <a:rPr lang="en-US" dirty="0" err="1" smtClean="0"/>
              <a:t>intestinalis</a:t>
            </a:r>
            <a:r>
              <a:rPr lang="en-US" dirty="0" smtClean="0"/>
              <a:t> causes infection in sheep that is not venereal. </a:t>
            </a:r>
          </a:p>
          <a:p>
            <a:r>
              <a:rPr lang="en-US" dirty="0" smtClean="0"/>
              <a:t>The infection spread through ingestion of contaminated water and feed. </a:t>
            </a:r>
          </a:p>
          <a:p>
            <a:r>
              <a:rPr lang="en-US" dirty="0" smtClean="0"/>
              <a:t>Birds also spread infection. </a:t>
            </a:r>
          </a:p>
          <a:p>
            <a:r>
              <a:rPr lang="en-US" dirty="0" smtClean="0"/>
              <a:t>Rams have little or no role in the pathogenesis. </a:t>
            </a:r>
          </a:p>
          <a:p>
            <a:r>
              <a:rPr lang="en-US" dirty="0" smtClean="0"/>
              <a:t>The death of </a:t>
            </a:r>
            <a:r>
              <a:rPr lang="en-US" dirty="0" err="1" smtClean="0"/>
              <a:t>foetus</a:t>
            </a:r>
            <a:r>
              <a:rPr lang="en-US" dirty="0" smtClean="0"/>
              <a:t> is due to inflammatory changes in the uterus. The important virulence factor is the </a:t>
            </a:r>
            <a:r>
              <a:rPr lang="en-US" dirty="0" err="1" smtClean="0"/>
              <a:t>endotoxin</a:t>
            </a:r>
            <a:r>
              <a:rPr lang="en-US" dirty="0" smtClean="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symptoms</a:t>
            </a:r>
            <a:endParaRPr lang="en-US" dirty="0"/>
          </a:p>
        </p:txBody>
      </p:sp>
      <p:sp>
        <p:nvSpPr>
          <p:cNvPr id="3" name="Content Placeholder 2"/>
          <p:cNvSpPr>
            <a:spLocks noGrp="1"/>
          </p:cNvSpPr>
          <p:nvPr>
            <p:ph sz="quarter" idx="1"/>
          </p:nvPr>
        </p:nvSpPr>
        <p:spPr/>
        <p:txBody>
          <a:bodyPr>
            <a:normAutofit fontScale="85000" lnSpcReduction="10000"/>
          </a:bodyPr>
          <a:lstStyle/>
          <a:p>
            <a:r>
              <a:rPr lang="en-US" dirty="0" smtClean="0"/>
              <a:t>In cattle the symptoms are more pronounced in cows than in bulls</a:t>
            </a:r>
          </a:p>
          <a:p>
            <a:r>
              <a:rPr lang="en-US" dirty="0" smtClean="0"/>
              <a:t>The affected bulls remain normal without any symptoms and no abnormalities are found in the semen</a:t>
            </a:r>
          </a:p>
          <a:p>
            <a:r>
              <a:rPr lang="en-US" dirty="0" smtClean="0"/>
              <a:t> In cows </a:t>
            </a:r>
            <a:r>
              <a:rPr lang="en-US" dirty="0" err="1" smtClean="0"/>
              <a:t>endometritis</a:t>
            </a:r>
            <a:r>
              <a:rPr lang="en-US" dirty="0" smtClean="0"/>
              <a:t> that causes early embryonic death, prolonged </a:t>
            </a:r>
            <a:r>
              <a:rPr lang="en-US" dirty="0" err="1" smtClean="0"/>
              <a:t>luteal</a:t>
            </a:r>
            <a:r>
              <a:rPr lang="en-US" dirty="0" smtClean="0"/>
              <a:t> phases, irregular </a:t>
            </a:r>
            <a:r>
              <a:rPr lang="en-US" dirty="0" err="1" smtClean="0"/>
              <a:t>oestrous</a:t>
            </a:r>
            <a:r>
              <a:rPr lang="en-US" dirty="0" smtClean="0"/>
              <a:t> cycles, repeat breeding abortion and infertility are the main symptoms</a:t>
            </a:r>
          </a:p>
          <a:p>
            <a:r>
              <a:rPr lang="en-US" dirty="0" smtClean="0"/>
              <a:t> Abortion occurs during fifth or sixth month of pregnancy. Infertility rate is higher in heifers than in cows.</a:t>
            </a:r>
          </a:p>
          <a:p>
            <a:r>
              <a:rPr lang="en-US" dirty="0" smtClean="0"/>
              <a:t> In sheep abortion during end of pregnancy preceded by vaginal discharge for several days are the main symptoms.</a:t>
            </a:r>
          </a:p>
          <a:p>
            <a:r>
              <a:rPr lang="en-US" dirty="0" smtClean="0"/>
              <a:t> Large number of animals is generally affected in flock and the condition is referred as </a:t>
            </a:r>
            <a:r>
              <a:rPr lang="en-US" b="1" dirty="0" smtClean="0"/>
              <a:t>abortion storm.</a:t>
            </a:r>
            <a:endParaRPr lang="en-US" dirty="0" smtClean="0"/>
          </a:p>
          <a:p>
            <a:r>
              <a:rPr lang="en-US" b="1" dirty="0" smtClean="0"/>
              <a:t> </a:t>
            </a: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lesions</a:t>
            </a:r>
            <a:endParaRPr lang="en-US" dirty="0"/>
          </a:p>
        </p:txBody>
      </p:sp>
      <p:sp>
        <p:nvSpPr>
          <p:cNvPr id="3" name="Content Placeholder 2"/>
          <p:cNvSpPr>
            <a:spLocks noGrp="1"/>
          </p:cNvSpPr>
          <p:nvPr>
            <p:ph sz="quarter" idx="1"/>
          </p:nvPr>
        </p:nvSpPr>
        <p:spPr/>
        <p:txBody>
          <a:bodyPr>
            <a:normAutofit fontScale="92500" lnSpcReduction="20000"/>
          </a:bodyPr>
          <a:lstStyle/>
          <a:p>
            <a:r>
              <a:rPr lang="en-US" dirty="0" smtClean="0"/>
              <a:t>The carcass of affected </a:t>
            </a:r>
            <a:r>
              <a:rPr lang="en-US" dirty="0" err="1" smtClean="0"/>
              <a:t>foetus</a:t>
            </a:r>
            <a:r>
              <a:rPr lang="en-US" dirty="0" smtClean="0"/>
              <a:t> is </a:t>
            </a:r>
            <a:r>
              <a:rPr lang="en-US" dirty="0" err="1" smtClean="0"/>
              <a:t>oedematous</a:t>
            </a:r>
            <a:r>
              <a:rPr lang="en-US" dirty="0" smtClean="0"/>
              <a:t> with </a:t>
            </a:r>
            <a:r>
              <a:rPr lang="en-US" dirty="0" err="1" smtClean="0"/>
              <a:t>pericarditis</a:t>
            </a:r>
            <a:r>
              <a:rPr lang="en-US" dirty="0" smtClean="0"/>
              <a:t>, peritonitis and </a:t>
            </a:r>
            <a:r>
              <a:rPr lang="en-US" dirty="0" err="1" smtClean="0"/>
              <a:t>petechial</a:t>
            </a:r>
            <a:r>
              <a:rPr lang="en-US" dirty="0" smtClean="0"/>
              <a:t> </a:t>
            </a:r>
            <a:r>
              <a:rPr lang="en-US" dirty="0" err="1" smtClean="0"/>
              <a:t>haemorrhages</a:t>
            </a:r>
            <a:r>
              <a:rPr lang="en-US" dirty="0" smtClean="0"/>
              <a:t>. </a:t>
            </a:r>
          </a:p>
          <a:p>
            <a:r>
              <a:rPr lang="en-US" dirty="0" smtClean="0"/>
              <a:t>Areas of focal necrosis are seen in liver. </a:t>
            </a:r>
          </a:p>
          <a:p>
            <a:r>
              <a:rPr lang="en-US" dirty="0" smtClean="0"/>
              <a:t>The </a:t>
            </a:r>
            <a:r>
              <a:rPr lang="en-US" dirty="0" err="1" smtClean="0"/>
              <a:t>foetal</a:t>
            </a:r>
            <a:r>
              <a:rPr lang="en-US" dirty="0" smtClean="0"/>
              <a:t> membranes are </a:t>
            </a:r>
            <a:r>
              <a:rPr lang="en-US" dirty="0" err="1" smtClean="0"/>
              <a:t>oedematous</a:t>
            </a:r>
            <a:r>
              <a:rPr lang="en-US" dirty="0" smtClean="0"/>
              <a:t> with areas of necrosis on cotyledons.</a:t>
            </a:r>
          </a:p>
          <a:p>
            <a:r>
              <a:rPr lang="en-US" dirty="0" smtClean="0"/>
              <a:t> </a:t>
            </a:r>
            <a:r>
              <a:rPr lang="en-US" dirty="0" err="1" smtClean="0"/>
              <a:t>Placentitis</a:t>
            </a:r>
            <a:r>
              <a:rPr lang="en-US" dirty="0" smtClean="0"/>
              <a:t> occurs with hemorrhagic necrotic cotyledons and edematous or leathery </a:t>
            </a:r>
            <a:r>
              <a:rPr lang="en-US" dirty="0" err="1" smtClean="0"/>
              <a:t>intercotyledonary</a:t>
            </a:r>
            <a:r>
              <a:rPr lang="en-US" dirty="0" smtClean="0"/>
              <a:t> areas. </a:t>
            </a:r>
          </a:p>
          <a:p>
            <a:r>
              <a:rPr lang="en-US" dirty="0" smtClean="0"/>
              <a:t>Catarrhal inflammation of vagina and cervix is common in cows</a:t>
            </a:r>
          </a:p>
          <a:p>
            <a:r>
              <a:rPr lang="en-US" dirty="0" smtClean="0"/>
              <a:t> The same lesions are noticed in ewes also. </a:t>
            </a:r>
          </a:p>
          <a:p>
            <a:r>
              <a:rPr lang="en-US" dirty="0" smtClean="0"/>
              <a:t>The ewes will appear normal with </a:t>
            </a:r>
            <a:r>
              <a:rPr lang="en-US" dirty="0" err="1" smtClean="0"/>
              <a:t>oedematous</a:t>
            </a:r>
            <a:r>
              <a:rPr lang="en-US" dirty="0" smtClean="0"/>
              <a:t> uterus and areas of marked </a:t>
            </a:r>
            <a:r>
              <a:rPr lang="en-US" dirty="0" err="1" smtClean="0"/>
              <a:t>hyperaemia</a:t>
            </a:r>
            <a:r>
              <a:rPr lang="en-US" dirty="0" smtClean="0"/>
              <a:t>. </a:t>
            </a:r>
          </a:p>
          <a:p>
            <a:r>
              <a:rPr lang="en-US" dirty="0" err="1" smtClean="0"/>
              <a:t>Metritis</a:t>
            </a:r>
            <a:r>
              <a:rPr lang="en-US" dirty="0" smtClean="0"/>
              <a:t> is also seen in ewes.</a:t>
            </a:r>
          </a:p>
          <a:p>
            <a:r>
              <a:rPr lang="en-US" dirty="0" smtClean="0"/>
              <a:t>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Diagnosis</a:t>
            </a:r>
            <a:endParaRPr lang="en-US" dirty="0"/>
          </a:p>
        </p:txBody>
      </p:sp>
      <p:sp>
        <p:nvSpPr>
          <p:cNvPr id="3" name="Content Placeholder 2"/>
          <p:cNvSpPr>
            <a:spLocks noGrp="1"/>
          </p:cNvSpPr>
          <p:nvPr>
            <p:ph sz="quarter" idx="1"/>
          </p:nvPr>
        </p:nvSpPr>
        <p:spPr/>
        <p:txBody>
          <a:bodyPr>
            <a:normAutofit fontScale="62500" lnSpcReduction="20000"/>
          </a:bodyPr>
          <a:lstStyle/>
          <a:p>
            <a:endParaRPr lang="en-US" dirty="0" smtClean="0"/>
          </a:p>
          <a:p>
            <a:pPr lvl="0"/>
            <a:r>
              <a:rPr lang="en-US" b="1" dirty="0" smtClean="0"/>
              <a:t>Based on symptoms, lesion and history of abortion in a herd.</a:t>
            </a:r>
            <a:endParaRPr lang="en-US" dirty="0" smtClean="0"/>
          </a:p>
          <a:p>
            <a:pPr lvl="0"/>
            <a:r>
              <a:rPr lang="en-US" b="1" dirty="0" err="1" smtClean="0"/>
              <a:t>Microscopical</a:t>
            </a:r>
            <a:r>
              <a:rPr lang="en-US" b="1" dirty="0" smtClean="0"/>
              <a:t> examination </a:t>
            </a:r>
            <a:r>
              <a:rPr lang="en-US" dirty="0" smtClean="0"/>
              <a:t>of smears prepared from the </a:t>
            </a:r>
            <a:r>
              <a:rPr lang="en-US" dirty="0" err="1" smtClean="0"/>
              <a:t>foetal</a:t>
            </a:r>
            <a:r>
              <a:rPr lang="en-US" dirty="0" smtClean="0"/>
              <a:t> stomach contents or visceral organs stained by Gram’s method reveal organisms with characteristic morphology. </a:t>
            </a:r>
          </a:p>
          <a:p>
            <a:pPr lvl="0"/>
            <a:r>
              <a:rPr lang="en-US" i="1" dirty="0" err="1" smtClean="0"/>
              <a:t>C</a:t>
            </a:r>
            <a:r>
              <a:rPr lang="en-US" dirty="0" err="1" smtClean="0"/>
              <a:t>.</a:t>
            </a:r>
            <a:r>
              <a:rPr lang="en-US" i="1" dirty="0" err="1" smtClean="0"/>
              <a:t>fetus</a:t>
            </a:r>
            <a:r>
              <a:rPr lang="en-US" i="1" dirty="0" smtClean="0"/>
              <a:t> </a:t>
            </a:r>
            <a:r>
              <a:rPr lang="en-US" dirty="0" smtClean="0"/>
              <a:t>can also be identified in </a:t>
            </a:r>
            <a:r>
              <a:rPr lang="en-US" dirty="0" err="1" smtClean="0"/>
              <a:t>darkfield</a:t>
            </a:r>
            <a:r>
              <a:rPr lang="en-US" dirty="0" smtClean="0"/>
              <a:t> preparations from </a:t>
            </a:r>
            <a:r>
              <a:rPr lang="en-US" dirty="0" err="1" smtClean="0"/>
              <a:t>abomasal</a:t>
            </a:r>
            <a:r>
              <a:rPr lang="en-US" dirty="0" smtClean="0"/>
              <a:t> or placental smears or in uterine discharge.</a:t>
            </a:r>
          </a:p>
          <a:p>
            <a:pPr lvl="0"/>
            <a:r>
              <a:rPr lang="en-US" b="1" dirty="0" smtClean="0"/>
              <a:t>Isolation of the bacteria by culturing: </a:t>
            </a:r>
          </a:p>
          <a:p>
            <a:pPr lvl="0"/>
            <a:r>
              <a:rPr lang="en-US" dirty="0" smtClean="0"/>
              <a:t>Vaginal mucus and </a:t>
            </a:r>
            <a:r>
              <a:rPr lang="en-US" dirty="0" err="1" smtClean="0"/>
              <a:t>preputial</a:t>
            </a:r>
            <a:r>
              <a:rPr lang="en-US" dirty="0" smtClean="0"/>
              <a:t> washings are the material of choice. </a:t>
            </a:r>
          </a:p>
          <a:p>
            <a:pPr lvl="0"/>
            <a:r>
              <a:rPr lang="en-US" dirty="0" smtClean="0"/>
              <a:t>Vaginal mucus three weeks after AI or service is the most ideal material. </a:t>
            </a:r>
          </a:p>
          <a:p>
            <a:pPr lvl="0"/>
            <a:r>
              <a:rPr lang="en-US" i="1" dirty="0" err="1" smtClean="0"/>
              <a:t>C.fetus</a:t>
            </a:r>
            <a:r>
              <a:rPr lang="en-US" i="1" dirty="0" smtClean="0"/>
              <a:t> </a:t>
            </a:r>
            <a:r>
              <a:rPr lang="en-US" dirty="0" smtClean="0"/>
              <a:t>will survive only for 6-8 hr after collection, but inoculation into Clark's or similar media will allow survival for &gt;48 hr. </a:t>
            </a:r>
          </a:p>
          <a:p>
            <a:pPr lvl="0"/>
            <a:r>
              <a:rPr lang="en-US" dirty="0" smtClean="0"/>
              <a:t>Special care must be taken to avoid contamination of the clinical materials with other bacteria. </a:t>
            </a:r>
          </a:p>
          <a:p>
            <a:pPr lvl="0"/>
            <a:r>
              <a:rPr lang="en-US" dirty="0" smtClean="0"/>
              <a:t>The media commonly used for isolation are blood agar with or without </a:t>
            </a:r>
            <a:r>
              <a:rPr lang="en-US" dirty="0" err="1" smtClean="0"/>
              <a:t>thioglycollate</a:t>
            </a:r>
            <a:r>
              <a:rPr lang="en-US" dirty="0" smtClean="0"/>
              <a:t>, serum-dextrose agar, </a:t>
            </a:r>
            <a:r>
              <a:rPr lang="en-US" dirty="0" err="1" smtClean="0"/>
              <a:t>Thiol</a:t>
            </a:r>
            <a:r>
              <a:rPr lang="en-US" dirty="0" smtClean="0"/>
              <a:t> medium, Clark and </a:t>
            </a:r>
            <a:r>
              <a:rPr lang="en-US" dirty="0" err="1" smtClean="0"/>
              <a:t>Dufty</a:t>
            </a:r>
            <a:r>
              <a:rPr lang="en-US" dirty="0" smtClean="0"/>
              <a:t> medium and chocolate agar. </a:t>
            </a:r>
          </a:p>
          <a:p>
            <a:pPr lvl="0"/>
            <a:r>
              <a:rPr lang="en-US" dirty="0" smtClean="0"/>
              <a:t>Colonies appear after 2-6 days as pinpoint, delicate, circular and opaque.</a:t>
            </a:r>
          </a:p>
          <a:p>
            <a:r>
              <a:rPr lang="en-US" dirty="0" smtClean="0"/>
              <a:t> </a:t>
            </a:r>
          </a:p>
          <a:p>
            <a:pPr lvl="0"/>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pPr lvl="0"/>
            <a:r>
              <a:rPr lang="en-US" b="1" dirty="0" smtClean="0"/>
              <a:t>Vaginal mucus agglutination test: </a:t>
            </a:r>
            <a:r>
              <a:rPr lang="en-US" dirty="0" smtClean="0"/>
              <a:t>This test is performed in herd basis to detect antibodies against </a:t>
            </a:r>
            <a:r>
              <a:rPr lang="en-US" i="1" dirty="0" err="1" smtClean="0"/>
              <a:t>C.fetus</a:t>
            </a:r>
            <a:r>
              <a:rPr lang="en-US" i="1" dirty="0" smtClean="0"/>
              <a:t>, which </a:t>
            </a:r>
            <a:r>
              <a:rPr lang="en-US" dirty="0" smtClean="0"/>
              <a:t>are found up to 2-12 months after infection. 10% of the herd or at least 10 cows should be sampled</a:t>
            </a:r>
          </a:p>
          <a:p>
            <a:pPr lvl="0"/>
            <a:r>
              <a:rPr lang="en-US" b="1" dirty="0" smtClean="0"/>
              <a:t>Indirect HA test</a:t>
            </a:r>
          </a:p>
          <a:p>
            <a:pPr lvl="0"/>
            <a:r>
              <a:rPr lang="en-US" b="1" dirty="0" smtClean="0"/>
              <a:t>Serum agglutination test</a:t>
            </a:r>
            <a:endParaRPr lang="en-US" dirty="0" smtClean="0"/>
          </a:p>
          <a:p>
            <a:pPr lvl="0"/>
            <a:r>
              <a:rPr lang="en-US" b="1" dirty="0" smtClean="0"/>
              <a:t>ELISA</a:t>
            </a:r>
          </a:p>
          <a:p>
            <a:pPr lvl="0"/>
            <a:r>
              <a:rPr lang="en-US" b="1" dirty="0" smtClean="0"/>
              <a:t>Mating test: </a:t>
            </a:r>
            <a:r>
              <a:rPr lang="en-US" dirty="0" smtClean="0"/>
              <a:t>Infected bulls are allowed to mate virgin heifers and examination of the vaginal mucosa after 3-4 weeks. But this is seldom practical. Instead the </a:t>
            </a:r>
            <a:r>
              <a:rPr lang="en-US" dirty="0" err="1" smtClean="0"/>
              <a:t>preputial</a:t>
            </a:r>
            <a:r>
              <a:rPr lang="en-US" dirty="0" smtClean="0"/>
              <a:t> cavity is infused with buffered sterile saline, and the prepuce is massaged vigorously in the area of the fornix. The sheath washing is then examined using a fluorescent antibody test and culture.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Campylobacteriosis</a:t>
            </a:r>
            <a:endParaRPr lang="en-US" dirty="0"/>
          </a:p>
        </p:txBody>
      </p:sp>
      <p:sp>
        <p:nvSpPr>
          <p:cNvPr id="3" name="Content Placeholder 2"/>
          <p:cNvSpPr>
            <a:spLocks noGrp="1"/>
          </p:cNvSpPr>
          <p:nvPr>
            <p:ph sz="quarter" idx="1"/>
          </p:nvPr>
        </p:nvSpPr>
        <p:spPr/>
        <p:txBody>
          <a:bodyPr/>
          <a:lstStyle/>
          <a:p>
            <a:r>
              <a:rPr lang="en-US" b="1" dirty="0" smtClean="0"/>
              <a:t>Control: </a:t>
            </a:r>
            <a:r>
              <a:rPr lang="en-US" dirty="0" smtClean="0"/>
              <a:t>Elimination of the infected bull and treating the semen with streptomycin are the two important aspects in control </a:t>
            </a:r>
            <a:r>
              <a:rPr lang="en-US" dirty="0" err="1" smtClean="0"/>
              <a:t>programme</a:t>
            </a:r>
            <a:r>
              <a:rPr lang="en-US" dirty="0" smtClean="0"/>
              <a:t>. Killed vaccines have found to reduce the incidence of infertility. Artificial insemination instead of natural coitus will also avoid </a:t>
            </a:r>
            <a:r>
              <a:rPr lang="en-US" dirty="0" err="1" smtClean="0"/>
              <a:t>campylobacteriosis</a:t>
            </a:r>
            <a:r>
              <a:rPr lang="en-US" dirty="0" smtClean="0"/>
              <a: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OTHER SPECIES OF  </a:t>
            </a:r>
            <a:r>
              <a:rPr lang="en-US" b="1" dirty="0" smtClean="0"/>
              <a:t>CAMPYLOBACTER</a:t>
            </a:r>
            <a:r>
              <a:rPr lang="en-US" b="1" dirty="0" smtClean="0"/>
              <a:t/>
            </a:r>
            <a:br>
              <a:rPr lang="en-US" b="1" dirty="0" smtClean="0"/>
            </a:br>
            <a:endParaRPr lang="en-US" dirty="0"/>
          </a:p>
        </p:txBody>
      </p:sp>
      <p:sp>
        <p:nvSpPr>
          <p:cNvPr id="3" name="Content Placeholder 2"/>
          <p:cNvSpPr>
            <a:spLocks noGrp="1"/>
          </p:cNvSpPr>
          <p:nvPr>
            <p:ph sz="quarter" idx="1"/>
          </p:nvPr>
        </p:nvSpPr>
        <p:spPr/>
        <p:txBody>
          <a:bodyPr>
            <a:normAutofit fontScale="85000" lnSpcReduction="20000"/>
          </a:bodyPr>
          <a:lstStyle/>
          <a:p>
            <a:r>
              <a:rPr lang="en-US" i="1" dirty="0" smtClean="0"/>
              <a:t>C. </a:t>
            </a:r>
            <a:r>
              <a:rPr lang="en-US" i="1" dirty="0" err="1" smtClean="0"/>
              <a:t>jejuni</a:t>
            </a:r>
            <a:r>
              <a:rPr lang="en-US" dirty="0" smtClean="0"/>
              <a:t>, </a:t>
            </a:r>
            <a:r>
              <a:rPr lang="en-US" i="1" dirty="0" smtClean="0"/>
              <a:t>C. coli </a:t>
            </a:r>
            <a:r>
              <a:rPr lang="en-US" dirty="0" smtClean="0"/>
              <a:t>and </a:t>
            </a:r>
            <a:r>
              <a:rPr lang="en-US" i="1" dirty="0" smtClean="0"/>
              <a:t>C. </a:t>
            </a:r>
            <a:r>
              <a:rPr lang="en-US" i="1" dirty="0" err="1" smtClean="0"/>
              <a:t>lari</a:t>
            </a:r>
            <a:r>
              <a:rPr lang="en-US" dirty="0" smtClean="0"/>
              <a:t>, are </a:t>
            </a:r>
            <a:r>
              <a:rPr lang="en-US" dirty="0" err="1" smtClean="0"/>
              <a:t>thermophilic</a:t>
            </a:r>
            <a:r>
              <a:rPr lang="en-US" dirty="0" smtClean="0"/>
              <a:t>, growing optimally at 42°C. </a:t>
            </a:r>
          </a:p>
          <a:p>
            <a:r>
              <a:rPr lang="en-US" dirty="0" smtClean="0"/>
              <a:t>Hence, in the isolation procedure the media are incubated at 42°C to prevent contamination from other bacteria</a:t>
            </a:r>
          </a:p>
          <a:p>
            <a:pPr lvl="0"/>
            <a:r>
              <a:rPr lang="en-US" b="1" i="1" dirty="0" smtClean="0"/>
              <a:t> C. </a:t>
            </a:r>
            <a:r>
              <a:rPr lang="en-US" b="1" i="1" dirty="0" err="1" smtClean="0"/>
              <a:t>jejuni</a:t>
            </a:r>
            <a:r>
              <a:rPr lang="en-US" b="1" dirty="0" smtClean="0"/>
              <a:t>: </a:t>
            </a:r>
            <a:r>
              <a:rPr lang="en-US" dirty="0" smtClean="0"/>
              <a:t>It is found in the intestinal tract of domestic animals and birds as </a:t>
            </a:r>
            <a:r>
              <a:rPr lang="en-US" dirty="0" err="1" smtClean="0"/>
              <a:t>commensals</a:t>
            </a:r>
            <a:r>
              <a:rPr lang="en-US" dirty="0" smtClean="0"/>
              <a:t>. </a:t>
            </a:r>
          </a:p>
          <a:p>
            <a:pPr lvl="0"/>
            <a:r>
              <a:rPr lang="en-US" dirty="0" smtClean="0"/>
              <a:t>It causes infectious </a:t>
            </a:r>
            <a:r>
              <a:rPr lang="en-US" dirty="0" err="1" smtClean="0"/>
              <a:t>diarrhoea</a:t>
            </a:r>
            <a:r>
              <a:rPr lang="en-US" dirty="0" smtClean="0"/>
              <a:t> (</a:t>
            </a:r>
            <a:r>
              <a:rPr lang="en-US" b="1" dirty="0" smtClean="0"/>
              <a:t>winter dysentery</a:t>
            </a:r>
            <a:r>
              <a:rPr lang="en-US" dirty="0" smtClean="0"/>
              <a:t>) in cattle. </a:t>
            </a:r>
          </a:p>
          <a:p>
            <a:pPr lvl="0"/>
            <a:r>
              <a:rPr lang="en-US" dirty="0" smtClean="0"/>
              <a:t>Affected animals become listless, show signs of abdominal pain with dark </a:t>
            </a:r>
            <a:r>
              <a:rPr lang="en-US" dirty="0" err="1" smtClean="0"/>
              <a:t>coloured</a:t>
            </a:r>
            <a:r>
              <a:rPr lang="en-US" dirty="0" smtClean="0"/>
              <a:t> fluid consistency </a:t>
            </a:r>
            <a:r>
              <a:rPr lang="en-US" dirty="0" err="1" smtClean="0"/>
              <a:t>faeces</a:t>
            </a:r>
            <a:r>
              <a:rPr lang="en-US" dirty="0" smtClean="0"/>
              <a:t> with blood and mucus.</a:t>
            </a:r>
          </a:p>
          <a:p>
            <a:pPr lvl="0"/>
            <a:r>
              <a:rPr lang="en-US" dirty="0" smtClean="0"/>
              <a:t> The powerful heat labile </a:t>
            </a:r>
            <a:r>
              <a:rPr lang="en-US" dirty="0" err="1" smtClean="0"/>
              <a:t>enterotoxin</a:t>
            </a:r>
            <a:r>
              <a:rPr lang="en-US" dirty="0" smtClean="0"/>
              <a:t> produced by the organism is responsible for the </a:t>
            </a:r>
            <a:r>
              <a:rPr lang="en-US" dirty="0" err="1" smtClean="0"/>
              <a:t>diarrhoeic</a:t>
            </a:r>
            <a:r>
              <a:rPr lang="en-US" dirty="0" smtClean="0"/>
              <a:t> symptoms. </a:t>
            </a:r>
          </a:p>
          <a:p>
            <a:pPr lvl="0"/>
            <a:r>
              <a:rPr lang="en-US" dirty="0" smtClean="0"/>
              <a:t>It causes avian infectious hepatitis (</a:t>
            </a:r>
            <a:r>
              <a:rPr lang="en-US" dirty="0" err="1" smtClean="0"/>
              <a:t>vibryonic</a:t>
            </a:r>
            <a:r>
              <a:rPr lang="en-US" dirty="0" smtClean="0"/>
              <a:t> hepatitis) in chickens </a:t>
            </a:r>
            <a:r>
              <a:rPr lang="en-US" dirty="0" err="1" smtClean="0"/>
              <a:t>characterised</a:t>
            </a:r>
            <a:r>
              <a:rPr lang="en-US" dirty="0" smtClean="0"/>
              <a:t> by </a:t>
            </a:r>
            <a:r>
              <a:rPr lang="en-US" dirty="0" err="1" smtClean="0"/>
              <a:t>haemorrhage</a:t>
            </a:r>
            <a:r>
              <a:rPr lang="en-US" dirty="0" smtClean="0"/>
              <a:t> and necrosis of liver.</a:t>
            </a:r>
          </a:p>
          <a:p>
            <a:pPr>
              <a:buNone/>
            </a:pPr>
            <a:r>
              <a:rPr lang="en-US" dirty="0" smtClean="0"/>
              <a: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Pathogenesis</a:t>
            </a:r>
            <a:endParaRPr lang="en-US" dirty="0"/>
          </a:p>
        </p:txBody>
      </p:sp>
      <p:sp>
        <p:nvSpPr>
          <p:cNvPr id="3" name="Content Placeholder 2"/>
          <p:cNvSpPr>
            <a:spLocks noGrp="1"/>
          </p:cNvSpPr>
          <p:nvPr>
            <p:ph sz="quarter" idx="1"/>
          </p:nvPr>
        </p:nvSpPr>
        <p:spPr/>
        <p:txBody>
          <a:bodyPr>
            <a:normAutofit fontScale="92500" lnSpcReduction="20000"/>
          </a:bodyPr>
          <a:lstStyle/>
          <a:p>
            <a:r>
              <a:rPr lang="en-US" b="1" dirty="0" smtClean="0"/>
              <a:t> </a:t>
            </a:r>
            <a:r>
              <a:rPr lang="en-US" dirty="0" smtClean="0"/>
              <a:t>Environmental contamination is the main source of infection for </a:t>
            </a:r>
            <a:r>
              <a:rPr lang="en-US" dirty="0" err="1" smtClean="0"/>
              <a:t>poults</a:t>
            </a:r>
            <a:r>
              <a:rPr lang="en-US" dirty="0" smtClean="0"/>
              <a:t>, chicks, and ducklings. Litter can remain infective for long periods. Infected chicks and </a:t>
            </a:r>
            <a:r>
              <a:rPr lang="en-US" dirty="0" err="1" smtClean="0"/>
              <a:t>poults</a:t>
            </a:r>
            <a:r>
              <a:rPr lang="en-US" dirty="0" smtClean="0"/>
              <a:t> become colonized and can continue to excrete </a:t>
            </a:r>
            <a:r>
              <a:rPr lang="en-US" i="1" dirty="0" smtClean="0"/>
              <a:t>C </a:t>
            </a:r>
            <a:r>
              <a:rPr lang="en-US" i="1" dirty="0" err="1" smtClean="0"/>
              <a:t>jejuni</a:t>
            </a:r>
            <a:r>
              <a:rPr lang="en-US" i="1" dirty="0" smtClean="0"/>
              <a:t> </a:t>
            </a:r>
            <a:r>
              <a:rPr lang="en-US" dirty="0" smtClean="0"/>
              <a:t>for up to 2 months. </a:t>
            </a:r>
          </a:p>
          <a:p>
            <a:r>
              <a:rPr lang="en-US" dirty="0" smtClean="0"/>
              <a:t>Contaminated water can introduce infection into poultry flocks, and </a:t>
            </a:r>
            <a:r>
              <a:rPr lang="en-US" dirty="0" err="1" smtClean="0"/>
              <a:t>nonchlorinated</a:t>
            </a:r>
            <a:r>
              <a:rPr lang="en-US" dirty="0" smtClean="0"/>
              <a:t> water derived from a dam, river, or shallow well should be regarded as a possible source. </a:t>
            </a:r>
          </a:p>
          <a:p>
            <a:r>
              <a:rPr lang="en-US" dirty="0" smtClean="0"/>
              <a:t>Flocks can be infected by rats, wild birds, and houseflies; equipment and footwear contaminated with </a:t>
            </a:r>
            <a:r>
              <a:rPr lang="en-US" dirty="0" err="1" smtClean="0"/>
              <a:t>faeces</a:t>
            </a:r>
            <a:r>
              <a:rPr lang="en-US" dirty="0" smtClean="0"/>
              <a:t> from an infected source.</a:t>
            </a:r>
          </a:p>
          <a:p>
            <a:r>
              <a:rPr lang="en-US" dirty="0" smtClean="0"/>
              <a:t> Once introduced into the environment, rapid transmission within the flock occurs.</a:t>
            </a:r>
          </a:p>
          <a:p>
            <a:r>
              <a:rPr lang="en-US" dirty="0" smtClean="0"/>
              <a:t> </a:t>
            </a:r>
            <a:r>
              <a:rPr lang="en-US" dirty="0" err="1" smtClean="0"/>
              <a:t>C.</a:t>
            </a:r>
            <a:r>
              <a:rPr lang="en-US" i="1" dirty="0" err="1" smtClean="0"/>
              <a:t>jejuni</a:t>
            </a:r>
            <a:r>
              <a:rPr lang="en-US" i="1" dirty="0" smtClean="0"/>
              <a:t> </a:t>
            </a:r>
            <a:r>
              <a:rPr lang="en-US" dirty="0" smtClean="0"/>
              <a:t>is not transmitted vertically, either on the surface of eggs or by </a:t>
            </a:r>
            <a:r>
              <a:rPr lang="en-US" dirty="0" err="1" smtClean="0"/>
              <a:t>transovarial</a:t>
            </a:r>
            <a:r>
              <a:rPr lang="en-US" dirty="0" smtClean="0"/>
              <a:t> transmission.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Symptoms and lesions</a:t>
            </a:r>
            <a:endParaRPr lang="en-US" dirty="0"/>
          </a:p>
        </p:txBody>
      </p:sp>
      <p:sp>
        <p:nvSpPr>
          <p:cNvPr id="3" name="Content Placeholder 2"/>
          <p:cNvSpPr>
            <a:spLocks noGrp="1"/>
          </p:cNvSpPr>
          <p:nvPr>
            <p:ph sz="quarter" idx="1"/>
          </p:nvPr>
        </p:nvSpPr>
        <p:spPr>
          <a:xfrm>
            <a:off x="457200" y="1600200"/>
            <a:ext cx="8153400" cy="4873752"/>
          </a:xfrm>
        </p:spPr>
        <p:txBody>
          <a:bodyPr/>
          <a:lstStyle/>
          <a:p>
            <a:r>
              <a:rPr lang="en-US" dirty="0" smtClean="0"/>
              <a:t>Rapid onset of </a:t>
            </a:r>
            <a:r>
              <a:rPr lang="en-US" dirty="0" err="1" smtClean="0"/>
              <a:t>diarrhoea</a:t>
            </a:r>
            <a:r>
              <a:rPr lang="en-US" dirty="0" smtClean="0"/>
              <a:t>, which may persist for four days is the predominant symptom.</a:t>
            </a:r>
          </a:p>
          <a:p>
            <a:r>
              <a:rPr lang="en-US" dirty="0" smtClean="0"/>
              <a:t> Gross lesions include distention of the jejunum, disseminated hemorrhagic enteritis, and in some cases, focal hepatic necrosis.</a:t>
            </a:r>
          </a:p>
          <a:p>
            <a:r>
              <a:rPr lang="en-US" dirty="0" smtClean="0"/>
              <a:t> Microscopic lesions include edema of the mucosa of the ileum and </a:t>
            </a:r>
            <a:r>
              <a:rPr lang="en-US" dirty="0" err="1" smtClean="0"/>
              <a:t>cecum</a:t>
            </a:r>
            <a:r>
              <a:rPr lang="en-US" dirty="0" smtClean="0"/>
              <a:t> with </a:t>
            </a:r>
            <a:r>
              <a:rPr lang="en-US" i="1" dirty="0" smtClean="0"/>
              <a:t>C </a:t>
            </a:r>
            <a:r>
              <a:rPr lang="en-US" i="1" dirty="0" err="1" smtClean="0"/>
              <a:t>jejuni</a:t>
            </a:r>
            <a:r>
              <a:rPr lang="en-US" i="1" dirty="0" smtClean="0"/>
              <a:t> </a:t>
            </a:r>
            <a:r>
              <a:rPr lang="en-US" dirty="0" smtClean="0"/>
              <a:t>in the brush border of </a:t>
            </a:r>
            <a:r>
              <a:rPr lang="en-US" dirty="0" err="1" smtClean="0"/>
              <a:t>enterocytes</a:t>
            </a:r>
            <a:r>
              <a:rPr lang="en-US" dirty="0" smtClean="0"/>
              <a:t>. </a:t>
            </a:r>
          </a:p>
          <a:p>
            <a:r>
              <a:rPr lang="en-US" dirty="0" smtClean="0"/>
              <a:t>Mononuclear infiltration of the </a:t>
            </a:r>
            <a:r>
              <a:rPr lang="en-US" dirty="0" err="1" smtClean="0"/>
              <a:t>submucosa</a:t>
            </a:r>
            <a:r>
              <a:rPr lang="en-US" dirty="0" smtClean="0"/>
              <a:t> and villous atrophy occur with </a:t>
            </a:r>
            <a:r>
              <a:rPr lang="en-US" dirty="0" err="1" smtClean="0"/>
              <a:t>intraluminal</a:t>
            </a:r>
            <a:r>
              <a:rPr lang="en-US" dirty="0" smtClean="0"/>
              <a:t> accumulation of mucus, erythrocytes, and both mononuclear and </a:t>
            </a:r>
            <a:r>
              <a:rPr lang="en-US" dirty="0" err="1" smtClean="0"/>
              <a:t>polymorphonuclear</a:t>
            </a:r>
            <a:r>
              <a:rPr lang="en-US" dirty="0" smtClean="0"/>
              <a:t> cells.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PSEUDOMONADS - PSEUDOMONAS &amp; BURKHOLDERIA</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b="1" dirty="0" smtClean="0"/>
              <a:t>Introduction: </a:t>
            </a:r>
            <a:r>
              <a:rPr lang="en-US" dirty="0" smtClean="0"/>
              <a:t>Members of the genus are found abundantly as free-living organisms in soils, fresh water and marine environments, and in many other natural habitats. </a:t>
            </a:r>
          </a:p>
          <a:p>
            <a:r>
              <a:rPr lang="en-US" i="1" dirty="0" smtClean="0"/>
              <a:t>Pseudomonas </a:t>
            </a:r>
            <a:r>
              <a:rPr lang="en-US" dirty="0" smtClean="0"/>
              <a:t>species, as well as species included in the newly- created genera </a:t>
            </a:r>
            <a:r>
              <a:rPr lang="en-US" i="1" dirty="0" err="1" smtClean="0"/>
              <a:t>Burkholderia</a:t>
            </a:r>
            <a:r>
              <a:rPr lang="en-US" dirty="0" smtClean="0"/>
              <a:t> that are pathogens</a:t>
            </a:r>
          </a:p>
          <a:p>
            <a:r>
              <a:rPr lang="en-US" dirty="0" smtClean="0"/>
              <a:t> Important species	:	</a:t>
            </a:r>
            <a:r>
              <a:rPr lang="en-US" i="1" dirty="0" smtClean="0"/>
              <a:t>Pseudomonas </a:t>
            </a:r>
            <a:r>
              <a:rPr lang="en-US" i="1" dirty="0" err="1" smtClean="0"/>
              <a:t>aeruginosa</a:t>
            </a:r>
            <a:r>
              <a:rPr lang="en-US" i="1" dirty="0" smtClean="0"/>
              <a:t>,</a:t>
            </a:r>
            <a:endParaRPr lang="en-US" dirty="0" smtClean="0"/>
          </a:p>
          <a:p>
            <a:r>
              <a:rPr lang="en-US" i="1" dirty="0" err="1" smtClean="0"/>
              <a:t>P.mallei</a:t>
            </a:r>
            <a:r>
              <a:rPr lang="en-US" i="1" dirty="0" smtClean="0"/>
              <a:t> (</a:t>
            </a:r>
            <a:r>
              <a:rPr lang="en-US" i="1" dirty="0" err="1" smtClean="0"/>
              <a:t>Burkholderia</a:t>
            </a:r>
            <a:r>
              <a:rPr lang="en-US" i="1" dirty="0" smtClean="0"/>
              <a:t> </a:t>
            </a:r>
            <a:r>
              <a:rPr lang="en-US" i="1" dirty="0" err="1" smtClean="0"/>
              <a:t>mallei</a:t>
            </a:r>
            <a:r>
              <a:rPr lang="en-US" i="1" dirty="0" smtClean="0"/>
              <a:t>) </a:t>
            </a:r>
            <a:r>
              <a:rPr lang="en-US" i="1" dirty="0" err="1" smtClean="0"/>
              <a:t>P.pseudomallei</a:t>
            </a:r>
            <a:r>
              <a:rPr lang="en-US" i="1" dirty="0" smtClean="0"/>
              <a:t> (B. </a:t>
            </a:r>
            <a:r>
              <a:rPr lang="en-US" i="1" dirty="0" err="1" smtClean="0"/>
              <a:t>pseudomallei</a:t>
            </a:r>
            <a:r>
              <a:rPr lang="en-US" i="1" dirty="0" smtClean="0"/>
              <a:t>)</a:t>
            </a:r>
            <a:endParaRPr lang="en-US" dirty="0" smtClean="0"/>
          </a:p>
          <a:p>
            <a:endParaRPr lang="en-US" dirty="0"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10000"/>
          </a:bodyPr>
          <a:lstStyle/>
          <a:p>
            <a:pPr lvl="0"/>
            <a:r>
              <a:rPr lang="en-US" b="1" dirty="0" smtClean="0"/>
              <a:t>Morphology: </a:t>
            </a:r>
            <a:r>
              <a:rPr lang="en-US" dirty="0" smtClean="0"/>
              <a:t>They are gram-negative rod shaped organisms (0.5-0.8 um x 1-3 um). They are actively motile by polar flagella some strains also produce lateral flagella. They are </a:t>
            </a:r>
            <a:r>
              <a:rPr lang="en-US" dirty="0" smtClean="0"/>
              <a:t>non-capsular </a:t>
            </a:r>
            <a:r>
              <a:rPr lang="en-US" dirty="0" smtClean="0"/>
              <a:t>and non-spore forming. They are strictly aerobic. </a:t>
            </a:r>
            <a:r>
              <a:rPr lang="en-US" dirty="0" err="1" smtClean="0"/>
              <a:t>Catalase</a:t>
            </a:r>
            <a:r>
              <a:rPr lang="en-US" dirty="0" smtClean="0"/>
              <a:t>-positive, Usually </a:t>
            </a:r>
            <a:r>
              <a:rPr lang="en-US" dirty="0" err="1" smtClean="0"/>
              <a:t>oxidase</a:t>
            </a:r>
            <a:r>
              <a:rPr lang="en-US" dirty="0" smtClean="0"/>
              <a:t>-positive</a:t>
            </a:r>
          </a:p>
          <a:p>
            <a:pPr lvl="0"/>
            <a:r>
              <a:rPr lang="en-US" b="1" dirty="0" smtClean="0"/>
              <a:t>Habitat: </a:t>
            </a:r>
            <a:r>
              <a:rPr lang="en-US" dirty="0" smtClean="0"/>
              <a:t>They are worldwide in distribution and occur as </a:t>
            </a:r>
            <a:r>
              <a:rPr lang="en-US" dirty="0" err="1" smtClean="0"/>
              <a:t>commensal</a:t>
            </a:r>
            <a:r>
              <a:rPr lang="en-US" dirty="0" smtClean="0"/>
              <a:t> </a:t>
            </a:r>
            <a:r>
              <a:rPr lang="en-US" dirty="0" smtClean="0"/>
              <a:t>in the intestine of animals and man. Animal pathogens are less host specific and most are considered to be opportunistic pathogens. One species, </a:t>
            </a:r>
            <a:r>
              <a:rPr lang="en-US" i="1" dirty="0" smtClean="0"/>
              <a:t>B. </a:t>
            </a:r>
            <a:r>
              <a:rPr lang="en-US" i="1" dirty="0" err="1" smtClean="0"/>
              <a:t>mallei</a:t>
            </a:r>
            <a:r>
              <a:rPr lang="en-US" i="1" dirty="0" smtClean="0"/>
              <a:t>, </a:t>
            </a:r>
            <a:r>
              <a:rPr lang="en-US" dirty="0" smtClean="0"/>
              <a:t>is an exception to this rule. This bacterium is the agent of </a:t>
            </a:r>
            <a:r>
              <a:rPr lang="en-US" dirty="0" err="1" smtClean="0"/>
              <a:t>glanders</a:t>
            </a:r>
            <a:r>
              <a:rPr lang="en-US" dirty="0" smtClean="0"/>
              <a:t> in horses, mules, and donkeys. </a:t>
            </a:r>
            <a:r>
              <a:rPr lang="en-US" i="1" dirty="0" smtClean="0"/>
              <a:t>B. </a:t>
            </a:r>
            <a:r>
              <a:rPr lang="en-US" i="1" dirty="0" err="1" smtClean="0"/>
              <a:t>mallei</a:t>
            </a:r>
            <a:r>
              <a:rPr lang="en-US" i="1" dirty="0" smtClean="0"/>
              <a:t> </a:t>
            </a:r>
            <a:r>
              <a:rPr lang="en-US" dirty="0" smtClean="0"/>
              <a:t>is not found living </a:t>
            </a:r>
            <a:r>
              <a:rPr lang="en-US" dirty="0" err="1" smtClean="0"/>
              <a:t>saprophytically</a:t>
            </a:r>
            <a:r>
              <a:rPr lang="en-US" dirty="0" smtClean="0"/>
              <a:t>, and it is considered to be the only pseudomonad with exclusive parasitism.</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Pseudomonas </a:t>
            </a:r>
            <a:r>
              <a:rPr lang="en-US" dirty="0" err="1" smtClean="0"/>
              <a:t>Aerugenosa</a:t>
            </a:r>
            <a:endParaRPr lang="en-US" dirty="0"/>
          </a:p>
        </p:txBody>
      </p:sp>
      <p:sp>
        <p:nvSpPr>
          <p:cNvPr id="3" name="Content Placeholder 2"/>
          <p:cNvSpPr>
            <a:spLocks noGrp="1"/>
          </p:cNvSpPr>
          <p:nvPr>
            <p:ph sz="quarter" idx="1"/>
          </p:nvPr>
        </p:nvSpPr>
        <p:spPr/>
        <p:txBody>
          <a:bodyPr>
            <a:normAutofit fontScale="92500"/>
          </a:bodyPr>
          <a:lstStyle/>
          <a:p>
            <a:r>
              <a:rPr lang="en-US" dirty="0" smtClean="0"/>
              <a:t>Type species: Pseudomonas </a:t>
            </a:r>
            <a:r>
              <a:rPr lang="en-US" dirty="0" err="1" smtClean="0"/>
              <a:t>aerugenosa</a:t>
            </a:r>
            <a:r>
              <a:rPr lang="en-US" dirty="0" smtClean="0"/>
              <a:t> </a:t>
            </a:r>
          </a:p>
          <a:p>
            <a:endParaRPr lang="en-US" dirty="0" smtClean="0"/>
          </a:p>
          <a:p>
            <a:r>
              <a:rPr lang="en-US" dirty="0" smtClean="0"/>
              <a:t>Called as Bacillus of green pus because it produce water soluble pigment green in </a:t>
            </a:r>
            <a:r>
              <a:rPr lang="en-US" dirty="0" err="1" smtClean="0"/>
              <a:t>colour</a:t>
            </a:r>
            <a:endParaRPr lang="en-US" dirty="0" smtClean="0"/>
          </a:p>
          <a:p>
            <a:r>
              <a:rPr lang="en-US" dirty="0" smtClean="0"/>
              <a:t>Gram negative bacteria </a:t>
            </a:r>
          </a:p>
          <a:p>
            <a:r>
              <a:rPr lang="en-US" dirty="0" smtClean="0"/>
              <a:t>It is positive for </a:t>
            </a:r>
            <a:r>
              <a:rPr lang="en-US" dirty="0" err="1" smtClean="0"/>
              <a:t>catalase</a:t>
            </a:r>
            <a:r>
              <a:rPr lang="en-US" dirty="0" smtClean="0"/>
              <a:t> and </a:t>
            </a:r>
            <a:r>
              <a:rPr lang="en-US" dirty="0" err="1" smtClean="0"/>
              <a:t>oxidase</a:t>
            </a:r>
            <a:endParaRPr lang="en-US" dirty="0" smtClean="0"/>
          </a:p>
          <a:p>
            <a:r>
              <a:rPr lang="en-US" dirty="0" smtClean="0"/>
              <a:t> </a:t>
            </a:r>
            <a:r>
              <a:rPr lang="en-US" dirty="0" smtClean="0"/>
              <a:t>All  </a:t>
            </a:r>
            <a:r>
              <a:rPr lang="en-US" dirty="0" err="1" smtClean="0"/>
              <a:t>enterobacteriaceae</a:t>
            </a:r>
            <a:r>
              <a:rPr lang="en-US" dirty="0" smtClean="0"/>
              <a:t> are </a:t>
            </a:r>
            <a:r>
              <a:rPr lang="en-US" dirty="0" err="1" smtClean="0"/>
              <a:t>oxidase</a:t>
            </a:r>
            <a:r>
              <a:rPr lang="en-US" dirty="0" smtClean="0"/>
              <a:t> negative</a:t>
            </a:r>
          </a:p>
          <a:p>
            <a:r>
              <a:rPr lang="en-US" dirty="0" smtClean="0"/>
              <a:t> Most of the organism in this group are motile except </a:t>
            </a:r>
            <a:r>
              <a:rPr lang="en-US" dirty="0" err="1" smtClean="0"/>
              <a:t>Burkhhoderia</a:t>
            </a:r>
            <a:r>
              <a:rPr lang="en-US" dirty="0" smtClean="0"/>
              <a:t> </a:t>
            </a:r>
            <a:r>
              <a:rPr lang="en-US" dirty="0" err="1" smtClean="0"/>
              <a:t>mallei</a:t>
            </a:r>
            <a:r>
              <a:rPr lang="en-US" dirty="0" smtClean="0"/>
              <a:t>.</a:t>
            </a:r>
          </a:p>
          <a:p>
            <a:r>
              <a:rPr lang="en-US" dirty="0" smtClean="0"/>
              <a:t>Almost all organism produce water soluble pigment</a:t>
            </a:r>
          </a:p>
          <a:p>
            <a:r>
              <a:rPr lang="en-US" dirty="0" smtClean="0"/>
              <a:t> </a:t>
            </a:r>
            <a:r>
              <a:rPr lang="en-US" dirty="0" smtClean="0"/>
              <a:t>Grow on Mc </a:t>
            </a:r>
            <a:r>
              <a:rPr lang="en-US" dirty="0" err="1" smtClean="0"/>
              <a:t>conkey</a:t>
            </a:r>
            <a:r>
              <a:rPr lang="en-US" dirty="0" smtClean="0"/>
              <a:t> agar except </a:t>
            </a:r>
            <a:r>
              <a:rPr lang="en-US" i="1" dirty="0" smtClean="0"/>
              <a:t>Pseudomonas </a:t>
            </a:r>
            <a:r>
              <a:rPr lang="en-US" i="1" dirty="0" err="1" smtClean="0"/>
              <a:t>pseudomallei</a:t>
            </a:r>
            <a:r>
              <a:rPr lang="en-US" i="1" dirty="0" smtClean="0"/>
              <a:t>.</a:t>
            </a:r>
            <a:endParaRPr lang="en-US" i="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Growth requirements  and cultural characteristics</a:t>
            </a:r>
          </a:p>
        </p:txBody>
      </p:sp>
      <p:sp>
        <p:nvSpPr>
          <p:cNvPr id="3" name="Content Placeholder 2"/>
          <p:cNvSpPr>
            <a:spLocks noGrp="1"/>
          </p:cNvSpPr>
          <p:nvPr>
            <p:ph sz="quarter" idx="1"/>
          </p:nvPr>
        </p:nvSpPr>
        <p:spPr/>
        <p:txBody>
          <a:bodyPr>
            <a:normAutofit/>
          </a:bodyPr>
          <a:lstStyle/>
          <a:p>
            <a:r>
              <a:rPr lang="en-US" dirty="0" smtClean="0"/>
              <a:t>Aerobic organism.</a:t>
            </a:r>
          </a:p>
          <a:p>
            <a:r>
              <a:rPr lang="en-US" dirty="0" smtClean="0"/>
              <a:t> T</a:t>
            </a:r>
            <a:r>
              <a:rPr lang="en-US" dirty="0" smtClean="0"/>
              <a:t>emperature of growth vary from 5-43 </a:t>
            </a:r>
            <a:r>
              <a:rPr lang="en-US" baseline="30000" dirty="0" err="1" smtClean="0"/>
              <a:t>o</a:t>
            </a:r>
            <a:r>
              <a:rPr lang="en-US" dirty="0" err="1" smtClean="0"/>
              <a:t>C.</a:t>
            </a:r>
            <a:r>
              <a:rPr lang="en-US" dirty="0" smtClean="0"/>
              <a:t> </a:t>
            </a:r>
          </a:p>
          <a:p>
            <a:r>
              <a:rPr lang="en-US" dirty="0" smtClean="0">
                <a:solidFill>
                  <a:srgbClr val="FF0000"/>
                </a:solidFill>
              </a:rPr>
              <a:t>Type of colonies</a:t>
            </a:r>
          </a:p>
          <a:p>
            <a:r>
              <a:rPr lang="en-US" dirty="0" smtClean="0"/>
              <a:t> </a:t>
            </a:r>
            <a:r>
              <a:rPr lang="en-US" dirty="0" smtClean="0"/>
              <a:t>S</a:t>
            </a:r>
            <a:r>
              <a:rPr lang="en-US" dirty="0" smtClean="0"/>
              <a:t>mooth glistening large</a:t>
            </a:r>
          </a:p>
          <a:p>
            <a:r>
              <a:rPr lang="en-US" dirty="0" smtClean="0"/>
              <a:t>Rough large</a:t>
            </a:r>
          </a:p>
          <a:p>
            <a:r>
              <a:rPr lang="en-US" dirty="0" err="1" smtClean="0"/>
              <a:t>Mucoid</a:t>
            </a:r>
            <a:endParaRPr lang="en-US" dirty="0" smtClean="0"/>
          </a:p>
          <a:p>
            <a:r>
              <a:rPr lang="en-US" dirty="0" err="1" smtClean="0"/>
              <a:t>Mucoid</a:t>
            </a:r>
            <a:r>
              <a:rPr lang="en-US" dirty="0" smtClean="0"/>
              <a:t> and smooth glistening large colonies are virulent</a:t>
            </a:r>
          </a:p>
          <a:p>
            <a:r>
              <a:rPr lang="en-US" dirty="0" smtClean="0"/>
              <a:t> C</a:t>
            </a:r>
            <a:r>
              <a:rPr lang="en-US" dirty="0" smtClean="0"/>
              <a:t>ulture of organism have </a:t>
            </a:r>
            <a:r>
              <a:rPr lang="en-US" dirty="0" smtClean="0">
                <a:solidFill>
                  <a:srgbClr val="FF0000"/>
                </a:solidFill>
              </a:rPr>
              <a:t>fruity grape like smell</a:t>
            </a:r>
          </a:p>
          <a:p>
            <a:r>
              <a:rPr lang="en-US" dirty="0" smtClean="0"/>
              <a:t>On Mac </a:t>
            </a:r>
            <a:r>
              <a:rPr lang="en-US" dirty="0" err="1" smtClean="0"/>
              <a:t>conkey</a:t>
            </a:r>
            <a:r>
              <a:rPr lang="en-US" dirty="0" smtClean="0"/>
              <a:t> agar colonies are pale and large</a:t>
            </a:r>
          </a:p>
          <a:p>
            <a:r>
              <a:rPr lang="en-US" dirty="0" smtClean="0"/>
              <a:t> </a:t>
            </a:r>
            <a:r>
              <a:rPr lang="en-US" dirty="0" smtClean="0"/>
              <a:t>Many water soluble pigments are produced</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lnSpcReduction="10000"/>
          </a:bodyPr>
          <a:lstStyle/>
          <a:p>
            <a:r>
              <a:rPr lang="en-US" dirty="0" smtClean="0"/>
              <a:t>Pigments are </a:t>
            </a:r>
            <a:r>
              <a:rPr lang="en-US" dirty="0" err="1" smtClean="0">
                <a:solidFill>
                  <a:srgbClr val="FF0000"/>
                </a:solidFill>
              </a:rPr>
              <a:t>pyocyanin</a:t>
            </a:r>
            <a:r>
              <a:rPr lang="en-US" dirty="0" smtClean="0">
                <a:solidFill>
                  <a:srgbClr val="FF0000"/>
                </a:solidFill>
              </a:rPr>
              <a:t> ( Bluish green)</a:t>
            </a:r>
          </a:p>
          <a:p>
            <a:r>
              <a:rPr lang="en-US" dirty="0" err="1" smtClean="0">
                <a:solidFill>
                  <a:srgbClr val="FF0000"/>
                </a:solidFill>
              </a:rPr>
              <a:t>Pyomelanin</a:t>
            </a:r>
            <a:r>
              <a:rPr lang="en-US" dirty="0" smtClean="0">
                <a:solidFill>
                  <a:srgbClr val="FF0000"/>
                </a:solidFill>
              </a:rPr>
              <a:t> ( Dark brown </a:t>
            </a:r>
          </a:p>
          <a:p>
            <a:r>
              <a:rPr lang="en-US" dirty="0" smtClean="0">
                <a:solidFill>
                  <a:srgbClr val="FF0000"/>
                </a:solidFill>
              </a:rPr>
              <a:t> </a:t>
            </a:r>
            <a:r>
              <a:rPr lang="en-US" dirty="0" err="1" smtClean="0">
                <a:solidFill>
                  <a:srgbClr val="FF0000"/>
                </a:solidFill>
              </a:rPr>
              <a:t>Pyoverdin</a:t>
            </a:r>
            <a:r>
              <a:rPr lang="en-US" dirty="0" smtClean="0">
                <a:solidFill>
                  <a:srgbClr val="FF0000"/>
                </a:solidFill>
              </a:rPr>
              <a:t> (Yellow)</a:t>
            </a:r>
          </a:p>
          <a:p>
            <a:r>
              <a:rPr lang="en-US" dirty="0" err="1" smtClean="0">
                <a:solidFill>
                  <a:srgbClr val="FF0000"/>
                </a:solidFill>
              </a:rPr>
              <a:t>Pyo</a:t>
            </a:r>
            <a:r>
              <a:rPr lang="en-US" dirty="0" smtClean="0">
                <a:solidFill>
                  <a:srgbClr val="FF0000"/>
                </a:solidFill>
              </a:rPr>
              <a:t> </a:t>
            </a:r>
            <a:r>
              <a:rPr lang="en-US" dirty="0" err="1" smtClean="0">
                <a:solidFill>
                  <a:srgbClr val="FF0000"/>
                </a:solidFill>
              </a:rPr>
              <a:t>rubin</a:t>
            </a:r>
            <a:r>
              <a:rPr lang="en-US" dirty="0" smtClean="0">
                <a:solidFill>
                  <a:srgbClr val="FF0000"/>
                </a:solidFill>
              </a:rPr>
              <a:t> (Red)</a:t>
            </a:r>
          </a:p>
          <a:p>
            <a:r>
              <a:rPr lang="en-US" dirty="0" smtClean="0"/>
              <a:t>In broth growth is abundant also have thick pellicle</a:t>
            </a:r>
          </a:p>
          <a:p>
            <a:r>
              <a:rPr lang="en-US" dirty="0" smtClean="0"/>
              <a:t>In broth characteristic color based on pigment</a:t>
            </a:r>
          </a:p>
          <a:p>
            <a:r>
              <a:rPr lang="en-US" dirty="0" smtClean="0"/>
              <a:t>Various selective media for isolation such as </a:t>
            </a:r>
            <a:r>
              <a:rPr lang="en-US" dirty="0" err="1" smtClean="0"/>
              <a:t>C</a:t>
            </a:r>
            <a:r>
              <a:rPr lang="en-US" dirty="0" err="1" smtClean="0"/>
              <a:t>etrimide</a:t>
            </a:r>
            <a:r>
              <a:rPr lang="en-US" dirty="0" smtClean="0"/>
              <a:t> agar, </a:t>
            </a:r>
            <a:r>
              <a:rPr lang="en-US" dirty="0" err="1" smtClean="0"/>
              <a:t>Cetrimide</a:t>
            </a:r>
            <a:r>
              <a:rPr lang="en-US" dirty="0" smtClean="0"/>
              <a:t> </a:t>
            </a:r>
            <a:r>
              <a:rPr lang="en-US" dirty="0" err="1" smtClean="0"/>
              <a:t>Nalidixic</a:t>
            </a:r>
            <a:r>
              <a:rPr lang="en-US" dirty="0" smtClean="0"/>
              <a:t> acid , </a:t>
            </a:r>
            <a:r>
              <a:rPr lang="en-US" dirty="0" err="1" smtClean="0"/>
              <a:t>Kigs</a:t>
            </a:r>
            <a:r>
              <a:rPr lang="en-US" dirty="0" smtClean="0"/>
              <a:t> medium I and II. </a:t>
            </a:r>
          </a:p>
          <a:p>
            <a:r>
              <a:rPr lang="en-US" dirty="0" smtClean="0"/>
              <a:t>Made selective by adding </a:t>
            </a:r>
            <a:r>
              <a:rPr lang="en-US" dirty="0" err="1" smtClean="0"/>
              <a:t>Novobiocin</a:t>
            </a:r>
            <a:r>
              <a:rPr lang="en-US" dirty="0" smtClean="0"/>
              <a:t> and Penicillin</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Biochemical:</a:t>
            </a:r>
          </a:p>
          <a:p>
            <a:r>
              <a:rPr lang="en-US" dirty="0" err="1" smtClean="0"/>
              <a:t>Utilise</a:t>
            </a:r>
            <a:r>
              <a:rPr lang="en-US" dirty="0" smtClean="0"/>
              <a:t> sugar in an oxidative manner with production of acid</a:t>
            </a:r>
          </a:p>
          <a:p>
            <a:r>
              <a:rPr lang="en-US" dirty="0" smtClean="0"/>
              <a:t>Positive for gelatin liquefaction,</a:t>
            </a:r>
          </a:p>
          <a:p>
            <a:r>
              <a:rPr lang="en-US" dirty="0" smtClean="0"/>
              <a:t> </a:t>
            </a:r>
            <a:r>
              <a:rPr lang="en-US" dirty="0" err="1" smtClean="0"/>
              <a:t>oxidase</a:t>
            </a:r>
            <a:r>
              <a:rPr lang="en-US" dirty="0" smtClean="0"/>
              <a:t> and </a:t>
            </a:r>
            <a:r>
              <a:rPr lang="en-US" dirty="0" err="1" smtClean="0"/>
              <a:t>catalase</a:t>
            </a:r>
            <a:r>
              <a:rPr lang="en-US" dirty="0" smtClean="0"/>
              <a:t> positive</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Antigen and toxin</a:t>
            </a:r>
            <a:endParaRPr lang="en-US" dirty="0"/>
          </a:p>
        </p:txBody>
      </p:sp>
      <p:sp>
        <p:nvSpPr>
          <p:cNvPr id="3" name="Content Placeholder 2"/>
          <p:cNvSpPr>
            <a:spLocks noGrp="1"/>
          </p:cNvSpPr>
          <p:nvPr>
            <p:ph sz="quarter" idx="1"/>
          </p:nvPr>
        </p:nvSpPr>
        <p:spPr/>
        <p:txBody>
          <a:bodyPr/>
          <a:lstStyle/>
          <a:p>
            <a:r>
              <a:rPr lang="en-US" dirty="0" smtClean="0"/>
              <a:t>Based on antigen there are 17 serotypes . Important antigen are somatic, </a:t>
            </a:r>
            <a:r>
              <a:rPr lang="en-US" dirty="0" err="1" smtClean="0"/>
              <a:t>flagellar</a:t>
            </a:r>
            <a:r>
              <a:rPr lang="en-US" dirty="0" smtClean="0"/>
              <a:t> and </a:t>
            </a:r>
            <a:r>
              <a:rPr lang="en-US" dirty="0" err="1" smtClean="0"/>
              <a:t>fimbrial</a:t>
            </a:r>
            <a:r>
              <a:rPr lang="en-US" dirty="0" smtClean="0"/>
              <a:t> antigen</a:t>
            </a:r>
          </a:p>
          <a:p>
            <a:r>
              <a:rPr lang="en-US" dirty="0" smtClean="0"/>
              <a:t> Produce extra cellular toxin as </a:t>
            </a:r>
            <a:r>
              <a:rPr lang="en-US" dirty="0" err="1" smtClean="0"/>
              <a:t>elastase</a:t>
            </a:r>
            <a:r>
              <a:rPr lang="en-US" dirty="0" smtClean="0"/>
              <a:t>, protease, </a:t>
            </a:r>
            <a:r>
              <a:rPr lang="en-US" dirty="0" err="1" smtClean="0"/>
              <a:t>haemolysin</a:t>
            </a:r>
            <a:r>
              <a:rPr lang="en-US" dirty="0" smtClean="0"/>
              <a:t>, and </a:t>
            </a:r>
            <a:r>
              <a:rPr lang="en-US" dirty="0" err="1" smtClean="0"/>
              <a:t>phospholipase</a:t>
            </a:r>
            <a:r>
              <a:rPr lang="en-US" dirty="0" smtClean="0"/>
              <a:t> C</a:t>
            </a:r>
          </a:p>
          <a:p>
            <a:r>
              <a:rPr lang="en-US" dirty="0" smtClean="0"/>
              <a:t> </a:t>
            </a:r>
            <a:r>
              <a:rPr lang="en-US" dirty="0" err="1" smtClean="0"/>
              <a:t>Bacteriocin</a:t>
            </a:r>
            <a:r>
              <a:rPr lang="en-US" dirty="0" smtClean="0"/>
              <a:t> produced by </a:t>
            </a:r>
            <a:r>
              <a:rPr lang="en-US" i="1" dirty="0" smtClean="0"/>
              <a:t>Pseudomonas </a:t>
            </a:r>
            <a:r>
              <a:rPr lang="en-US" i="1" dirty="0" err="1" smtClean="0"/>
              <a:t>aerugenosa</a:t>
            </a:r>
            <a:r>
              <a:rPr lang="en-US" dirty="0" smtClean="0"/>
              <a:t> is known as </a:t>
            </a:r>
            <a:r>
              <a:rPr lang="en-US" dirty="0" err="1" smtClean="0"/>
              <a:t>pyocin</a:t>
            </a:r>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Pathogenicity</a:t>
            </a:r>
            <a:endParaRPr lang="en-US" dirty="0"/>
          </a:p>
        </p:txBody>
      </p:sp>
      <p:sp>
        <p:nvSpPr>
          <p:cNvPr id="3" name="Content Placeholder 2"/>
          <p:cNvSpPr>
            <a:spLocks noGrp="1"/>
          </p:cNvSpPr>
          <p:nvPr>
            <p:ph sz="quarter" idx="1"/>
          </p:nvPr>
        </p:nvSpPr>
        <p:spPr/>
        <p:txBody>
          <a:bodyPr/>
          <a:lstStyle/>
          <a:p>
            <a:r>
              <a:rPr lang="en-US" dirty="0" smtClean="0"/>
              <a:t>Responsible for various ulcer and wound infections.</a:t>
            </a:r>
          </a:p>
          <a:p>
            <a:r>
              <a:rPr lang="en-US" dirty="0" smtClean="0"/>
              <a:t> </a:t>
            </a:r>
            <a:r>
              <a:rPr lang="en-US" dirty="0" smtClean="0"/>
              <a:t>In cattle various types of mastitis</a:t>
            </a:r>
          </a:p>
          <a:p>
            <a:r>
              <a:rPr lang="en-US" dirty="0" smtClean="0"/>
              <a:t>In horse abortion</a:t>
            </a:r>
          </a:p>
          <a:p>
            <a:r>
              <a:rPr lang="en-US" dirty="0" smtClean="0"/>
              <a:t>In dogs </a:t>
            </a:r>
            <a:r>
              <a:rPr lang="en-US" dirty="0" err="1" smtClean="0"/>
              <a:t>ottitis</a:t>
            </a:r>
            <a:r>
              <a:rPr lang="en-US" dirty="0" smtClean="0"/>
              <a:t> and dermatitis</a:t>
            </a:r>
          </a:p>
          <a:p>
            <a:r>
              <a:rPr lang="en-US" dirty="0" smtClean="0"/>
              <a:t> I</a:t>
            </a:r>
            <a:r>
              <a:rPr lang="en-US" dirty="0" smtClean="0"/>
              <a:t>n human being various </a:t>
            </a:r>
            <a:r>
              <a:rPr lang="en-US" dirty="0" err="1" smtClean="0"/>
              <a:t>pyogenic</a:t>
            </a:r>
            <a:r>
              <a:rPr lang="en-US" dirty="0" smtClean="0"/>
              <a:t> infections</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Diagnosis</a:t>
            </a:r>
            <a:endParaRPr lang="en-US" dirty="0"/>
          </a:p>
        </p:txBody>
      </p:sp>
      <p:sp>
        <p:nvSpPr>
          <p:cNvPr id="3" name="Content Placeholder 2"/>
          <p:cNvSpPr>
            <a:spLocks noGrp="1"/>
          </p:cNvSpPr>
          <p:nvPr>
            <p:ph sz="quarter" idx="1"/>
          </p:nvPr>
        </p:nvSpPr>
        <p:spPr/>
        <p:txBody>
          <a:bodyPr/>
          <a:lstStyle/>
          <a:p>
            <a:r>
              <a:rPr lang="en-US" dirty="0" smtClean="0"/>
              <a:t>Pus having characteristic color</a:t>
            </a:r>
          </a:p>
          <a:p>
            <a:r>
              <a:rPr lang="en-US" dirty="0" smtClean="0"/>
              <a:t>Isolation of organism from pus and other material</a:t>
            </a:r>
          </a:p>
          <a:p>
            <a:r>
              <a:rPr lang="en-US" dirty="0" smtClean="0">
                <a:solidFill>
                  <a:srgbClr val="FF0000"/>
                </a:solidFill>
              </a:rPr>
              <a:t>Treatmen</a:t>
            </a:r>
            <a:r>
              <a:rPr lang="en-US" dirty="0" smtClean="0"/>
              <a:t>t</a:t>
            </a:r>
          </a:p>
          <a:p>
            <a:r>
              <a:rPr lang="en-US" dirty="0" smtClean="0"/>
              <a:t>Most commonly used antibiotics are ineffective</a:t>
            </a:r>
          </a:p>
          <a:p>
            <a:r>
              <a:rPr lang="en-US" dirty="0" smtClean="0"/>
              <a:t>Drugs of choice are </a:t>
            </a:r>
            <a:r>
              <a:rPr lang="en-US" dirty="0" err="1" smtClean="0"/>
              <a:t>polymyxin</a:t>
            </a:r>
            <a:r>
              <a:rPr lang="en-US" dirty="0" smtClean="0"/>
              <a:t> B and </a:t>
            </a:r>
            <a:r>
              <a:rPr lang="en-US" dirty="0" err="1" smtClean="0"/>
              <a:t>G</a:t>
            </a:r>
            <a:r>
              <a:rPr lang="en-US" dirty="0" err="1" smtClean="0"/>
              <a:t>entamicin</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Burkhholderia</a:t>
            </a:r>
            <a:r>
              <a:rPr lang="en-US" dirty="0" smtClean="0"/>
              <a:t>  </a:t>
            </a:r>
            <a:r>
              <a:rPr lang="en-US" dirty="0" err="1" smtClean="0"/>
              <a:t>mallei</a:t>
            </a:r>
            <a:endParaRPr lang="en-US" dirty="0"/>
          </a:p>
        </p:txBody>
      </p:sp>
      <p:sp>
        <p:nvSpPr>
          <p:cNvPr id="3" name="Content Placeholder 2"/>
          <p:cNvSpPr>
            <a:spLocks noGrp="1"/>
          </p:cNvSpPr>
          <p:nvPr>
            <p:ph sz="quarter" idx="1"/>
          </p:nvPr>
        </p:nvSpPr>
        <p:spPr/>
        <p:txBody>
          <a:bodyPr>
            <a:normAutofit fontScale="92500" lnSpcReduction="20000"/>
          </a:bodyPr>
          <a:lstStyle/>
          <a:p>
            <a:r>
              <a:rPr lang="en-US" dirty="0" err="1" smtClean="0"/>
              <a:t>Loefflers</a:t>
            </a:r>
            <a:r>
              <a:rPr lang="en-US" dirty="0" smtClean="0"/>
              <a:t> bacillus or </a:t>
            </a:r>
            <a:r>
              <a:rPr lang="en-US" dirty="0" err="1" smtClean="0"/>
              <a:t>Glanders</a:t>
            </a:r>
            <a:r>
              <a:rPr lang="en-US" dirty="0" smtClean="0"/>
              <a:t> bacillus</a:t>
            </a:r>
          </a:p>
          <a:p>
            <a:r>
              <a:rPr lang="en-US" dirty="0" smtClean="0"/>
              <a:t>Morphology</a:t>
            </a:r>
          </a:p>
          <a:p>
            <a:r>
              <a:rPr lang="en-US" dirty="0" smtClean="0"/>
              <a:t> </a:t>
            </a:r>
            <a:r>
              <a:rPr lang="en-US" dirty="0" smtClean="0"/>
              <a:t>gram negative organism</a:t>
            </a:r>
          </a:p>
          <a:p>
            <a:r>
              <a:rPr lang="en-US" dirty="0" smtClean="0"/>
              <a:t>On subculture it </a:t>
            </a:r>
            <a:r>
              <a:rPr lang="en-US" dirty="0" err="1" smtClean="0"/>
              <a:t>aquire</a:t>
            </a:r>
            <a:r>
              <a:rPr lang="en-US" dirty="0" smtClean="0"/>
              <a:t> </a:t>
            </a:r>
            <a:r>
              <a:rPr lang="en-US" dirty="0" err="1" smtClean="0"/>
              <a:t>polymophism</a:t>
            </a:r>
            <a:r>
              <a:rPr lang="en-US" dirty="0" smtClean="0"/>
              <a:t>. </a:t>
            </a:r>
          </a:p>
          <a:p>
            <a:r>
              <a:rPr lang="en-US" dirty="0" smtClean="0"/>
              <a:t> N</a:t>
            </a:r>
            <a:r>
              <a:rPr lang="en-US" dirty="0" smtClean="0"/>
              <a:t>on motile, non capsulated  and non spore forming</a:t>
            </a:r>
          </a:p>
          <a:p>
            <a:r>
              <a:rPr lang="en-US" dirty="0" smtClean="0"/>
              <a:t>Growth requirement: Aerobic or facultative anaerobe.</a:t>
            </a:r>
          </a:p>
          <a:p>
            <a:r>
              <a:rPr lang="en-US" dirty="0" smtClean="0"/>
              <a:t>Better growth in medium supplemented with glycerol or serum</a:t>
            </a:r>
          </a:p>
          <a:p>
            <a:r>
              <a:rPr lang="en-US" dirty="0" smtClean="0"/>
              <a:t> C</a:t>
            </a:r>
            <a:r>
              <a:rPr lang="en-US" dirty="0" smtClean="0"/>
              <a:t>olonies are seen after 48 hours of incubation</a:t>
            </a:r>
          </a:p>
          <a:p>
            <a:r>
              <a:rPr lang="en-US" dirty="0" smtClean="0"/>
              <a:t>Most common medium is Potato glycerol agar</a:t>
            </a:r>
          </a:p>
          <a:p>
            <a:r>
              <a:rPr lang="en-US" dirty="0" smtClean="0"/>
              <a:t> O</a:t>
            </a:r>
            <a:r>
              <a:rPr lang="en-US" dirty="0" smtClean="0"/>
              <a:t>n this colony initially smooth and cream </a:t>
            </a:r>
            <a:r>
              <a:rPr lang="en-US" dirty="0" err="1" smtClean="0"/>
              <a:t>colour</a:t>
            </a:r>
            <a:r>
              <a:rPr lang="en-US" dirty="0" smtClean="0"/>
              <a:t> later become granular chocolate </a:t>
            </a:r>
            <a:r>
              <a:rPr lang="en-US" dirty="0" err="1" smtClean="0"/>
              <a:t>mahagony</a:t>
            </a:r>
            <a:r>
              <a:rPr lang="en-US" dirty="0" smtClean="0"/>
              <a:t> brown.</a:t>
            </a:r>
          </a:p>
          <a:p>
            <a:r>
              <a:rPr lang="en-US" dirty="0" smtClean="0"/>
              <a:t> In potato glycerol broth there is slight turbidity with slimy pellicle</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r>
              <a:rPr lang="en-US" dirty="0" smtClean="0"/>
              <a:t>In aged culture medium become brown in </a:t>
            </a:r>
            <a:r>
              <a:rPr lang="en-US" dirty="0" err="1" smtClean="0"/>
              <a:t>colour</a:t>
            </a:r>
            <a:endParaRPr lang="en-US" dirty="0" smtClean="0"/>
          </a:p>
          <a:p>
            <a:r>
              <a:rPr lang="en-US" dirty="0" smtClean="0">
                <a:solidFill>
                  <a:srgbClr val="FF0000"/>
                </a:solidFill>
              </a:rPr>
              <a:t>Biochemical characters</a:t>
            </a:r>
            <a:r>
              <a:rPr lang="en-US" dirty="0" smtClean="0"/>
              <a:t>: negative for gelatin liquefaction</a:t>
            </a:r>
          </a:p>
          <a:p>
            <a:r>
              <a:rPr lang="en-US" dirty="0" smtClean="0">
                <a:solidFill>
                  <a:srgbClr val="FF0000"/>
                </a:solidFill>
              </a:rPr>
              <a:t>Antigen and Toxin</a:t>
            </a:r>
          </a:p>
          <a:p>
            <a:r>
              <a:rPr lang="en-US" dirty="0" smtClean="0"/>
              <a:t> </a:t>
            </a:r>
            <a:r>
              <a:rPr lang="en-US" dirty="0" smtClean="0"/>
              <a:t>based on antigen there are 3 serotypes</a:t>
            </a:r>
          </a:p>
          <a:p>
            <a:r>
              <a:rPr lang="en-US" dirty="0" smtClean="0"/>
              <a:t> </a:t>
            </a:r>
            <a:r>
              <a:rPr lang="en-US" dirty="0" smtClean="0"/>
              <a:t>Virulence is associated with </a:t>
            </a:r>
            <a:r>
              <a:rPr lang="en-US" dirty="0" err="1" smtClean="0"/>
              <a:t>endotoxin</a:t>
            </a:r>
            <a:endParaRPr lang="en-US" dirty="0" smtClean="0"/>
          </a:p>
          <a:p>
            <a:r>
              <a:rPr lang="en-US" dirty="0" smtClean="0"/>
              <a:t>On </a:t>
            </a:r>
            <a:r>
              <a:rPr lang="en-US" dirty="0" err="1" smtClean="0"/>
              <a:t>subculturing</a:t>
            </a:r>
            <a:r>
              <a:rPr lang="en-US" dirty="0" smtClean="0"/>
              <a:t> virulence is lost</a:t>
            </a:r>
          </a:p>
          <a:p>
            <a:r>
              <a:rPr lang="en-US" dirty="0" smtClean="0"/>
              <a:t>Experimental animals are hamster and guinea pig</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Pathogenicity</a:t>
            </a: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smtClean="0"/>
              <a:t>Mainly affect horse and produce the disease </a:t>
            </a:r>
            <a:r>
              <a:rPr lang="en-US" dirty="0" err="1" smtClean="0"/>
              <a:t>Glanders</a:t>
            </a:r>
            <a:r>
              <a:rPr lang="en-US" dirty="0" smtClean="0"/>
              <a:t>.</a:t>
            </a:r>
          </a:p>
          <a:p>
            <a:r>
              <a:rPr lang="en-US" dirty="0" smtClean="0">
                <a:solidFill>
                  <a:srgbClr val="FF0000"/>
                </a:solidFill>
              </a:rPr>
              <a:t>Route of infection</a:t>
            </a:r>
          </a:p>
          <a:p>
            <a:r>
              <a:rPr lang="en-US" dirty="0" smtClean="0"/>
              <a:t> I</a:t>
            </a:r>
            <a:r>
              <a:rPr lang="en-US" dirty="0" smtClean="0"/>
              <a:t>ngestion, Inhalation, wound infection</a:t>
            </a:r>
          </a:p>
          <a:p>
            <a:r>
              <a:rPr lang="en-US" dirty="0" smtClean="0"/>
              <a:t>Manifested as acute and chronic form</a:t>
            </a:r>
          </a:p>
          <a:p>
            <a:r>
              <a:rPr lang="en-US" dirty="0" smtClean="0"/>
              <a:t> A</a:t>
            </a:r>
            <a:r>
              <a:rPr lang="en-US" dirty="0" smtClean="0"/>
              <a:t>cute form characterized by rise in temperature. Nasal and </a:t>
            </a:r>
            <a:r>
              <a:rPr lang="en-US" dirty="0" err="1" smtClean="0"/>
              <a:t>mucopurulent</a:t>
            </a:r>
            <a:r>
              <a:rPr lang="en-US" dirty="0" smtClean="0"/>
              <a:t> discharge, </a:t>
            </a:r>
            <a:r>
              <a:rPr lang="en-US" dirty="0" err="1" smtClean="0"/>
              <a:t>septicaemia</a:t>
            </a:r>
            <a:r>
              <a:rPr lang="en-US" dirty="0" smtClean="0"/>
              <a:t> and death</a:t>
            </a:r>
          </a:p>
          <a:p>
            <a:r>
              <a:rPr lang="en-US" dirty="0" smtClean="0"/>
              <a:t>Chronic form  produce pulmonary form and </a:t>
            </a:r>
            <a:r>
              <a:rPr lang="en-US" dirty="0" err="1" smtClean="0"/>
              <a:t>cutaneous</a:t>
            </a:r>
            <a:r>
              <a:rPr lang="en-US" dirty="0" smtClean="0"/>
              <a:t> form</a:t>
            </a:r>
          </a:p>
          <a:p>
            <a:r>
              <a:rPr lang="en-US" dirty="0" smtClean="0"/>
              <a:t> </a:t>
            </a:r>
            <a:r>
              <a:rPr lang="en-US" dirty="0" smtClean="0"/>
              <a:t>Both occur in one and same animal. In pulmonary form there will be fever , blood tinged mucus from respiratory tract, cough , numerous nodules in the nasal cavity, lungs and later nodules ulcerate and enlargement of </a:t>
            </a:r>
            <a:r>
              <a:rPr lang="en-US" dirty="0" err="1" smtClean="0"/>
              <a:t>submandibular</a:t>
            </a:r>
            <a:r>
              <a:rPr lang="en-US" dirty="0" smtClean="0"/>
              <a:t> </a:t>
            </a:r>
            <a:r>
              <a:rPr lang="en-US" dirty="0" err="1" smtClean="0"/>
              <a:t>lymphnode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err="1" smtClean="0"/>
              <a:t>Cutaneous</a:t>
            </a:r>
            <a:r>
              <a:rPr lang="en-US" dirty="0" smtClean="0"/>
              <a:t> from of </a:t>
            </a:r>
            <a:r>
              <a:rPr lang="en-US" dirty="0" err="1" smtClean="0"/>
              <a:t>glanders</a:t>
            </a:r>
            <a:r>
              <a:rPr lang="en-US" dirty="0" smtClean="0"/>
              <a:t> known as Equine </a:t>
            </a:r>
            <a:r>
              <a:rPr lang="en-US" dirty="0" err="1" smtClean="0"/>
              <a:t>Farcy</a:t>
            </a:r>
            <a:r>
              <a:rPr lang="en-US" dirty="0" smtClean="0"/>
              <a:t> </a:t>
            </a:r>
            <a:r>
              <a:rPr lang="en-US" dirty="0" err="1" smtClean="0"/>
              <a:t>charaterised</a:t>
            </a:r>
            <a:r>
              <a:rPr lang="en-US" dirty="0" smtClean="0"/>
              <a:t> by ulcerative </a:t>
            </a:r>
            <a:r>
              <a:rPr lang="en-US" dirty="0" err="1" smtClean="0"/>
              <a:t>lymphangitis</a:t>
            </a:r>
            <a:r>
              <a:rPr lang="en-US" dirty="0" smtClean="0"/>
              <a:t>. </a:t>
            </a:r>
            <a:r>
              <a:rPr lang="en-US" dirty="0" err="1" smtClean="0"/>
              <a:t>Lypmh</a:t>
            </a:r>
            <a:r>
              <a:rPr lang="en-US" dirty="0" smtClean="0"/>
              <a:t> vessels of limb and chest region become thickened and corded and have nodular appearance. Later nodules will ulcerate discharging yellow oily pus. </a:t>
            </a:r>
          </a:p>
          <a:p>
            <a:r>
              <a:rPr lang="en-US" dirty="0" smtClean="0"/>
              <a:t>Later ulcer heals </a:t>
            </a:r>
            <a:r>
              <a:rPr lang="en-US" dirty="0" err="1" smtClean="0"/>
              <a:t>leacing</a:t>
            </a:r>
            <a:r>
              <a:rPr lang="en-US" dirty="0" smtClean="0"/>
              <a:t> star shaped scar</a:t>
            </a:r>
          </a:p>
          <a:p>
            <a:r>
              <a:rPr lang="en-US" dirty="0" smtClean="0"/>
              <a:t>Nasal form of </a:t>
            </a:r>
            <a:r>
              <a:rPr lang="en-US" dirty="0" err="1" smtClean="0"/>
              <a:t>glanders</a:t>
            </a:r>
            <a:r>
              <a:rPr lang="en-US" dirty="0" smtClean="0"/>
              <a:t> reported in hamsters after infection with </a:t>
            </a:r>
            <a:r>
              <a:rPr lang="en-US" dirty="0" err="1" smtClean="0"/>
              <a:t>Corynebacterium</a:t>
            </a:r>
            <a:r>
              <a:rPr lang="en-US" dirty="0" smtClean="0"/>
              <a:t> </a:t>
            </a:r>
            <a:r>
              <a:rPr lang="en-US" dirty="0" err="1" smtClean="0"/>
              <a:t>pseudotuberculosis</a:t>
            </a:r>
            <a:endParaRPr lang="en-US"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Diagnosis</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Isolation of and identification of agent</a:t>
            </a:r>
          </a:p>
          <a:p>
            <a:r>
              <a:rPr lang="en-US" b="1" dirty="0" err="1" smtClean="0"/>
              <a:t>Mallein</a:t>
            </a:r>
            <a:r>
              <a:rPr lang="en-US" b="1" dirty="0" smtClean="0"/>
              <a:t> test</a:t>
            </a:r>
          </a:p>
          <a:p>
            <a:r>
              <a:rPr lang="en-US" dirty="0" smtClean="0"/>
              <a:t> </a:t>
            </a:r>
            <a:r>
              <a:rPr lang="en-US" dirty="0" smtClean="0"/>
              <a:t>Extract of pseudomonas </a:t>
            </a:r>
            <a:r>
              <a:rPr lang="en-US" dirty="0" err="1" smtClean="0"/>
              <a:t>mallei</a:t>
            </a:r>
            <a:r>
              <a:rPr lang="en-US" dirty="0" smtClean="0"/>
              <a:t> is called </a:t>
            </a:r>
            <a:r>
              <a:rPr lang="en-US" dirty="0" err="1" smtClean="0"/>
              <a:t>mallein</a:t>
            </a:r>
            <a:endParaRPr lang="en-US" dirty="0" smtClean="0"/>
          </a:p>
          <a:p>
            <a:r>
              <a:rPr lang="en-US" dirty="0" smtClean="0"/>
              <a:t> </a:t>
            </a:r>
            <a:r>
              <a:rPr lang="en-US" dirty="0" err="1" smtClean="0"/>
              <a:t>mallein</a:t>
            </a:r>
            <a:r>
              <a:rPr lang="en-US" dirty="0" smtClean="0"/>
              <a:t> inoculated by different routes</a:t>
            </a:r>
          </a:p>
          <a:p>
            <a:r>
              <a:rPr lang="en-US" dirty="0" smtClean="0"/>
              <a:t>1ml of </a:t>
            </a:r>
            <a:r>
              <a:rPr lang="en-US" dirty="0" err="1" smtClean="0"/>
              <a:t>mallein</a:t>
            </a:r>
            <a:r>
              <a:rPr lang="en-US" dirty="0" smtClean="0"/>
              <a:t> inoculated subcutaneously at neck region</a:t>
            </a:r>
          </a:p>
          <a:p>
            <a:r>
              <a:rPr lang="en-US" dirty="0" smtClean="0"/>
              <a:t>After 48 hours , if positive there will be </a:t>
            </a:r>
            <a:r>
              <a:rPr lang="en-US" dirty="0" err="1" smtClean="0"/>
              <a:t>localised</a:t>
            </a:r>
            <a:r>
              <a:rPr lang="en-US" dirty="0" smtClean="0"/>
              <a:t> swelling and fever</a:t>
            </a:r>
          </a:p>
          <a:p>
            <a:r>
              <a:rPr lang="en-US" dirty="0" smtClean="0"/>
              <a:t>Intra </a:t>
            </a:r>
            <a:r>
              <a:rPr lang="en-US" dirty="0" err="1" smtClean="0"/>
              <a:t>palpebral</a:t>
            </a:r>
            <a:r>
              <a:rPr lang="en-US" dirty="0" smtClean="0"/>
              <a:t> and </a:t>
            </a:r>
            <a:r>
              <a:rPr lang="en-US" dirty="0" err="1" smtClean="0"/>
              <a:t>cutaneous</a:t>
            </a:r>
            <a:r>
              <a:rPr lang="en-US" dirty="0" smtClean="0"/>
              <a:t> method</a:t>
            </a:r>
          </a:p>
          <a:p>
            <a:r>
              <a:rPr lang="en-US" dirty="0" smtClean="0"/>
              <a:t>0.1 ml of </a:t>
            </a:r>
            <a:r>
              <a:rPr lang="en-US" dirty="0" err="1" smtClean="0"/>
              <a:t>mallein</a:t>
            </a:r>
            <a:r>
              <a:rPr lang="en-US" dirty="0" smtClean="0"/>
              <a:t> inoculated into lower eye lid </a:t>
            </a:r>
          </a:p>
          <a:p>
            <a:r>
              <a:rPr lang="en-US" dirty="0" smtClean="0"/>
              <a:t> </a:t>
            </a:r>
            <a:r>
              <a:rPr lang="en-US" dirty="0" smtClean="0"/>
              <a:t>so </a:t>
            </a:r>
            <a:r>
              <a:rPr lang="en-US" dirty="0" err="1" smtClean="0"/>
              <a:t>localised</a:t>
            </a:r>
            <a:r>
              <a:rPr lang="en-US" dirty="0" smtClean="0"/>
              <a:t> swelling and </a:t>
            </a:r>
            <a:r>
              <a:rPr lang="en-US" dirty="0" err="1" smtClean="0"/>
              <a:t>conjuctivitis</a:t>
            </a:r>
            <a:r>
              <a:rPr lang="en-US" dirty="0" smtClean="0"/>
              <a:t> in 36-48 hours</a:t>
            </a:r>
          </a:p>
          <a:p>
            <a:endParaRPr lang="en-US"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a:bodyPr>
          <a:lstStyle/>
          <a:p>
            <a:r>
              <a:rPr lang="en-US" dirty="0" err="1" smtClean="0"/>
              <a:t>Conjuctival</a:t>
            </a:r>
            <a:r>
              <a:rPr lang="en-US" dirty="0" smtClean="0"/>
              <a:t> </a:t>
            </a:r>
            <a:r>
              <a:rPr lang="en-US" dirty="0" err="1" smtClean="0"/>
              <a:t>mallein</a:t>
            </a:r>
            <a:r>
              <a:rPr lang="en-US" dirty="0" smtClean="0"/>
              <a:t> test</a:t>
            </a:r>
          </a:p>
          <a:p>
            <a:r>
              <a:rPr lang="en-US" dirty="0" smtClean="0"/>
              <a:t> </a:t>
            </a:r>
            <a:r>
              <a:rPr lang="en-US" dirty="0" smtClean="0"/>
              <a:t>0.1ml of </a:t>
            </a:r>
            <a:r>
              <a:rPr lang="en-US" dirty="0" err="1" smtClean="0"/>
              <a:t>mallein</a:t>
            </a:r>
            <a:r>
              <a:rPr lang="en-US" dirty="0" smtClean="0"/>
              <a:t> dropped in </a:t>
            </a:r>
            <a:r>
              <a:rPr lang="en-US" dirty="0" err="1" smtClean="0"/>
              <a:t>conjuctival</a:t>
            </a:r>
            <a:r>
              <a:rPr lang="en-US" dirty="0" smtClean="0"/>
              <a:t> sac. If positive purulent </a:t>
            </a:r>
            <a:r>
              <a:rPr lang="en-US" dirty="0" err="1" smtClean="0"/>
              <a:t>conjuctivitis</a:t>
            </a:r>
            <a:r>
              <a:rPr lang="en-US" dirty="0" smtClean="0"/>
              <a:t> in 6-12 hours</a:t>
            </a:r>
          </a:p>
          <a:p>
            <a:r>
              <a:rPr lang="en-US" dirty="0" smtClean="0"/>
              <a:t> </a:t>
            </a:r>
            <a:r>
              <a:rPr lang="en-US" dirty="0" smtClean="0"/>
              <a:t>serological method such as agglutination , indirect </a:t>
            </a:r>
            <a:r>
              <a:rPr lang="en-US" dirty="0" err="1" smtClean="0"/>
              <a:t>haemagglutination</a:t>
            </a:r>
            <a:r>
              <a:rPr lang="en-US" dirty="0" smtClean="0"/>
              <a:t>, counter </a:t>
            </a:r>
            <a:r>
              <a:rPr lang="en-US" dirty="0" err="1" smtClean="0"/>
              <a:t>immunoelectrophoresis</a:t>
            </a:r>
            <a:r>
              <a:rPr lang="en-US" dirty="0" smtClean="0"/>
              <a:t> and complement fixation test</a:t>
            </a:r>
          </a:p>
          <a:p>
            <a:r>
              <a:rPr lang="en-US" dirty="0" smtClean="0"/>
              <a:t>CFT is most sensitive</a:t>
            </a:r>
          </a:p>
          <a:p>
            <a:r>
              <a:rPr lang="en-US" dirty="0" smtClean="0"/>
              <a:t> </a:t>
            </a:r>
            <a:r>
              <a:rPr lang="en-US" dirty="0" smtClean="0"/>
              <a:t>Biological test: Strauss test: Using male guinea pig, suspected clinical material is inoculated intra </a:t>
            </a:r>
            <a:r>
              <a:rPr lang="en-US" dirty="0" err="1" smtClean="0"/>
              <a:t>peritoneally</a:t>
            </a:r>
            <a:r>
              <a:rPr lang="en-US" dirty="0" smtClean="0"/>
              <a:t> to male </a:t>
            </a:r>
            <a:r>
              <a:rPr lang="en-US" dirty="0" err="1" smtClean="0"/>
              <a:t>guine</a:t>
            </a:r>
            <a:r>
              <a:rPr lang="en-US" dirty="0" smtClean="0"/>
              <a:t> pig so that it leads to </a:t>
            </a:r>
            <a:r>
              <a:rPr lang="en-US" dirty="0" err="1" smtClean="0"/>
              <a:t>orchitis</a:t>
            </a:r>
            <a:r>
              <a:rPr lang="en-US" dirty="0" smtClean="0"/>
              <a:t> an peritonitis in 2-3 days</a:t>
            </a:r>
          </a:p>
          <a:p>
            <a:r>
              <a:rPr lang="en-US" dirty="0" smtClean="0"/>
              <a:t> </a:t>
            </a:r>
            <a:r>
              <a:rPr lang="en-US" dirty="0" smtClean="0"/>
              <a:t>Treat </a:t>
            </a:r>
            <a:r>
              <a:rPr lang="en-US" dirty="0" err="1" smtClean="0"/>
              <a:t>ment</a:t>
            </a:r>
            <a:r>
              <a:rPr lang="en-US" dirty="0" smtClean="0"/>
              <a:t> : Streptomycin, tetra </a:t>
            </a:r>
            <a:r>
              <a:rPr lang="en-US" dirty="0" err="1" smtClean="0"/>
              <a:t>cyclin</a:t>
            </a:r>
            <a:r>
              <a:rPr lang="en-US" dirty="0" smtClean="0"/>
              <a:t> and </a:t>
            </a:r>
            <a:r>
              <a:rPr lang="en-US" dirty="0" err="1" smtClean="0"/>
              <a:t>chloramphenicol</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226</TotalTime>
  <Words>2450</Words>
  <Application>Microsoft Office PowerPoint</Application>
  <PresentationFormat>On-screen Show (4:3)</PresentationFormat>
  <Paragraphs>206</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Oriel</vt:lpstr>
      <vt:lpstr>Campylobacter</vt:lpstr>
      <vt:lpstr>Slide 2</vt:lpstr>
      <vt:lpstr>Morphology</vt:lpstr>
      <vt:lpstr>Slide 4</vt:lpstr>
      <vt:lpstr>Cultural characteristics</vt:lpstr>
      <vt:lpstr>Pathogenesis:</vt:lpstr>
      <vt:lpstr>symptoms</vt:lpstr>
      <vt:lpstr>lesions</vt:lpstr>
      <vt:lpstr>Diagnosis</vt:lpstr>
      <vt:lpstr>Slide 10</vt:lpstr>
      <vt:lpstr>Campylobacteriosis</vt:lpstr>
      <vt:lpstr>OTHER SPECIES OF  CAMPYLOBACTER </vt:lpstr>
      <vt:lpstr>Pathogenesis</vt:lpstr>
      <vt:lpstr>Symptoms and lesions</vt:lpstr>
      <vt:lpstr>PSEUDOMONADS - PSEUDOMONAS &amp; BURKHOLDERIA</vt:lpstr>
      <vt:lpstr>Slide 16</vt:lpstr>
      <vt:lpstr>Slide 17</vt:lpstr>
      <vt:lpstr>Pseudomonas Aerugenosa</vt:lpstr>
      <vt:lpstr>Growth requirements  and cultural characteristics</vt:lpstr>
      <vt:lpstr>Slide 20</vt:lpstr>
      <vt:lpstr>Slide 21</vt:lpstr>
      <vt:lpstr>Antigen and toxin</vt:lpstr>
      <vt:lpstr>Pathogenicity</vt:lpstr>
      <vt:lpstr>Diagnosis</vt:lpstr>
      <vt:lpstr>Burkhholderia  mallei</vt:lpstr>
      <vt:lpstr>Slide 26</vt:lpstr>
      <vt:lpstr>Pathogenicity</vt:lpstr>
      <vt:lpstr>Slide 28</vt:lpstr>
      <vt:lpstr>Diagnosis</vt:lpstr>
      <vt:lpstr>Slide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reviewer</dc:creator>
  <cp:lastModifiedBy>bincy</cp:lastModifiedBy>
  <cp:revision>24</cp:revision>
  <dcterms:created xsi:type="dcterms:W3CDTF">2022-11-16T10:19:27Z</dcterms:created>
  <dcterms:modified xsi:type="dcterms:W3CDTF">2025-07-11T07:04:41Z</dcterms:modified>
</cp:coreProperties>
</file>