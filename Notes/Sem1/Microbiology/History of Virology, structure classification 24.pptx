
<file path=[Content_Types].xml><?xml version="1.0" encoding="utf-8"?>
<Types xmlns="http://schemas.openxmlformats.org/package/2006/content-types">
  <Override PartName="/ppt/slides/slide6.xml" ContentType="application/vnd.openxmlformats-officedocument.presentationml.slide+xml"/>
  <Override PartName="/ppt/slides/slide29.xml" ContentType="application/vnd.openxmlformats-officedocument.presentationml.slide+xml"/>
  <Override PartName="/ppt/slides/slide38.xml" ContentType="application/vnd.openxmlformats-officedocument.presentationml.slide+xml"/>
  <Override PartName="/ppt/slides/slide47.xml" ContentType="application/vnd.openxmlformats-officedocument.presentationml.slide+xml"/>
  <Override PartName="/ppt/slideLayouts/slideLayout8.xml" ContentType="application/vnd.openxmlformats-officedocument.presentationml.slideLayout+xml"/>
  <Override PartName="/ppt/notesSlides/notesSlide2.xml" ContentType="application/vnd.openxmlformats-officedocument.presentationml.notesSlide+xml"/>
  <Override PartName="/ppt/slideMasters/slideMaster1.xml" ContentType="application/vnd.openxmlformats-officedocument.presentationml.slideMaster+xml"/>
  <Override PartName="/ppt/slides/slide4.xml" ContentType="application/vnd.openxmlformats-officedocument.presentationml.slide+xml"/>
  <Override PartName="/ppt/slides/slide18.xml" ContentType="application/vnd.openxmlformats-officedocument.presentationml.slide+xml"/>
  <Override PartName="/ppt/slides/slide27.xml" ContentType="application/vnd.openxmlformats-officedocument.presentationml.slide+xml"/>
  <Override PartName="/ppt/slides/slide36.xml" ContentType="application/vnd.openxmlformats-officedocument.presentationml.slide+xml"/>
  <Override PartName="/ppt/slides/slide45.xml" ContentType="application/vnd.openxmlformats-officedocument.presentationml.slide+xml"/>
  <Override PartName="/ppt/slideLayouts/slideLayout4.xml" ContentType="application/vnd.openxmlformats-officedocument.presentationml.slideLayout+xml"/>
  <Override PartName="/ppt/slideLayouts/slideLayout6.xml" ContentType="application/vnd.openxmlformats-officedocument.presentationml.slideLayout+xml"/>
  <Override PartName="/ppt/slides/slide2.xml" ContentType="application/vnd.openxmlformats-officedocument.presentationml.slide+xml"/>
  <Override PartName="/ppt/slides/slide16.xml" ContentType="application/vnd.openxmlformats-officedocument.presentationml.slide+xml"/>
  <Override PartName="/ppt/slides/slide25.xml" ContentType="application/vnd.openxmlformats-officedocument.presentationml.slide+xml"/>
  <Override PartName="/ppt/slides/slide34.xml" ContentType="application/vnd.openxmlformats-officedocument.presentationml.slide+xml"/>
  <Override PartName="/ppt/slides/slide43.xml" ContentType="application/vnd.openxmlformats-officedocument.presentationml.slide+xml"/>
  <Override PartName="/ppt/slides/slide52.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Default Extension="rels" ContentType="application/vnd.openxmlformats-package.relationships+xml"/>
  <Default Extension="xml" ContentType="application/xml"/>
  <Override PartName="/ppt/slides/slide14.xml" ContentType="application/vnd.openxmlformats-officedocument.presentationml.slide+xml"/>
  <Override PartName="/ppt/slides/slide23.xml" ContentType="application/vnd.openxmlformats-officedocument.presentationml.slide+xml"/>
  <Override PartName="/ppt/slides/slide32.xml" ContentType="application/vnd.openxmlformats-officedocument.presentationml.slide+xml"/>
  <Override PartName="/ppt/slides/slide41.xml" ContentType="application/vnd.openxmlformats-officedocument.presentationml.slide+xml"/>
  <Override PartName="/ppt/slides/slide50.xml" ContentType="application/vnd.openxmlformats-officedocument.presentationml.slide+xml"/>
  <Override PartName="/ppt/notesMasters/notesMaster1.xml" ContentType="application/vnd.openxmlformats-officedocument.presentationml.notesMaster+xml"/>
  <Override PartName="/ppt/slides/slide10.xml" ContentType="application/vnd.openxmlformats-officedocument.presentationml.slide+xml"/>
  <Override PartName="/ppt/slides/slide12.xml" ContentType="application/vnd.openxmlformats-officedocument.presentationml.slide+xml"/>
  <Override PartName="/ppt/slides/slide21.xml" ContentType="application/vnd.openxmlformats-officedocument.presentationml.slide+xml"/>
  <Override PartName="/ppt/slides/slide30.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notesSlides/notesSlide7.xml" ContentType="application/vnd.openxmlformats-officedocument.presentationml.notes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4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ppt/slides/slide5.xml" ContentType="application/vnd.openxmlformats-officedocument.presentationml.slide+xml"/>
  <Override PartName="/ppt/slides/slide19.xml" ContentType="application/vnd.openxmlformats-officedocument.presentationml.slide+xml"/>
  <Override PartName="/ppt/slides/slide28.xml" ContentType="application/vnd.openxmlformats-officedocument.presentationml.slide+xml"/>
  <Override PartName="/ppt/slides/slide39.xml" ContentType="application/vnd.openxmlformats-officedocument.presentationml.slide+xml"/>
  <Override PartName="/ppt/slides/slide48.xml" ContentType="application/vnd.openxmlformats-officedocument.presentationml.slide+xml"/>
  <Override PartName="/ppt/slideLayouts/slideLayout7.xml" ContentType="application/vnd.openxmlformats-officedocument.presentationml.slideLayout+xml"/>
  <Override PartName="/ppt/notesSlides/notesSlide1.xml" ContentType="application/vnd.openxmlformats-officedocument.presentationml.notesSlide+xml"/>
  <Override PartName="/ppt/notesSlides/notesSlide3.xml" ContentType="application/vnd.openxmlformats-officedocument.presentationml.notesSlide+xml"/>
  <Override PartName="/ppt/slides/slide3.xml" ContentType="application/vnd.openxmlformats-officedocument.presentationml.slide+xml"/>
  <Override PartName="/ppt/slides/slide17.xml" ContentType="application/vnd.openxmlformats-officedocument.presentationml.slide+xml"/>
  <Override PartName="/ppt/slides/slide26.xml" ContentType="application/vnd.openxmlformats-officedocument.presentationml.slide+xml"/>
  <Override PartName="/ppt/slides/slide37.xml" ContentType="application/vnd.openxmlformats-officedocument.presentationml.slide+xml"/>
  <Override PartName="/ppt/slides/slide46.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theme/theme2.xml" ContentType="application/vnd.openxmlformats-officedocument.theme+xml"/>
  <Override PartName="/ppt/slides/slide1.xml" ContentType="application/vnd.openxmlformats-officedocument.presentationml.slide+xml"/>
  <Override PartName="/ppt/slides/slide15.xml" ContentType="application/vnd.openxmlformats-officedocument.presentationml.slide+xml"/>
  <Override PartName="/ppt/slides/slide24.xml" ContentType="application/vnd.openxmlformats-officedocument.presentationml.slide+xml"/>
  <Override PartName="/ppt/slides/slide33.xml" ContentType="application/vnd.openxmlformats-officedocument.presentationml.slide+xml"/>
  <Override PartName="/ppt/slides/slide35.xml" ContentType="application/vnd.openxmlformats-officedocument.presentationml.slide+xml"/>
  <Override PartName="/ppt/slides/slide44.xml" ContentType="application/vnd.openxmlformats-officedocument.presentationml.slide+xml"/>
  <Override PartName="/ppt/slideLayouts/slideLayout3.xml" ContentType="application/vnd.openxmlformats-officedocument.presentationml.slideLayout+xml"/>
  <Default Extension="jpeg" ContentType="image/jpeg"/>
  <Override PartName="/ppt/presentation.xml" ContentType="application/vnd.openxmlformats-officedocument.presentationml.presentation.main+xml"/>
  <Override PartName="/ppt/slides/slide13.xml" ContentType="application/vnd.openxmlformats-officedocument.presentationml.slide+xml"/>
  <Override PartName="/ppt/slides/slide22.xml" ContentType="application/vnd.openxmlformats-officedocument.presentationml.slide+xml"/>
  <Override PartName="/ppt/slides/slide31.xml" ContentType="application/vnd.openxmlformats-officedocument.presentationml.slide+xml"/>
  <Override PartName="/ppt/slides/slide42.xml" ContentType="application/vnd.openxmlformats-officedocument.presentationml.slide+xml"/>
  <Override PartName="/ppt/slides/slide51.xml" ContentType="application/vnd.openxmlformats-officedocument.presentationml.slide+xml"/>
  <Override PartName="/ppt/slideLayouts/slideLayout1.xml" ContentType="application/vnd.openxmlformats-officedocument.presentationml.slideLayout+xml"/>
  <Override PartName="/docProps/app.xml" ContentType="application/vnd.openxmlformats-officedocument.extended-properties+xml"/>
  <Override PartName="/ppt/slides/slide11.xml" ContentType="application/vnd.openxmlformats-officedocument.presentationml.slide+xml"/>
  <Override PartName="/ppt/slides/slide20.xml" ContentType="application/vnd.openxmlformats-officedocument.presentationml.slide+xml"/>
  <Override PartName="/ppt/slides/slide40.xml" ContentType="application/vnd.openxmlformats-officedocument.presentationml.slide+xml"/>
  <Override PartName="/ppt/slideLayouts/slideLayout10.xml" ContentType="application/vnd.openxmlformats-officedocument.presentationml.slideLayout+xml"/>
  <Override PartName="/ppt/notesSlides/notesSlide8.xml" ContentType="application/vnd.openxmlformats-officedocument.presentationml.notesSlide+xml"/>
  <Default Extension="gif" ContentType="image/gif"/>
  <Override PartName="/ppt/notesSlides/notesSlide6.xml" ContentType="application/vnd.openxmlformats-officedocument.presentationml.notesSlide+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08" r:id="rId1"/>
  </p:sldMasterIdLst>
  <p:notesMasterIdLst>
    <p:notesMasterId r:id="rId54"/>
  </p:notesMasterIdLst>
  <p:sldIdLst>
    <p:sldId id="285" r:id="rId2"/>
    <p:sldId id="333" r:id="rId3"/>
    <p:sldId id="334" r:id="rId4"/>
    <p:sldId id="259" r:id="rId5"/>
    <p:sldId id="321" r:id="rId6"/>
    <p:sldId id="260" r:id="rId7"/>
    <p:sldId id="322" r:id="rId8"/>
    <p:sldId id="261" r:id="rId9"/>
    <p:sldId id="262" r:id="rId10"/>
    <p:sldId id="323" r:id="rId11"/>
    <p:sldId id="264" r:id="rId12"/>
    <p:sldId id="266" r:id="rId13"/>
    <p:sldId id="324" r:id="rId14"/>
    <p:sldId id="267" r:id="rId15"/>
    <p:sldId id="325" r:id="rId16"/>
    <p:sldId id="271" r:id="rId17"/>
    <p:sldId id="326" r:id="rId18"/>
    <p:sldId id="320" r:id="rId19"/>
    <p:sldId id="287" r:id="rId20"/>
    <p:sldId id="327" r:id="rId21"/>
    <p:sldId id="288" r:id="rId22"/>
    <p:sldId id="289" r:id="rId23"/>
    <p:sldId id="328" r:id="rId24"/>
    <p:sldId id="317" r:id="rId25"/>
    <p:sldId id="318" r:id="rId26"/>
    <p:sldId id="291" r:id="rId27"/>
    <p:sldId id="329" r:id="rId28"/>
    <p:sldId id="292" r:id="rId29"/>
    <p:sldId id="330" r:id="rId30"/>
    <p:sldId id="293" r:id="rId31"/>
    <p:sldId id="331" r:id="rId32"/>
    <p:sldId id="294" r:id="rId33"/>
    <p:sldId id="295" r:id="rId34"/>
    <p:sldId id="296" r:id="rId35"/>
    <p:sldId id="297" r:id="rId36"/>
    <p:sldId id="299" r:id="rId37"/>
    <p:sldId id="298" r:id="rId38"/>
    <p:sldId id="300" r:id="rId39"/>
    <p:sldId id="301" r:id="rId40"/>
    <p:sldId id="302" r:id="rId41"/>
    <p:sldId id="303" r:id="rId42"/>
    <p:sldId id="313" r:id="rId43"/>
    <p:sldId id="305" r:id="rId44"/>
    <p:sldId id="304" r:id="rId45"/>
    <p:sldId id="307" r:id="rId46"/>
    <p:sldId id="332" r:id="rId47"/>
    <p:sldId id="314" r:id="rId48"/>
    <p:sldId id="308" r:id="rId49"/>
    <p:sldId id="315" r:id="rId50"/>
    <p:sldId id="309" r:id="rId51"/>
    <p:sldId id="316" r:id="rId52"/>
    <p:sldId id="310" r:id="rId53"/>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 xmlns:p14="http://schemas.microsoft.com/office/powerpoint/2010/main" val="0"/>
    </p:ext>
    <p:ext uri="{D31A062A-798A-4329-ABDD-BBA856620510}">
      <p14:defaultImageDpi xmlns="" xmlns:p14="http://schemas.microsoft.com/office/powerpoint/2010/main" val="220"/>
    </p:ext>
    <p:ext uri="{FD5EFAAD-0ECE-453E-9831-46B23BE46B34}">
      <p15:chartTrackingRefBased xmlns="" xmlns:p15="http://schemas.microsoft.com/office/powerpoint/2012/main" val="0"/>
    </p:ext>
  </p:extLst>
</p:presentationPr>
</file>

<file path=ppt/tableStyles.xml><?xml version="1.0" encoding="utf-8"?>
<a:tblStyleLst xmlns:a="http://schemas.openxmlformats.org/drawingml/2006/main" def="{5C22544A-7EE6-4342-B048-85BDC9FD1C3A}">
  <a:tblStyle styleId="{69C7853C-536D-4A76-A0AE-DD22124D55A5}" styleName="Themed Style 1 - Accent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showOutlineIcons="0" vertBarState="maximized">
    <p:restoredLeft sz="17930" autoAdjust="0"/>
    <p:restoredTop sz="93313" autoAdjust="0"/>
  </p:normalViewPr>
  <p:slideViewPr>
    <p:cSldViewPr>
      <p:cViewPr>
        <p:scale>
          <a:sx n="60" d="100"/>
          <a:sy n="60" d="100"/>
        </p:scale>
        <p:origin x="-1188" y="-140"/>
      </p:cViewPr>
      <p:guideLst>
        <p:guide orient="horz" pos="2160"/>
        <p:guide pos="2880"/>
      </p:guideLst>
    </p:cSldViewPr>
  </p:slideViewPr>
  <p:notesTextViewPr>
    <p:cViewPr>
      <p:scale>
        <a:sx n="100" d="100"/>
        <a:sy n="100" d="100"/>
      </p:scale>
      <p:origin x="0" y="0"/>
    </p:cViewPr>
  </p:notesTextViewPr>
  <p:gridSpacing cx="78028800" cy="780288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54"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viewProps" Target="view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35BEB286-7214-4052-ADCB-F3B09A537AD5}" type="datetimeFigureOut">
              <a:rPr lang="en-US" smtClean="0"/>
              <a:pPr/>
              <a:t>11/14/2024</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D5E4D552-CB73-41F4-BE65-F25414D93A4D}" type="slidenum">
              <a:rPr lang="en-US" smtClean="0"/>
              <a:pPr/>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D5E4D552-CB73-41F4-BE65-F25414D93A4D}" type="slidenum">
              <a:rPr lang="en-US" smtClean="0"/>
              <a:pPr/>
              <a:t>4</a:t>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D5E4D552-CB73-41F4-BE65-F25414D93A4D}" type="slidenum">
              <a:rPr lang="en-US" smtClean="0"/>
              <a:pPr/>
              <a:t>6</a:t>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D5E4D552-CB73-41F4-BE65-F25414D93A4D}" type="slidenum">
              <a:rPr lang="en-US" smtClean="0"/>
              <a:pPr/>
              <a:t>8</a:t>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D5E4D552-CB73-41F4-BE65-F25414D93A4D}" type="slidenum">
              <a:rPr lang="en-US" smtClean="0"/>
              <a:pPr/>
              <a:t>9</a:t>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D5E4D552-CB73-41F4-BE65-F25414D93A4D}" type="slidenum">
              <a:rPr lang="en-US" smtClean="0"/>
              <a:pPr/>
              <a:t>11</a:t>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D5E4D552-CB73-41F4-BE65-F25414D93A4D}" type="slidenum">
              <a:rPr lang="en-US" smtClean="0"/>
              <a:pPr/>
              <a:t>12</a:t>
            </a:fld>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D5E4D552-CB73-41F4-BE65-F25414D93A4D}" type="slidenum">
              <a:rPr lang="en-US" smtClean="0"/>
              <a:pPr/>
              <a:t>14</a:t>
            </a:fld>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D5E4D552-CB73-41F4-BE65-F25414D93A4D}" type="slidenum">
              <a:rPr lang="en-US" smtClean="0"/>
              <a:pPr/>
              <a:t>16</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67F1F99D-F0F8-4057-A75F-CE0C05B88797}" type="datetimeFigureOut">
              <a:rPr lang="en-US" smtClean="0"/>
              <a:pPr/>
              <a:t>11/14/2024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2FD6890-4655-4E0F-AD40-4CE1B1A42D47}"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7F1F99D-F0F8-4057-A75F-CE0C05B88797}" type="datetimeFigureOut">
              <a:rPr lang="en-US" smtClean="0"/>
              <a:pPr/>
              <a:t>11/14/2024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2FD6890-4655-4E0F-AD40-4CE1B1A42D47}"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7F1F99D-F0F8-4057-A75F-CE0C05B88797}" type="datetimeFigureOut">
              <a:rPr lang="en-US" smtClean="0"/>
              <a:pPr/>
              <a:t>11/14/2024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2FD6890-4655-4E0F-AD40-4CE1B1A42D47}"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67F1F99D-F0F8-4057-A75F-CE0C05B88797}" type="datetimeFigureOut">
              <a:rPr lang="en-US" smtClean="0"/>
              <a:pPr/>
              <a:t>11/14/2024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2FD6890-4655-4E0F-AD40-4CE1B1A42D47}"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67F1F99D-F0F8-4057-A75F-CE0C05B88797}" type="datetimeFigureOut">
              <a:rPr lang="en-US" smtClean="0"/>
              <a:pPr/>
              <a:t>11/14/2024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2FD6890-4655-4E0F-AD40-4CE1B1A42D47}"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67F1F99D-F0F8-4057-A75F-CE0C05B88797}" type="datetimeFigureOut">
              <a:rPr lang="en-US" smtClean="0"/>
              <a:pPr/>
              <a:t>11/14/2024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2FD6890-4655-4E0F-AD40-4CE1B1A42D47}"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7F1F99D-F0F8-4057-A75F-CE0C05B88797}" type="datetimeFigureOut">
              <a:rPr lang="en-US" smtClean="0"/>
              <a:pPr/>
              <a:t>11/14/2024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2FD6890-4655-4E0F-AD40-4CE1B1A42D47}"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67F1F99D-F0F8-4057-A75F-CE0C05B88797}" type="datetimeFigureOut">
              <a:rPr lang="en-US" smtClean="0"/>
              <a:pPr/>
              <a:t>11/14/2024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2FD6890-4655-4E0F-AD40-4CE1B1A42D47}"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67F1F99D-F0F8-4057-A75F-CE0C05B88797}" type="datetimeFigureOut">
              <a:rPr lang="en-US" smtClean="0"/>
              <a:pPr/>
              <a:t>11/14/2024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2FD6890-4655-4E0F-AD40-4CE1B1A42D47}"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7F1F99D-F0F8-4057-A75F-CE0C05B88797}" type="datetimeFigureOut">
              <a:rPr lang="en-US" smtClean="0"/>
              <a:pPr/>
              <a:t>11/14/2024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2FD6890-4655-4E0F-AD40-4CE1B1A42D47}"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7F1F99D-F0F8-4057-A75F-CE0C05B88797}" type="datetimeFigureOut">
              <a:rPr lang="en-US" smtClean="0"/>
              <a:pPr/>
              <a:t>11/14/2024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2FD6890-4655-4E0F-AD40-4CE1B1A42D47}"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7F1F99D-F0F8-4057-A75F-CE0C05B88797}" type="datetimeFigureOut">
              <a:rPr lang="en-US" smtClean="0"/>
              <a:pPr/>
              <a:t>11/14/2024</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2FD6890-4655-4E0F-AD40-4CE1B1A42D47}"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709" r:id="rId1"/>
    <p:sldLayoutId id="2147483710" r:id="rId2"/>
    <p:sldLayoutId id="2147483711" r:id="rId3"/>
    <p:sldLayoutId id="2147483712" r:id="rId4"/>
    <p:sldLayoutId id="2147483713" r:id="rId5"/>
    <p:sldLayoutId id="2147483714" r:id="rId6"/>
    <p:sldLayoutId id="2147483715" r:id="rId7"/>
    <p:sldLayoutId id="2147483716" r:id="rId8"/>
    <p:sldLayoutId id="2147483717" r:id="rId9"/>
    <p:sldLayoutId id="2147483718" r:id="rId10"/>
    <p:sldLayoutId id="214748371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hyperlink" Target="http://en.wikipedia.org/wiki/File:Martinus_Beijerinck.png" TargetMode="External"/><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1.jpe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3.gif"/><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3" Type="http://schemas.openxmlformats.org/officeDocument/2006/relationships/image" Target="../media/image5.gif"/><Relationship Id="rId2" Type="http://schemas.openxmlformats.org/officeDocument/2006/relationships/image" Target="../media/image4.gif"/><Relationship Id="rId1" Type="http://schemas.openxmlformats.org/officeDocument/2006/relationships/slideLayout" Target="../slideLayouts/slideLayout7.xml"/><Relationship Id="rId4" Type="http://schemas.openxmlformats.org/officeDocument/2006/relationships/image" Target="../media/image6.jpeg"/></Relationships>
</file>

<file path=ppt/slides/_rels/slide36.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image" Target="../media/image7.jpeg"/><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image" Target="../media/image9.jpeg"/><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ctrTitle"/>
          </p:nvPr>
        </p:nvSpPr>
        <p:spPr>
          <a:xfrm>
            <a:off x="533400" y="990600"/>
            <a:ext cx="7772400" cy="1470025"/>
          </a:xfrm>
        </p:spPr>
        <p:txBody>
          <a:bodyPr>
            <a:normAutofit fontScale="90000"/>
          </a:bodyPr>
          <a:lstStyle/>
          <a:p>
            <a:r>
              <a:rPr lang="en-US" b="1" dirty="0">
                <a:solidFill>
                  <a:schemeClr val="accent2">
                    <a:lumMod val="75000"/>
                  </a:schemeClr>
                </a:solidFill>
                <a:latin typeface="Algerian" pitchFamily="82" charset="0"/>
              </a:rPr>
              <a:t>History of virology</a:t>
            </a:r>
            <a:br>
              <a:rPr lang="en-US" b="1" dirty="0">
                <a:solidFill>
                  <a:schemeClr val="accent2">
                    <a:lumMod val="75000"/>
                  </a:schemeClr>
                </a:solidFill>
                <a:latin typeface="Algerian" pitchFamily="82" charset="0"/>
              </a:rPr>
            </a:br>
            <a:r>
              <a:rPr lang="en-US" b="1" dirty="0">
                <a:solidFill>
                  <a:schemeClr val="accent2">
                    <a:lumMod val="75000"/>
                  </a:schemeClr>
                </a:solidFill>
                <a:latin typeface="Algerian" pitchFamily="82" charset="0"/>
              </a:rPr>
              <a:t>structure and classification of viruses</a:t>
            </a:r>
          </a:p>
        </p:txBody>
      </p:sp>
      <p:sp>
        <p:nvSpPr>
          <p:cNvPr id="4" name="Subtitle 3"/>
          <p:cNvSpPr>
            <a:spLocks noGrp="1"/>
          </p:cNvSpPr>
          <p:nvPr>
            <p:ph type="subTitle" idx="1"/>
          </p:nvPr>
        </p:nvSpPr>
        <p:spPr/>
        <p:txBody>
          <a:bodyPr/>
          <a:lstStyle/>
          <a:p>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4294967295"/>
          </p:nvPr>
        </p:nvSpPr>
        <p:spPr>
          <a:xfrm>
            <a:off x="381000" y="457200"/>
            <a:ext cx="8382000" cy="6019800"/>
          </a:xfrm>
        </p:spPr>
        <p:txBody>
          <a:bodyPr>
            <a:normAutofit fontScale="92500"/>
          </a:bodyPr>
          <a:lstStyle/>
          <a:p>
            <a:pPr algn="just">
              <a:lnSpc>
                <a:spcPct val="150000"/>
              </a:lnSpc>
            </a:pPr>
            <a:r>
              <a:rPr lang="en-GB" sz="2800" b="1" dirty="0" smtClean="0">
                <a:latin typeface="Arial" pitchFamily="34" charset="0"/>
                <a:cs typeface="Arial" pitchFamily="34" charset="0"/>
              </a:rPr>
              <a:t>Neolithic </a:t>
            </a:r>
            <a:r>
              <a:rPr lang="en-GB" sz="2800" b="1" dirty="0" smtClean="0">
                <a:latin typeface="Arial" pitchFamily="34" charset="0"/>
                <a:cs typeface="Arial" pitchFamily="34" charset="0"/>
              </a:rPr>
              <a:t>period </a:t>
            </a:r>
            <a:r>
              <a:rPr lang="en-GB" sz="2800" dirty="0" smtClean="0">
                <a:latin typeface="Arial" pitchFamily="34" charset="0"/>
                <a:cs typeface="Arial" pitchFamily="34" charset="0"/>
              </a:rPr>
              <a:t>around </a:t>
            </a:r>
            <a:r>
              <a:rPr lang="en-GB" sz="2800" b="1" dirty="0" smtClean="0">
                <a:latin typeface="Arial" pitchFamily="34" charset="0"/>
                <a:cs typeface="Arial" pitchFamily="34" charset="0"/>
              </a:rPr>
              <a:t>12,000 years </a:t>
            </a:r>
            <a:r>
              <a:rPr lang="en-GB" sz="2800" dirty="0" smtClean="0">
                <a:latin typeface="Arial" pitchFamily="34" charset="0"/>
                <a:cs typeface="Arial" pitchFamily="34" charset="0"/>
              </a:rPr>
              <a:t>ago- change in human behaviour from </a:t>
            </a:r>
            <a:r>
              <a:rPr lang="en-US" sz="2800" dirty="0" smtClean="0">
                <a:latin typeface="Arial" pitchFamily="34" charset="0"/>
                <a:cs typeface="Arial" pitchFamily="34" charset="0"/>
              </a:rPr>
              <a:t>hunter-gatherers to agricultural </a:t>
            </a:r>
            <a:r>
              <a:rPr lang="en-US" sz="2800" dirty="0" smtClean="0">
                <a:latin typeface="Arial" pitchFamily="34" charset="0"/>
                <a:cs typeface="Arial" pitchFamily="34" charset="0"/>
              </a:rPr>
              <a:t>communities.</a:t>
            </a:r>
            <a:endParaRPr lang="en-US" sz="2800" dirty="0" smtClean="0">
              <a:latin typeface="Arial" pitchFamily="34" charset="0"/>
              <a:cs typeface="Arial" pitchFamily="34" charset="0"/>
            </a:endParaRPr>
          </a:p>
          <a:p>
            <a:pPr algn="just">
              <a:lnSpc>
                <a:spcPct val="150000"/>
              </a:lnSpc>
            </a:pPr>
            <a:r>
              <a:rPr lang="en-US" sz="2800" dirty="0" smtClean="0">
                <a:latin typeface="Arial" pitchFamily="34" charset="0"/>
                <a:cs typeface="Arial" pitchFamily="34" charset="0"/>
              </a:rPr>
              <a:t>Lead to </a:t>
            </a:r>
            <a:r>
              <a:rPr lang="en-GB" sz="2800" dirty="0" smtClean="0">
                <a:latin typeface="Arial" pitchFamily="34" charset="0"/>
                <a:cs typeface="Arial" pitchFamily="34" charset="0"/>
              </a:rPr>
              <a:t>rapid spread of many plant viruses such as </a:t>
            </a:r>
            <a:r>
              <a:rPr lang="en-GB" sz="2800" dirty="0" err="1" smtClean="0">
                <a:latin typeface="Arial" pitchFamily="34" charset="0"/>
                <a:cs typeface="Arial" pitchFamily="34" charset="0"/>
              </a:rPr>
              <a:t>potyviruses</a:t>
            </a:r>
            <a:r>
              <a:rPr lang="en-GB" sz="2800" dirty="0" smtClean="0">
                <a:latin typeface="Arial" pitchFamily="34" charset="0"/>
                <a:cs typeface="Arial" pitchFamily="34" charset="0"/>
              </a:rPr>
              <a:t> that infect potatoes, and other fruits and vegetables, began about </a:t>
            </a:r>
            <a:r>
              <a:rPr lang="en-GB" sz="2800" b="1" dirty="0" smtClean="0">
                <a:latin typeface="Arial" pitchFamily="34" charset="0"/>
                <a:cs typeface="Arial" pitchFamily="34" charset="0"/>
              </a:rPr>
              <a:t>6,600 years </a:t>
            </a:r>
            <a:r>
              <a:rPr lang="en-GB" sz="2800" dirty="0" smtClean="0">
                <a:latin typeface="Arial" pitchFamily="34" charset="0"/>
                <a:cs typeface="Arial" pitchFamily="34" charset="0"/>
              </a:rPr>
              <a:t>ago</a:t>
            </a:r>
            <a:r>
              <a:rPr lang="en-GB" sz="2800" dirty="0" smtClean="0">
                <a:latin typeface="Arial" pitchFamily="34" charset="0"/>
                <a:cs typeface="Arial" pitchFamily="34" charset="0"/>
              </a:rPr>
              <a:t>.</a:t>
            </a:r>
          </a:p>
          <a:p>
            <a:pPr algn="just">
              <a:lnSpc>
                <a:spcPct val="150000"/>
              </a:lnSpc>
            </a:pPr>
            <a:r>
              <a:rPr lang="en-GB" sz="2600" dirty="0" smtClean="0">
                <a:latin typeface="Arial" pitchFamily="34" charset="0"/>
                <a:cs typeface="Arial" pitchFamily="34" charset="0"/>
              </a:rPr>
              <a:t>First </a:t>
            </a:r>
            <a:r>
              <a:rPr lang="en-GB" sz="2600" dirty="0" smtClean="0">
                <a:latin typeface="Arial" pitchFamily="34" charset="0"/>
                <a:cs typeface="Arial" pitchFamily="34" charset="0"/>
              </a:rPr>
              <a:t>written record of a virus infection, provided by the ancient </a:t>
            </a:r>
            <a:r>
              <a:rPr lang="en-GB" sz="2600" b="1" dirty="0" smtClean="0">
                <a:latin typeface="Arial" pitchFamily="34" charset="0"/>
                <a:cs typeface="Arial" pitchFamily="34" charset="0"/>
              </a:rPr>
              <a:t>Egyptian civilization </a:t>
            </a:r>
            <a:r>
              <a:rPr lang="en-GB" sz="2600" dirty="0" smtClean="0">
                <a:latin typeface="Arial" pitchFamily="34" charset="0"/>
                <a:cs typeface="Arial" pitchFamily="34" charset="0"/>
              </a:rPr>
              <a:t>indicated by the photos on the walls of the </a:t>
            </a:r>
            <a:r>
              <a:rPr lang="en-GB" sz="2600" dirty="0" smtClean="0">
                <a:latin typeface="Arial" pitchFamily="34" charset="0"/>
                <a:cs typeface="Arial" pitchFamily="34" charset="0"/>
              </a:rPr>
              <a:t>temples</a:t>
            </a:r>
            <a:r>
              <a:rPr lang="en-GB" sz="2600" dirty="0" smtClean="0">
                <a:latin typeface="Arial" pitchFamily="34" charset="0"/>
                <a:cs typeface="Arial" pitchFamily="34" charset="0"/>
              </a:rPr>
              <a:t>.</a:t>
            </a:r>
            <a:endParaRPr lang="en-US" sz="2600" dirty="0">
              <a:latin typeface="Arial" pitchFamily="34" charset="0"/>
              <a:cs typeface="Arial" pitchFamily="34"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4294967295"/>
          </p:nvPr>
        </p:nvSpPr>
        <p:spPr>
          <a:xfrm>
            <a:off x="304800" y="457200"/>
            <a:ext cx="8229600" cy="4525963"/>
          </a:xfrm>
        </p:spPr>
        <p:txBody>
          <a:bodyPr>
            <a:noAutofit/>
          </a:bodyPr>
          <a:lstStyle/>
          <a:p>
            <a:pPr algn="just">
              <a:lnSpc>
                <a:spcPct val="160000"/>
              </a:lnSpc>
            </a:pPr>
            <a:r>
              <a:rPr lang="en-GB" sz="2400" dirty="0" err="1" smtClean="0">
                <a:latin typeface="Arial" pitchFamily="34" charset="0"/>
                <a:cs typeface="Arial" pitchFamily="34" charset="0"/>
              </a:rPr>
              <a:t>Ramesses</a:t>
            </a:r>
            <a:r>
              <a:rPr lang="en-GB" sz="2400" dirty="0" smtClean="0">
                <a:latin typeface="Arial" pitchFamily="34" charset="0"/>
                <a:cs typeface="Arial" pitchFamily="34" charset="0"/>
              </a:rPr>
              <a:t> V's preserved mummy shows that he died of </a:t>
            </a:r>
            <a:r>
              <a:rPr lang="en-GB" sz="2400" b="1" dirty="0" smtClean="0">
                <a:latin typeface="Arial" pitchFamily="34" charset="0"/>
                <a:cs typeface="Arial" pitchFamily="34" charset="0"/>
              </a:rPr>
              <a:t>smallpox </a:t>
            </a:r>
            <a:r>
              <a:rPr lang="en-GB" sz="2400" dirty="0" smtClean="0">
                <a:latin typeface="Arial" pitchFamily="34" charset="0"/>
                <a:cs typeface="Arial" pitchFamily="34" charset="0"/>
              </a:rPr>
              <a:t>at about the age of 35 in 1143 BC. </a:t>
            </a:r>
            <a:endParaRPr lang="en-GB" sz="2400" dirty="0" smtClean="0">
              <a:latin typeface="Arial" pitchFamily="34" charset="0"/>
              <a:cs typeface="Arial" pitchFamily="34" charset="0"/>
            </a:endParaRPr>
          </a:p>
          <a:p>
            <a:pPr algn="just">
              <a:lnSpc>
                <a:spcPct val="160000"/>
              </a:lnSpc>
            </a:pPr>
            <a:endParaRPr lang="en-GB" sz="2400" dirty="0" smtClean="0">
              <a:latin typeface="Arial" pitchFamily="34" charset="0"/>
              <a:cs typeface="Arial" pitchFamily="34" charset="0"/>
            </a:endParaRPr>
          </a:p>
          <a:p>
            <a:pPr algn="just">
              <a:lnSpc>
                <a:spcPct val="160000"/>
              </a:lnSpc>
            </a:pPr>
            <a:r>
              <a:rPr lang="en-GB" sz="2400" dirty="0" smtClean="0">
                <a:latin typeface="Arial" pitchFamily="34" charset="0"/>
                <a:cs typeface="Arial" pitchFamily="34" charset="0"/>
              </a:rPr>
              <a:t>Smallpox is endemic in China by </a:t>
            </a:r>
            <a:r>
              <a:rPr lang="en-GB" sz="2400" b="1" dirty="0" smtClean="0">
                <a:latin typeface="Arial" pitchFamily="34" charset="0"/>
                <a:cs typeface="Arial" pitchFamily="34" charset="0"/>
              </a:rPr>
              <a:t>1000BC.</a:t>
            </a:r>
            <a:r>
              <a:rPr lang="en-GB" sz="2400" dirty="0" smtClean="0">
                <a:latin typeface="Arial" pitchFamily="34" charset="0"/>
                <a:cs typeface="Arial" pitchFamily="34" charset="0"/>
              </a:rPr>
              <a:t> In response, the practice of </a:t>
            </a:r>
            <a:r>
              <a:rPr lang="en-GB" sz="2400" b="1" dirty="0" err="1" smtClean="0">
                <a:latin typeface="Arial" pitchFamily="34" charset="0"/>
                <a:cs typeface="Arial" pitchFamily="34" charset="0"/>
              </a:rPr>
              <a:t>variolation</a:t>
            </a:r>
            <a:r>
              <a:rPr lang="en-GB" sz="2400" dirty="0" smtClean="0">
                <a:latin typeface="Arial" pitchFamily="34" charset="0"/>
                <a:cs typeface="Arial" pitchFamily="34" charset="0"/>
              </a:rPr>
              <a:t> is developed. </a:t>
            </a:r>
            <a:endParaRPr lang="en-GB" sz="2400" dirty="0" smtClean="0">
              <a:latin typeface="Arial" pitchFamily="34" charset="0"/>
              <a:cs typeface="Arial" pitchFamily="34" charset="0"/>
            </a:endParaRPr>
          </a:p>
          <a:p>
            <a:pPr algn="just">
              <a:lnSpc>
                <a:spcPct val="160000"/>
              </a:lnSpc>
            </a:pPr>
            <a:r>
              <a:rPr lang="en-GB" sz="2400" dirty="0" err="1" smtClean="0">
                <a:latin typeface="Arial" pitchFamily="34" charset="0"/>
                <a:cs typeface="Arial" pitchFamily="34" charset="0"/>
              </a:rPr>
              <a:t>Variolation</a:t>
            </a:r>
            <a:r>
              <a:rPr lang="en-GB" sz="2400" dirty="0" smtClean="0">
                <a:latin typeface="Arial" pitchFamily="34" charset="0"/>
                <a:cs typeface="Arial" pitchFamily="34" charset="0"/>
              </a:rPr>
              <a:t> </a:t>
            </a:r>
            <a:r>
              <a:rPr lang="en-GB" sz="2400" dirty="0" smtClean="0">
                <a:latin typeface="Arial" pitchFamily="34" charset="0"/>
                <a:cs typeface="Arial" pitchFamily="34" charset="0"/>
              </a:rPr>
              <a:t>involves inhalation of the dried crusts from smallpox lesions like snuff, or in later modifications, inoculation of the pus from a lesion into a scratch on the forearm</a:t>
            </a:r>
            <a:endParaRPr lang="en-US" sz="2400" dirty="0">
              <a:latin typeface="Arial" pitchFamily="34" charset="0"/>
              <a:cs typeface="Arial" pitchFamily="34"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228600"/>
            <a:ext cx="9144000" cy="5436000"/>
          </a:xfrm>
        </p:spPr>
        <p:txBody>
          <a:bodyPr>
            <a:noAutofit/>
          </a:bodyPr>
          <a:lstStyle/>
          <a:p>
            <a:pPr>
              <a:lnSpc>
                <a:spcPct val="170000"/>
              </a:lnSpc>
            </a:pPr>
            <a:r>
              <a:rPr lang="en-US" sz="2400" dirty="0">
                <a:latin typeface="Arial" pitchFamily="34" charset="0"/>
                <a:cs typeface="Arial" pitchFamily="34" charset="0"/>
              </a:rPr>
              <a:t>1796</a:t>
            </a:r>
            <a:r>
              <a:rPr lang="en-US" sz="2400" b="1" dirty="0">
                <a:latin typeface="Arial" pitchFamily="34" charset="0"/>
                <a:cs typeface="Arial" pitchFamily="34" charset="0"/>
              </a:rPr>
              <a:t>: </a:t>
            </a:r>
            <a:r>
              <a:rPr lang="en-US" sz="2400" b="1" dirty="0">
                <a:solidFill>
                  <a:schemeClr val="accent2">
                    <a:lumMod val="75000"/>
                  </a:schemeClr>
                </a:solidFill>
                <a:latin typeface="Arial" pitchFamily="34" charset="0"/>
                <a:cs typeface="Arial" pitchFamily="34" charset="0"/>
              </a:rPr>
              <a:t>Edward Jenner</a:t>
            </a:r>
            <a:r>
              <a:rPr lang="en-US" sz="2400" b="1" dirty="0">
                <a:latin typeface="Arial" pitchFamily="34" charset="0"/>
                <a:cs typeface="Arial" pitchFamily="34" charset="0"/>
              </a:rPr>
              <a:t> </a:t>
            </a:r>
            <a:r>
              <a:rPr lang="en-US" sz="2400" dirty="0">
                <a:latin typeface="Arial" pitchFamily="34" charset="0"/>
                <a:cs typeface="Arial" pitchFamily="34" charset="0"/>
              </a:rPr>
              <a:t>used cowpox to vaccinate  against smallpox. </a:t>
            </a:r>
          </a:p>
          <a:p>
            <a:pPr>
              <a:lnSpc>
                <a:spcPct val="170000"/>
              </a:lnSpc>
            </a:pPr>
            <a:r>
              <a:rPr lang="en-US" sz="2400" dirty="0">
                <a:latin typeface="Arial" pitchFamily="34" charset="0"/>
                <a:cs typeface="Arial" pitchFamily="34" charset="0"/>
              </a:rPr>
              <a:t>1886:</a:t>
            </a:r>
            <a:r>
              <a:rPr lang="en-US" sz="2400" dirty="0">
                <a:solidFill>
                  <a:schemeClr val="accent2">
                    <a:lumMod val="75000"/>
                  </a:schemeClr>
                </a:solidFill>
                <a:latin typeface="Arial" pitchFamily="34" charset="0"/>
                <a:cs typeface="Arial" pitchFamily="34" charset="0"/>
              </a:rPr>
              <a:t> </a:t>
            </a:r>
            <a:r>
              <a:rPr lang="en-US" sz="2400" b="1" dirty="0">
                <a:solidFill>
                  <a:schemeClr val="accent2">
                    <a:lumMod val="75000"/>
                  </a:schemeClr>
                </a:solidFill>
                <a:latin typeface="Arial" pitchFamily="34" charset="0"/>
                <a:cs typeface="Arial" pitchFamily="34" charset="0"/>
              </a:rPr>
              <a:t>Louis Pasteur</a:t>
            </a:r>
            <a:r>
              <a:rPr lang="en-US" sz="2400" dirty="0">
                <a:solidFill>
                  <a:schemeClr val="accent2">
                    <a:lumMod val="75000"/>
                  </a:schemeClr>
                </a:solidFill>
                <a:latin typeface="Arial" pitchFamily="34" charset="0"/>
                <a:cs typeface="Arial" pitchFamily="34" charset="0"/>
              </a:rPr>
              <a:t> </a:t>
            </a:r>
            <a:r>
              <a:rPr lang="en-US" sz="2400" dirty="0">
                <a:latin typeface="Arial" pitchFamily="34" charset="0"/>
                <a:cs typeface="Arial" pitchFamily="34" charset="0"/>
              </a:rPr>
              <a:t>experimented with rabies vaccination, using the term </a:t>
            </a:r>
            <a:r>
              <a:rPr lang="en-US" sz="2400" dirty="0">
                <a:solidFill>
                  <a:srgbClr val="C00000"/>
                </a:solidFill>
                <a:latin typeface="Arial" pitchFamily="34" charset="0"/>
                <a:cs typeface="Arial" pitchFamily="34" charset="0"/>
              </a:rPr>
              <a:t>"virus" (Latin, poison) </a:t>
            </a:r>
            <a:r>
              <a:rPr lang="en-US" sz="2400" dirty="0">
                <a:latin typeface="Arial" pitchFamily="34" charset="0"/>
                <a:cs typeface="Arial" pitchFamily="34" charset="0"/>
              </a:rPr>
              <a:t>to describe the agent. </a:t>
            </a:r>
          </a:p>
          <a:p>
            <a:pPr>
              <a:lnSpc>
                <a:spcPct val="170000"/>
              </a:lnSpc>
            </a:pPr>
            <a:r>
              <a:rPr lang="en-US" sz="2400" dirty="0">
                <a:latin typeface="Arial" pitchFamily="34" charset="0"/>
                <a:cs typeface="Arial" pitchFamily="34" charset="0"/>
              </a:rPr>
              <a:t>1886: </a:t>
            </a:r>
            <a:r>
              <a:rPr lang="en-US" sz="2400" b="1" dirty="0">
                <a:solidFill>
                  <a:schemeClr val="accent2">
                    <a:lumMod val="75000"/>
                  </a:schemeClr>
                </a:solidFill>
                <a:latin typeface="Arial" pitchFamily="34" charset="0"/>
                <a:cs typeface="Arial" pitchFamily="34" charset="0"/>
              </a:rPr>
              <a:t>John </a:t>
            </a:r>
            <a:r>
              <a:rPr lang="en-US" sz="2400" b="1" dirty="0" err="1">
                <a:solidFill>
                  <a:schemeClr val="accent2">
                    <a:lumMod val="75000"/>
                  </a:schemeClr>
                </a:solidFill>
                <a:latin typeface="Arial" pitchFamily="34" charset="0"/>
                <a:cs typeface="Arial" pitchFamily="34" charset="0"/>
              </a:rPr>
              <a:t>Buist</a:t>
            </a:r>
            <a:r>
              <a:rPr lang="en-US" sz="2400" b="1" dirty="0">
                <a:solidFill>
                  <a:schemeClr val="accent2">
                    <a:lumMod val="75000"/>
                  </a:schemeClr>
                </a:solidFill>
                <a:latin typeface="Arial" pitchFamily="34" charset="0"/>
                <a:cs typeface="Arial" pitchFamily="34" charset="0"/>
              </a:rPr>
              <a:t> </a:t>
            </a:r>
            <a:r>
              <a:rPr lang="en-US" sz="2400" dirty="0">
                <a:latin typeface="Arial" pitchFamily="34" charset="0"/>
                <a:cs typeface="Arial" pitchFamily="34" charset="0"/>
              </a:rPr>
              <a:t>(a Scottish pathologist) stained lymph from skin lesions of a smallpox patient and saw "elementary bodies" which he thought were the spores of </a:t>
            </a:r>
            <a:r>
              <a:rPr lang="en-US" sz="2400" dirty="0" err="1">
                <a:latin typeface="Arial" pitchFamily="34" charset="0"/>
                <a:cs typeface="Arial" pitchFamily="34" charset="0"/>
              </a:rPr>
              <a:t>micrococci</a:t>
            </a:r>
            <a:r>
              <a:rPr lang="en-US" sz="2400" dirty="0">
                <a:latin typeface="Arial" pitchFamily="34" charset="0"/>
                <a:cs typeface="Arial" pitchFamily="34" charset="0"/>
              </a:rPr>
              <a:t>.</a:t>
            </a:r>
          </a:p>
          <a:p>
            <a:pPr>
              <a:lnSpc>
                <a:spcPct val="170000"/>
              </a:lnSpc>
            </a:pPr>
            <a:r>
              <a:rPr lang="en-US" sz="2400" dirty="0">
                <a:latin typeface="Arial" pitchFamily="34" charset="0"/>
                <a:cs typeface="Arial" pitchFamily="34" charset="0"/>
              </a:rPr>
              <a:t>These were in fact smallpox virus particles - just large enough to see with the light microscope.</a:t>
            </a:r>
          </a:p>
          <a:p>
            <a:pPr>
              <a:lnSpc>
                <a:spcPct val="170000"/>
              </a:lnSpc>
            </a:pPr>
            <a:endParaRPr lang="en-US" sz="1800" dirty="0">
              <a:latin typeface="Arial" pitchFamily="34" charset="0"/>
              <a:cs typeface="Arial" pitchFamily="34"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28600" y="457200"/>
            <a:ext cx="8610600" cy="5028300"/>
          </a:xfrm>
          <a:prstGeom prst="rect">
            <a:avLst/>
          </a:prstGeom>
        </p:spPr>
        <p:txBody>
          <a:bodyPr wrap="square">
            <a:spAutoFit/>
          </a:bodyPr>
          <a:lstStyle/>
          <a:p>
            <a:pPr>
              <a:lnSpc>
                <a:spcPct val="170000"/>
              </a:lnSpc>
            </a:pPr>
            <a:r>
              <a:rPr lang="en-US" sz="2400" dirty="0" smtClean="0">
                <a:latin typeface="Arial" pitchFamily="34" charset="0"/>
                <a:cs typeface="Arial" pitchFamily="34" charset="0"/>
              </a:rPr>
              <a:t>1892: </a:t>
            </a:r>
            <a:r>
              <a:rPr lang="en-US" sz="2400" b="1" dirty="0" smtClean="0">
                <a:solidFill>
                  <a:schemeClr val="accent2">
                    <a:lumMod val="75000"/>
                  </a:schemeClr>
                </a:solidFill>
                <a:latin typeface="Arial" pitchFamily="34" charset="0"/>
                <a:cs typeface="Arial" pitchFamily="34" charset="0"/>
              </a:rPr>
              <a:t>Dmitri </a:t>
            </a:r>
            <a:r>
              <a:rPr lang="en-US" sz="2400" b="1" dirty="0" err="1" smtClean="0">
                <a:solidFill>
                  <a:schemeClr val="accent2">
                    <a:lumMod val="75000"/>
                  </a:schemeClr>
                </a:solidFill>
                <a:latin typeface="Arial" pitchFamily="34" charset="0"/>
                <a:cs typeface="Arial" pitchFamily="34" charset="0"/>
              </a:rPr>
              <a:t>Ivanovski</a:t>
            </a:r>
            <a:r>
              <a:rPr lang="en-US" sz="2400" dirty="0" smtClean="0">
                <a:latin typeface="Arial" pitchFamily="34" charset="0"/>
                <a:cs typeface="Arial" pitchFamily="34" charset="0"/>
              </a:rPr>
              <a:t> described the </a:t>
            </a:r>
            <a:r>
              <a:rPr lang="en-US" sz="2400" b="1" dirty="0" smtClean="0">
                <a:latin typeface="Arial" pitchFamily="34" charset="0"/>
                <a:cs typeface="Arial" pitchFamily="34" charset="0"/>
              </a:rPr>
              <a:t>first "filterable" </a:t>
            </a:r>
            <a:r>
              <a:rPr lang="en-US" sz="2400" dirty="0" smtClean="0">
                <a:latin typeface="Arial" pitchFamily="34" charset="0"/>
                <a:cs typeface="Arial" pitchFamily="34" charset="0"/>
              </a:rPr>
              <a:t>infectious agent - </a:t>
            </a:r>
            <a:r>
              <a:rPr lang="en-US" sz="2400" b="1" dirty="0" smtClean="0">
                <a:latin typeface="Arial" pitchFamily="34" charset="0"/>
                <a:cs typeface="Arial" pitchFamily="34" charset="0"/>
              </a:rPr>
              <a:t>tobacco mosaic virus (TMV) </a:t>
            </a:r>
            <a:r>
              <a:rPr lang="en-US" sz="2400" dirty="0" smtClean="0">
                <a:latin typeface="Arial" pitchFamily="34" charset="0"/>
                <a:cs typeface="Arial" pitchFamily="34" charset="0"/>
              </a:rPr>
              <a:t>- smaller than any known bacteria. He showed that extracts from diseased tobacco plants can transmit disease to other plants after passage through ceramic filters fine enough to retain the smallest known bacteria.</a:t>
            </a:r>
          </a:p>
          <a:p>
            <a:pPr>
              <a:lnSpc>
                <a:spcPct val="170000"/>
              </a:lnSpc>
            </a:pPr>
            <a:endParaRPr lang="en-US" sz="2400" dirty="0" smtClean="0">
              <a:latin typeface="Arial" pitchFamily="34" charset="0"/>
              <a:cs typeface="Arial" pitchFamily="34" charset="0"/>
            </a:endParaRPr>
          </a:p>
          <a:p>
            <a:pPr>
              <a:lnSpc>
                <a:spcPct val="170000"/>
              </a:lnSpc>
            </a:pPr>
            <a:r>
              <a:rPr lang="en-US" sz="2400" dirty="0" smtClean="0">
                <a:solidFill>
                  <a:srgbClr val="FF0000"/>
                </a:solidFill>
                <a:latin typeface="Arial" pitchFamily="34" charset="0"/>
                <a:cs typeface="Arial" pitchFamily="34" charset="0"/>
              </a:rPr>
              <a:t>This is generally recognized as the beginning of Virology. </a:t>
            </a:r>
            <a:endParaRPr lang="en-US" sz="2400" dirty="0">
              <a:solidFill>
                <a:srgbClr val="FF0000"/>
              </a:solidFill>
              <a:latin typeface="Arial" pitchFamily="34" charset="0"/>
              <a:cs typeface="Arial" pitchFamily="34"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228600"/>
            <a:ext cx="6629400" cy="6858000"/>
          </a:xfrm>
        </p:spPr>
        <p:txBody>
          <a:bodyPr>
            <a:normAutofit/>
          </a:bodyPr>
          <a:lstStyle/>
          <a:p>
            <a:pPr>
              <a:lnSpc>
                <a:spcPct val="150000"/>
              </a:lnSpc>
              <a:buNone/>
            </a:pPr>
            <a:endParaRPr lang="en-US" sz="2400" dirty="0"/>
          </a:p>
          <a:p>
            <a:pPr>
              <a:lnSpc>
                <a:spcPct val="150000"/>
              </a:lnSpc>
            </a:pPr>
            <a:r>
              <a:rPr lang="en-US" sz="2400" b="1" dirty="0">
                <a:latin typeface="Arial" pitchFamily="34" charset="0"/>
                <a:cs typeface="Arial" pitchFamily="34" charset="0"/>
              </a:rPr>
              <a:t>1898: </a:t>
            </a:r>
            <a:r>
              <a:rPr lang="en-US" sz="2400" b="1" dirty="0" err="1">
                <a:solidFill>
                  <a:schemeClr val="accent2">
                    <a:lumMod val="75000"/>
                  </a:schemeClr>
                </a:solidFill>
                <a:latin typeface="Arial" pitchFamily="34" charset="0"/>
                <a:cs typeface="Arial" pitchFamily="34" charset="0"/>
              </a:rPr>
              <a:t>Martinus</a:t>
            </a:r>
            <a:r>
              <a:rPr lang="en-US" sz="2400" b="1" dirty="0">
                <a:solidFill>
                  <a:schemeClr val="accent2">
                    <a:lumMod val="75000"/>
                  </a:schemeClr>
                </a:solidFill>
                <a:latin typeface="Arial" pitchFamily="34" charset="0"/>
                <a:cs typeface="Arial" pitchFamily="34" charset="0"/>
              </a:rPr>
              <a:t> </a:t>
            </a:r>
            <a:r>
              <a:rPr lang="en-US" sz="2400" b="1" dirty="0" err="1">
                <a:solidFill>
                  <a:schemeClr val="accent2">
                    <a:lumMod val="75000"/>
                  </a:schemeClr>
                </a:solidFill>
                <a:latin typeface="Arial" pitchFamily="34" charset="0"/>
                <a:cs typeface="Arial" pitchFamily="34" charset="0"/>
              </a:rPr>
              <a:t>Beijerinick</a:t>
            </a:r>
            <a:r>
              <a:rPr lang="en-US" sz="2400" dirty="0">
                <a:latin typeface="Arial" pitchFamily="34" charset="0"/>
                <a:cs typeface="Arial" pitchFamily="34" charset="0"/>
              </a:rPr>
              <a:t> confirmed and extended </a:t>
            </a:r>
            <a:r>
              <a:rPr lang="en-US" sz="2400" dirty="0" err="1">
                <a:latin typeface="Arial" pitchFamily="34" charset="0"/>
                <a:cs typeface="Arial" pitchFamily="34" charset="0"/>
              </a:rPr>
              <a:t>Ivanovski's</a:t>
            </a:r>
            <a:r>
              <a:rPr lang="en-US" sz="2400" dirty="0">
                <a:latin typeface="Arial" pitchFamily="34" charset="0"/>
                <a:cs typeface="Arial" pitchFamily="34" charset="0"/>
              </a:rPr>
              <a:t> work with TMV and formed the first clear concept of the virus </a:t>
            </a:r>
            <a:r>
              <a:rPr lang="en-US" sz="2400" dirty="0">
                <a:solidFill>
                  <a:srgbClr val="C00000"/>
                </a:solidFill>
                <a:latin typeface="Arial" pitchFamily="34" charset="0"/>
                <a:cs typeface="Arial" pitchFamily="34" charset="0"/>
              </a:rPr>
              <a:t>"</a:t>
            </a:r>
            <a:r>
              <a:rPr lang="en-US" sz="2400" i="1" dirty="0" err="1">
                <a:solidFill>
                  <a:srgbClr val="C00000"/>
                </a:solidFill>
                <a:latin typeface="Arial" pitchFamily="34" charset="0"/>
                <a:cs typeface="Arial" pitchFamily="34" charset="0"/>
              </a:rPr>
              <a:t>contagium</a:t>
            </a:r>
            <a:r>
              <a:rPr lang="en-US" sz="2400" i="1" dirty="0">
                <a:solidFill>
                  <a:srgbClr val="C00000"/>
                </a:solidFill>
                <a:latin typeface="Arial" pitchFamily="34" charset="0"/>
                <a:cs typeface="Arial" pitchFamily="34" charset="0"/>
              </a:rPr>
              <a:t> </a:t>
            </a:r>
            <a:r>
              <a:rPr lang="en-US" sz="2400" i="1" dirty="0" err="1">
                <a:solidFill>
                  <a:srgbClr val="C00000"/>
                </a:solidFill>
                <a:latin typeface="Arial" pitchFamily="34" charset="0"/>
                <a:cs typeface="Arial" pitchFamily="34" charset="0"/>
              </a:rPr>
              <a:t>vivum</a:t>
            </a:r>
            <a:r>
              <a:rPr lang="en-US" sz="2400" i="1" dirty="0">
                <a:solidFill>
                  <a:srgbClr val="C00000"/>
                </a:solidFill>
                <a:latin typeface="Arial" pitchFamily="34" charset="0"/>
                <a:cs typeface="Arial" pitchFamily="34" charset="0"/>
              </a:rPr>
              <a:t> </a:t>
            </a:r>
            <a:r>
              <a:rPr lang="en-US" sz="2400" i="1" dirty="0" err="1">
                <a:solidFill>
                  <a:srgbClr val="C00000"/>
                </a:solidFill>
                <a:latin typeface="Arial" pitchFamily="34" charset="0"/>
                <a:cs typeface="Arial" pitchFamily="34" charset="0"/>
              </a:rPr>
              <a:t>fluidum</a:t>
            </a:r>
            <a:r>
              <a:rPr lang="en-US" sz="2400" dirty="0">
                <a:solidFill>
                  <a:srgbClr val="C00000"/>
                </a:solidFill>
                <a:latin typeface="Arial" pitchFamily="34" charset="0"/>
                <a:cs typeface="Arial" pitchFamily="34" charset="0"/>
              </a:rPr>
              <a:t>" - soluble living germ.</a:t>
            </a:r>
            <a:r>
              <a:rPr lang="en-US" sz="2400" dirty="0">
                <a:latin typeface="Arial" pitchFamily="34" charset="0"/>
                <a:cs typeface="Arial" pitchFamily="34" charset="0"/>
              </a:rPr>
              <a:t> </a:t>
            </a:r>
            <a:endParaRPr lang="en-US" sz="2400" dirty="0" smtClean="0">
              <a:latin typeface="Arial" pitchFamily="34" charset="0"/>
              <a:cs typeface="Arial" pitchFamily="34" charset="0"/>
            </a:endParaRPr>
          </a:p>
          <a:p>
            <a:pPr>
              <a:lnSpc>
                <a:spcPct val="150000"/>
              </a:lnSpc>
            </a:pPr>
            <a:r>
              <a:rPr lang="en-US" sz="2400" dirty="0" smtClean="0">
                <a:latin typeface="Arial" pitchFamily="34" charset="0"/>
                <a:cs typeface="Arial" pitchFamily="34" charset="0"/>
              </a:rPr>
              <a:t>He </a:t>
            </a:r>
            <a:r>
              <a:rPr lang="en-US" sz="2400" dirty="0">
                <a:latin typeface="Arial" pitchFamily="34" charset="0"/>
                <a:cs typeface="Arial" pitchFamily="34" charset="0"/>
              </a:rPr>
              <a:t>was the person who </a:t>
            </a:r>
            <a:r>
              <a:rPr lang="en-US" sz="2400" dirty="0">
                <a:solidFill>
                  <a:srgbClr val="C00000"/>
                </a:solidFill>
                <a:latin typeface="Arial" pitchFamily="34" charset="0"/>
                <a:cs typeface="Arial" pitchFamily="34" charset="0"/>
              </a:rPr>
              <a:t>developed the concept of the virus as a distinct entity</a:t>
            </a:r>
            <a:r>
              <a:rPr lang="en-US" sz="2400" dirty="0">
                <a:latin typeface="Arial" pitchFamily="34" charset="0"/>
                <a:cs typeface="Arial" pitchFamily="34" charset="0"/>
              </a:rPr>
              <a:t>. The question of whether the agent was a "living fluid" or a particle was however still open.</a:t>
            </a:r>
          </a:p>
          <a:p>
            <a:pPr>
              <a:lnSpc>
                <a:spcPct val="150000"/>
              </a:lnSpc>
            </a:pPr>
            <a:endParaRPr lang="en-US" sz="2400" dirty="0" smtClean="0">
              <a:latin typeface="Arial" pitchFamily="34" charset="0"/>
              <a:cs typeface="Arial" pitchFamily="34" charset="0"/>
            </a:endParaRPr>
          </a:p>
        </p:txBody>
      </p:sp>
      <p:pic>
        <p:nvPicPr>
          <p:cNvPr id="4" name="Picture 3" descr="http://upload.wikimedia.org/wikipedia/commons/thumb/4/46/Martinus_Beijerinck.png/220px-Martinus_Beijerinck.png">
            <a:hlinkClick r:id="rId3"/>
          </p:cNvPr>
          <p:cNvPicPr/>
          <p:nvPr/>
        </p:nvPicPr>
        <p:blipFill>
          <a:blip r:embed="rId4"/>
          <a:srcRect/>
          <a:stretch>
            <a:fillRect/>
          </a:stretch>
        </p:blipFill>
        <p:spPr bwMode="auto">
          <a:xfrm>
            <a:off x="6705600" y="381000"/>
            <a:ext cx="2286000" cy="3143250"/>
          </a:xfrm>
          <a:prstGeom prst="rect">
            <a:avLst/>
          </a:prstGeom>
          <a:noFill/>
          <a:ln w="9525">
            <a:noFill/>
            <a:miter lim="800000"/>
            <a:headEnd/>
            <a:tailEnd/>
          </a:ln>
        </p:spPr>
      </p:pic>
      <p:sp>
        <p:nvSpPr>
          <p:cNvPr id="56321" name="Rectangle 1"/>
          <p:cNvSpPr>
            <a:spLocks noChangeArrowheads="1"/>
          </p:cNvSpPr>
          <p:nvPr/>
        </p:nvSpPr>
        <p:spPr bwMode="auto">
          <a:xfrm>
            <a:off x="6858000" y="3657600"/>
            <a:ext cx="2438400" cy="369332"/>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b="0" i="0" u="none" strike="noStrike" cap="none" normalizeH="0" baseline="0" dirty="0" err="1">
                <a:ln>
                  <a:noFill/>
                </a:ln>
                <a:effectLst/>
                <a:latin typeface="Arial" pitchFamily="34" charset="0"/>
                <a:ea typeface="Times New Roman" pitchFamily="18" charset="0"/>
                <a:cs typeface="Arial" pitchFamily="34" charset="0"/>
              </a:rPr>
              <a:t>Martinus</a:t>
            </a:r>
            <a:r>
              <a:rPr kumimoji="0" lang="en-US" b="0" i="0" u="none" strike="noStrike" cap="none" normalizeH="0" baseline="0" dirty="0">
                <a:ln>
                  <a:noFill/>
                </a:ln>
                <a:effectLst/>
                <a:latin typeface="Arial" pitchFamily="34" charset="0"/>
                <a:ea typeface="Times New Roman" pitchFamily="18" charset="0"/>
                <a:cs typeface="Arial" pitchFamily="34" charset="0"/>
              </a:rPr>
              <a:t> </a:t>
            </a:r>
            <a:r>
              <a:rPr kumimoji="0" lang="en-US" b="0" i="0" u="none" strike="noStrike" cap="none" normalizeH="0" baseline="0" dirty="0" err="1">
                <a:ln>
                  <a:noFill/>
                </a:ln>
                <a:effectLst/>
                <a:latin typeface="Arial" pitchFamily="34" charset="0"/>
                <a:ea typeface="Times New Roman" pitchFamily="18" charset="0"/>
                <a:cs typeface="Arial" pitchFamily="34" charset="0"/>
              </a:rPr>
              <a:t>Beijerinick</a:t>
            </a:r>
            <a:endParaRPr kumimoji="0" lang="en-US" b="0" i="0" u="none" strike="noStrike" cap="none" normalizeH="0" baseline="0" dirty="0">
              <a:ln>
                <a:noFill/>
              </a:ln>
              <a:effectLst/>
              <a:latin typeface="Arial" pitchFamily="34" charset="0"/>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4294967295"/>
          </p:nvPr>
        </p:nvSpPr>
        <p:spPr>
          <a:xfrm>
            <a:off x="381000" y="609600"/>
            <a:ext cx="8229600" cy="4525963"/>
          </a:xfrm>
        </p:spPr>
        <p:txBody>
          <a:bodyPr>
            <a:noAutofit/>
          </a:bodyPr>
          <a:lstStyle/>
          <a:p>
            <a:pPr>
              <a:lnSpc>
                <a:spcPct val="150000"/>
              </a:lnSpc>
            </a:pPr>
            <a:r>
              <a:rPr lang="en-US" sz="2400" dirty="0" smtClean="0">
                <a:latin typeface="Arial" pitchFamily="34" charset="0"/>
                <a:cs typeface="Arial" pitchFamily="34" charset="0"/>
              </a:rPr>
              <a:t>1898:</a:t>
            </a:r>
            <a:r>
              <a:rPr lang="en-US" sz="2400" b="1" dirty="0" smtClean="0">
                <a:latin typeface="Arial" pitchFamily="34" charset="0"/>
                <a:cs typeface="Arial" pitchFamily="34" charset="0"/>
              </a:rPr>
              <a:t> </a:t>
            </a:r>
            <a:r>
              <a:rPr lang="en-US" sz="2400" b="1" dirty="0" err="1" smtClean="0">
                <a:solidFill>
                  <a:schemeClr val="accent2">
                    <a:lumMod val="75000"/>
                  </a:schemeClr>
                </a:solidFill>
                <a:latin typeface="Arial" pitchFamily="34" charset="0"/>
                <a:cs typeface="Arial" pitchFamily="34" charset="0"/>
              </a:rPr>
              <a:t>Freidrich</a:t>
            </a:r>
            <a:r>
              <a:rPr lang="en-US" sz="2400" b="1" dirty="0" smtClean="0">
                <a:solidFill>
                  <a:schemeClr val="accent2">
                    <a:lumMod val="75000"/>
                  </a:schemeClr>
                </a:solidFill>
                <a:latin typeface="Arial" pitchFamily="34" charset="0"/>
                <a:cs typeface="Arial" pitchFamily="34" charset="0"/>
              </a:rPr>
              <a:t> </a:t>
            </a:r>
            <a:r>
              <a:rPr lang="en-US" sz="2400" b="1" dirty="0" err="1" smtClean="0">
                <a:solidFill>
                  <a:schemeClr val="accent2">
                    <a:lumMod val="75000"/>
                  </a:schemeClr>
                </a:solidFill>
                <a:latin typeface="Arial" pitchFamily="34" charset="0"/>
                <a:cs typeface="Arial" pitchFamily="34" charset="0"/>
              </a:rPr>
              <a:t>Loeffler</a:t>
            </a:r>
            <a:r>
              <a:rPr lang="en-US" sz="2400" dirty="0" smtClean="0">
                <a:solidFill>
                  <a:schemeClr val="accent2">
                    <a:lumMod val="75000"/>
                  </a:schemeClr>
                </a:solidFill>
                <a:latin typeface="Arial" pitchFamily="34" charset="0"/>
                <a:cs typeface="Arial" pitchFamily="34" charset="0"/>
              </a:rPr>
              <a:t> and </a:t>
            </a:r>
            <a:r>
              <a:rPr lang="en-US" sz="2400" b="1" dirty="0" smtClean="0">
                <a:solidFill>
                  <a:schemeClr val="accent2">
                    <a:lumMod val="75000"/>
                  </a:schemeClr>
                </a:solidFill>
                <a:latin typeface="Arial" pitchFamily="34" charset="0"/>
                <a:cs typeface="Arial" pitchFamily="34" charset="0"/>
              </a:rPr>
              <a:t> Paul </a:t>
            </a:r>
            <a:r>
              <a:rPr lang="en-US" sz="2400" b="1" dirty="0" err="1" smtClean="0">
                <a:solidFill>
                  <a:schemeClr val="accent2">
                    <a:lumMod val="75000"/>
                  </a:schemeClr>
                </a:solidFill>
                <a:latin typeface="Arial" pitchFamily="34" charset="0"/>
                <a:cs typeface="Arial" pitchFamily="34" charset="0"/>
              </a:rPr>
              <a:t>Frosch</a:t>
            </a:r>
            <a:r>
              <a:rPr lang="en-US" sz="2400" dirty="0" smtClean="0">
                <a:latin typeface="Arial" pitchFamily="34" charset="0"/>
                <a:cs typeface="Arial" pitchFamily="34" charset="0"/>
              </a:rPr>
              <a:t> identified the first animal virus which causes </a:t>
            </a:r>
            <a:r>
              <a:rPr lang="en-US" sz="2400" b="1" dirty="0" smtClean="0">
                <a:latin typeface="Arial" pitchFamily="34" charset="0"/>
                <a:cs typeface="Arial" pitchFamily="34" charset="0"/>
              </a:rPr>
              <a:t>foot and mouth disease (FMD)</a:t>
            </a:r>
          </a:p>
          <a:p>
            <a:pPr>
              <a:lnSpc>
                <a:spcPct val="150000"/>
              </a:lnSpc>
            </a:pPr>
            <a:endParaRPr lang="en-US" sz="2400" dirty="0" smtClean="0">
              <a:solidFill>
                <a:srgbClr val="C00000"/>
              </a:solidFill>
              <a:latin typeface="Arial" pitchFamily="34" charset="0"/>
              <a:cs typeface="Arial" pitchFamily="34" charset="0"/>
            </a:endParaRPr>
          </a:p>
          <a:p>
            <a:pPr>
              <a:lnSpc>
                <a:spcPct val="150000"/>
              </a:lnSpc>
            </a:pPr>
            <a:r>
              <a:rPr lang="en-US" sz="2400" dirty="0" err="1" smtClean="0">
                <a:solidFill>
                  <a:srgbClr val="C00000"/>
                </a:solidFill>
                <a:latin typeface="Arial" pitchFamily="34" charset="0"/>
                <a:cs typeface="Arial" pitchFamily="34" charset="0"/>
              </a:rPr>
              <a:t>Loeffler</a:t>
            </a:r>
            <a:r>
              <a:rPr lang="en-US" sz="2400" dirty="0" smtClean="0">
                <a:solidFill>
                  <a:srgbClr val="C00000"/>
                </a:solidFill>
                <a:latin typeface="Arial" pitchFamily="34" charset="0"/>
                <a:cs typeface="Arial" pitchFamily="34" charset="0"/>
              </a:rPr>
              <a:t> and </a:t>
            </a:r>
            <a:r>
              <a:rPr lang="en-US" sz="2400" dirty="0" err="1" smtClean="0">
                <a:solidFill>
                  <a:srgbClr val="C00000"/>
                </a:solidFill>
                <a:latin typeface="Arial" pitchFamily="34" charset="0"/>
                <a:cs typeface="Arial" pitchFamily="34" charset="0"/>
              </a:rPr>
              <a:t>Frosch</a:t>
            </a:r>
            <a:r>
              <a:rPr lang="en-US" sz="2400" dirty="0" smtClean="0">
                <a:solidFill>
                  <a:srgbClr val="C00000"/>
                </a:solidFill>
                <a:latin typeface="Arial" pitchFamily="34" charset="0"/>
                <a:cs typeface="Arial" pitchFamily="34" charset="0"/>
              </a:rPr>
              <a:t> </a:t>
            </a:r>
            <a:r>
              <a:rPr lang="en-US" sz="2400" dirty="0" smtClean="0">
                <a:latin typeface="Arial" pitchFamily="34" charset="0"/>
                <a:cs typeface="Arial" pitchFamily="34" charset="0"/>
              </a:rPr>
              <a:t>were the first to prove that viruses could infect animals as well as plants</a:t>
            </a:r>
            <a:r>
              <a:rPr lang="en-US" sz="2400" dirty="0" smtClean="0">
                <a:latin typeface="Arial" pitchFamily="34" charset="0"/>
                <a:cs typeface="Arial" pitchFamily="34" charset="0"/>
              </a:rPr>
              <a:t>.</a:t>
            </a:r>
          </a:p>
          <a:p>
            <a:pPr>
              <a:lnSpc>
                <a:spcPct val="150000"/>
              </a:lnSpc>
            </a:pPr>
            <a:endParaRPr lang="en-US" sz="2400" b="1" dirty="0" smtClean="0">
              <a:latin typeface="Arial" pitchFamily="34" charset="0"/>
              <a:cs typeface="Arial" pitchFamily="34" charset="0"/>
            </a:endParaRPr>
          </a:p>
          <a:p>
            <a:pPr>
              <a:lnSpc>
                <a:spcPct val="150000"/>
              </a:lnSpc>
            </a:pPr>
            <a:r>
              <a:rPr lang="en-US" sz="2400" b="1" dirty="0" smtClean="0">
                <a:latin typeface="Arial" pitchFamily="34" charset="0"/>
                <a:cs typeface="Arial" pitchFamily="34" charset="0"/>
              </a:rPr>
              <a:t>1900</a:t>
            </a:r>
            <a:r>
              <a:rPr lang="en-US" sz="2400" b="1" dirty="0" smtClean="0">
                <a:latin typeface="Arial" pitchFamily="34" charset="0"/>
                <a:cs typeface="Arial" pitchFamily="34" charset="0"/>
              </a:rPr>
              <a:t>: </a:t>
            </a:r>
            <a:r>
              <a:rPr lang="en-US" sz="2400" b="1" dirty="0" smtClean="0">
                <a:solidFill>
                  <a:schemeClr val="accent2">
                    <a:lumMod val="75000"/>
                  </a:schemeClr>
                </a:solidFill>
                <a:latin typeface="Arial" pitchFamily="34" charset="0"/>
                <a:cs typeface="Arial" pitchFamily="34" charset="0"/>
              </a:rPr>
              <a:t>Walter Reed</a:t>
            </a:r>
            <a:r>
              <a:rPr lang="en-US" sz="2400" dirty="0" smtClean="0">
                <a:latin typeface="Arial" pitchFamily="34" charset="0"/>
                <a:cs typeface="Arial" pitchFamily="34" charset="0"/>
              </a:rPr>
              <a:t>  demonstrated that yellow fever was caused by a virus, spread by mosquitoes.</a:t>
            </a:r>
          </a:p>
          <a:p>
            <a:pPr>
              <a:lnSpc>
                <a:spcPct val="150000"/>
              </a:lnSpc>
            </a:pPr>
            <a:endParaRPr lang="en-US" sz="2400" dirty="0" smtClean="0">
              <a:latin typeface="Arial" pitchFamily="34" charset="0"/>
              <a:cs typeface="Arial" pitchFamily="34" charset="0"/>
            </a:endParaRPr>
          </a:p>
          <a:p>
            <a:pPr>
              <a:lnSpc>
                <a:spcPct val="150000"/>
              </a:lnSpc>
            </a:pPr>
            <a:endParaRPr lang="en-US" sz="24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4294967295"/>
          </p:nvPr>
        </p:nvSpPr>
        <p:spPr>
          <a:xfrm>
            <a:off x="304800" y="304800"/>
            <a:ext cx="8534400" cy="4525963"/>
          </a:xfrm>
        </p:spPr>
        <p:txBody>
          <a:bodyPr>
            <a:noAutofit/>
          </a:bodyPr>
          <a:lstStyle/>
          <a:p>
            <a:pPr algn="just">
              <a:lnSpc>
                <a:spcPct val="150000"/>
              </a:lnSpc>
            </a:pPr>
            <a:r>
              <a:rPr lang="en-US" sz="2400" b="1" dirty="0" smtClean="0">
                <a:latin typeface="Arial" pitchFamily="34" charset="0"/>
                <a:cs typeface="Arial" pitchFamily="34" charset="0"/>
              </a:rPr>
              <a:t>1908:Karl </a:t>
            </a:r>
            <a:r>
              <a:rPr lang="en-US" sz="2400" b="1" dirty="0">
                <a:latin typeface="Arial" pitchFamily="34" charset="0"/>
                <a:cs typeface="Arial" pitchFamily="34" charset="0"/>
              </a:rPr>
              <a:t>Landsteiner </a:t>
            </a:r>
            <a:r>
              <a:rPr lang="en-US" sz="2400" dirty="0">
                <a:latin typeface="Arial" pitchFamily="34" charset="0"/>
                <a:cs typeface="Arial" pitchFamily="34" charset="0"/>
              </a:rPr>
              <a:t>and</a:t>
            </a:r>
            <a:r>
              <a:rPr lang="en-US" sz="2400" b="1" dirty="0">
                <a:latin typeface="Arial" pitchFamily="34" charset="0"/>
                <a:cs typeface="Arial" pitchFamily="34" charset="0"/>
              </a:rPr>
              <a:t>  Erwin Popper </a:t>
            </a:r>
            <a:r>
              <a:rPr lang="en-US" sz="2400" dirty="0">
                <a:latin typeface="Arial" pitchFamily="34" charset="0"/>
                <a:cs typeface="Arial" pitchFamily="34" charset="0"/>
              </a:rPr>
              <a:t>proved that poliomyelitis was caused by a virus. Landsteiner and Popper were the first to prove that viruses could infect humans as well as animals.</a:t>
            </a:r>
          </a:p>
          <a:p>
            <a:pPr algn="just">
              <a:lnSpc>
                <a:spcPct val="150000"/>
              </a:lnSpc>
            </a:pPr>
            <a:r>
              <a:rPr lang="en-US" sz="2400" b="1" dirty="0" smtClean="0">
                <a:latin typeface="Arial" pitchFamily="34" charset="0"/>
                <a:cs typeface="Arial" pitchFamily="34" charset="0"/>
              </a:rPr>
              <a:t>1911</a:t>
            </a:r>
            <a:r>
              <a:rPr lang="en-US" sz="2400" dirty="0">
                <a:latin typeface="Arial" pitchFamily="34" charset="0"/>
                <a:cs typeface="Arial" pitchFamily="34" charset="0"/>
              </a:rPr>
              <a:t>: </a:t>
            </a:r>
            <a:r>
              <a:rPr lang="en-US" sz="2400" b="1" dirty="0">
                <a:solidFill>
                  <a:schemeClr val="accent2">
                    <a:lumMod val="75000"/>
                  </a:schemeClr>
                </a:solidFill>
                <a:latin typeface="Arial" pitchFamily="34" charset="0"/>
                <a:cs typeface="Arial" pitchFamily="34" charset="0"/>
              </a:rPr>
              <a:t>Francis Peyton Rous</a:t>
            </a:r>
            <a:r>
              <a:rPr lang="en-US" sz="2400" dirty="0">
                <a:latin typeface="Arial" pitchFamily="34" charset="0"/>
                <a:cs typeface="Arial" pitchFamily="34" charset="0"/>
              </a:rPr>
              <a:t> (1879-1970) demonstrated that a virus (Rous sarcoma virus) can cause cancer in chickens (Nobel Prize, 1966) . He was the </a:t>
            </a:r>
            <a:r>
              <a:rPr lang="en-US" sz="2400" dirty="0">
                <a:solidFill>
                  <a:srgbClr val="FF0000"/>
                </a:solidFill>
                <a:latin typeface="Arial" pitchFamily="34" charset="0"/>
                <a:cs typeface="Arial" pitchFamily="34" charset="0"/>
              </a:rPr>
              <a:t>first person to show that a virus could cause cancer.</a:t>
            </a:r>
            <a:r>
              <a:rPr lang="en-US" sz="2400" dirty="0">
                <a:latin typeface="Arial" pitchFamily="34" charset="0"/>
                <a:cs typeface="Arial" pitchFamily="34" charset="0"/>
              </a:rPr>
              <a:t> It was later called Rous sarcoma virus 1 and understood to be a retrovirus. Several other cancer-causing retroviruses have since been described.</a:t>
            </a:r>
          </a:p>
          <a:p>
            <a:pPr algn="just">
              <a:lnSpc>
                <a:spcPct val="150000"/>
              </a:lnSpc>
              <a:buNone/>
            </a:pPr>
            <a:endParaRPr lang="en-US" sz="24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228600"/>
            <a:ext cx="9144000" cy="6858000"/>
          </a:xfrm>
        </p:spPr>
        <p:txBody>
          <a:bodyPr>
            <a:normAutofit/>
          </a:bodyPr>
          <a:lstStyle/>
          <a:p>
            <a:pPr>
              <a:lnSpc>
                <a:spcPct val="150000"/>
              </a:lnSpc>
            </a:pPr>
            <a:r>
              <a:rPr lang="en-US" sz="2400" b="1" dirty="0" smtClean="0">
                <a:latin typeface="Arial" pitchFamily="34" charset="0"/>
                <a:cs typeface="Arial" pitchFamily="34" charset="0"/>
              </a:rPr>
              <a:t>1915:</a:t>
            </a:r>
            <a:r>
              <a:rPr lang="en-US" sz="2400" b="1" dirty="0">
                <a:latin typeface="Arial" pitchFamily="34" charset="0"/>
                <a:cs typeface="Arial" pitchFamily="34" charset="0"/>
              </a:rPr>
              <a:t> Frederick </a:t>
            </a:r>
            <a:r>
              <a:rPr lang="en-US" sz="2400" b="1" dirty="0" err="1">
                <a:latin typeface="Arial" pitchFamily="34" charset="0"/>
                <a:cs typeface="Arial" pitchFamily="34" charset="0"/>
              </a:rPr>
              <a:t>Twort</a:t>
            </a:r>
            <a:r>
              <a:rPr lang="en-US" sz="2400" dirty="0">
                <a:latin typeface="Arial" pitchFamily="34" charset="0"/>
                <a:cs typeface="Arial" pitchFamily="34" charset="0"/>
              </a:rPr>
              <a:t> The existence of viruses that infect bacteria </a:t>
            </a:r>
            <a:r>
              <a:rPr lang="en-US" sz="2400" dirty="0">
                <a:solidFill>
                  <a:srgbClr val="C00000"/>
                </a:solidFill>
                <a:latin typeface="Arial" pitchFamily="34" charset="0"/>
                <a:cs typeface="Arial" pitchFamily="34" charset="0"/>
              </a:rPr>
              <a:t>(</a:t>
            </a:r>
            <a:r>
              <a:rPr lang="en-US" sz="2400" dirty="0" err="1">
                <a:solidFill>
                  <a:srgbClr val="C00000"/>
                </a:solidFill>
                <a:latin typeface="Arial" pitchFamily="34" charset="0"/>
                <a:cs typeface="Arial" pitchFamily="34" charset="0"/>
              </a:rPr>
              <a:t>bacteriophages</a:t>
            </a:r>
            <a:r>
              <a:rPr lang="en-US" sz="2400" dirty="0">
                <a:solidFill>
                  <a:srgbClr val="C00000"/>
                </a:solidFill>
                <a:latin typeface="Arial" pitchFamily="34" charset="0"/>
                <a:cs typeface="Arial" pitchFamily="34" charset="0"/>
              </a:rPr>
              <a:t>) </a:t>
            </a:r>
            <a:r>
              <a:rPr lang="en-US" sz="2400" dirty="0">
                <a:latin typeface="Arial" pitchFamily="34" charset="0"/>
                <a:cs typeface="Arial" pitchFamily="34" charset="0"/>
              </a:rPr>
              <a:t>was first discovered.</a:t>
            </a:r>
          </a:p>
          <a:p>
            <a:pPr>
              <a:lnSpc>
                <a:spcPct val="150000"/>
              </a:lnSpc>
            </a:pPr>
            <a:endParaRPr lang="en-US" sz="2400" b="1" dirty="0" smtClean="0">
              <a:latin typeface="Arial" pitchFamily="34" charset="0"/>
              <a:cs typeface="Arial" pitchFamily="34" charset="0"/>
            </a:endParaRPr>
          </a:p>
          <a:p>
            <a:pPr>
              <a:lnSpc>
                <a:spcPct val="150000"/>
              </a:lnSpc>
            </a:pPr>
            <a:r>
              <a:rPr lang="en-US" sz="2400" b="1" dirty="0" smtClean="0">
                <a:latin typeface="Arial" pitchFamily="34" charset="0"/>
                <a:cs typeface="Arial" pitchFamily="34" charset="0"/>
              </a:rPr>
              <a:t>1917</a:t>
            </a:r>
            <a:r>
              <a:rPr lang="en-US" sz="2400" b="1" dirty="0">
                <a:latin typeface="Arial" pitchFamily="34" charset="0"/>
                <a:cs typeface="Arial" pitchFamily="34" charset="0"/>
              </a:rPr>
              <a:t>:  Felix </a:t>
            </a:r>
            <a:r>
              <a:rPr lang="en-US" sz="2400" b="1" dirty="0" err="1">
                <a:latin typeface="Arial" pitchFamily="34" charset="0"/>
                <a:cs typeface="Arial" pitchFamily="34" charset="0"/>
              </a:rPr>
              <a:t>d'Herelle</a:t>
            </a:r>
            <a:r>
              <a:rPr lang="en-US" sz="2400" dirty="0">
                <a:latin typeface="Arial" pitchFamily="34" charset="0"/>
                <a:cs typeface="Arial" pitchFamily="34" charset="0"/>
              </a:rPr>
              <a:t> independently discovered viruses of bacteria and coined the term </a:t>
            </a:r>
            <a:r>
              <a:rPr lang="en-US" sz="2400" b="1" dirty="0" err="1">
                <a:latin typeface="Arial" pitchFamily="34" charset="0"/>
                <a:cs typeface="Arial" pitchFamily="34" charset="0"/>
              </a:rPr>
              <a:t>bacteriophage</a:t>
            </a:r>
            <a:r>
              <a:rPr lang="en-US" sz="2400" dirty="0">
                <a:latin typeface="Arial" pitchFamily="34" charset="0"/>
                <a:cs typeface="Arial" pitchFamily="34" charset="0"/>
              </a:rPr>
              <a:t>. </a:t>
            </a:r>
          </a:p>
          <a:p>
            <a:pPr>
              <a:lnSpc>
                <a:spcPct val="150000"/>
              </a:lnSpc>
            </a:pPr>
            <a:endParaRPr lang="en-US" sz="2400" b="1" dirty="0" smtClean="0">
              <a:latin typeface="Arial" pitchFamily="34" charset="0"/>
              <a:cs typeface="Arial" pitchFamily="34" charset="0"/>
            </a:endParaRPr>
          </a:p>
          <a:p>
            <a:pPr>
              <a:lnSpc>
                <a:spcPct val="150000"/>
              </a:lnSpc>
            </a:pPr>
            <a:r>
              <a:rPr lang="en-US" sz="2400" b="1" dirty="0" smtClean="0">
                <a:latin typeface="Arial" pitchFamily="34" charset="0"/>
                <a:cs typeface="Arial" pitchFamily="34" charset="0"/>
              </a:rPr>
              <a:t>1935</a:t>
            </a:r>
            <a:r>
              <a:rPr lang="en-US" sz="2400" dirty="0">
                <a:latin typeface="Arial" pitchFamily="34" charset="0"/>
                <a:cs typeface="Arial" pitchFamily="34" charset="0"/>
              </a:rPr>
              <a:t>: </a:t>
            </a:r>
            <a:r>
              <a:rPr lang="en-US" sz="2400" b="1" dirty="0">
                <a:solidFill>
                  <a:schemeClr val="accent2">
                    <a:lumMod val="75000"/>
                  </a:schemeClr>
                </a:solidFill>
                <a:latin typeface="Arial" pitchFamily="34" charset="0"/>
                <a:cs typeface="Arial" pitchFamily="34" charset="0"/>
              </a:rPr>
              <a:t>Wendell Stanley</a:t>
            </a:r>
            <a:r>
              <a:rPr lang="en-US" sz="2400" dirty="0">
                <a:latin typeface="Arial" pitchFamily="34" charset="0"/>
                <a:cs typeface="Arial" pitchFamily="34" charset="0"/>
              </a:rPr>
              <a:t>  </a:t>
            </a:r>
            <a:r>
              <a:rPr lang="en-US" sz="2400" dirty="0" smtClean="0">
                <a:latin typeface="Arial" pitchFamily="34" charset="0"/>
                <a:cs typeface="Arial" pitchFamily="34" charset="0"/>
              </a:rPr>
              <a:t>crystallized (</a:t>
            </a:r>
            <a:r>
              <a:rPr lang="en-US" sz="2400" dirty="0">
                <a:latin typeface="Arial" pitchFamily="34" charset="0"/>
                <a:cs typeface="Arial" pitchFamily="34" charset="0"/>
              </a:rPr>
              <a:t>TMV) and </a:t>
            </a:r>
            <a:r>
              <a:rPr lang="en-US" sz="2400" dirty="0" smtClean="0">
                <a:latin typeface="Arial" pitchFamily="34" charset="0"/>
                <a:cs typeface="Arial" pitchFamily="34" charset="0"/>
              </a:rPr>
              <a:t>showed </a:t>
            </a:r>
            <a:r>
              <a:rPr lang="en-US" sz="2400" dirty="0">
                <a:latin typeface="Arial" pitchFamily="34" charset="0"/>
                <a:cs typeface="Arial" pitchFamily="34" charset="0"/>
              </a:rPr>
              <a:t>that it remains infectious (Nobel Prize, 1946).</a:t>
            </a:r>
          </a:p>
          <a:p>
            <a:pPr>
              <a:lnSpc>
                <a:spcPct val="150000"/>
              </a:lnSpc>
            </a:pPr>
            <a:r>
              <a:rPr lang="en-US" sz="2400" dirty="0">
                <a:latin typeface="Arial" pitchFamily="34" charset="0"/>
                <a:cs typeface="Arial" pitchFamily="34" charset="0"/>
              </a:rPr>
              <a:t>Stanley's work was the first step towards describing the molecular structure of any virus and helped to further illuminate the nature of viruses. </a:t>
            </a:r>
          </a:p>
          <a:p>
            <a:pPr>
              <a:lnSpc>
                <a:spcPct val="150000"/>
              </a:lnSpc>
            </a:pPr>
            <a:endParaRPr lang="en-US" sz="2400" b="1" dirty="0" smtClean="0">
              <a:latin typeface="Arial" pitchFamily="34" charset="0"/>
              <a:cs typeface="Arial" pitchFamily="34" charset="0"/>
            </a:endParaRPr>
          </a:p>
          <a:p>
            <a:pPr>
              <a:lnSpc>
                <a:spcPct val="150000"/>
              </a:lnSpc>
            </a:pPr>
            <a:endParaRPr lang="en-US" dirty="0"/>
          </a:p>
          <a:p>
            <a:pPr>
              <a:lnSpc>
                <a:spcPct val="150000"/>
              </a:lnSpc>
            </a:pPr>
            <a:endParaRPr lang="en-US"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4294967295"/>
          </p:nvPr>
        </p:nvSpPr>
        <p:spPr>
          <a:xfrm>
            <a:off x="304800" y="457200"/>
            <a:ext cx="8229600" cy="4525963"/>
          </a:xfrm>
        </p:spPr>
        <p:txBody>
          <a:bodyPr>
            <a:noAutofit/>
          </a:bodyPr>
          <a:lstStyle/>
          <a:p>
            <a:pPr algn="just">
              <a:lnSpc>
                <a:spcPct val="150000"/>
              </a:lnSpc>
            </a:pPr>
            <a:r>
              <a:rPr lang="en-US" sz="2400" b="1" dirty="0" smtClean="0">
                <a:latin typeface="Arial" pitchFamily="34" charset="0"/>
                <a:cs typeface="Arial" pitchFamily="34" charset="0"/>
              </a:rPr>
              <a:t>1937</a:t>
            </a:r>
            <a:r>
              <a:rPr lang="en-US" sz="2400" dirty="0" smtClean="0">
                <a:latin typeface="Arial" pitchFamily="34" charset="0"/>
                <a:cs typeface="Arial" pitchFamily="34" charset="0"/>
              </a:rPr>
              <a:t>: </a:t>
            </a:r>
            <a:r>
              <a:rPr lang="en-US" sz="2400" b="1" dirty="0" smtClean="0">
                <a:solidFill>
                  <a:schemeClr val="accent2">
                    <a:lumMod val="75000"/>
                  </a:schemeClr>
                </a:solidFill>
                <a:latin typeface="Arial" pitchFamily="34" charset="0"/>
                <a:cs typeface="Arial" pitchFamily="34" charset="0"/>
              </a:rPr>
              <a:t>Max Theiler </a:t>
            </a:r>
            <a:r>
              <a:rPr lang="en-US" sz="2400" dirty="0" smtClean="0">
                <a:latin typeface="Arial" pitchFamily="34" charset="0"/>
                <a:cs typeface="Arial" pitchFamily="34" charset="0"/>
              </a:rPr>
              <a:t>was the first to propagate yellow fever virus in chick embryos and successfully produced live attenuated vaccine - the 17D strain. </a:t>
            </a:r>
            <a:r>
              <a:rPr lang="en-US" sz="2400" dirty="0" smtClean="0"/>
              <a:t>(Nobel Prize, 1951). </a:t>
            </a:r>
            <a:endParaRPr lang="en-US" sz="2400" dirty="0" smtClean="0"/>
          </a:p>
          <a:p>
            <a:pPr algn="just">
              <a:lnSpc>
                <a:spcPct val="150000"/>
              </a:lnSpc>
            </a:pPr>
            <a:endParaRPr lang="en-US" sz="2400" b="1" dirty="0" smtClean="0">
              <a:latin typeface="Arial" pitchFamily="34" charset="0"/>
              <a:cs typeface="Arial" pitchFamily="34" charset="0"/>
            </a:endParaRPr>
          </a:p>
          <a:p>
            <a:pPr algn="just">
              <a:lnSpc>
                <a:spcPct val="150000"/>
              </a:lnSpc>
            </a:pPr>
            <a:r>
              <a:rPr lang="en-US" sz="2400" b="1" dirty="0" smtClean="0">
                <a:latin typeface="Arial" pitchFamily="34" charset="0"/>
                <a:cs typeface="Arial" pitchFamily="34" charset="0"/>
              </a:rPr>
              <a:t>1939(1937</a:t>
            </a:r>
            <a:r>
              <a:rPr lang="en-US" sz="2400" b="1" dirty="0" smtClean="0">
                <a:latin typeface="Arial" pitchFamily="34" charset="0"/>
                <a:cs typeface="Arial" pitchFamily="34" charset="0"/>
              </a:rPr>
              <a:t>):  </a:t>
            </a:r>
            <a:r>
              <a:rPr lang="en-US" sz="2400" b="1" dirty="0" smtClean="0">
                <a:solidFill>
                  <a:schemeClr val="accent2">
                    <a:lumMod val="75000"/>
                  </a:schemeClr>
                </a:solidFill>
                <a:latin typeface="Arial" pitchFamily="34" charset="0"/>
                <a:cs typeface="Arial" pitchFamily="34" charset="0"/>
              </a:rPr>
              <a:t>Emory Ellis</a:t>
            </a:r>
            <a:r>
              <a:rPr lang="en-US" sz="2400" dirty="0" smtClean="0">
                <a:solidFill>
                  <a:schemeClr val="accent2">
                    <a:lumMod val="75000"/>
                  </a:schemeClr>
                </a:solidFill>
                <a:latin typeface="Arial" pitchFamily="34" charset="0"/>
                <a:cs typeface="Arial" pitchFamily="34" charset="0"/>
              </a:rPr>
              <a:t> and </a:t>
            </a:r>
            <a:r>
              <a:rPr lang="en-US" sz="2400" b="1" dirty="0" smtClean="0">
                <a:solidFill>
                  <a:schemeClr val="accent2">
                    <a:lumMod val="75000"/>
                  </a:schemeClr>
                </a:solidFill>
                <a:latin typeface="Arial" pitchFamily="34" charset="0"/>
                <a:cs typeface="Arial" pitchFamily="34" charset="0"/>
              </a:rPr>
              <a:t> Max Delbruck</a:t>
            </a:r>
            <a:r>
              <a:rPr lang="en-US" sz="2400" dirty="0" smtClean="0">
                <a:latin typeface="Arial" pitchFamily="34" charset="0"/>
                <a:cs typeface="Arial" pitchFamily="34" charset="0"/>
              </a:rPr>
              <a:t> established the concept of the "</a:t>
            </a:r>
            <a:r>
              <a:rPr lang="en-US" sz="2400" dirty="0" smtClean="0">
                <a:solidFill>
                  <a:srgbClr val="C00000"/>
                </a:solidFill>
                <a:latin typeface="Arial" pitchFamily="34" charset="0"/>
                <a:cs typeface="Arial" pitchFamily="34" charset="0"/>
              </a:rPr>
              <a:t>one step virus growth cycle</a:t>
            </a:r>
            <a:r>
              <a:rPr lang="en-US" sz="2400" dirty="0" smtClean="0">
                <a:latin typeface="Arial" pitchFamily="34" charset="0"/>
                <a:cs typeface="Arial" pitchFamily="34" charset="0"/>
              </a:rPr>
              <a:t>" essential to the understanding of virus replication (Nobel Prize, 1969). - that virus particles do not "grow" but are instead assembled from preformed components. </a:t>
            </a:r>
          </a:p>
          <a:p>
            <a:pPr algn="just">
              <a:lnSpc>
                <a:spcPct val="150000"/>
              </a:lnSpc>
            </a:pPr>
            <a:endParaRPr lang="en-US" sz="2400" dirty="0" smtClean="0">
              <a:latin typeface="Arial" pitchFamily="34" charset="0"/>
              <a:cs typeface="Arial" pitchFamily="34" charset="0"/>
            </a:endParaRPr>
          </a:p>
          <a:p>
            <a:pPr algn="just">
              <a:lnSpc>
                <a:spcPct val="150000"/>
              </a:lnSpc>
            </a:pPr>
            <a:endParaRPr lang="en-US" sz="24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0"/>
            <a:ext cx="9144000" cy="6858000"/>
          </a:xfrm>
        </p:spPr>
        <p:txBody>
          <a:bodyPr>
            <a:normAutofit/>
          </a:bodyPr>
          <a:lstStyle/>
          <a:p>
            <a:pPr>
              <a:lnSpc>
                <a:spcPct val="150000"/>
              </a:lnSpc>
            </a:pPr>
            <a:endParaRPr lang="en-US" sz="2400" b="1" dirty="0" smtClean="0">
              <a:latin typeface="Arial" pitchFamily="34" charset="0"/>
              <a:cs typeface="Arial" pitchFamily="34" charset="0"/>
            </a:endParaRPr>
          </a:p>
          <a:p>
            <a:pPr algn="just">
              <a:lnSpc>
                <a:spcPct val="150000"/>
              </a:lnSpc>
            </a:pPr>
            <a:r>
              <a:rPr lang="en-US" sz="2400" b="1" dirty="0" smtClean="0">
                <a:latin typeface="Arial" pitchFamily="34" charset="0"/>
                <a:cs typeface="Arial" pitchFamily="34" charset="0"/>
              </a:rPr>
              <a:t>1940</a:t>
            </a:r>
            <a:r>
              <a:rPr lang="en-US" sz="2400" b="1" dirty="0">
                <a:latin typeface="Arial" pitchFamily="34" charset="0"/>
                <a:cs typeface="Arial" pitchFamily="34" charset="0"/>
              </a:rPr>
              <a:t>: </a:t>
            </a:r>
            <a:r>
              <a:rPr lang="en-US" sz="2400" b="1" dirty="0" smtClean="0">
                <a:solidFill>
                  <a:schemeClr val="accent2">
                    <a:lumMod val="75000"/>
                  </a:schemeClr>
                </a:solidFill>
                <a:latin typeface="Arial" pitchFamily="34" charset="0"/>
                <a:cs typeface="Arial" pitchFamily="34" charset="0"/>
              </a:rPr>
              <a:t>Helmut </a:t>
            </a:r>
            <a:r>
              <a:rPr lang="en-US" sz="2400" b="1" dirty="0">
                <a:solidFill>
                  <a:schemeClr val="accent2">
                    <a:lumMod val="75000"/>
                  </a:schemeClr>
                </a:solidFill>
                <a:latin typeface="Arial" pitchFamily="34" charset="0"/>
                <a:cs typeface="Arial" pitchFamily="34" charset="0"/>
              </a:rPr>
              <a:t>Ruska</a:t>
            </a:r>
            <a:r>
              <a:rPr lang="en-US" sz="2400" dirty="0">
                <a:latin typeface="Arial" pitchFamily="34" charset="0"/>
                <a:cs typeface="Arial" pitchFamily="34" charset="0"/>
              </a:rPr>
              <a:t> used an electron microscope to take the first pictures of virus particles. Along with other physical studies of viruses, direct visualization of </a:t>
            </a:r>
            <a:r>
              <a:rPr lang="en-US" sz="2400" b="1" dirty="0" err="1">
                <a:latin typeface="Arial" pitchFamily="34" charset="0"/>
                <a:cs typeface="Arial" pitchFamily="34" charset="0"/>
              </a:rPr>
              <a:t>virions</a:t>
            </a:r>
            <a:r>
              <a:rPr lang="en-US" sz="2400" dirty="0">
                <a:latin typeface="Arial" pitchFamily="34" charset="0"/>
                <a:cs typeface="Arial" pitchFamily="34" charset="0"/>
              </a:rPr>
              <a:t> was an important advance in understanding virus structure.</a:t>
            </a:r>
          </a:p>
          <a:p>
            <a:pPr>
              <a:lnSpc>
                <a:spcPct val="150000"/>
              </a:lnSpc>
            </a:pPr>
            <a:r>
              <a:rPr lang="en-US" sz="2400" b="1" dirty="0">
                <a:latin typeface="Arial" pitchFamily="34" charset="0"/>
                <a:cs typeface="Arial" pitchFamily="34" charset="0"/>
              </a:rPr>
              <a:t>1941:  George </a:t>
            </a:r>
            <a:r>
              <a:rPr lang="en-US" sz="2400" b="1" dirty="0" err="1">
                <a:latin typeface="Arial" pitchFamily="34" charset="0"/>
                <a:cs typeface="Arial" pitchFamily="34" charset="0"/>
              </a:rPr>
              <a:t>Hirst</a:t>
            </a:r>
            <a:r>
              <a:rPr lang="en-US" sz="2400" dirty="0">
                <a:latin typeface="Arial" pitchFamily="34" charset="0"/>
                <a:cs typeface="Arial" pitchFamily="34" charset="0"/>
              </a:rPr>
              <a:t> demonstrated that influenza virus agglutinates red blood cells. </a:t>
            </a:r>
            <a:r>
              <a:rPr lang="en-US" sz="2400" dirty="0">
                <a:solidFill>
                  <a:srgbClr val="C00000"/>
                </a:solidFill>
                <a:latin typeface="Arial" pitchFamily="34" charset="0"/>
                <a:cs typeface="Arial" pitchFamily="34" charset="0"/>
              </a:rPr>
              <a:t>This was the first rapid, quantitative method of measuring eukaryotic viruses</a:t>
            </a:r>
            <a:r>
              <a:rPr lang="en-US" sz="2400" dirty="0">
                <a:latin typeface="Arial" pitchFamily="34" charset="0"/>
                <a:cs typeface="Arial" pitchFamily="34" charset="0"/>
              </a:rPr>
              <a:t>. </a:t>
            </a:r>
          </a:p>
          <a:p>
            <a:pPr>
              <a:lnSpc>
                <a:spcPct val="150000"/>
              </a:lnSpc>
            </a:pPr>
            <a:r>
              <a:rPr lang="en-US" sz="2400" b="1" dirty="0"/>
              <a:t>1945:  </a:t>
            </a:r>
            <a:r>
              <a:rPr lang="en-US" sz="2400" b="1" dirty="0">
                <a:latin typeface="Arial" pitchFamily="34" charset="0"/>
                <a:cs typeface="Arial" pitchFamily="34" charset="0"/>
              </a:rPr>
              <a:t>Salvador Luria</a:t>
            </a:r>
            <a:r>
              <a:rPr lang="en-US" sz="2400" dirty="0">
                <a:latin typeface="Arial" pitchFamily="34" charset="0"/>
                <a:cs typeface="Arial" pitchFamily="34" charset="0"/>
              </a:rPr>
              <a:t> (1912-1991) and </a:t>
            </a:r>
            <a:r>
              <a:rPr lang="en-US" sz="2400" b="1" dirty="0">
                <a:latin typeface="Arial" pitchFamily="34" charset="0"/>
                <a:cs typeface="Arial" pitchFamily="34" charset="0"/>
              </a:rPr>
              <a:t>Alfred Hershey</a:t>
            </a:r>
            <a:r>
              <a:rPr lang="en-US" sz="2400" dirty="0">
                <a:latin typeface="Arial" pitchFamily="34" charset="0"/>
                <a:cs typeface="Arial" pitchFamily="34" charset="0"/>
              </a:rPr>
              <a:t>(1908-1997) demonstrated that </a:t>
            </a:r>
            <a:r>
              <a:rPr lang="en-US" sz="2400" b="1" dirty="0" err="1">
                <a:latin typeface="Arial" pitchFamily="34" charset="0"/>
                <a:cs typeface="Arial" pitchFamily="34" charset="0"/>
              </a:rPr>
              <a:t>bacteriophages</a:t>
            </a:r>
            <a:r>
              <a:rPr lang="en-US" sz="2400" dirty="0">
                <a:latin typeface="Arial" pitchFamily="34" charset="0"/>
                <a:cs typeface="Arial" pitchFamily="34" charset="0"/>
              </a:rPr>
              <a:t> mutate (Nobel Prize, 1969</a:t>
            </a:r>
            <a:r>
              <a:rPr lang="en-US" sz="2400" dirty="0" smtClean="0">
                <a:latin typeface="Arial" pitchFamily="34" charset="0"/>
                <a:cs typeface="Arial" pitchFamily="34" charset="0"/>
              </a:rPr>
              <a:t>).</a:t>
            </a:r>
            <a:endParaRPr lang="en-US" sz="2400" dirty="0">
              <a:latin typeface="Arial" pitchFamily="34" charset="0"/>
              <a:cs typeface="Arial" pitchFamily="34" charset="0"/>
            </a:endParaRPr>
          </a:p>
          <a:p>
            <a:pPr>
              <a:lnSpc>
                <a:spcPct val="150000"/>
              </a:lnSpc>
            </a:pPr>
            <a:endParaRPr lang="en-US" sz="2400" dirty="0">
              <a:latin typeface="Arial" pitchFamily="34" charset="0"/>
              <a:cs typeface="Arial" pitchFamily="34" charset="0"/>
            </a:endParaRPr>
          </a:p>
          <a:p>
            <a:pPr>
              <a:lnSpc>
                <a:spcPct val="150000"/>
              </a:lnSpc>
            </a:pPr>
            <a:endParaRPr lang="en-US"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381000"/>
            <a:ext cx="9144000" cy="6477000"/>
          </a:xfrm>
        </p:spPr>
        <p:txBody>
          <a:bodyPr>
            <a:noAutofit/>
          </a:bodyPr>
          <a:lstStyle/>
          <a:p>
            <a:pPr algn="just">
              <a:lnSpc>
                <a:spcPct val="150000"/>
              </a:lnSpc>
            </a:pPr>
            <a:r>
              <a:rPr lang="en-US" sz="2400" b="1" dirty="0">
                <a:latin typeface="Arial" pitchFamily="34" charset="0"/>
                <a:cs typeface="Arial" pitchFamily="34" charset="0"/>
              </a:rPr>
              <a:t>1949: John Enders</a:t>
            </a:r>
            <a:r>
              <a:rPr lang="en-US" sz="2400" dirty="0">
                <a:latin typeface="Arial" pitchFamily="34" charset="0"/>
                <a:cs typeface="Arial" pitchFamily="34" charset="0"/>
              </a:rPr>
              <a:t>, </a:t>
            </a:r>
            <a:r>
              <a:rPr lang="en-US" sz="2400" dirty="0" smtClean="0">
                <a:latin typeface="Arial" pitchFamily="34" charset="0"/>
                <a:cs typeface="Arial" pitchFamily="34" charset="0"/>
              </a:rPr>
              <a:t>T</a:t>
            </a:r>
            <a:r>
              <a:rPr lang="en-US" sz="2400" b="1" dirty="0" smtClean="0">
                <a:latin typeface="Arial" pitchFamily="34" charset="0"/>
                <a:cs typeface="Arial" pitchFamily="34" charset="0"/>
              </a:rPr>
              <a:t>homas </a:t>
            </a:r>
            <a:r>
              <a:rPr lang="en-US" sz="2400" b="1" dirty="0">
                <a:latin typeface="Arial" pitchFamily="34" charset="0"/>
                <a:cs typeface="Arial" pitchFamily="34" charset="0"/>
              </a:rPr>
              <a:t>Weller</a:t>
            </a:r>
            <a:r>
              <a:rPr lang="en-US" sz="2400" dirty="0">
                <a:latin typeface="Arial" pitchFamily="34" charset="0"/>
                <a:cs typeface="Arial" pitchFamily="34" charset="0"/>
              </a:rPr>
              <a:t> and </a:t>
            </a:r>
            <a:r>
              <a:rPr lang="en-US" sz="2400" b="1" dirty="0">
                <a:latin typeface="Arial" pitchFamily="34" charset="0"/>
                <a:cs typeface="Arial" pitchFamily="34" charset="0"/>
              </a:rPr>
              <a:t> Frederick Robbins</a:t>
            </a:r>
            <a:r>
              <a:rPr lang="en-US" sz="2400" dirty="0">
                <a:latin typeface="Arial" pitchFamily="34" charset="0"/>
                <a:cs typeface="Arial" pitchFamily="34" charset="0"/>
              </a:rPr>
              <a:t> were able to grow </a:t>
            </a:r>
            <a:r>
              <a:rPr lang="en-US" sz="2400" dirty="0">
                <a:solidFill>
                  <a:srgbClr val="C00000"/>
                </a:solidFill>
                <a:latin typeface="Arial" pitchFamily="34" charset="0"/>
                <a:cs typeface="Arial" pitchFamily="34" charset="0"/>
              </a:rPr>
              <a:t>poliovirus in vitro </a:t>
            </a:r>
            <a:r>
              <a:rPr lang="en-US" sz="2400" dirty="0">
                <a:latin typeface="Arial" pitchFamily="34" charset="0"/>
                <a:cs typeface="Arial" pitchFamily="34" charset="0"/>
              </a:rPr>
              <a:t>using human (</a:t>
            </a:r>
            <a:r>
              <a:rPr lang="en-US" sz="2400" dirty="0" err="1">
                <a:latin typeface="Arial" pitchFamily="34" charset="0"/>
                <a:cs typeface="Arial" pitchFamily="34" charset="0"/>
              </a:rPr>
              <a:t>embryonal</a:t>
            </a:r>
            <a:r>
              <a:rPr lang="en-US" sz="2400" dirty="0">
                <a:latin typeface="Arial" pitchFamily="34" charset="0"/>
                <a:cs typeface="Arial" pitchFamily="34" charset="0"/>
              </a:rPr>
              <a:t> cells) tissue culture (Nobel Prize, 1954). </a:t>
            </a:r>
          </a:p>
          <a:p>
            <a:pPr algn="just">
              <a:lnSpc>
                <a:spcPct val="150000"/>
              </a:lnSpc>
            </a:pPr>
            <a:r>
              <a:rPr lang="en-US" sz="2400" dirty="0">
                <a:latin typeface="Arial" pitchFamily="34" charset="0"/>
                <a:cs typeface="Arial" pitchFamily="34" charset="0"/>
              </a:rPr>
              <a:t>This development led to the isolation of many new viruses in tissue culture.</a:t>
            </a:r>
            <a:endParaRPr lang="en-US" sz="2400" dirty="0">
              <a:solidFill>
                <a:srgbClr val="C00000"/>
              </a:solidFill>
              <a:latin typeface="Arial" pitchFamily="34" charset="0"/>
              <a:cs typeface="Arial" pitchFamily="34" charset="0"/>
            </a:endParaRPr>
          </a:p>
          <a:p>
            <a:pPr algn="just">
              <a:lnSpc>
                <a:spcPct val="150000"/>
              </a:lnSpc>
            </a:pPr>
            <a:r>
              <a:rPr lang="en-US" sz="2400" dirty="0">
                <a:latin typeface="Arial" pitchFamily="34" charset="0"/>
                <a:cs typeface="Arial" pitchFamily="34" charset="0"/>
              </a:rPr>
              <a:t> This work aided </a:t>
            </a:r>
            <a:r>
              <a:rPr lang="en-US" sz="2400" b="1" dirty="0">
                <a:solidFill>
                  <a:schemeClr val="accent2">
                    <a:lumMod val="75000"/>
                  </a:schemeClr>
                </a:solidFill>
                <a:latin typeface="Arial" pitchFamily="34" charset="0"/>
                <a:cs typeface="Arial" pitchFamily="34" charset="0"/>
              </a:rPr>
              <a:t>Jonas Salk</a:t>
            </a:r>
            <a:r>
              <a:rPr lang="en-US" sz="2400" dirty="0">
                <a:latin typeface="Arial" pitchFamily="34" charset="0"/>
                <a:cs typeface="Arial" pitchFamily="34" charset="0"/>
              </a:rPr>
              <a:t> in deriving a polio vaccine from killed polio viruses; this vaccine was shown to be effective in 1955</a:t>
            </a:r>
            <a:r>
              <a:rPr lang="en-US" sz="2400" dirty="0" smtClean="0">
                <a:latin typeface="Arial" pitchFamily="34" charset="0"/>
                <a:cs typeface="Arial" pitchFamily="34" charset="0"/>
              </a:rPr>
              <a:t>.</a:t>
            </a:r>
            <a:endParaRPr lang="en-US" sz="2400" b="1" dirty="0" smtClean="0">
              <a:latin typeface="Arial" pitchFamily="34" charset="0"/>
              <a:cs typeface="Arial" pitchFamily="34" charset="0"/>
            </a:endParaRPr>
          </a:p>
          <a:p>
            <a:pPr algn="just">
              <a:lnSpc>
                <a:spcPct val="150000"/>
              </a:lnSpc>
            </a:pPr>
            <a:endParaRPr lang="en-US" sz="2400" dirty="0">
              <a:latin typeface="Arial" pitchFamily="34" charset="0"/>
              <a:cs typeface="Arial" pitchFamily="34" charset="0"/>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4294967295"/>
          </p:nvPr>
        </p:nvSpPr>
        <p:spPr>
          <a:xfrm>
            <a:off x="304800" y="609600"/>
            <a:ext cx="8458200" cy="5791200"/>
          </a:xfrm>
        </p:spPr>
        <p:txBody>
          <a:bodyPr>
            <a:noAutofit/>
          </a:bodyPr>
          <a:lstStyle/>
          <a:p>
            <a:pPr algn="just">
              <a:lnSpc>
                <a:spcPct val="150000"/>
              </a:lnSpc>
            </a:pPr>
            <a:r>
              <a:rPr lang="en-US" sz="2400" b="1" dirty="0" smtClean="0">
                <a:latin typeface="Arial" pitchFamily="34" charset="0"/>
                <a:cs typeface="Arial" pitchFamily="34" charset="0"/>
              </a:rPr>
              <a:t>1950:  André Lwoff</a:t>
            </a:r>
            <a:r>
              <a:rPr lang="en-US" sz="2400" dirty="0" smtClean="0">
                <a:latin typeface="Arial" pitchFamily="34" charset="0"/>
                <a:cs typeface="Arial" pitchFamily="34" charset="0"/>
              </a:rPr>
              <a:t> (1902-1994) and colleagues discovered </a:t>
            </a:r>
            <a:r>
              <a:rPr lang="en-US" sz="2400" b="1" dirty="0" err="1" smtClean="0">
                <a:latin typeface="Arial" pitchFamily="34" charset="0"/>
                <a:cs typeface="Arial" pitchFamily="34" charset="0"/>
              </a:rPr>
              <a:t>lysogenic</a:t>
            </a:r>
            <a:r>
              <a:rPr lang="en-US" sz="2400" dirty="0" smtClean="0">
                <a:latin typeface="Arial" pitchFamily="34" charset="0"/>
                <a:cs typeface="Arial" pitchFamily="34" charset="0"/>
              </a:rPr>
              <a:t> </a:t>
            </a:r>
            <a:r>
              <a:rPr lang="en-US" sz="2400" dirty="0" err="1" smtClean="0">
                <a:latin typeface="Arial" pitchFamily="34" charset="0"/>
                <a:cs typeface="Arial" pitchFamily="34" charset="0"/>
              </a:rPr>
              <a:t>bacteriophage</a:t>
            </a:r>
            <a:r>
              <a:rPr lang="en-US" sz="2400" dirty="0" smtClean="0">
                <a:latin typeface="Arial" pitchFamily="34" charset="0"/>
                <a:cs typeface="Arial" pitchFamily="34" charset="0"/>
              </a:rPr>
              <a:t> in </a:t>
            </a:r>
            <a:r>
              <a:rPr lang="en-US" sz="2400" i="1" dirty="0" smtClean="0">
                <a:latin typeface="Arial" pitchFamily="34" charset="0"/>
                <a:cs typeface="Arial" pitchFamily="34" charset="0"/>
              </a:rPr>
              <a:t>Bacillus </a:t>
            </a:r>
            <a:r>
              <a:rPr lang="en-US" sz="2400" i="1" dirty="0" err="1" smtClean="0">
                <a:latin typeface="Arial" pitchFamily="34" charset="0"/>
                <a:cs typeface="Arial" pitchFamily="34" charset="0"/>
              </a:rPr>
              <a:t>megaterium</a:t>
            </a:r>
            <a:r>
              <a:rPr lang="en-US" sz="2400" dirty="0" smtClean="0">
                <a:latin typeface="Arial" pitchFamily="34" charset="0"/>
                <a:cs typeface="Arial" pitchFamily="34" charset="0"/>
              </a:rPr>
              <a:t> irradiated with ultra-violet light and coined the term </a:t>
            </a:r>
            <a:r>
              <a:rPr lang="en-US" sz="2400" b="1" dirty="0" err="1" smtClean="0">
                <a:latin typeface="Arial" pitchFamily="34" charset="0"/>
                <a:cs typeface="Arial" pitchFamily="34" charset="0"/>
              </a:rPr>
              <a:t>prophage</a:t>
            </a:r>
            <a:r>
              <a:rPr lang="en-US" sz="2400" dirty="0" smtClean="0">
                <a:latin typeface="Arial" pitchFamily="34" charset="0"/>
                <a:cs typeface="Arial" pitchFamily="34" charset="0"/>
              </a:rPr>
              <a:t> (Nobel Prize, 1965).</a:t>
            </a:r>
          </a:p>
          <a:p>
            <a:pPr algn="just">
              <a:lnSpc>
                <a:spcPct val="150000"/>
              </a:lnSpc>
            </a:pPr>
            <a:endParaRPr lang="en-US" sz="2400" b="1" dirty="0" smtClean="0">
              <a:latin typeface="Arial" pitchFamily="34" charset="0"/>
              <a:cs typeface="Arial" pitchFamily="34" charset="0"/>
            </a:endParaRPr>
          </a:p>
          <a:p>
            <a:pPr algn="just">
              <a:lnSpc>
                <a:spcPct val="150000"/>
              </a:lnSpc>
            </a:pPr>
            <a:r>
              <a:rPr lang="en-US" sz="2400" b="1" dirty="0" smtClean="0">
                <a:latin typeface="Arial" pitchFamily="34" charset="0"/>
                <a:cs typeface="Arial" pitchFamily="34" charset="0"/>
              </a:rPr>
              <a:t>1952</a:t>
            </a:r>
            <a:r>
              <a:rPr lang="en-US" sz="2400" b="1" dirty="0" smtClean="0">
                <a:latin typeface="Arial" pitchFamily="34" charset="0"/>
                <a:cs typeface="Arial" pitchFamily="34" charset="0"/>
              </a:rPr>
              <a:t>: </a:t>
            </a:r>
            <a:r>
              <a:rPr lang="en-US" sz="2400" b="1" dirty="0" err="1" smtClean="0">
                <a:solidFill>
                  <a:schemeClr val="accent2">
                    <a:lumMod val="75000"/>
                  </a:schemeClr>
                </a:solidFill>
                <a:latin typeface="Arial" pitchFamily="34" charset="0"/>
                <a:cs typeface="Arial" pitchFamily="34" charset="0"/>
              </a:rPr>
              <a:t>Renato</a:t>
            </a:r>
            <a:r>
              <a:rPr lang="en-US" sz="2400" b="1" dirty="0" smtClean="0">
                <a:solidFill>
                  <a:schemeClr val="accent2">
                    <a:lumMod val="75000"/>
                  </a:schemeClr>
                </a:solidFill>
                <a:latin typeface="Arial" pitchFamily="34" charset="0"/>
                <a:cs typeface="Arial" pitchFamily="34" charset="0"/>
              </a:rPr>
              <a:t> Dulbecco</a:t>
            </a:r>
            <a:r>
              <a:rPr lang="en-US" sz="2400" dirty="0" smtClean="0">
                <a:latin typeface="Arial" pitchFamily="34" charset="0"/>
                <a:cs typeface="Arial" pitchFamily="34" charset="0"/>
              </a:rPr>
              <a:t> showed that animal viruses can form plaques in a similar way to </a:t>
            </a:r>
            <a:r>
              <a:rPr lang="en-US" sz="2400" b="1" dirty="0" err="1" smtClean="0">
                <a:latin typeface="Arial" pitchFamily="34" charset="0"/>
                <a:cs typeface="Arial" pitchFamily="34" charset="0"/>
              </a:rPr>
              <a:t>bacteriophages</a:t>
            </a:r>
            <a:r>
              <a:rPr lang="en-US" sz="2400" dirty="0" smtClean="0">
                <a:latin typeface="Arial" pitchFamily="34" charset="0"/>
                <a:cs typeface="Arial" pitchFamily="34" charset="0"/>
              </a:rPr>
              <a:t> (Nobel Prize, 1975). Dulbecco's work allowed rapid </a:t>
            </a:r>
            <a:r>
              <a:rPr lang="en-US" sz="2400" dirty="0" err="1" smtClean="0">
                <a:latin typeface="Arial" pitchFamily="34" charset="0"/>
                <a:cs typeface="Arial" pitchFamily="34" charset="0"/>
              </a:rPr>
              <a:t>quantitation</a:t>
            </a:r>
            <a:r>
              <a:rPr lang="en-US" sz="2400" dirty="0" smtClean="0">
                <a:latin typeface="Arial" pitchFamily="34" charset="0"/>
                <a:cs typeface="Arial" pitchFamily="34" charset="0"/>
              </a:rPr>
              <a:t> of animal viruses using plaque assays.</a:t>
            </a:r>
          </a:p>
          <a:p>
            <a:pPr>
              <a:lnSpc>
                <a:spcPct val="150000"/>
              </a:lnSpc>
            </a:pPr>
            <a:endParaRPr lang="en-US" sz="24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0"/>
            <a:ext cx="9144000" cy="7086600"/>
          </a:xfrm>
        </p:spPr>
        <p:txBody>
          <a:bodyPr>
            <a:normAutofit/>
          </a:bodyPr>
          <a:lstStyle/>
          <a:p>
            <a:pPr>
              <a:lnSpc>
                <a:spcPct val="150000"/>
              </a:lnSpc>
            </a:pPr>
            <a:endParaRPr lang="en-US" sz="2400" b="1" dirty="0" smtClean="0">
              <a:latin typeface="Arial" pitchFamily="34" charset="0"/>
              <a:cs typeface="Arial" pitchFamily="34" charset="0"/>
            </a:endParaRPr>
          </a:p>
          <a:p>
            <a:pPr>
              <a:lnSpc>
                <a:spcPct val="150000"/>
              </a:lnSpc>
            </a:pPr>
            <a:r>
              <a:rPr lang="en-US" sz="2400" b="1" dirty="0" smtClean="0">
                <a:latin typeface="Arial" pitchFamily="34" charset="0"/>
                <a:cs typeface="Arial" pitchFamily="34" charset="0"/>
              </a:rPr>
              <a:t>1957</a:t>
            </a:r>
            <a:r>
              <a:rPr lang="en-US" sz="2400" b="1" dirty="0">
                <a:latin typeface="Arial" pitchFamily="34" charset="0"/>
                <a:cs typeface="Arial" pitchFamily="34" charset="0"/>
              </a:rPr>
              <a:t>:</a:t>
            </a:r>
            <a:r>
              <a:rPr lang="en-US" sz="2400" dirty="0">
                <a:latin typeface="Arial" pitchFamily="34" charset="0"/>
                <a:cs typeface="Arial" pitchFamily="34" charset="0"/>
              </a:rPr>
              <a:t> The first interferon was discovered by </a:t>
            </a:r>
            <a:r>
              <a:rPr lang="en-US" sz="2400" b="1" dirty="0" err="1">
                <a:solidFill>
                  <a:schemeClr val="accent2">
                    <a:lumMod val="75000"/>
                  </a:schemeClr>
                </a:solidFill>
                <a:latin typeface="Arial" pitchFamily="34" charset="0"/>
                <a:cs typeface="Arial" pitchFamily="34" charset="0"/>
              </a:rPr>
              <a:t>Alick</a:t>
            </a:r>
            <a:r>
              <a:rPr lang="en-US" sz="2400" b="1" dirty="0">
                <a:solidFill>
                  <a:schemeClr val="accent2">
                    <a:lumMod val="75000"/>
                  </a:schemeClr>
                </a:solidFill>
                <a:latin typeface="Arial" pitchFamily="34" charset="0"/>
                <a:cs typeface="Arial" pitchFamily="34" charset="0"/>
              </a:rPr>
              <a:t> Isaacs and Jean </a:t>
            </a:r>
            <a:r>
              <a:rPr lang="en-US" sz="2400" b="1" dirty="0" err="1">
                <a:solidFill>
                  <a:schemeClr val="accent2">
                    <a:lumMod val="75000"/>
                  </a:schemeClr>
                </a:solidFill>
                <a:latin typeface="Arial" pitchFamily="34" charset="0"/>
                <a:cs typeface="Arial" pitchFamily="34" charset="0"/>
              </a:rPr>
              <a:t>Lindenmann</a:t>
            </a:r>
            <a:r>
              <a:rPr lang="en-US" sz="2400" b="1" dirty="0">
                <a:solidFill>
                  <a:schemeClr val="accent2">
                    <a:lumMod val="75000"/>
                  </a:schemeClr>
                </a:solidFill>
                <a:latin typeface="Arial" pitchFamily="34" charset="0"/>
                <a:cs typeface="Arial" pitchFamily="34" charset="0"/>
              </a:rPr>
              <a:t> </a:t>
            </a:r>
          </a:p>
          <a:p>
            <a:pPr>
              <a:lnSpc>
                <a:spcPct val="150000"/>
              </a:lnSpc>
            </a:pPr>
            <a:endParaRPr lang="en-US" sz="2400" b="1" dirty="0" smtClean="0"/>
          </a:p>
          <a:p>
            <a:pPr>
              <a:lnSpc>
                <a:spcPct val="150000"/>
              </a:lnSpc>
            </a:pPr>
            <a:r>
              <a:rPr lang="en-US" sz="2400" b="1" dirty="0" smtClean="0"/>
              <a:t>1963</a:t>
            </a:r>
            <a:r>
              <a:rPr lang="en-US" sz="2400" b="1" dirty="0"/>
              <a:t>: </a:t>
            </a:r>
            <a:r>
              <a:rPr lang="en-US" sz="2400" b="1" dirty="0">
                <a:solidFill>
                  <a:schemeClr val="accent2">
                    <a:lumMod val="75000"/>
                  </a:schemeClr>
                </a:solidFill>
                <a:latin typeface="Arial" pitchFamily="34" charset="0"/>
                <a:cs typeface="Arial" pitchFamily="34" charset="0"/>
              </a:rPr>
              <a:t>Baruch Blumberg</a:t>
            </a:r>
            <a:r>
              <a:rPr lang="en-US" sz="2400" dirty="0">
                <a:latin typeface="Arial" pitchFamily="34" charset="0"/>
                <a:cs typeface="Arial" pitchFamily="34" charset="0"/>
              </a:rPr>
              <a:t> discovered </a:t>
            </a:r>
            <a:r>
              <a:rPr lang="en-US" sz="2400" dirty="0">
                <a:solidFill>
                  <a:srgbClr val="C00000"/>
                </a:solidFill>
                <a:latin typeface="Arial" pitchFamily="34" charset="0"/>
                <a:cs typeface="Arial" pitchFamily="34" charset="0"/>
              </a:rPr>
              <a:t>hepatitis B virus (HBV) </a:t>
            </a:r>
            <a:r>
              <a:rPr lang="en-US" sz="2400" dirty="0">
                <a:latin typeface="Arial" pitchFamily="34" charset="0"/>
                <a:cs typeface="Arial" pitchFamily="34" charset="0"/>
              </a:rPr>
              <a:t>(Nobel Prize, 1976). Blumberg went on to develop the first vaccine against the HBV, considered by some to be the first vaccine against cancer because of the strong association of hepatitis B with liver cancer.</a:t>
            </a:r>
          </a:p>
          <a:p>
            <a:pPr>
              <a:lnSpc>
                <a:spcPct val="150000"/>
              </a:lnSpc>
              <a:buNone/>
            </a:pPr>
            <a:r>
              <a:rPr lang="en-US" sz="2400" dirty="0">
                <a:latin typeface="Arial" pitchFamily="34" charset="0"/>
                <a:cs typeface="Arial" pitchFamily="34" charset="0"/>
              </a:rPr>
              <a:t/>
            </a:r>
            <a:br>
              <a:rPr lang="en-US" sz="2400" dirty="0">
                <a:latin typeface="Arial" pitchFamily="34" charset="0"/>
                <a:cs typeface="Arial" pitchFamily="34" charset="0"/>
              </a:rPr>
            </a:br>
            <a:r>
              <a:rPr lang="en-US" sz="2400" b="1" dirty="0">
                <a:latin typeface="Arial" pitchFamily="34" charset="0"/>
                <a:cs typeface="Arial" pitchFamily="34" charset="0"/>
              </a:rPr>
              <a:t> </a:t>
            </a:r>
            <a:endParaRPr lang="en-US"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a:bodyPr>
          <a:lstStyle/>
          <a:p>
            <a:pPr>
              <a:lnSpc>
                <a:spcPct val="150000"/>
              </a:lnSpc>
            </a:pPr>
            <a:r>
              <a:rPr lang="en-US" sz="2400" b="1" dirty="0" smtClean="0">
                <a:latin typeface="Arial" pitchFamily="34" charset="0"/>
                <a:cs typeface="Arial" pitchFamily="34" charset="0"/>
              </a:rPr>
              <a:t>1970</a:t>
            </a:r>
            <a:r>
              <a:rPr lang="en-US" sz="2400" b="1" dirty="0" smtClean="0">
                <a:solidFill>
                  <a:schemeClr val="accent2">
                    <a:lumMod val="75000"/>
                  </a:schemeClr>
                </a:solidFill>
                <a:latin typeface="Arial" pitchFamily="34" charset="0"/>
                <a:cs typeface="Arial" pitchFamily="34" charset="0"/>
              </a:rPr>
              <a:t>:Howard Temin (1934-1994) and David Baltimore </a:t>
            </a:r>
            <a:r>
              <a:rPr lang="en-US" sz="2400" dirty="0" smtClean="0">
                <a:latin typeface="Arial" pitchFamily="34" charset="0"/>
                <a:cs typeface="Arial" pitchFamily="34" charset="0"/>
              </a:rPr>
              <a:t>independently discovered </a:t>
            </a:r>
            <a:r>
              <a:rPr lang="en-US" sz="2400" b="1" dirty="0" smtClean="0">
                <a:latin typeface="Arial" pitchFamily="34" charset="0"/>
                <a:cs typeface="Arial" pitchFamily="34" charset="0"/>
              </a:rPr>
              <a:t>reverse transcriptase </a:t>
            </a:r>
            <a:r>
              <a:rPr lang="en-US" sz="2400" dirty="0" smtClean="0">
                <a:latin typeface="Arial" pitchFamily="34" charset="0"/>
                <a:cs typeface="Arial" pitchFamily="34" charset="0"/>
              </a:rPr>
              <a:t>in retroviruses. (Nobel Prize, 1975).</a:t>
            </a:r>
          </a:p>
          <a:p>
            <a:pPr>
              <a:lnSpc>
                <a:spcPct val="150000"/>
              </a:lnSpc>
            </a:pPr>
            <a:endParaRPr lang="en-US" sz="2400" dirty="0" smtClean="0">
              <a:latin typeface="Arial" pitchFamily="34" charset="0"/>
              <a:cs typeface="Arial" pitchFamily="34" charset="0"/>
            </a:endParaRPr>
          </a:p>
          <a:p>
            <a:pPr>
              <a:lnSpc>
                <a:spcPct val="150000"/>
              </a:lnSpc>
            </a:pPr>
            <a:r>
              <a:rPr lang="en-US" sz="2400" dirty="0" smtClean="0">
                <a:latin typeface="Arial" pitchFamily="34" charset="0"/>
                <a:cs typeface="Arial" pitchFamily="34" charset="0"/>
              </a:rPr>
              <a:t>The </a:t>
            </a:r>
            <a:r>
              <a:rPr lang="en-US" sz="2400" dirty="0" smtClean="0">
                <a:latin typeface="Arial" pitchFamily="34" charset="0"/>
                <a:cs typeface="Arial" pitchFamily="34" charset="0"/>
              </a:rPr>
              <a:t>discovery of reverse transcription established a pathway for genetic information flow from RNA to DNA, refuting the so-call "central dogma" of molecular biology.</a:t>
            </a:r>
            <a:endParaRPr lang="en-US" sz="24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228600"/>
            <a:ext cx="9144000" cy="6858000"/>
          </a:xfrm>
        </p:spPr>
        <p:txBody>
          <a:bodyPr>
            <a:normAutofit/>
          </a:bodyPr>
          <a:lstStyle/>
          <a:p>
            <a:pPr algn="just">
              <a:lnSpc>
                <a:spcPct val="150000"/>
              </a:lnSpc>
            </a:pPr>
            <a:r>
              <a:rPr lang="en-US" sz="2400" b="1" dirty="0">
                <a:latin typeface="Arial" pitchFamily="34" charset="0"/>
                <a:cs typeface="Arial" pitchFamily="34" charset="0"/>
              </a:rPr>
              <a:t>1972:Paul Berg</a:t>
            </a:r>
            <a:r>
              <a:rPr lang="en-US" sz="2400" dirty="0">
                <a:latin typeface="Arial" pitchFamily="34" charset="0"/>
                <a:cs typeface="Arial" pitchFamily="34" charset="0"/>
              </a:rPr>
              <a:t> created the first recombinant DNA molecules, circular SV40 DNA genomes containing l phage genes and the </a:t>
            </a:r>
            <a:r>
              <a:rPr lang="en-US" sz="2400" dirty="0" err="1">
                <a:latin typeface="Arial" pitchFamily="34" charset="0"/>
                <a:cs typeface="Arial" pitchFamily="34" charset="0"/>
              </a:rPr>
              <a:t>galactose</a:t>
            </a:r>
            <a:r>
              <a:rPr lang="en-US" sz="2400" dirty="0">
                <a:latin typeface="Arial" pitchFamily="34" charset="0"/>
                <a:cs typeface="Arial" pitchFamily="34" charset="0"/>
              </a:rPr>
              <a:t> </a:t>
            </a:r>
            <a:r>
              <a:rPr lang="en-US" sz="2400" dirty="0" err="1">
                <a:latin typeface="Arial" pitchFamily="34" charset="0"/>
                <a:cs typeface="Arial" pitchFamily="34" charset="0"/>
              </a:rPr>
              <a:t>operon</a:t>
            </a:r>
            <a:r>
              <a:rPr lang="en-US" sz="2400" dirty="0">
                <a:latin typeface="Arial" pitchFamily="34" charset="0"/>
                <a:cs typeface="Arial" pitchFamily="34" charset="0"/>
              </a:rPr>
              <a:t> of </a:t>
            </a:r>
            <a:r>
              <a:rPr lang="en-US" sz="2400" i="1" dirty="0" err="1">
                <a:latin typeface="Arial" pitchFamily="34" charset="0"/>
                <a:cs typeface="Arial" pitchFamily="34" charset="0"/>
              </a:rPr>
              <a:t>E.coli</a:t>
            </a:r>
            <a:r>
              <a:rPr lang="en-US" sz="2400" dirty="0">
                <a:latin typeface="Arial" pitchFamily="34" charset="0"/>
                <a:cs typeface="Arial" pitchFamily="34" charset="0"/>
              </a:rPr>
              <a:t> (Nobel prize, 1980). </a:t>
            </a:r>
            <a:r>
              <a:rPr lang="en-US" sz="2400" dirty="0">
                <a:solidFill>
                  <a:srgbClr val="C00000"/>
                </a:solidFill>
                <a:latin typeface="Arial" pitchFamily="34" charset="0"/>
                <a:cs typeface="Arial" pitchFamily="34" charset="0"/>
              </a:rPr>
              <a:t>This was the beginning of recombinant DNA technology.</a:t>
            </a:r>
          </a:p>
          <a:p>
            <a:pPr algn="just">
              <a:lnSpc>
                <a:spcPct val="150000"/>
              </a:lnSpc>
            </a:pPr>
            <a:endParaRPr lang="en-US" sz="2400" b="1" dirty="0" smtClean="0">
              <a:latin typeface="Arial" pitchFamily="34" charset="0"/>
              <a:cs typeface="Arial" pitchFamily="34" charset="0"/>
            </a:endParaRPr>
          </a:p>
          <a:p>
            <a:pPr algn="just">
              <a:lnSpc>
                <a:spcPct val="150000"/>
              </a:lnSpc>
            </a:pPr>
            <a:r>
              <a:rPr lang="en-US" sz="2400" b="1" dirty="0" smtClean="0">
                <a:latin typeface="Arial" pitchFamily="34" charset="0"/>
                <a:cs typeface="Arial" pitchFamily="34" charset="0"/>
              </a:rPr>
              <a:t>1979</a:t>
            </a:r>
            <a:r>
              <a:rPr lang="en-US" sz="2400" dirty="0">
                <a:latin typeface="Arial" pitchFamily="34" charset="0"/>
                <a:cs typeface="Arial" pitchFamily="34" charset="0"/>
              </a:rPr>
              <a:t>: Smallpox was officially declared to be eradicated by the World Health Organization (WHO). The last naturally occurring case of smallpox was seen in Somalia in 1977. </a:t>
            </a:r>
          </a:p>
          <a:p>
            <a:pPr algn="just">
              <a:lnSpc>
                <a:spcPct val="150000"/>
              </a:lnSpc>
            </a:pPr>
            <a:r>
              <a:rPr lang="en-US" sz="2400" dirty="0">
                <a:latin typeface="Arial" pitchFamily="34" charset="0"/>
                <a:cs typeface="Arial" pitchFamily="34" charset="0"/>
              </a:rPr>
              <a:t>This was the first microbial disease ever to be completely eliminated.</a:t>
            </a:r>
          </a:p>
          <a:p>
            <a:pPr algn="just">
              <a:lnSpc>
                <a:spcPct val="150000"/>
              </a:lnSpc>
              <a:buNone/>
            </a:pPr>
            <a:endParaRPr lang="en-US" sz="2400" dirty="0">
              <a:latin typeface="Arial" pitchFamily="34" charset="0"/>
              <a:cs typeface="Arial" pitchFamily="34" charset="0"/>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4294967295"/>
          </p:nvPr>
        </p:nvSpPr>
        <p:spPr>
          <a:xfrm>
            <a:off x="304800" y="609600"/>
            <a:ext cx="8305800" cy="5486400"/>
          </a:xfrm>
        </p:spPr>
        <p:txBody>
          <a:bodyPr>
            <a:normAutofit lnSpcReduction="10000"/>
          </a:bodyPr>
          <a:lstStyle/>
          <a:p>
            <a:pPr algn="just">
              <a:lnSpc>
                <a:spcPct val="150000"/>
              </a:lnSpc>
            </a:pPr>
            <a:r>
              <a:rPr lang="en-US" sz="2400" b="1" dirty="0" smtClean="0">
                <a:latin typeface="Arial" pitchFamily="34" charset="0"/>
                <a:cs typeface="Arial" pitchFamily="34" charset="0"/>
              </a:rPr>
              <a:t>1982:</a:t>
            </a:r>
            <a:r>
              <a:rPr lang="en-US" sz="2400" dirty="0" smtClean="0">
                <a:latin typeface="Arial" pitchFamily="34" charset="0"/>
                <a:cs typeface="Arial" pitchFamily="34" charset="0"/>
              </a:rPr>
              <a:t>  </a:t>
            </a:r>
            <a:r>
              <a:rPr lang="en-US" sz="2400" b="1" dirty="0" smtClean="0">
                <a:solidFill>
                  <a:schemeClr val="accent2">
                    <a:lumMod val="75000"/>
                  </a:schemeClr>
                </a:solidFill>
                <a:latin typeface="Arial" pitchFamily="34" charset="0"/>
                <a:cs typeface="Arial" pitchFamily="34" charset="0"/>
              </a:rPr>
              <a:t>Stanley </a:t>
            </a:r>
            <a:r>
              <a:rPr lang="en-US" sz="2400" b="1" dirty="0" err="1" smtClean="0">
                <a:solidFill>
                  <a:schemeClr val="accent2">
                    <a:lumMod val="75000"/>
                  </a:schemeClr>
                </a:solidFill>
                <a:latin typeface="Arial" pitchFamily="34" charset="0"/>
                <a:cs typeface="Arial" pitchFamily="34" charset="0"/>
              </a:rPr>
              <a:t>Prusiner</a:t>
            </a:r>
            <a:r>
              <a:rPr lang="en-US" sz="2400" dirty="0" smtClean="0">
                <a:latin typeface="Arial" pitchFamily="34" charset="0"/>
                <a:cs typeface="Arial" pitchFamily="34" charset="0"/>
              </a:rPr>
              <a:t> discovered </a:t>
            </a:r>
            <a:r>
              <a:rPr lang="en-US" sz="2400" dirty="0" err="1" smtClean="0">
                <a:latin typeface="Arial" pitchFamily="34" charset="0"/>
                <a:cs typeface="Arial" pitchFamily="34" charset="0"/>
              </a:rPr>
              <a:t>prions</a:t>
            </a:r>
            <a:r>
              <a:rPr lang="en-US" sz="2400" dirty="0" smtClean="0">
                <a:latin typeface="Arial" pitchFamily="34" charset="0"/>
                <a:cs typeface="Arial" pitchFamily="34" charset="0"/>
              </a:rPr>
              <a:t> &amp; demonstrates that infectious proteins cause </a:t>
            </a:r>
            <a:r>
              <a:rPr lang="en-US" sz="2400" dirty="0" err="1" smtClean="0">
                <a:latin typeface="Arial" pitchFamily="34" charset="0"/>
                <a:cs typeface="Arial" pitchFamily="34" charset="0"/>
              </a:rPr>
              <a:t>scrapie</a:t>
            </a:r>
            <a:r>
              <a:rPr lang="en-US" sz="2400" dirty="0" smtClean="0">
                <a:latin typeface="Arial" pitchFamily="34" charset="0"/>
                <a:cs typeface="Arial" pitchFamily="34" charset="0"/>
              </a:rPr>
              <a:t>, a fatal neurodegenerative disease of sheep (Nobel Prize, 1997).</a:t>
            </a:r>
          </a:p>
          <a:p>
            <a:pPr algn="just">
              <a:lnSpc>
                <a:spcPct val="150000"/>
              </a:lnSpc>
            </a:pPr>
            <a:r>
              <a:rPr lang="en-US" sz="2400" dirty="0" smtClean="0">
                <a:latin typeface="Arial" pitchFamily="34" charset="0"/>
                <a:cs typeface="Arial" pitchFamily="34" charset="0"/>
              </a:rPr>
              <a:t>The first cases of AIDS were reported in 1981</a:t>
            </a:r>
            <a:r>
              <a:rPr lang="en-US" sz="2400" dirty="0" smtClean="0">
                <a:latin typeface="Arial" pitchFamily="34" charset="0"/>
                <a:cs typeface="Arial" pitchFamily="34" charset="0"/>
              </a:rPr>
              <a:t>.</a:t>
            </a:r>
          </a:p>
          <a:p>
            <a:pPr algn="just">
              <a:lnSpc>
                <a:spcPct val="150000"/>
              </a:lnSpc>
            </a:pPr>
            <a:r>
              <a:rPr lang="en-US" sz="2400" b="1" dirty="0" smtClean="0">
                <a:latin typeface="Arial" pitchFamily="34" charset="0"/>
                <a:cs typeface="Arial" pitchFamily="34" charset="0"/>
              </a:rPr>
              <a:t>1983</a:t>
            </a:r>
            <a:r>
              <a:rPr lang="en-US" sz="2400" dirty="0" smtClean="0">
                <a:latin typeface="Arial" pitchFamily="34" charset="0"/>
                <a:cs typeface="Arial" pitchFamily="34" charset="0"/>
              </a:rPr>
              <a:t>: </a:t>
            </a:r>
            <a:r>
              <a:rPr lang="en-US" sz="2400" b="1" dirty="0" smtClean="0">
                <a:solidFill>
                  <a:schemeClr val="accent2">
                    <a:lumMod val="75000"/>
                  </a:schemeClr>
                </a:solidFill>
                <a:latin typeface="Arial" pitchFamily="34" charset="0"/>
                <a:cs typeface="Arial" pitchFamily="34" charset="0"/>
              </a:rPr>
              <a:t>Luc </a:t>
            </a:r>
            <a:r>
              <a:rPr lang="en-US" sz="2400" b="1" dirty="0" err="1" smtClean="0">
                <a:solidFill>
                  <a:schemeClr val="accent2">
                    <a:lumMod val="75000"/>
                  </a:schemeClr>
                </a:solidFill>
                <a:latin typeface="Arial" pitchFamily="34" charset="0"/>
                <a:cs typeface="Arial" pitchFamily="34" charset="0"/>
              </a:rPr>
              <a:t>Montaigner</a:t>
            </a:r>
            <a:r>
              <a:rPr lang="en-US" sz="2400" b="1" dirty="0" smtClean="0">
                <a:solidFill>
                  <a:schemeClr val="accent2">
                    <a:lumMod val="75000"/>
                  </a:schemeClr>
                </a:solidFill>
                <a:latin typeface="Arial" pitchFamily="34" charset="0"/>
                <a:cs typeface="Arial" pitchFamily="34" charset="0"/>
              </a:rPr>
              <a:t> and  Robert Gallo</a:t>
            </a:r>
            <a:r>
              <a:rPr lang="en-US" sz="2400" dirty="0" smtClean="0">
                <a:latin typeface="Arial" pitchFamily="34" charset="0"/>
                <a:cs typeface="Arial" pitchFamily="34" charset="0"/>
              </a:rPr>
              <a:t> announced the discovery of human immunodeficiency virus (HIV), the causative agent of AIDS. In only 2-3 years since the start of the AIDS epidemic the agent responsible was identified. </a:t>
            </a:r>
          </a:p>
          <a:p>
            <a:pPr algn="just">
              <a:lnSpc>
                <a:spcPct val="150000"/>
              </a:lnSpc>
            </a:pPr>
            <a:endParaRPr lang="en-US" sz="2400" dirty="0" smtClean="0">
              <a:latin typeface="Arial" pitchFamily="34" charset="0"/>
              <a:cs typeface="Arial" pitchFamily="34" charset="0"/>
            </a:endParaRPr>
          </a:p>
          <a:p>
            <a:pPr algn="just">
              <a:lnSpc>
                <a:spcPct val="150000"/>
              </a:lnSpc>
            </a:pPr>
            <a:endParaRPr lang="en-US" sz="24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4294967295"/>
          </p:nvPr>
        </p:nvSpPr>
        <p:spPr>
          <a:xfrm>
            <a:off x="0" y="457200"/>
            <a:ext cx="8991600" cy="5867400"/>
          </a:xfrm>
        </p:spPr>
        <p:txBody>
          <a:bodyPr>
            <a:normAutofit fontScale="92500"/>
          </a:bodyPr>
          <a:lstStyle/>
          <a:p>
            <a:pPr>
              <a:lnSpc>
                <a:spcPct val="150000"/>
              </a:lnSpc>
            </a:pPr>
            <a:r>
              <a:rPr lang="en-GB" sz="2400" b="1" dirty="0" smtClean="0">
                <a:latin typeface="Arial" pitchFamily="34" charset="0"/>
                <a:cs typeface="Arial" pitchFamily="34" charset="0"/>
              </a:rPr>
              <a:t>1989</a:t>
            </a:r>
            <a:r>
              <a:rPr lang="en-GB" sz="2400" b="1" dirty="0" smtClean="0">
                <a:latin typeface="Arial" pitchFamily="34" charset="0"/>
                <a:cs typeface="Arial" pitchFamily="34" charset="0"/>
              </a:rPr>
              <a:t>: </a:t>
            </a:r>
            <a:r>
              <a:rPr lang="en-GB" sz="2400" dirty="0" smtClean="0">
                <a:latin typeface="Arial" pitchFamily="34" charset="0"/>
                <a:cs typeface="Arial" pitchFamily="34" charset="0"/>
              </a:rPr>
              <a:t>Hepatitis C virus (HCV), the source of most cases of non-A, non-B hepatitis, was identified</a:t>
            </a:r>
          </a:p>
          <a:p>
            <a:pPr>
              <a:lnSpc>
                <a:spcPct val="150000"/>
              </a:lnSpc>
            </a:pPr>
            <a:endParaRPr lang="en-GB" sz="2400" b="1" dirty="0" smtClean="0">
              <a:latin typeface="Arial" pitchFamily="34" charset="0"/>
              <a:cs typeface="Arial" pitchFamily="34" charset="0"/>
            </a:endParaRPr>
          </a:p>
          <a:p>
            <a:pPr>
              <a:lnSpc>
                <a:spcPct val="150000"/>
              </a:lnSpc>
            </a:pPr>
            <a:r>
              <a:rPr lang="en-GB" sz="2400" b="1" dirty="0" smtClean="0">
                <a:latin typeface="Arial" pitchFamily="34" charset="0"/>
                <a:cs typeface="Arial" pitchFamily="34" charset="0"/>
              </a:rPr>
              <a:t>2003</a:t>
            </a:r>
            <a:r>
              <a:rPr lang="en-GB" sz="2400" dirty="0" smtClean="0">
                <a:latin typeface="Arial" pitchFamily="34" charset="0"/>
                <a:cs typeface="Arial" pitchFamily="34" charset="0"/>
              </a:rPr>
              <a:t>- The newly discovered </a:t>
            </a:r>
            <a:r>
              <a:rPr lang="en-GB" sz="2400" b="1" dirty="0" err="1" smtClean="0">
                <a:solidFill>
                  <a:schemeClr val="accent2"/>
                </a:solidFill>
                <a:latin typeface="Arial" pitchFamily="34" charset="0"/>
                <a:cs typeface="Arial" pitchFamily="34" charset="0"/>
              </a:rPr>
              <a:t>Mimivirus</a:t>
            </a:r>
            <a:r>
              <a:rPr lang="en-GB" sz="2400" dirty="0" smtClean="0">
                <a:latin typeface="Arial" pitchFamily="34" charset="0"/>
                <a:cs typeface="Arial" pitchFamily="34" charset="0"/>
              </a:rPr>
              <a:t> became the largest known virus, with a diameter of 400 nm and a genome of 1.2 </a:t>
            </a:r>
            <a:r>
              <a:rPr lang="en-GB" sz="2400" dirty="0" err="1" smtClean="0">
                <a:latin typeface="Arial" pitchFamily="34" charset="0"/>
                <a:cs typeface="Arial" pitchFamily="34" charset="0"/>
              </a:rPr>
              <a:t>Mbp</a:t>
            </a:r>
            <a:r>
              <a:rPr lang="en-GB" sz="2400" dirty="0" smtClean="0">
                <a:latin typeface="Arial" pitchFamily="34" charset="0"/>
                <a:cs typeface="Arial" pitchFamily="34" charset="0"/>
              </a:rPr>
              <a:t>.</a:t>
            </a:r>
          </a:p>
          <a:p>
            <a:pPr>
              <a:lnSpc>
                <a:spcPct val="150000"/>
              </a:lnSpc>
            </a:pPr>
            <a:r>
              <a:rPr lang="en-GB" sz="2400" dirty="0" smtClean="0">
                <a:latin typeface="Arial" pitchFamily="34" charset="0"/>
                <a:cs typeface="Arial" pitchFamily="34" charset="0"/>
              </a:rPr>
              <a:t> Severe acute respiratory syndrome (SARS) broke out in China and subsequently spread around the world. </a:t>
            </a:r>
          </a:p>
          <a:p>
            <a:pPr>
              <a:lnSpc>
                <a:spcPct val="150000"/>
              </a:lnSpc>
            </a:pPr>
            <a:endParaRPr lang="en-GB" sz="2400" b="1" dirty="0" smtClean="0">
              <a:latin typeface="Arial" pitchFamily="34" charset="0"/>
              <a:cs typeface="Arial" pitchFamily="34" charset="0"/>
            </a:endParaRPr>
          </a:p>
          <a:p>
            <a:pPr>
              <a:lnSpc>
                <a:spcPct val="150000"/>
              </a:lnSpc>
            </a:pPr>
            <a:r>
              <a:rPr lang="en-GB" sz="2400" b="1" dirty="0" smtClean="0">
                <a:latin typeface="Arial" pitchFamily="34" charset="0"/>
                <a:cs typeface="Arial" pitchFamily="34" charset="0"/>
              </a:rPr>
              <a:t>2010:</a:t>
            </a:r>
            <a:r>
              <a:rPr lang="en-GB" sz="2400" dirty="0" smtClean="0">
                <a:latin typeface="Arial" pitchFamily="34" charset="0"/>
                <a:cs typeface="Arial" pitchFamily="34" charset="0"/>
              </a:rPr>
              <a:t> The United Nations Food and Agriculture Organization (FAO) declared </a:t>
            </a:r>
            <a:r>
              <a:rPr lang="en-GB" sz="2400" b="1" dirty="0" err="1" smtClean="0">
                <a:solidFill>
                  <a:schemeClr val="accent2"/>
                </a:solidFill>
                <a:latin typeface="Arial" pitchFamily="34" charset="0"/>
                <a:cs typeface="Arial" pitchFamily="34" charset="0"/>
              </a:rPr>
              <a:t>Rinderpest</a:t>
            </a:r>
            <a:r>
              <a:rPr lang="en-GB" sz="2400" b="1" dirty="0" smtClean="0">
                <a:solidFill>
                  <a:schemeClr val="accent2"/>
                </a:solidFill>
                <a:latin typeface="Arial" pitchFamily="34" charset="0"/>
                <a:cs typeface="Arial" pitchFamily="34" charset="0"/>
              </a:rPr>
              <a:t> virus to be globally eradicated. </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8229600" cy="1143000"/>
          </a:xfrm>
        </p:spPr>
        <p:txBody>
          <a:bodyPr>
            <a:normAutofit/>
          </a:bodyPr>
          <a:lstStyle/>
          <a:p>
            <a:r>
              <a:rPr lang="en-US" sz="3200" b="1" dirty="0">
                <a:solidFill>
                  <a:srgbClr val="FF0000"/>
                </a:solidFill>
                <a:latin typeface="Arial" pitchFamily="34" charset="0"/>
                <a:cs typeface="Arial" pitchFamily="34" charset="0"/>
              </a:rPr>
              <a:t>COMMON TERMS</a:t>
            </a:r>
          </a:p>
        </p:txBody>
      </p:sp>
      <p:sp>
        <p:nvSpPr>
          <p:cNvPr id="3" name="Content Placeholder 2"/>
          <p:cNvSpPr>
            <a:spLocks noGrp="1"/>
          </p:cNvSpPr>
          <p:nvPr>
            <p:ph idx="1"/>
          </p:nvPr>
        </p:nvSpPr>
        <p:spPr>
          <a:xfrm>
            <a:off x="152400" y="1219200"/>
            <a:ext cx="8839200" cy="4830763"/>
          </a:xfrm>
        </p:spPr>
        <p:txBody>
          <a:bodyPr>
            <a:noAutofit/>
          </a:bodyPr>
          <a:lstStyle/>
          <a:p>
            <a:pPr>
              <a:lnSpc>
                <a:spcPct val="150000"/>
              </a:lnSpc>
            </a:pPr>
            <a:r>
              <a:rPr lang="en-US" sz="2400" dirty="0">
                <a:latin typeface="Arial" pitchFamily="34" charset="0"/>
                <a:cs typeface="Arial" pitchFamily="34" charset="0"/>
              </a:rPr>
              <a:t>The term virus was coined by Pasteur, and is from the Latin word for poison.</a:t>
            </a:r>
          </a:p>
          <a:p>
            <a:pPr>
              <a:lnSpc>
                <a:spcPct val="150000"/>
              </a:lnSpc>
            </a:pPr>
            <a:r>
              <a:rPr lang="en-US" sz="2400" b="1" dirty="0">
                <a:latin typeface="Arial" pitchFamily="34" charset="0"/>
                <a:cs typeface="Arial" pitchFamily="34" charset="0"/>
              </a:rPr>
              <a:t>Virus particle or </a:t>
            </a:r>
            <a:r>
              <a:rPr lang="en-US" sz="2400" b="1" dirty="0" err="1">
                <a:latin typeface="Arial" pitchFamily="34" charset="0"/>
                <a:cs typeface="Arial" pitchFamily="34" charset="0"/>
              </a:rPr>
              <a:t>virion</a:t>
            </a:r>
            <a:r>
              <a:rPr lang="en-US" sz="2400" b="1" dirty="0">
                <a:latin typeface="Arial" pitchFamily="34" charset="0"/>
                <a:cs typeface="Arial" pitchFamily="34" charset="0"/>
              </a:rPr>
              <a:t>-</a:t>
            </a:r>
            <a:r>
              <a:rPr lang="en-US" sz="2400" dirty="0">
                <a:latin typeface="Arial" pitchFamily="34" charset="0"/>
                <a:cs typeface="Arial" pitchFamily="34" charset="0"/>
              </a:rPr>
              <a:t> An infectious agent composed of nucleic acid (RNA or DNA), a protein shell (</a:t>
            </a:r>
            <a:r>
              <a:rPr lang="en-US" sz="2400" dirty="0" err="1">
                <a:latin typeface="Arial" pitchFamily="34" charset="0"/>
                <a:cs typeface="Arial" pitchFamily="34" charset="0"/>
              </a:rPr>
              <a:t>capsid</a:t>
            </a:r>
            <a:r>
              <a:rPr lang="en-US" sz="2400" dirty="0">
                <a:latin typeface="Arial" pitchFamily="34" charset="0"/>
                <a:cs typeface="Arial" pitchFamily="34" charset="0"/>
              </a:rPr>
              <a:t>) and, in some cases, a lipid envelope. </a:t>
            </a:r>
            <a:r>
              <a:rPr lang="en-US" sz="2400" dirty="0" err="1">
                <a:latin typeface="Arial" pitchFamily="34" charset="0"/>
                <a:cs typeface="Arial" pitchFamily="34" charset="0"/>
              </a:rPr>
              <a:t>Virions</a:t>
            </a:r>
            <a:r>
              <a:rPr lang="en-US" sz="2400" dirty="0">
                <a:latin typeface="Arial" pitchFamily="34" charset="0"/>
                <a:cs typeface="Arial" pitchFamily="34" charset="0"/>
              </a:rPr>
              <a:t> have full capacity for replication when a susceptible target cell is encountered.</a:t>
            </a:r>
          </a:p>
          <a:p>
            <a:pPr>
              <a:lnSpc>
                <a:spcPct val="150000"/>
              </a:lnSpc>
            </a:pPr>
            <a:r>
              <a:rPr lang="en-US" sz="2400" b="1" dirty="0">
                <a:latin typeface="Arial" pitchFamily="34" charset="0"/>
                <a:cs typeface="Arial" pitchFamily="34" charset="0"/>
              </a:rPr>
              <a:t>A </a:t>
            </a:r>
            <a:r>
              <a:rPr lang="en-US" sz="2400" b="1" dirty="0" err="1">
                <a:latin typeface="Arial" pitchFamily="34" charset="0"/>
                <a:cs typeface="Arial" pitchFamily="34" charset="0"/>
              </a:rPr>
              <a:t>virion</a:t>
            </a:r>
            <a:r>
              <a:rPr lang="en-US" sz="2400" b="1" dirty="0">
                <a:latin typeface="Arial" pitchFamily="34" charset="0"/>
                <a:cs typeface="Arial" pitchFamily="34" charset="0"/>
              </a:rPr>
              <a:t> is an infectious virus particle - not all virus particles are </a:t>
            </a:r>
            <a:r>
              <a:rPr lang="en-US" sz="2400" b="1" dirty="0" smtClean="0">
                <a:latin typeface="Arial" pitchFamily="34" charset="0"/>
                <a:cs typeface="Arial" pitchFamily="34" charset="0"/>
              </a:rPr>
              <a:t>infectious</a:t>
            </a:r>
            <a:endParaRPr lang="en-US" sz="2400" b="1" dirty="0">
              <a:latin typeface="Arial" pitchFamily="34" charset="0"/>
              <a:cs typeface="Arial" pitchFamily="34" charset="0"/>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4294967295"/>
          </p:nvPr>
        </p:nvSpPr>
        <p:spPr>
          <a:xfrm>
            <a:off x="0" y="609600"/>
            <a:ext cx="8915400" cy="4876800"/>
          </a:xfrm>
        </p:spPr>
        <p:txBody>
          <a:bodyPr>
            <a:noAutofit/>
          </a:bodyPr>
          <a:lstStyle/>
          <a:p>
            <a:pPr>
              <a:lnSpc>
                <a:spcPct val="170000"/>
              </a:lnSpc>
            </a:pPr>
            <a:r>
              <a:rPr lang="en-US" sz="2000" b="1" dirty="0" err="1" smtClean="0">
                <a:latin typeface="Arial" pitchFamily="34" charset="0"/>
                <a:cs typeface="Arial" pitchFamily="34" charset="0"/>
              </a:rPr>
              <a:t>Viroids</a:t>
            </a:r>
            <a:r>
              <a:rPr lang="en-US" sz="2000" dirty="0" smtClean="0">
                <a:latin typeface="Arial" pitchFamily="34" charset="0"/>
                <a:cs typeface="Arial" pitchFamily="34" charset="0"/>
              </a:rPr>
              <a:t> are infectious agents consisting of a low molecular weight RNA that contains no protein </a:t>
            </a:r>
            <a:r>
              <a:rPr lang="en-US" sz="2000" dirty="0" err="1" smtClean="0">
                <a:latin typeface="Arial" pitchFamily="34" charset="0"/>
                <a:cs typeface="Arial" pitchFamily="34" charset="0"/>
              </a:rPr>
              <a:t>capsid</a:t>
            </a:r>
            <a:r>
              <a:rPr lang="en-US" sz="2000" dirty="0" smtClean="0">
                <a:latin typeface="Arial" pitchFamily="34" charset="0"/>
                <a:cs typeface="Arial" pitchFamily="34" charset="0"/>
              </a:rPr>
              <a:t> responsible for many plant diseases.</a:t>
            </a:r>
          </a:p>
          <a:p>
            <a:pPr>
              <a:lnSpc>
                <a:spcPct val="170000"/>
              </a:lnSpc>
            </a:pPr>
            <a:r>
              <a:rPr lang="en-US" sz="2000" b="1" dirty="0" err="1" smtClean="0">
                <a:latin typeface="Arial" pitchFamily="34" charset="0"/>
                <a:cs typeface="Arial" pitchFamily="34" charset="0"/>
              </a:rPr>
              <a:t>Prions</a:t>
            </a:r>
            <a:r>
              <a:rPr lang="en-US" sz="2000" dirty="0" smtClean="0">
                <a:latin typeface="Arial" pitchFamily="34" charset="0"/>
                <a:cs typeface="Arial" pitchFamily="34" charset="0"/>
              </a:rPr>
              <a:t>-   small infectious particle composed of abnormally folded protein that causes progressive neurodegenerative conditions. The term </a:t>
            </a:r>
            <a:r>
              <a:rPr lang="en-US" sz="2000" dirty="0" err="1" smtClean="0">
                <a:latin typeface="Arial" pitchFamily="34" charset="0"/>
                <a:cs typeface="Arial" pitchFamily="34" charset="0"/>
              </a:rPr>
              <a:t>prion</a:t>
            </a:r>
            <a:r>
              <a:rPr lang="en-US" sz="2000" dirty="0" smtClean="0">
                <a:latin typeface="Arial" pitchFamily="34" charset="0"/>
                <a:cs typeface="Arial" pitchFamily="34" charset="0"/>
              </a:rPr>
              <a:t> was coined to mean </a:t>
            </a:r>
            <a:r>
              <a:rPr lang="en-US" sz="2000" dirty="0" err="1" smtClean="0">
                <a:latin typeface="Arial" pitchFamily="34" charset="0"/>
                <a:cs typeface="Arial" pitchFamily="34" charset="0"/>
              </a:rPr>
              <a:t>proteinaceous</a:t>
            </a:r>
            <a:r>
              <a:rPr lang="en-US" sz="2000" dirty="0" smtClean="0">
                <a:latin typeface="Arial" pitchFamily="34" charset="0"/>
                <a:cs typeface="Arial" pitchFamily="34" charset="0"/>
              </a:rPr>
              <a:t> infectious </a:t>
            </a:r>
            <a:r>
              <a:rPr lang="en-US" sz="2000" dirty="0" smtClean="0">
                <a:latin typeface="Arial" pitchFamily="34" charset="0"/>
                <a:cs typeface="Arial" pitchFamily="34" charset="0"/>
              </a:rPr>
              <a:t>particle</a:t>
            </a:r>
            <a:r>
              <a:rPr lang="en-US" sz="2000" dirty="0" smtClean="0">
                <a:latin typeface="Arial" pitchFamily="34" charset="0"/>
                <a:cs typeface="Arial" pitchFamily="34" charset="0"/>
              </a:rPr>
              <a:t> [</a:t>
            </a:r>
            <a:r>
              <a:rPr lang="en-US" sz="2000" dirty="0" err="1" smtClean="0">
                <a:latin typeface="Arial" pitchFamily="34" charset="0"/>
                <a:cs typeface="Arial" pitchFamily="34" charset="0"/>
              </a:rPr>
              <a:t>Prusiner</a:t>
            </a:r>
            <a:r>
              <a:rPr lang="en-US" sz="2000" dirty="0" smtClean="0">
                <a:latin typeface="Arial" pitchFamily="34" charset="0"/>
                <a:cs typeface="Arial" pitchFamily="34" charset="0"/>
              </a:rPr>
              <a:t> 1982]</a:t>
            </a:r>
          </a:p>
          <a:p>
            <a:pPr>
              <a:lnSpc>
                <a:spcPct val="170000"/>
              </a:lnSpc>
            </a:pPr>
            <a:r>
              <a:rPr lang="en-US" sz="2000" b="1" dirty="0" smtClean="0">
                <a:latin typeface="Arial" pitchFamily="34" charset="0"/>
                <a:cs typeface="Arial" pitchFamily="34" charset="0"/>
              </a:rPr>
              <a:t>Satellite or Defective Viruses</a:t>
            </a:r>
            <a:r>
              <a:rPr lang="en-US" sz="2000" dirty="0" smtClean="0">
                <a:latin typeface="Arial" pitchFamily="34" charset="0"/>
                <a:cs typeface="Arial" pitchFamily="34" charset="0"/>
              </a:rPr>
              <a:t>. Viruses which require a second virus (helper virus) for replication. Hepatitis delta virus is the major human pathogen example. It requires the presence of hepatitis B virus to complete its replication cycle.</a:t>
            </a:r>
          </a:p>
          <a:p>
            <a:pPr>
              <a:lnSpc>
                <a:spcPct val="170000"/>
              </a:lnSpc>
            </a:pPr>
            <a:endParaRPr lang="en-US" sz="20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p:cNvGraphicFramePr>
            <a:graphicFrameLocks noGrp="1"/>
          </p:cNvGraphicFramePr>
          <p:nvPr/>
        </p:nvGraphicFramePr>
        <p:xfrm>
          <a:off x="152400" y="609600"/>
          <a:ext cx="8991600" cy="6019799"/>
        </p:xfrm>
        <a:graphic>
          <a:graphicData uri="http://schemas.openxmlformats.org/drawingml/2006/table">
            <a:tbl>
              <a:tblPr>
                <a:tableStyleId>{69C7853C-536D-4A76-A0AE-DD22124D55A5}</a:tableStyleId>
              </a:tblPr>
              <a:tblGrid>
                <a:gridCol w="1627790">
                  <a:extLst>
                    <a:ext uri="{9D8B030D-6E8A-4147-A177-3AD203B41FA5}">
                      <a16:colId xmlns="" xmlns:a16="http://schemas.microsoft.com/office/drawing/2014/main" val="20000"/>
                    </a:ext>
                  </a:extLst>
                </a:gridCol>
                <a:gridCol w="1007679">
                  <a:extLst>
                    <a:ext uri="{9D8B030D-6E8A-4147-A177-3AD203B41FA5}">
                      <a16:colId xmlns="" xmlns:a16="http://schemas.microsoft.com/office/drawing/2014/main" val="20001"/>
                    </a:ext>
                  </a:extLst>
                </a:gridCol>
                <a:gridCol w="1141003">
                  <a:extLst>
                    <a:ext uri="{9D8B030D-6E8A-4147-A177-3AD203B41FA5}">
                      <a16:colId xmlns="" xmlns:a16="http://schemas.microsoft.com/office/drawing/2014/main" val="20002"/>
                    </a:ext>
                  </a:extLst>
                </a:gridCol>
                <a:gridCol w="1258824">
                  <a:extLst>
                    <a:ext uri="{9D8B030D-6E8A-4147-A177-3AD203B41FA5}">
                      <a16:colId xmlns="" xmlns:a16="http://schemas.microsoft.com/office/drawing/2014/main" val="20003"/>
                    </a:ext>
                  </a:extLst>
                </a:gridCol>
                <a:gridCol w="1060704">
                  <a:extLst>
                    <a:ext uri="{9D8B030D-6E8A-4147-A177-3AD203B41FA5}">
                      <a16:colId xmlns="" xmlns:a16="http://schemas.microsoft.com/office/drawing/2014/main" val="20004"/>
                    </a:ext>
                  </a:extLst>
                </a:gridCol>
                <a:gridCol w="1546860">
                  <a:extLst>
                    <a:ext uri="{9D8B030D-6E8A-4147-A177-3AD203B41FA5}">
                      <a16:colId xmlns="" xmlns:a16="http://schemas.microsoft.com/office/drawing/2014/main" val="20005"/>
                    </a:ext>
                  </a:extLst>
                </a:gridCol>
                <a:gridCol w="1348740">
                  <a:extLst>
                    <a:ext uri="{9D8B030D-6E8A-4147-A177-3AD203B41FA5}">
                      <a16:colId xmlns="" xmlns:a16="http://schemas.microsoft.com/office/drawing/2014/main" val="20006"/>
                    </a:ext>
                  </a:extLst>
                </a:gridCol>
              </a:tblGrid>
              <a:tr h="518145">
                <a:tc gridSpan="7">
                  <a:txBody>
                    <a:bodyPr/>
                    <a:lstStyle/>
                    <a:p>
                      <a:pPr algn="ctr"/>
                      <a:r>
                        <a:rPr lang="en-US" sz="2400" b="1" dirty="0">
                          <a:solidFill>
                            <a:schemeClr val="accent6">
                              <a:lumMod val="50000"/>
                            </a:schemeClr>
                          </a:solidFill>
                        </a:rPr>
                        <a:t>Properties of Unicellular Microorganisms and Viruses </a:t>
                      </a:r>
                      <a:endParaRPr lang="en-US" sz="2400" b="1" dirty="0">
                        <a:solidFill>
                          <a:schemeClr val="accent6">
                            <a:lumMod val="50000"/>
                          </a:schemeClr>
                        </a:solidFill>
                        <a:latin typeface="Arial" pitchFamily="34" charset="0"/>
                        <a:cs typeface="Arial" pitchFamily="34" charset="0"/>
                      </a:endParaRPr>
                    </a:p>
                  </a:txBody>
                  <a:tcPr marL="20000" marR="20000" marT="20000" marB="20000" anchor="ct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 xmlns:a16="http://schemas.microsoft.com/office/drawing/2014/main" val="10000"/>
                  </a:ext>
                </a:extLst>
              </a:tr>
              <a:tr h="1482874">
                <a:tc>
                  <a:txBody>
                    <a:bodyPr/>
                    <a:lstStyle/>
                    <a:p>
                      <a:pPr algn="l"/>
                      <a:r>
                        <a:rPr lang="en-US" sz="1800"/>
                        <a:t> </a:t>
                      </a:r>
                      <a:endParaRPr lang="en-US" sz="1800">
                        <a:latin typeface="Arial" pitchFamily="34" charset="0"/>
                        <a:cs typeface="Arial" pitchFamily="34" charset="0"/>
                      </a:endParaRPr>
                    </a:p>
                  </a:txBody>
                  <a:tcPr marL="20000" marR="20000" marT="20000" marB="20000" anchor="ctr"/>
                </a:tc>
                <a:tc>
                  <a:txBody>
                    <a:bodyPr/>
                    <a:lstStyle/>
                    <a:p>
                      <a:pPr algn="ctr"/>
                      <a:r>
                        <a:rPr lang="en-US" sz="1800" b="1" dirty="0">
                          <a:solidFill>
                            <a:srgbClr val="FF0000"/>
                          </a:solidFill>
                        </a:rPr>
                        <a:t>Growth on artificial media  </a:t>
                      </a:r>
                      <a:endParaRPr lang="en-US" sz="1800" b="1" dirty="0">
                        <a:solidFill>
                          <a:srgbClr val="FF0000"/>
                        </a:solidFill>
                        <a:latin typeface="Arial" pitchFamily="34" charset="0"/>
                        <a:cs typeface="Arial" pitchFamily="34" charset="0"/>
                      </a:endParaRPr>
                    </a:p>
                  </a:txBody>
                  <a:tcPr marL="20000" marR="20000" marT="20000" marB="20000" anchor="ctr"/>
                </a:tc>
                <a:tc>
                  <a:txBody>
                    <a:bodyPr/>
                    <a:lstStyle/>
                    <a:p>
                      <a:pPr algn="ctr"/>
                      <a:r>
                        <a:rPr lang="en-US" sz="1800" b="1" dirty="0">
                          <a:solidFill>
                            <a:srgbClr val="FF0000"/>
                          </a:solidFill>
                        </a:rPr>
                        <a:t>Division by binary fission  </a:t>
                      </a:r>
                      <a:endParaRPr lang="en-US" sz="1800" b="1" dirty="0">
                        <a:solidFill>
                          <a:srgbClr val="FF0000"/>
                        </a:solidFill>
                        <a:latin typeface="Arial" pitchFamily="34" charset="0"/>
                        <a:cs typeface="Arial" pitchFamily="34" charset="0"/>
                      </a:endParaRPr>
                    </a:p>
                  </a:txBody>
                  <a:tcPr marL="20000" marR="20000" marT="20000" marB="20000" anchor="ctr"/>
                </a:tc>
                <a:tc>
                  <a:txBody>
                    <a:bodyPr/>
                    <a:lstStyle/>
                    <a:p>
                      <a:pPr algn="ctr"/>
                      <a:r>
                        <a:rPr lang="en-US" sz="1800" b="1" dirty="0">
                          <a:solidFill>
                            <a:srgbClr val="FF0000"/>
                          </a:solidFill>
                        </a:rPr>
                        <a:t>Whether they have both DNA and RNA</a:t>
                      </a:r>
                      <a:endParaRPr lang="en-US" sz="1800" b="1" dirty="0">
                        <a:solidFill>
                          <a:srgbClr val="FF0000"/>
                        </a:solidFill>
                        <a:latin typeface="Arial" pitchFamily="34" charset="0"/>
                        <a:cs typeface="Arial" pitchFamily="34" charset="0"/>
                      </a:endParaRPr>
                    </a:p>
                  </a:txBody>
                  <a:tcPr marL="20000" marR="20000" marT="20000" marB="20000" anchor="ctr"/>
                </a:tc>
                <a:tc>
                  <a:txBody>
                    <a:bodyPr/>
                    <a:lstStyle/>
                    <a:p>
                      <a:pPr algn="ctr"/>
                      <a:r>
                        <a:rPr lang="en-US" sz="1800" b="1" dirty="0">
                          <a:solidFill>
                            <a:srgbClr val="FF0000"/>
                          </a:solidFill>
                        </a:rPr>
                        <a:t>Whether they have </a:t>
                      </a:r>
                      <a:r>
                        <a:rPr lang="en-US" sz="1800" b="1" dirty="0" err="1">
                          <a:solidFill>
                            <a:srgbClr val="FF0000"/>
                          </a:solidFill>
                        </a:rPr>
                        <a:t>ribosomes</a:t>
                      </a:r>
                      <a:endParaRPr lang="en-US" sz="1800" b="1" dirty="0">
                        <a:solidFill>
                          <a:srgbClr val="FF0000"/>
                        </a:solidFill>
                        <a:latin typeface="Arial" pitchFamily="34" charset="0"/>
                        <a:cs typeface="Arial" pitchFamily="34" charset="0"/>
                      </a:endParaRPr>
                    </a:p>
                  </a:txBody>
                  <a:tcPr marL="20000" marR="20000" marT="20000" marB="20000" anchor="ctr"/>
                </a:tc>
                <a:tc>
                  <a:txBody>
                    <a:bodyPr/>
                    <a:lstStyle/>
                    <a:p>
                      <a:pPr algn="ctr"/>
                      <a:r>
                        <a:rPr lang="en-US" sz="1800" b="1" dirty="0">
                          <a:solidFill>
                            <a:srgbClr val="FF0000"/>
                          </a:solidFill>
                        </a:rPr>
                        <a:t>Whether they have  </a:t>
                      </a:r>
                      <a:r>
                        <a:rPr lang="en-US" sz="1800" b="1" dirty="0" err="1">
                          <a:solidFill>
                            <a:srgbClr val="FF0000"/>
                          </a:solidFill>
                        </a:rPr>
                        <a:t>muramic</a:t>
                      </a:r>
                      <a:r>
                        <a:rPr lang="en-US" sz="1800" b="1" dirty="0">
                          <a:solidFill>
                            <a:srgbClr val="FF0000"/>
                          </a:solidFill>
                        </a:rPr>
                        <a:t> acid</a:t>
                      </a:r>
                      <a:endParaRPr lang="en-US" sz="1800" b="1" dirty="0">
                        <a:solidFill>
                          <a:srgbClr val="FF0000"/>
                        </a:solidFill>
                        <a:latin typeface="Arial" pitchFamily="34" charset="0"/>
                        <a:cs typeface="Arial" pitchFamily="34" charset="0"/>
                      </a:endParaRPr>
                    </a:p>
                  </a:txBody>
                  <a:tcPr marL="20000" marR="20000" marT="20000" marB="20000" anchor="ctr"/>
                </a:tc>
                <a:tc>
                  <a:txBody>
                    <a:bodyPr/>
                    <a:lstStyle/>
                    <a:p>
                      <a:pPr algn="ctr"/>
                      <a:r>
                        <a:rPr lang="en-US" sz="1800" b="1" dirty="0">
                          <a:solidFill>
                            <a:srgbClr val="FF0000"/>
                          </a:solidFill>
                        </a:rPr>
                        <a:t>Their sensitivity to antibiotics</a:t>
                      </a:r>
                      <a:endParaRPr lang="en-US" sz="1800" b="1" dirty="0">
                        <a:solidFill>
                          <a:srgbClr val="FF0000"/>
                        </a:solidFill>
                        <a:latin typeface="Arial" pitchFamily="34" charset="0"/>
                        <a:cs typeface="Arial" pitchFamily="34" charset="0"/>
                      </a:endParaRPr>
                    </a:p>
                  </a:txBody>
                  <a:tcPr marL="20000" marR="20000" marT="20000" marB="20000" anchor="ctr"/>
                </a:tc>
                <a:extLst>
                  <a:ext uri="{0D108BD9-81ED-4DB2-BD59-A6C34878D82A}">
                    <a16:rowId xmlns="" xmlns:a16="http://schemas.microsoft.com/office/drawing/2014/main" val="10001"/>
                  </a:ext>
                </a:extLst>
              </a:tr>
              <a:tr h="518145">
                <a:tc>
                  <a:txBody>
                    <a:bodyPr/>
                    <a:lstStyle/>
                    <a:p>
                      <a:pPr algn="ctr"/>
                      <a:r>
                        <a:rPr lang="en-US" sz="1800" b="1" dirty="0">
                          <a:solidFill>
                            <a:srgbClr val="002060"/>
                          </a:solidFill>
                        </a:rPr>
                        <a:t>Bacteria  </a:t>
                      </a:r>
                      <a:endParaRPr lang="en-US" sz="1800" b="1" dirty="0">
                        <a:solidFill>
                          <a:srgbClr val="002060"/>
                        </a:solidFill>
                        <a:latin typeface="Arial" pitchFamily="34" charset="0"/>
                        <a:cs typeface="Arial" pitchFamily="34" charset="0"/>
                      </a:endParaRPr>
                    </a:p>
                  </a:txBody>
                  <a:tcPr marL="20000" marR="20000" marT="20000" marB="20000" anchor="ctr"/>
                </a:tc>
                <a:tc>
                  <a:txBody>
                    <a:bodyPr/>
                    <a:lstStyle/>
                    <a:p>
                      <a:pPr algn="ctr"/>
                      <a:r>
                        <a:rPr lang="en-US" sz="1800"/>
                        <a:t>Yes</a:t>
                      </a:r>
                      <a:endParaRPr lang="en-US" sz="1800">
                        <a:latin typeface="Arial" pitchFamily="34" charset="0"/>
                        <a:cs typeface="Arial" pitchFamily="34" charset="0"/>
                      </a:endParaRPr>
                    </a:p>
                  </a:txBody>
                  <a:tcPr marL="20000" marR="20000" marT="20000" marB="20000" anchor="ctr"/>
                </a:tc>
                <a:tc>
                  <a:txBody>
                    <a:bodyPr/>
                    <a:lstStyle/>
                    <a:p>
                      <a:pPr algn="ctr"/>
                      <a:r>
                        <a:rPr lang="en-US" sz="1800"/>
                        <a:t>Yes</a:t>
                      </a:r>
                      <a:endParaRPr lang="en-US" sz="1800">
                        <a:latin typeface="Arial" pitchFamily="34" charset="0"/>
                        <a:cs typeface="Arial" pitchFamily="34" charset="0"/>
                      </a:endParaRPr>
                    </a:p>
                  </a:txBody>
                  <a:tcPr marL="20000" marR="20000" marT="20000" marB="20000" anchor="ctr"/>
                </a:tc>
                <a:tc>
                  <a:txBody>
                    <a:bodyPr/>
                    <a:lstStyle/>
                    <a:p>
                      <a:pPr algn="ctr"/>
                      <a:r>
                        <a:rPr lang="en-US" sz="1800"/>
                        <a:t>Yes</a:t>
                      </a:r>
                      <a:endParaRPr lang="en-US" sz="1800">
                        <a:latin typeface="Arial" pitchFamily="34" charset="0"/>
                        <a:cs typeface="Arial" pitchFamily="34" charset="0"/>
                      </a:endParaRPr>
                    </a:p>
                  </a:txBody>
                  <a:tcPr marL="20000" marR="20000" marT="20000" marB="20000" anchor="ctr"/>
                </a:tc>
                <a:tc>
                  <a:txBody>
                    <a:bodyPr/>
                    <a:lstStyle/>
                    <a:p>
                      <a:pPr algn="ctr"/>
                      <a:r>
                        <a:rPr lang="en-US" sz="1800"/>
                        <a:t>Yes</a:t>
                      </a:r>
                      <a:endParaRPr lang="en-US" sz="1800">
                        <a:latin typeface="Arial" pitchFamily="34" charset="0"/>
                        <a:cs typeface="Arial" pitchFamily="34" charset="0"/>
                      </a:endParaRPr>
                    </a:p>
                  </a:txBody>
                  <a:tcPr marL="20000" marR="20000" marT="20000" marB="20000" anchor="ctr"/>
                </a:tc>
                <a:tc>
                  <a:txBody>
                    <a:bodyPr/>
                    <a:lstStyle/>
                    <a:p>
                      <a:pPr algn="ctr"/>
                      <a:r>
                        <a:rPr lang="en-US" sz="1800"/>
                        <a:t>Yes</a:t>
                      </a:r>
                      <a:endParaRPr lang="en-US" sz="1800">
                        <a:latin typeface="Arial" pitchFamily="34" charset="0"/>
                        <a:cs typeface="Arial" pitchFamily="34" charset="0"/>
                      </a:endParaRPr>
                    </a:p>
                  </a:txBody>
                  <a:tcPr marL="20000" marR="20000" marT="20000" marB="20000" anchor="ctr"/>
                </a:tc>
                <a:tc>
                  <a:txBody>
                    <a:bodyPr/>
                    <a:lstStyle/>
                    <a:p>
                      <a:pPr algn="ctr"/>
                      <a:r>
                        <a:rPr lang="en-US" sz="1800"/>
                        <a:t>Yes</a:t>
                      </a:r>
                      <a:endParaRPr lang="en-US" sz="1800">
                        <a:latin typeface="Arial" pitchFamily="34" charset="0"/>
                        <a:cs typeface="Arial" pitchFamily="34" charset="0"/>
                      </a:endParaRPr>
                    </a:p>
                  </a:txBody>
                  <a:tcPr marL="20000" marR="20000" marT="20000" marB="20000" anchor="ctr"/>
                </a:tc>
                <a:extLst>
                  <a:ext uri="{0D108BD9-81ED-4DB2-BD59-A6C34878D82A}">
                    <a16:rowId xmlns="" xmlns:a16="http://schemas.microsoft.com/office/drawing/2014/main" val="10002"/>
                  </a:ext>
                </a:extLst>
              </a:tr>
              <a:tr h="745622">
                <a:tc>
                  <a:txBody>
                    <a:bodyPr/>
                    <a:lstStyle/>
                    <a:p>
                      <a:pPr algn="ctr"/>
                      <a:r>
                        <a:rPr lang="en-US" sz="1800" b="1" dirty="0" err="1">
                          <a:solidFill>
                            <a:srgbClr val="002060"/>
                          </a:solidFill>
                        </a:rPr>
                        <a:t>Mycoplasma</a:t>
                      </a:r>
                      <a:r>
                        <a:rPr lang="en-US" sz="1800" b="1" dirty="0">
                          <a:solidFill>
                            <a:srgbClr val="002060"/>
                          </a:solidFill>
                        </a:rPr>
                        <a:t>  </a:t>
                      </a:r>
                      <a:endParaRPr lang="en-US" sz="1800" b="1" dirty="0">
                        <a:solidFill>
                          <a:srgbClr val="002060"/>
                        </a:solidFill>
                        <a:latin typeface="Arial" pitchFamily="34" charset="0"/>
                        <a:cs typeface="Arial" pitchFamily="34" charset="0"/>
                      </a:endParaRPr>
                    </a:p>
                  </a:txBody>
                  <a:tcPr marL="20000" marR="20000" marT="20000" marB="20000" anchor="ctr"/>
                </a:tc>
                <a:tc>
                  <a:txBody>
                    <a:bodyPr/>
                    <a:lstStyle/>
                    <a:p>
                      <a:pPr algn="ctr"/>
                      <a:r>
                        <a:rPr lang="en-US" sz="1800"/>
                        <a:t>Yes</a:t>
                      </a:r>
                      <a:endParaRPr lang="en-US" sz="1800">
                        <a:latin typeface="Arial" pitchFamily="34" charset="0"/>
                        <a:cs typeface="Arial" pitchFamily="34" charset="0"/>
                      </a:endParaRPr>
                    </a:p>
                  </a:txBody>
                  <a:tcPr marL="20000" marR="20000" marT="20000" marB="20000" anchor="ctr"/>
                </a:tc>
                <a:tc>
                  <a:txBody>
                    <a:bodyPr/>
                    <a:lstStyle/>
                    <a:p>
                      <a:pPr algn="ctr"/>
                      <a:r>
                        <a:rPr lang="en-US" sz="1800"/>
                        <a:t>Yes</a:t>
                      </a:r>
                      <a:endParaRPr lang="en-US" sz="1800">
                        <a:latin typeface="Arial" pitchFamily="34" charset="0"/>
                        <a:cs typeface="Arial" pitchFamily="34" charset="0"/>
                      </a:endParaRPr>
                    </a:p>
                  </a:txBody>
                  <a:tcPr marL="20000" marR="20000" marT="20000" marB="20000" anchor="ctr"/>
                </a:tc>
                <a:tc>
                  <a:txBody>
                    <a:bodyPr/>
                    <a:lstStyle/>
                    <a:p>
                      <a:pPr algn="ctr"/>
                      <a:r>
                        <a:rPr lang="en-US" sz="1800"/>
                        <a:t>Yes</a:t>
                      </a:r>
                      <a:endParaRPr lang="en-US" sz="1800">
                        <a:latin typeface="Arial" pitchFamily="34" charset="0"/>
                        <a:cs typeface="Arial" pitchFamily="34" charset="0"/>
                      </a:endParaRPr>
                    </a:p>
                  </a:txBody>
                  <a:tcPr marL="20000" marR="20000" marT="20000" marB="20000" anchor="ctr"/>
                </a:tc>
                <a:tc>
                  <a:txBody>
                    <a:bodyPr/>
                    <a:lstStyle/>
                    <a:p>
                      <a:pPr algn="ctr"/>
                      <a:r>
                        <a:rPr lang="en-US" sz="1800"/>
                        <a:t>Yes</a:t>
                      </a:r>
                      <a:endParaRPr lang="en-US" sz="1800">
                        <a:latin typeface="Arial" pitchFamily="34" charset="0"/>
                        <a:cs typeface="Arial" pitchFamily="34" charset="0"/>
                      </a:endParaRPr>
                    </a:p>
                  </a:txBody>
                  <a:tcPr marL="20000" marR="20000" marT="20000" marB="20000" anchor="ctr"/>
                </a:tc>
                <a:tc>
                  <a:txBody>
                    <a:bodyPr/>
                    <a:lstStyle/>
                    <a:p>
                      <a:pPr algn="ctr"/>
                      <a:r>
                        <a:rPr lang="en-US" sz="1800"/>
                        <a:t>No</a:t>
                      </a:r>
                      <a:endParaRPr lang="en-US" sz="1800">
                        <a:latin typeface="Arial" pitchFamily="34" charset="0"/>
                        <a:cs typeface="Arial" pitchFamily="34" charset="0"/>
                      </a:endParaRPr>
                    </a:p>
                  </a:txBody>
                  <a:tcPr marL="20000" marR="20000" marT="20000" marB="20000" anchor="ctr"/>
                </a:tc>
                <a:tc>
                  <a:txBody>
                    <a:bodyPr/>
                    <a:lstStyle/>
                    <a:p>
                      <a:pPr algn="ctr"/>
                      <a:r>
                        <a:rPr lang="en-US" sz="1800"/>
                        <a:t>Yes</a:t>
                      </a:r>
                      <a:endParaRPr lang="en-US" sz="1800">
                        <a:latin typeface="Arial" pitchFamily="34" charset="0"/>
                        <a:cs typeface="Arial" pitchFamily="34" charset="0"/>
                      </a:endParaRPr>
                    </a:p>
                  </a:txBody>
                  <a:tcPr marL="20000" marR="20000" marT="20000" marB="20000" anchor="ctr"/>
                </a:tc>
                <a:extLst>
                  <a:ext uri="{0D108BD9-81ED-4DB2-BD59-A6C34878D82A}">
                    <a16:rowId xmlns="" xmlns:a16="http://schemas.microsoft.com/office/drawing/2014/main" val="10003"/>
                  </a:ext>
                </a:extLst>
              </a:tr>
              <a:tr h="518145">
                <a:tc>
                  <a:txBody>
                    <a:bodyPr/>
                    <a:lstStyle/>
                    <a:p>
                      <a:pPr algn="ctr"/>
                      <a:r>
                        <a:rPr lang="en-US" sz="1800" b="1" dirty="0" err="1">
                          <a:solidFill>
                            <a:srgbClr val="002060"/>
                          </a:solidFill>
                        </a:rPr>
                        <a:t>Rickettsia</a:t>
                      </a:r>
                      <a:r>
                        <a:rPr lang="en-US" sz="1800" b="1" dirty="0">
                          <a:solidFill>
                            <a:srgbClr val="002060"/>
                          </a:solidFill>
                        </a:rPr>
                        <a:t>  </a:t>
                      </a:r>
                      <a:endParaRPr lang="en-US" sz="1800" b="1" dirty="0">
                        <a:solidFill>
                          <a:srgbClr val="002060"/>
                        </a:solidFill>
                        <a:latin typeface="Arial" pitchFamily="34" charset="0"/>
                        <a:cs typeface="Arial" pitchFamily="34" charset="0"/>
                      </a:endParaRPr>
                    </a:p>
                  </a:txBody>
                  <a:tcPr marL="20000" marR="20000" marT="20000" marB="20000" anchor="ctr"/>
                </a:tc>
                <a:tc>
                  <a:txBody>
                    <a:bodyPr/>
                    <a:lstStyle/>
                    <a:p>
                      <a:pPr algn="ctr"/>
                      <a:r>
                        <a:rPr lang="en-US" sz="1800"/>
                        <a:t>No</a:t>
                      </a:r>
                      <a:endParaRPr lang="en-US" sz="1800">
                        <a:latin typeface="Arial" pitchFamily="34" charset="0"/>
                        <a:cs typeface="Arial" pitchFamily="34" charset="0"/>
                      </a:endParaRPr>
                    </a:p>
                  </a:txBody>
                  <a:tcPr marL="20000" marR="20000" marT="20000" marB="20000" anchor="ctr"/>
                </a:tc>
                <a:tc>
                  <a:txBody>
                    <a:bodyPr/>
                    <a:lstStyle/>
                    <a:p>
                      <a:pPr algn="ctr"/>
                      <a:r>
                        <a:rPr lang="en-US" sz="1800"/>
                        <a:t>Yes</a:t>
                      </a:r>
                      <a:endParaRPr lang="en-US" sz="1800">
                        <a:latin typeface="Arial" pitchFamily="34" charset="0"/>
                        <a:cs typeface="Arial" pitchFamily="34" charset="0"/>
                      </a:endParaRPr>
                    </a:p>
                  </a:txBody>
                  <a:tcPr marL="20000" marR="20000" marT="20000" marB="20000" anchor="ctr"/>
                </a:tc>
                <a:tc>
                  <a:txBody>
                    <a:bodyPr/>
                    <a:lstStyle/>
                    <a:p>
                      <a:pPr algn="ctr"/>
                      <a:r>
                        <a:rPr lang="en-US" sz="1800"/>
                        <a:t>Yes</a:t>
                      </a:r>
                      <a:endParaRPr lang="en-US" sz="1800">
                        <a:latin typeface="Arial" pitchFamily="34" charset="0"/>
                        <a:cs typeface="Arial" pitchFamily="34" charset="0"/>
                      </a:endParaRPr>
                    </a:p>
                  </a:txBody>
                  <a:tcPr marL="20000" marR="20000" marT="20000" marB="20000" anchor="ctr"/>
                </a:tc>
                <a:tc>
                  <a:txBody>
                    <a:bodyPr/>
                    <a:lstStyle/>
                    <a:p>
                      <a:pPr algn="ctr"/>
                      <a:r>
                        <a:rPr lang="en-US" sz="1800"/>
                        <a:t>Yes</a:t>
                      </a:r>
                      <a:endParaRPr lang="en-US" sz="1800">
                        <a:latin typeface="Arial" pitchFamily="34" charset="0"/>
                        <a:cs typeface="Arial" pitchFamily="34" charset="0"/>
                      </a:endParaRPr>
                    </a:p>
                  </a:txBody>
                  <a:tcPr marL="20000" marR="20000" marT="20000" marB="20000" anchor="ctr"/>
                </a:tc>
                <a:tc>
                  <a:txBody>
                    <a:bodyPr/>
                    <a:lstStyle/>
                    <a:p>
                      <a:pPr algn="ctr"/>
                      <a:r>
                        <a:rPr lang="en-US" sz="1800"/>
                        <a:t>Yes</a:t>
                      </a:r>
                      <a:endParaRPr lang="en-US" sz="1800">
                        <a:latin typeface="Arial" pitchFamily="34" charset="0"/>
                        <a:cs typeface="Arial" pitchFamily="34" charset="0"/>
                      </a:endParaRPr>
                    </a:p>
                  </a:txBody>
                  <a:tcPr marL="20000" marR="20000" marT="20000" marB="20000" anchor="ctr"/>
                </a:tc>
                <a:tc>
                  <a:txBody>
                    <a:bodyPr/>
                    <a:lstStyle/>
                    <a:p>
                      <a:pPr algn="ctr"/>
                      <a:r>
                        <a:rPr lang="en-US" sz="1800"/>
                        <a:t>Yes</a:t>
                      </a:r>
                      <a:endParaRPr lang="en-US" sz="1800">
                        <a:latin typeface="Arial" pitchFamily="34" charset="0"/>
                        <a:cs typeface="Arial" pitchFamily="34" charset="0"/>
                      </a:endParaRPr>
                    </a:p>
                  </a:txBody>
                  <a:tcPr marL="20000" marR="20000" marT="20000" marB="20000" anchor="ctr"/>
                </a:tc>
                <a:extLst>
                  <a:ext uri="{0D108BD9-81ED-4DB2-BD59-A6C34878D82A}">
                    <a16:rowId xmlns="" xmlns:a16="http://schemas.microsoft.com/office/drawing/2014/main" val="10004"/>
                  </a:ext>
                </a:extLst>
              </a:tr>
              <a:tr h="745622">
                <a:tc>
                  <a:txBody>
                    <a:bodyPr/>
                    <a:lstStyle/>
                    <a:p>
                      <a:pPr algn="ctr"/>
                      <a:r>
                        <a:rPr lang="en-US" sz="1800" b="1" dirty="0">
                          <a:solidFill>
                            <a:srgbClr val="002060"/>
                          </a:solidFill>
                        </a:rPr>
                        <a:t>Chlamydia</a:t>
                      </a:r>
                      <a:endParaRPr lang="en-US" sz="1800" b="1" dirty="0">
                        <a:solidFill>
                          <a:srgbClr val="002060"/>
                        </a:solidFill>
                        <a:latin typeface="Arial" pitchFamily="34" charset="0"/>
                        <a:cs typeface="Arial" pitchFamily="34" charset="0"/>
                      </a:endParaRPr>
                    </a:p>
                  </a:txBody>
                  <a:tcPr marL="20000" marR="20000" marT="20000" marB="20000" anchor="ctr"/>
                </a:tc>
                <a:tc>
                  <a:txBody>
                    <a:bodyPr/>
                    <a:lstStyle/>
                    <a:p>
                      <a:pPr algn="ctr"/>
                      <a:r>
                        <a:rPr lang="en-US" sz="1800"/>
                        <a:t>No</a:t>
                      </a:r>
                      <a:endParaRPr lang="en-US" sz="1800">
                        <a:latin typeface="Arial" pitchFamily="34" charset="0"/>
                        <a:cs typeface="Arial" pitchFamily="34" charset="0"/>
                      </a:endParaRPr>
                    </a:p>
                  </a:txBody>
                  <a:tcPr marL="20000" marR="20000" marT="20000" marB="20000" anchor="ctr"/>
                </a:tc>
                <a:tc>
                  <a:txBody>
                    <a:bodyPr/>
                    <a:lstStyle/>
                    <a:p>
                      <a:pPr algn="ctr"/>
                      <a:r>
                        <a:rPr lang="en-US" sz="1800"/>
                        <a:t>Yes</a:t>
                      </a:r>
                      <a:endParaRPr lang="en-US" sz="1800">
                        <a:latin typeface="Arial" pitchFamily="34" charset="0"/>
                        <a:cs typeface="Arial" pitchFamily="34" charset="0"/>
                      </a:endParaRPr>
                    </a:p>
                  </a:txBody>
                  <a:tcPr marL="20000" marR="20000" marT="20000" marB="20000" anchor="ctr"/>
                </a:tc>
                <a:tc>
                  <a:txBody>
                    <a:bodyPr/>
                    <a:lstStyle/>
                    <a:p>
                      <a:pPr algn="ctr"/>
                      <a:r>
                        <a:rPr lang="en-US" sz="1800"/>
                        <a:t>Yes</a:t>
                      </a:r>
                      <a:endParaRPr lang="en-US" sz="1800">
                        <a:latin typeface="Arial" pitchFamily="34" charset="0"/>
                        <a:cs typeface="Arial" pitchFamily="34" charset="0"/>
                      </a:endParaRPr>
                    </a:p>
                  </a:txBody>
                  <a:tcPr marL="20000" marR="20000" marT="20000" marB="20000" anchor="ctr"/>
                </a:tc>
                <a:tc>
                  <a:txBody>
                    <a:bodyPr/>
                    <a:lstStyle/>
                    <a:p>
                      <a:pPr algn="ctr"/>
                      <a:r>
                        <a:rPr lang="en-US" sz="1800"/>
                        <a:t>Yes</a:t>
                      </a:r>
                      <a:endParaRPr lang="en-US" sz="1800">
                        <a:latin typeface="Arial" pitchFamily="34" charset="0"/>
                        <a:cs typeface="Arial" pitchFamily="34" charset="0"/>
                      </a:endParaRPr>
                    </a:p>
                  </a:txBody>
                  <a:tcPr marL="20000" marR="20000" marT="20000" marB="20000" anchor="ctr"/>
                </a:tc>
                <a:tc>
                  <a:txBody>
                    <a:bodyPr/>
                    <a:lstStyle/>
                    <a:p>
                      <a:pPr algn="ctr"/>
                      <a:r>
                        <a:rPr lang="en-US" sz="1800"/>
                        <a:t>No</a:t>
                      </a:r>
                      <a:endParaRPr lang="en-US" sz="1800">
                        <a:latin typeface="Arial" pitchFamily="34" charset="0"/>
                        <a:cs typeface="Arial" pitchFamily="34" charset="0"/>
                      </a:endParaRPr>
                    </a:p>
                  </a:txBody>
                  <a:tcPr marL="20000" marR="20000" marT="20000" marB="20000" anchor="ctr"/>
                </a:tc>
                <a:tc>
                  <a:txBody>
                    <a:bodyPr/>
                    <a:lstStyle/>
                    <a:p>
                      <a:pPr algn="ctr"/>
                      <a:r>
                        <a:rPr lang="en-US" sz="1800"/>
                        <a:t>Yes</a:t>
                      </a:r>
                      <a:endParaRPr lang="en-US" sz="1800">
                        <a:latin typeface="Arial" pitchFamily="34" charset="0"/>
                        <a:cs typeface="Arial" pitchFamily="34" charset="0"/>
                      </a:endParaRPr>
                    </a:p>
                  </a:txBody>
                  <a:tcPr marL="20000" marR="20000" marT="20000" marB="20000" anchor="ctr"/>
                </a:tc>
                <a:extLst>
                  <a:ext uri="{0D108BD9-81ED-4DB2-BD59-A6C34878D82A}">
                    <a16:rowId xmlns="" xmlns:a16="http://schemas.microsoft.com/office/drawing/2014/main" val="10005"/>
                  </a:ext>
                </a:extLst>
              </a:tr>
              <a:tr h="518145">
                <a:tc>
                  <a:txBody>
                    <a:bodyPr/>
                    <a:lstStyle/>
                    <a:p>
                      <a:pPr algn="ctr"/>
                      <a:r>
                        <a:rPr lang="en-US" sz="1800" b="1" dirty="0">
                          <a:solidFill>
                            <a:srgbClr val="002060"/>
                          </a:solidFill>
                        </a:rPr>
                        <a:t>Viruses</a:t>
                      </a:r>
                      <a:endParaRPr lang="en-US" sz="1800" b="1" dirty="0">
                        <a:solidFill>
                          <a:srgbClr val="002060"/>
                        </a:solidFill>
                        <a:latin typeface="Arial" pitchFamily="34" charset="0"/>
                        <a:cs typeface="Arial" pitchFamily="34" charset="0"/>
                      </a:endParaRPr>
                    </a:p>
                  </a:txBody>
                  <a:tcPr marL="20000" marR="20000" marT="20000" marB="20000" anchor="ctr"/>
                </a:tc>
                <a:tc>
                  <a:txBody>
                    <a:bodyPr/>
                    <a:lstStyle/>
                    <a:p>
                      <a:pPr algn="ctr"/>
                      <a:r>
                        <a:rPr lang="en-US" sz="1800"/>
                        <a:t>No</a:t>
                      </a:r>
                      <a:endParaRPr lang="en-US" sz="1800">
                        <a:latin typeface="Arial" pitchFamily="34" charset="0"/>
                        <a:cs typeface="Arial" pitchFamily="34" charset="0"/>
                      </a:endParaRPr>
                    </a:p>
                  </a:txBody>
                  <a:tcPr marL="20000" marR="20000" marT="20000" marB="20000" anchor="ctr"/>
                </a:tc>
                <a:tc>
                  <a:txBody>
                    <a:bodyPr/>
                    <a:lstStyle/>
                    <a:p>
                      <a:pPr algn="ctr"/>
                      <a:r>
                        <a:rPr lang="en-US" sz="1800"/>
                        <a:t>No</a:t>
                      </a:r>
                      <a:endParaRPr lang="en-US" sz="1800">
                        <a:latin typeface="Arial" pitchFamily="34" charset="0"/>
                        <a:cs typeface="Arial" pitchFamily="34" charset="0"/>
                      </a:endParaRPr>
                    </a:p>
                  </a:txBody>
                  <a:tcPr marL="20000" marR="20000" marT="20000" marB="20000" anchor="ctr"/>
                </a:tc>
                <a:tc>
                  <a:txBody>
                    <a:bodyPr/>
                    <a:lstStyle/>
                    <a:p>
                      <a:pPr algn="ctr"/>
                      <a:r>
                        <a:rPr lang="en-US" sz="1800"/>
                        <a:t>No</a:t>
                      </a:r>
                      <a:endParaRPr lang="en-US" sz="1800">
                        <a:latin typeface="Arial" pitchFamily="34" charset="0"/>
                        <a:cs typeface="Arial" pitchFamily="34" charset="0"/>
                      </a:endParaRPr>
                    </a:p>
                  </a:txBody>
                  <a:tcPr marL="20000" marR="20000" marT="20000" marB="20000" anchor="ctr"/>
                </a:tc>
                <a:tc>
                  <a:txBody>
                    <a:bodyPr/>
                    <a:lstStyle/>
                    <a:p>
                      <a:pPr algn="ctr"/>
                      <a:r>
                        <a:rPr lang="en-US" sz="1800"/>
                        <a:t>No *</a:t>
                      </a:r>
                      <a:endParaRPr lang="en-US" sz="1800">
                        <a:latin typeface="Arial" pitchFamily="34" charset="0"/>
                        <a:cs typeface="Arial" pitchFamily="34" charset="0"/>
                      </a:endParaRPr>
                    </a:p>
                  </a:txBody>
                  <a:tcPr marL="20000" marR="20000" marT="20000" marB="20000" anchor="ctr"/>
                </a:tc>
                <a:tc>
                  <a:txBody>
                    <a:bodyPr/>
                    <a:lstStyle/>
                    <a:p>
                      <a:pPr algn="ctr"/>
                      <a:r>
                        <a:rPr lang="en-US" sz="1800"/>
                        <a:t>No</a:t>
                      </a:r>
                      <a:endParaRPr lang="en-US" sz="1800">
                        <a:latin typeface="Arial" pitchFamily="34" charset="0"/>
                        <a:cs typeface="Arial" pitchFamily="34" charset="0"/>
                      </a:endParaRPr>
                    </a:p>
                  </a:txBody>
                  <a:tcPr marL="20000" marR="20000" marT="20000" marB="20000" anchor="ctr"/>
                </a:tc>
                <a:tc>
                  <a:txBody>
                    <a:bodyPr/>
                    <a:lstStyle/>
                    <a:p>
                      <a:pPr algn="ctr"/>
                      <a:r>
                        <a:rPr lang="en-US" sz="1800"/>
                        <a:t>No</a:t>
                      </a:r>
                      <a:endParaRPr lang="en-US" sz="1800">
                        <a:latin typeface="Arial" pitchFamily="34" charset="0"/>
                        <a:cs typeface="Arial" pitchFamily="34" charset="0"/>
                      </a:endParaRPr>
                    </a:p>
                  </a:txBody>
                  <a:tcPr marL="20000" marR="20000" marT="20000" marB="20000" anchor="ctr"/>
                </a:tc>
                <a:extLst>
                  <a:ext uri="{0D108BD9-81ED-4DB2-BD59-A6C34878D82A}">
                    <a16:rowId xmlns="" xmlns:a16="http://schemas.microsoft.com/office/drawing/2014/main" val="10006"/>
                  </a:ext>
                </a:extLst>
              </a:tr>
              <a:tr h="973101">
                <a:tc gridSpan="7">
                  <a:txBody>
                    <a:bodyPr/>
                    <a:lstStyle/>
                    <a:p>
                      <a:pPr algn="ctr"/>
                      <a:r>
                        <a:rPr lang="en-US" sz="1800" dirty="0"/>
                        <a:t>* The </a:t>
                      </a:r>
                      <a:r>
                        <a:rPr lang="en-US" sz="1800" dirty="0" err="1"/>
                        <a:t>arenavirus</a:t>
                      </a:r>
                      <a:r>
                        <a:rPr lang="en-US" sz="1800" dirty="0"/>
                        <a:t> family (an RNA virus family) appears to package </a:t>
                      </a:r>
                      <a:r>
                        <a:rPr lang="en-US" sz="1800" dirty="0" err="1"/>
                        <a:t>ribosomes</a:t>
                      </a:r>
                      <a:r>
                        <a:rPr lang="en-US" sz="1800" dirty="0"/>
                        <a:t> 'accidentally'. The packaged </a:t>
                      </a:r>
                      <a:r>
                        <a:rPr lang="en-US" sz="1800" dirty="0" err="1"/>
                        <a:t>ribosomes</a:t>
                      </a:r>
                      <a:r>
                        <a:rPr lang="en-US" sz="1800" dirty="0"/>
                        <a:t> appear to play no role in viral protein synthesis.  </a:t>
                      </a:r>
                      <a:endParaRPr lang="en-US" sz="1800" dirty="0">
                        <a:latin typeface="Arial" pitchFamily="34" charset="0"/>
                        <a:cs typeface="Arial" pitchFamily="34" charset="0"/>
                      </a:endParaRPr>
                    </a:p>
                  </a:txBody>
                  <a:tcPr marL="20000" marR="20000" marT="20000" marB="20000" anchor="ct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 xmlns:a16="http://schemas.microsoft.com/office/drawing/2014/main" val="10007"/>
                  </a:ext>
                </a:extLst>
              </a:tr>
            </a:tbl>
          </a:graphicData>
        </a:graphic>
      </p:graphicFrame>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3400" y="0"/>
            <a:ext cx="8229600" cy="1143000"/>
          </a:xfrm>
        </p:spPr>
        <p:txBody>
          <a:bodyPr>
            <a:normAutofit/>
          </a:bodyPr>
          <a:lstStyle/>
          <a:p>
            <a:r>
              <a:rPr lang="en-US" sz="2800" b="1" dirty="0">
                <a:solidFill>
                  <a:schemeClr val="accent6">
                    <a:lumMod val="50000"/>
                  </a:schemeClr>
                </a:solidFill>
                <a:latin typeface="Arial" pitchFamily="34" charset="0"/>
                <a:cs typeface="Arial" pitchFamily="34" charset="0"/>
              </a:rPr>
              <a:t>PROPERTIES OF VIRUSES </a:t>
            </a:r>
            <a:endParaRPr lang="en-US" sz="4000" b="1" dirty="0">
              <a:solidFill>
                <a:schemeClr val="accent6">
                  <a:lumMod val="50000"/>
                </a:schemeClr>
              </a:solidFill>
              <a:latin typeface="Arial" pitchFamily="34" charset="0"/>
              <a:cs typeface="Arial" pitchFamily="34" charset="0"/>
            </a:endParaRPr>
          </a:p>
        </p:txBody>
      </p:sp>
      <p:sp>
        <p:nvSpPr>
          <p:cNvPr id="3" name="Content Placeholder 2"/>
          <p:cNvSpPr>
            <a:spLocks noGrp="1"/>
          </p:cNvSpPr>
          <p:nvPr>
            <p:ph idx="1"/>
          </p:nvPr>
        </p:nvSpPr>
        <p:spPr>
          <a:xfrm>
            <a:off x="76200" y="1219200"/>
            <a:ext cx="9067800" cy="5486400"/>
          </a:xfrm>
        </p:spPr>
        <p:txBody>
          <a:bodyPr>
            <a:normAutofit/>
          </a:bodyPr>
          <a:lstStyle/>
          <a:p>
            <a:pPr algn="just">
              <a:lnSpc>
                <a:spcPct val="150000"/>
              </a:lnSpc>
            </a:pPr>
            <a:r>
              <a:rPr lang="en-US" sz="2400" dirty="0" smtClean="0">
                <a:latin typeface="Arial" pitchFamily="34" charset="0"/>
                <a:cs typeface="Arial" pitchFamily="34" charset="0"/>
              </a:rPr>
              <a:t>Viruses </a:t>
            </a:r>
            <a:r>
              <a:rPr lang="en-US" sz="2400" dirty="0">
                <a:latin typeface="Arial" pitchFamily="34" charset="0"/>
                <a:cs typeface="Arial" pitchFamily="34" charset="0"/>
              </a:rPr>
              <a:t>are not cells, do not have nuclei or mitochondria or </a:t>
            </a:r>
            <a:r>
              <a:rPr lang="en-US" sz="2400" dirty="0" err="1">
                <a:latin typeface="Arial" pitchFamily="34" charset="0"/>
                <a:cs typeface="Arial" pitchFamily="34" charset="0"/>
              </a:rPr>
              <a:t>ribosomes</a:t>
            </a:r>
            <a:r>
              <a:rPr lang="en-US" sz="2400" dirty="0">
                <a:latin typeface="Arial" pitchFamily="34" charset="0"/>
                <a:cs typeface="Arial" pitchFamily="34" charset="0"/>
              </a:rPr>
              <a:t> or other cellular components. </a:t>
            </a:r>
          </a:p>
          <a:p>
            <a:pPr algn="just">
              <a:lnSpc>
                <a:spcPct val="150000"/>
              </a:lnSpc>
            </a:pPr>
            <a:r>
              <a:rPr lang="en-US" sz="2400" dirty="0" smtClean="0">
                <a:latin typeface="Arial" pitchFamily="34" charset="0"/>
                <a:cs typeface="Arial" pitchFamily="34" charset="0"/>
              </a:rPr>
              <a:t>They lack metabolic activity (i.e., metabolically inert) and essential constituents required for independent growth and multiplication.</a:t>
            </a:r>
          </a:p>
          <a:p>
            <a:pPr algn="just">
              <a:lnSpc>
                <a:spcPct val="150000"/>
              </a:lnSpc>
            </a:pPr>
            <a:r>
              <a:rPr lang="en-US" sz="2400" b="1" dirty="0" smtClean="0">
                <a:latin typeface="Arial" pitchFamily="34" charset="0"/>
                <a:cs typeface="Arial" pitchFamily="34" charset="0"/>
              </a:rPr>
              <a:t>Viruses are obligate intracellular parasites</a:t>
            </a:r>
            <a:r>
              <a:rPr lang="en-US" sz="2400" dirty="0" smtClean="0">
                <a:latin typeface="Arial" pitchFamily="34" charset="0"/>
                <a:cs typeface="Arial" pitchFamily="34" charset="0"/>
              </a:rPr>
              <a:t>.</a:t>
            </a:r>
            <a:endParaRPr lang="en-US" sz="2400" dirty="0" smtClean="0">
              <a:latin typeface="Arial" pitchFamily="34" charset="0"/>
              <a:cs typeface="Arial" pitchFamily="34" charset="0"/>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4294967295"/>
          </p:nvPr>
        </p:nvSpPr>
        <p:spPr>
          <a:xfrm>
            <a:off x="304800" y="533400"/>
            <a:ext cx="8610600" cy="5715000"/>
          </a:xfrm>
        </p:spPr>
        <p:txBody>
          <a:bodyPr>
            <a:noAutofit/>
          </a:bodyPr>
          <a:lstStyle/>
          <a:p>
            <a:pPr algn="just">
              <a:lnSpc>
                <a:spcPct val="150000"/>
              </a:lnSpc>
            </a:pPr>
            <a:r>
              <a:rPr lang="en-US" sz="2400" dirty="0" smtClean="0">
                <a:latin typeface="Arial" pitchFamily="34" charset="0"/>
                <a:cs typeface="Arial" pitchFamily="34" charset="0"/>
              </a:rPr>
              <a:t>Viruses do not grow. </a:t>
            </a:r>
          </a:p>
          <a:p>
            <a:pPr algn="just">
              <a:lnSpc>
                <a:spcPct val="150000"/>
              </a:lnSpc>
            </a:pPr>
            <a:r>
              <a:rPr lang="en-US" sz="2400" dirty="0" smtClean="0">
                <a:latin typeface="Arial" pitchFamily="34" charset="0"/>
                <a:cs typeface="Arial" pitchFamily="34" charset="0"/>
              </a:rPr>
              <a:t>Because viruses are non-motile, they are entirely dependent on external physical factors for chance movement and spread to infect other susceptible cells.</a:t>
            </a:r>
          </a:p>
          <a:p>
            <a:pPr algn="just">
              <a:lnSpc>
                <a:spcPct val="150000"/>
              </a:lnSpc>
            </a:pPr>
            <a:r>
              <a:rPr lang="en-US" sz="2400" dirty="0" smtClean="0">
                <a:latin typeface="Arial" pitchFamily="34" charset="0"/>
                <a:cs typeface="Arial" pitchFamily="34" charset="0"/>
              </a:rPr>
              <a:t>Some viruses can induce latent infections.</a:t>
            </a:r>
          </a:p>
          <a:p>
            <a:pPr algn="just">
              <a:lnSpc>
                <a:spcPct val="150000"/>
              </a:lnSpc>
            </a:pPr>
            <a:r>
              <a:rPr lang="en-US" sz="2400" dirty="0" smtClean="0">
                <a:latin typeface="Arial" pitchFamily="34" charset="0"/>
                <a:cs typeface="Arial" pitchFamily="34" charset="0"/>
              </a:rPr>
              <a:t> DNA genome of some viruses could get integrated in the host genome-</a:t>
            </a:r>
            <a:r>
              <a:rPr lang="en-US" sz="2400" dirty="0" err="1" smtClean="0">
                <a:latin typeface="Arial" pitchFamily="34" charset="0"/>
                <a:cs typeface="Arial" pitchFamily="34" charset="0"/>
              </a:rPr>
              <a:t>prophage</a:t>
            </a:r>
            <a:endParaRPr lang="en-US" sz="2400" dirty="0" smtClean="0">
              <a:latin typeface="Arial" pitchFamily="34" charset="0"/>
              <a:cs typeface="Arial" pitchFamily="34" charset="0"/>
            </a:endParaRPr>
          </a:p>
          <a:p>
            <a:pPr algn="just">
              <a:lnSpc>
                <a:spcPct val="150000"/>
              </a:lnSpc>
            </a:pPr>
            <a:r>
              <a:rPr lang="en-US" sz="2400" dirty="0" smtClean="0">
                <a:latin typeface="Arial" pitchFamily="34" charset="0"/>
                <a:cs typeface="Arial" pitchFamily="34" charset="0"/>
              </a:rPr>
              <a:t>Some viruses could lead to transformation of the host cells.</a:t>
            </a:r>
          </a:p>
          <a:p>
            <a:pPr>
              <a:lnSpc>
                <a:spcPct val="150000"/>
              </a:lnSpc>
            </a:pPr>
            <a:endParaRPr lang="en-US" sz="24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600" dirty="0" smtClean="0">
                <a:solidFill>
                  <a:srgbClr val="FF0000"/>
                </a:solidFill>
                <a:latin typeface="Arial" pitchFamily="34" charset="0"/>
                <a:cs typeface="Arial" pitchFamily="34" charset="0"/>
              </a:rPr>
              <a:t>Virus size</a:t>
            </a:r>
            <a:endParaRPr lang="en-US" sz="3600" dirty="0">
              <a:solidFill>
                <a:srgbClr val="FF0000"/>
              </a:solidFill>
              <a:latin typeface="Arial" pitchFamily="34" charset="0"/>
              <a:cs typeface="Arial" pitchFamily="34" charset="0"/>
            </a:endParaRPr>
          </a:p>
        </p:txBody>
      </p:sp>
      <p:sp>
        <p:nvSpPr>
          <p:cNvPr id="3" name="Content Placeholder 2"/>
          <p:cNvSpPr>
            <a:spLocks noGrp="1"/>
          </p:cNvSpPr>
          <p:nvPr>
            <p:ph idx="1"/>
          </p:nvPr>
        </p:nvSpPr>
        <p:spPr>
          <a:xfrm>
            <a:off x="152400" y="1295400"/>
            <a:ext cx="8839200" cy="5029200"/>
          </a:xfrm>
        </p:spPr>
        <p:txBody>
          <a:bodyPr>
            <a:normAutofit/>
          </a:bodyPr>
          <a:lstStyle/>
          <a:p>
            <a:r>
              <a:rPr lang="en-US" sz="2400" dirty="0" smtClean="0">
                <a:latin typeface="Arial" pitchFamily="34" charset="0"/>
                <a:cs typeface="Arial" pitchFamily="34" charset="0"/>
              </a:rPr>
              <a:t>Small in size</a:t>
            </a:r>
          </a:p>
          <a:p>
            <a:r>
              <a:rPr lang="en-US" sz="2400" dirty="0" smtClean="0">
                <a:latin typeface="Arial" pitchFamily="34" charset="0"/>
                <a:cs typeface="Arial" pitchFamily="34" charset="0"/>
              </a:rPr>
              <a:t>Smallest of viruses are about 20 nm in diameter</a:t>
            </a:r>
          </a:p>
          <a:p>
            <a:r>
              <a:rPr lang="en-US" sz="2400" dirty="0" smtClean="0">
                <a:latin typeface="Arial" pitchFamily="34" charset="0"/>
                <a:cs typeface="Arial" pitchFamily="34" charset="0"/>
              </a:rPr>
              <a:t>Average human cells are 10–30 </a:t>
            </a:r>
            <a:r>
              <a:rPr lang="en-US" sz="2400" dirty="0" err="1" smtClean="0">
                <a:latin typeface="Arial" pitchFamily="34" charset="0"/>
                <a:cs typeface="Arial" pitchFamily="34" charset="0"/>
              </a:rPr>
              <a:t>μm</a:t>
            </a:r>
            <a:r>
              <a:rPr lang="en-US" sz="2400" dirty="0" smtClean="0">
                <a:latin typeface="Arial" pitchFamily="34" charset="0"/>
                <a:cs typeface="Arial" pitchFamily="34" charset="0"/>
              </a:rPr>
              <a:t> (microns) in diameter- 100 to 1000 times larger than the viruses that are infecting them.</a:t>
            </a:r>
          </a:p>
          <a:p>
            <a:r>
              <a:rPr lang="en-US" sz="2400" dirty="0" smtClean="0">
                <a:latin typeface="Arial" pitchFamily="34" charset="0"/>
                <a:cs typeface="Arial" pitchFamily="34" charset="0"/>
              </a:rPr>
              <a:t>Some viruses are &gt;100 nm. </a:t>
            </a:r>
            <a:r>
              <a:rPr lang="en-US" sz="2400" dirty="0" err="1" smtClean="0">
                <a:latin typeface="Arial" pitchFamily="34" charset="0"/>
                <a:cs typeface="Arial" pitchFamily="34" charset="0"/>
              </a:rPr>
              <a:t>Eg</a:t>
            </a:r>
            <a:r>
              <a:rPr lang="en-US" sz="2400" dirty="0" smtClean="0">
                <a:latin typeface="Arial" pitchFamily="34" charset="0"/>
                <a:cs typeface="Arial" pitchFamily="34" charset="0"/>
              </a:rPr>
              <a:t> Poxviruses can approach 400 nm in length, and </a:t>
            </a:r>
            <a:r>
              <a:rPr lang="en-US" sz="2400" dirty="0" err="1" smtClean="0">
                <a:latin typeface="Arial" pitchFamily="34" charset="0"/>
                <a:cs typeface="Arial" pitchFamily="34" charset="0"/>
              </a:rPr>
              <a:t>filoviruses</a:t>
            </a:r>
            <a:r>
              <a:rPr lang="en-US" sz="2400" dirty="0" smtClean="0">
                <a:latin typeface="Arial" pitchFamily="34" charset="0"/>
                <a:cs typeface="Arial" pitchFamily="34" charset="0"/>
              </a:rPr>
              <a:t>, are only 80 nm in diameter but extend into long threads that can reach lengths of over 1000 nm.</a:t>
            </a:r>
          </a:p>
          <a:p>
            <a:r>
              <a:rPr lang="en-US" sz="2400" dirty="0" smtClean="0">
                <a:latin typeface="Arial" pitchFamily="34" charset="0"/>
                <a:cs typeface="Arial" pitchFamily="34" charset="0"/>
              </a:rPr>
              <a:t>Recently discovered –</a:t>
            </a:r>
            <a:r>
              <a:rPr lang="en-US" sz="2400" dirty="0" err="1" smtClean="0">
                <a:latin typeface="Arial" pitchFamily="34" charset="0"/>
                <a:cs typeface="Arial" pitchFamily="34" charset="0"/>
              </a:rPr>
              <a:t>megavirus</a:t>
            </a:r>
            <a:r>
              <a:rPr lang="en-US" sz="2400" dirty="0" smtClean="0">
                <a:latin typeface="Arial" pitchFamily="34" charset="0"/>
                <a:cs typeface="Arial" pitchFamily="34" charset="0"/>
              </a:rPr>
              <a:t>- 400 nm in diameter, and </a:t>
            </a:r>
            <a:r>
              <a:rPr lang="en-US" sz="2400" dirty="0" err="1" smtClean="0">
                <a:latin typeface="Arial" pitchFamily="34" charset="0"/>
                <a:cs typeface="Arial" pitchFamily="34" charset="0"/>
              </a:rPr>
              <a:t>pandoraviruses</a:t>
            </a:r>
            <a:r>
              <a:rPr lang="en-US" sz="2400" dirty="0" smtClean="0">
                <a:latin typeface="Arial" pitchFamily="34" charset="0"/>
                <a:cs typeface="Arial" pitchFamily="34" charset="0"/>
              </a:rPr>
              <a:t> have an elliptical or ovoid structure approaching 1000 nm in length.</a:t>
            </a:r>
            <a:endParaRPr lang="en-US" sz="2400" dirty="0">
              <a:latin typeface="Arial" pitchFamily="34" charset="0"/>
              <a:cs typeface="Arial" pitchFamily="34" charset="0"/>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An external file that holds a picture, illustration, etc.&#10;Object name is f02-01-9780128009475.jpg"/>
          <p:cNvPicPr>
            <a:picLocks noChangeAspect="1" noChangeArrowheads="1"/>
          </p:cNvPicPr>
          <p:nvPr/>
        </p:nvPicPr>
        <p:blipFill>
          <a:blip r:embed="rId2"/>
          <a:srcRect/>
          <a:stretch>
            <a:fillRect/>
          </a:stretch>
        </p:blipFill>
        <p:spPr bwMode="auto">
          <a:xfrm>
            <a:off x="1828800" y="381000"/>
            <a:ext cx="5329603" cy="5959987"/>
          </a:xfrm>
          <a:prstGeom prst="rect">
            <a:avLst/>
          </a:prstGeom>
          <a:noFill/>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1000" y="0"/>
            <a:ext cx="8229600" cy="1143000"/>
          </a:xfrm>
        </p:spPr>
        <p:txBody>
          <a:bodyPr>
            <a:normAutofit/>
          </a:bodyPr>
          <a:lstStyle/>
          <a:p>
            <a:r>
              <a:rPr lang="en-US" sz="3600" b="1" dirty="0">
                <a:solidFill>
                  <a:schemeClr val="accent6">
                    <a:lumMod val="50000"/>
                  </a:schemeClr>
                </a:solidFill>
                <a:latin typeface="Arial" pitchFamily="34" charset="0"/>
                <a:cs typeface="Arial" pitchFamily="34" charset="0"/>
              </a:rPr>
              <a:t>VIRUS STRUCTURE</a:t>
            </a:r>
          </a:p>
        </p:txBody>
      </p:sp>
      <p:sp>
        <p:nvSpPr>
          <p:cNvPr id="3" name="Content Placeholder 2"/>
          <p:cNvSpPr>
            <a:spLocks noGrp="1"/>
          </p:cNvSpPr>
          <p:nvPr>
            <p:ph idx="1"/>
          </p:nvPr>
        </p:nvSpPr>
        <p:spPr>
          <a:xfrm>
            <a:off x="0" y="1600200"/>
            <a:ext cx="9144000" cy="4525963"/>
          </a:xfrm>
        </p:spPr>
        <p:txBody>
          <a:bodyPr>
            <a:noAutofit/>
          </a:bodyPr>
          <a:lstStyle/>
          <a:p>
            <a:pPr>
              <a:lnSpc>
                <a:spcPct val="150000"/>
              </a:lnSpc>
            </a:pPr>
            <a:r>
              <a:rPr lang="en-US" sz="2400" dirty="0" smtClean="0">
                <a:latin typeface="Arial" pitchFamily="34" charset="0"/>
                <a:cs typeface="Arial" pitchFamily="34" charset="0"/>
              </a:rPr>
              <a:t>Viruses have:</a:t>
            </a:r>
            <a:endParaRPr lang="en-US" sz="2400" dirty="0">
              <a:latin typeface="Arial" pitchFamily="34" charset="0"/>
              <a:cs typeface="Arial" pitchFamily="34" charset="0"/>
            </a:endParaRPr>
          </a:p>
          <a:p>
            <a:pPr>
              <a:lnSpc>
                <a:spcPct val="150000"/>
              </a:lnSpc>
            </a:pPr>
            <a:r>
              <a:rPr lang="en-US" sz="2400" dirty="0">
                <a:latin typeface="Arial" pitchFamily="34" charset="0"/>
                <a:cs typeface="Arial" pitchFamily="34" charset="0"/>
              </a:rPr>
              <a:t>a nucleic acid genome (RNA or DNA) </a:t>
            </a:r>
          </a:p>
          <a:p>
            <a:pPr>
              <a:lnSpc>
                <a:spcPct val="150000"/>
              </a:lnSpc>
            </a:pPr>
            <a:r>
              <a:rPr lang="en-US" sz="2400" dirty="0">
                <a:latin typeface="Arial" pitchFamily="34" charset="0"/>
                <a:cs typeface="Arial" pitchFamily="34" charset="0"/>
              </a:rPr>
              <a:t>a protective protein coat (called the </a:t>
            </a:r>
            <a:r>
              <a:rPr lang="en-US" sz="2400" b="1" dirty="0" err="1">
                <a:latin typeface="Arial" pitchFamily="34" charset="0"/>
                <a:cs typeface="Arial" pitchFamily="34" charset="0"/>
              </a:rPr>
              <a:t>capsid</a:t>
            </a:r>
            <a:r>
              <a:rPr lang="en-US" sz="2400" dirty="0">
                <a:latin typeface="Arial" pitchFamily="34" charset="0"/>
                <a:cs typeface="Arial" pitchFamily="34" charset="0"/>
              </a:rPr>
              <a:t>) </a:t>
            </a:r>
          </a:p>
          <a:p>
            <a:pPr>
              <a:lnSpc>
                <a:spcPct val="150000"/>
              </a:lnSpc>
            </a:pPr>
            <a:r>
              <a:rPr lang="en-US" sz="2400" dirty="0">
                <a:latin typeface="Arial" pitchFamily="34" charset="0"/>
                <a:cs typeface="Arial" pitchFamily="34" charset="0"/>
              </a:rPr>
              <a:t>The nucleic acid genome plus the protective protein coat = </a:t>
            </a:r>
            <a:r>
              <a:rPr lang="en-US" sz="2400" b="1" dirty="0" err="1">
                <a:latin typeface="Arial" pitchFamily="34" charset="0"/>
                <a:cs typeface="Arial" pitchFamily="34" charset="0"/>
              </a:rPr>
              <a:t>nucleocapsid</a:t>
            </a:r>
            <a:r>
              <a:rPr lang="en-US" sz="2400" dirty="0">
                <a:latin typeface="Arial" pitchFamily="34" charset="0"/>
                <a:cs typeface="Arial" pitchFamily="34" charset="0"/>
              </a:rPr>
              <a:t> </a:t>
            </a:r>
          </a:p>
          <a:p>
            <a:pPr>
              <a:lnSpc>
                <a:spcPct val="150000"/>
              </a:lnSpc>
            </a:pPr>
            <a:endParaRPr lang="en-US" sz="2400" dirty="0">
              <a:latin typeface="Arial" pitchFamily="34" charset="0"/>
              <a:cs typeface="Arial" pitchFamily="34" charset="0"/>
            </a:endParaRPr>
          </a:p>
          <a:p>
            <a:pPr>
              <a:lnSpc>
                <a:spcPct val="150000"/>
              </a:lnSpc>
              <a:buNone/>
            </a:pPr>
            <a:endParaRPr lang="en-US" sz="2400" dirty="0">
              <a:latin typeface="Arial" pitchFamily="34" charset="0"/>
              <a:cs typeface="Arial" pitchFamily="34" charset="0"/>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04800" y="838200"/>
            <a:ext cx="8382000" cy="3416320"/>
          </a:xfrm>
          <a:prstGeom prst="rect">
            <a:avLst/>
          </a:prstGeom>
        </p:spPr>
        <p:txBody>
          <a:bodyPr wrap="square">
            <a:spAutoFit/>
          </a:bodyPr>
          <a:lstStyle/>
          <a:p>
            <a:pPr>
              <a:lnSpc>
                <a:spcPct val="150000"/>
              </a:lnSpc>
              <a:buFont typeface="Arial" pitchFamily="34" charset="0"/>
              <a:buChar char="•"/>
            </a:pPr>
            <a:r>
              <a:rPr lang="en-US" sz="2400" dirty="0" smtClean="0">
                <a:latin typeface="Arial" pitchFamily="34" charset="0"/>
                <a:cs typeface="Arial" pitchFamily="34" charset="0"/>
              </a:rPr>
              <a:t>Viral </a:t>
            </a:r>
            <a:r>
              <a:rPr lang="en-US" sz="2400" dirty="0" err="1" smtClean="0">
                <a:latin typeface="Arial" pitchFamily="34" charset="0"/>
                <a:cs typeface="Arial" pitchFamily="34" charset="0"/>
              </a:rPr>
              <a:t>capsids</a:t>
            </a:r>
            <a:r>
              <a:rPr lang="en-US" sz="2400" dirty="0" smtClean="0">
                <a:latin typeface="Arial" pitchFamily="34" charset="0"/>
                <a:cs typeface="Arial" pitchFamily="34" charset="0"/>
              </a:rPr>
              <a:t> - </a:t>
            </a:r>
            <a:r>
              <a:rPr lang="en-US" sz="2400" dirty="0" err="1" smtClean="0">
                <a:latin typeface="Arial" pitchFamily="34" charset="0"/>
                <a:cs typeface="Arial" pitchFamily="34" charset="0"/>
              </a:rPr>
              <a:t>icosahedral</a:t>
            </a:r>
            <a:r>
              <a:rPr lang="en-US" sz="2400" dirty="0" smtClean="0">
                <a:latin typeface="Arial" pitchFamily="34" charset="0"/>
                <a:cs typeface="Arial" pitchFamily="34" charset="0"/>
              </a:rPr>
              <a:t> or helical or  complex symmetry</a:t>
            </a:r>
          </a:p>
          <a:p>
            <a:pPr>
              <a:lnSpc>
                <a:spcPct val="150000"/>
              </a:lnSpc>
              <a:buFont typeface="Arial" pitchFamily="34" charset="0"/>
              <a:buChar char="•"/>
            </a:pPr>
            <a:r>
              <a:rPr lang="en-US" sz="2400" dirty="0" smtClean="0">
                <a:latin typeface="Arial" pitchFamily="34" charset="0"/>
                <a:cs typeface="Arial" pitchFamily="34" charset="0"/>
              </a:rPr>
              <a:t>Viruses may have an envelope made of lipid derived from the host cell membranes.</a:t>
            </a:r>
          </a:p>
          <a:p>
            <a:pPr>
              <a:lnSpc>
                <a:spcPct val="150000"/>
              </a:lnSpc>
              <a:buFont typeface="Arial" pitchFamily="34" charset="0"/>
              <a:buChar char="•"/>
            </a:pPr>
            <a:r>
              <a:rPr lang="en-US" sz="2400" dirty="0" smtClean="0">
                <a:latin typeface="Arial" pitchFamily="34" charset="0"/>
                <a:cs typeface="Arial" pitchFamily="34" charset="0"/>
              </a:rPr>
              <a:t>Virus without envelope-</a:t>
            </a:r>
            <a:r>
              <a:rPr lang="en-US" sz="2400" b="1" dirty="0" smtClean="0">
                <a:latin typeface="Arial" pitchFamily="34" charset="0"/>
                <a:cs typeface="Arial" pitchFamily="34" charset="0"/>
              </a:rPr>
              <a:t>naked </a:t>
            </a:r>
            <a:r>
              <a:rPr lang="en-US" sz="2400" dirty="0" smtClean="0">
                <a:latin typeface="Arial" pitchFamily="34" charset="0"/>
                <a:cs typeface="Arial" pitchFamily="34" charset="0"/>
              </a:rPr>
              <a:t>virus or Non-enveloped virus</a:t>
            </a:r>
          </a:p>
          <a:p>
            <a:pPr>
              <a:lnSpc>
                <a:spcPct val="150000"/>
              </a:lnSpc>
              <a:buFont typeface="Arial" pitchFamily="34" charset="0"/>
              <a:buChar char="•"/>
            </a:pPr>
            <a:r>
              <a:rPr lang="en-US" sz="2400" dirty="0" smtClean="0">
                <a:latin typeface="Arial" pitchFamily="34" charset="0"/>
                <a:cs typeface="Arial" pitchFamily="34" charset="0"/>
              </a:rPr>
              <a:t>In some enveloped viruses the glycoprotein projects out in the form of spike called </a:t>
            </a:r>
            <a:r>
              <a:rPr lang="en-US" sz="2400" b="1" dirty="0" err="1" smtClean="0">
                <a:latin typeface="Arial" pitchFamily="34" charset="0"/>
                <a:cs typeface="Arial" pitchFamily="34" charset="0"/>
              </a:rPr>
              <a:t>peplomers</a:t>
            </a:r>
            <a:r>
              <a:rPr lang="en-US" sz="2400" b="1" dirty="0" smtClean="0">
                <a:latin typeface="Arial" pitchFamily="34" charset="0"/>
                <a:cs typeface="Arial" pitchFamily="34" charset="0"/>
              </a:rPr>
              <a:t> </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4294967295"/>
          </p:nvPr>
        </p:nvSpPr>
        <p:spPr>
          <a:xfrm>
            <a:off x="0" y="457200"/>
            <a:ext cx="8991600" cy="6248400"/>
          </a:xfrm>
        </p:spPr>
        <p:txBody>
          <a:bodyPr>
            <a:normAutofit/>
          </a:bodyPr>
          <a:lstStyle/>
          <a:p>
            <a:pPr algn="just">
              <a:lnSpc>
                <a:spcPct val="150000"/>
              </a:lnSpc>
            </a:pPr>
            <a:r>
              <a:rPr lang="en-US" sz="2400" b="1" dirty="0">
                <a:solidFill>
                  <a:srgbClr val="FF0000"/>
                </a:solidFill>
                <a:latin typeface="Arial" pitchFamily="34" charset="0"/>
                <a:cs typeface="Arial" pitchFamily="34" charset="0"/>
              </a:rPr>
              <a:t>Enveloped</a:t>
            </a:r>
            <a:r>
              <a:rPr lang="en-US" sz="2400" dirty="0">
                <a:solidFill>
                  <a:srgbClr val="FF0000"/>
                </a:solidFill>
                <a:latin typeface="Arial" pitchFamily="34" charset="0"/>
                <a:cs typeface="Arial" pitchFamily="34" charset="0"/>
              </a:rPr>
              <a:t> </a:t>
            </a:r>
            <a:r>
              <a:rPr lang="en-US" sz="2400" b="1" dirty="0">
                <a:solidFill>
                  <a:srgbClr val="FF0000"/>
                </a:solidFill>
                <a:latin typeface="Arial" pitchFamily="34" charset="0"/>
                <a:cs typeface="Arial" pitchFamily="34" charset="0"/>
              </a:rPr>
              <a:t>viruses</a:t>
            </a:r>
            <a:r>
              <a:rPr lang="en-US" sz="2400" dirty="0">
                <a:latin typeface="Arial" pitchFamily="34" charset="0"/>
                <a:cs typeface="Arial" pitchFamily="34" charset="0"/>
              </a:rPr>
              <a:t> </a:t>
            </a:r>
            <a:endParaRPr lang="en-US" sz="2400" dirty="0" smtClean="0">
              <a:latin typeface="Arial" pitchFamily="34" charset="0"/>
              <a:cs typeface="Arial" pitchFamily="34" charset="0"/>
            </a:endParaRPr>
          </a:p>
          <a:p>
            <a:pPr algn="just">
              <a:lnSpc>
                <a:spcPct val="150000"/>
              </a:lnSpc>
            </a:pPr>
            <a:r>
              <a:rPr lang="en-GB" sz="2400" dirty="0" smtClean="0">
                <a:latin typeface="Arial" pitchFamily="34" charset="0"/>
                <a:cs typeface="Arial" pitchFamily="34" charset="0"/>
              </a:rPr>
              <a:t>The envelope is a lipid membrane that is derived from one of the cell’s membranes, most often the plasma membrane, </a:t>
            </a:r>
          </a:p>
          <a:p>
            <a:pPr algn="just">
              <a:lnSpc>
                <a:spcPct val="150000"/>
              </a:lnSpc>
            </a:pPr>
            <a:r>
              <a:rPr lang="en-GB" sz="2400" dirty="0" smtClean="0">
                <a:latin typeface="Arial" pitchFamily="34" charset="0"/>
                <a:cs typeface="Arial" pitchFamily="34" charset="0"/>
              </a:rPr>
              <a:t>Endoplasmic reticulum, Golgi complex, or nuclear membrane.</a:t>
            </a:r>
          </a:p>
          <a:p>
            <a:pPr algn="just">
              <a:lnSpc>
                <a:spcPct val="150000"/>
              </a:lnSpc>
            </a:pPr>
            <a:r>
              <a:rPr lang="en-GB" sz="2400" b="1" dirty="0" smtClean="0">
                <a:latin typeface="Arial" pitchFamily="34" charset="0"/>
                <a:cs typeface="Arial" pitchFamily="34" charset="0"/>
              </a:rPr>
              <a:t>Matrix proteins</a:t>
            </a:r>
            <a:r>
              <a:rPr lang="en-GB" sz="2400" dirty="0" smtClean="0">
                <a:latin typeface="Arial" pitchFamily="34" charset="0"/>
                <a:cs typeface="Arial" pitchFamily="34" charset="0"/>
              </a:rPr>
              <a:t> function to connect the envelope to the </a:t>
            </a:r>
            <a:r>
              <a:rPr lang="en-GB" sz="2400" dirty="0" err="1" smtClean="0">
                <a:latin typeface="Arial" pitchFamily="34" charset="0"/>
                <a:cs typeface="Arial" pitchFamily="34" charset="0"/>
              </a:rPr>
              <a:t>capsid</a:t>
            </a:r>
            <a:r>
              <a:rPr lang="en-GB" sz="2400" dirty="0" smtClean="0">
                <a:latin typeface="Arial" pitchFamily="34" charset="0"/>
                <a:cs typeface="Arial" pitchFamily="34" charset="0"/>
              </a:rPr>
              <a:t> inside. </a:t>
            </a:r>
          </a:p>
          <a:p>
            <a:pPr algn="just">
              <a:lnSpc>
                <a:spcPct val="150000"/>
              </a:lnSpc>
            </a:pPr>
            <a:endParaRPr lang="en-US" sz="24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4294967295"/>
          </p:nvPr>
        </p:nvSpPr>
        <p:spPr>
          <a:xfrm>
            <a:off x="457200" y="381000"/>
            <a:ext cx="8153400" cy="6019800"/>
          </a:xfrm>
        </p:spPr>
        <p:txBody>
          <a:bodyPr>
            <a:normAutofit fontScale="92500"/>
          </a:bodyPr>
          <a:lstStyle/>
          <a:p>
            <a:pPr algn="just">
              <a:lnSpc>
                <a:spcPct val="160000"/>
              </a:lnSpc>
            </a:pPr>
            <a:r>
              <a:rPr lang="en-US" sz="2400" dirty="0" smtClean="0">
                <a:solidFill>
                  <a:srgbClr val="000000"/>
                </a:solidFill>
                <a:latin typeface="Arial" pitchFamily="34" charset="0"/>
                <a:cs typeface="Arial" pitchFamily="34" charset="0"/>
              </a:rPr>
              <a:t>Enveloped viruses do not necessarily have to kill their host cell in order to be released, since they can bud out of the cell hence some budding viruses can set up persistent infections.</a:t>
            </a:r>
          </a:p>
          <a:p>
            <a:pPr algn="just">
              <a:lnSpc>
                <a:spcPct val="160000"/>
              </a:lnSpc>
            </a:pPr>
            <a:endParaRPr lang="en-US" sz="2400" dirty="0" smtClean="0">
              <a:solidFill>
                <a:srgbClr val="000000"/>
              </a:solidFill>
              <a:latin typeface="Arial" pitchFamily="34" charset="0"/>
              <a:cs typeface="Arial" pitchFamily="34" charset="0"/>
            </a:endParaRPr>
          </a:p>
          <a:p>
            <a:pPr algn="just">
              <a:lnSpc>
                <a:spcPct val="160000"/>
              </a:lnSpc>
            </a:pPr>
            <a:r>
              <a:rPr lang="en-US" sz="2400" dirty="0" smtClean="0">
                <a:solidFill>
                  <a:srgbClr val="000000"/>
                </a:solidFill>
                <a:latin typeface="Arial" pitchFamily="34" charset="0"/>
                <a:cs typeface="Arial" pitchFamily="34" charset="0"/>
              </a:rPr>
              <a:t>Enveloped </a:t>
            </a:r>
            <a:r>
              <a:rPr lang="en-US" sz="2400" dirty="0" smtClean="0">
                <a:solidFill>
                  <a:srgbClr val="000000"/>
                </a:solidFill>
                <a:latin typeface="Arial" pitchFamily="34" charset="0"/>
                <a:cs typeface="Arial" pitchFamily="34" charset="0"/>
              </a:rPr>
              <a:t>viruses are readily infectious only if the envelope is intact (since the viral attachment proteins which recognize the host cell receptors are in the viral envelope). This means that agents that damage the envelope, such as alcohols and detergents, reduce infectivity.</a:t>
            </a:r>
          </a:p>
          <a:p>
            <a:pPr>
              <a:lnSpc>
                <a:spcPct val="160000"/>
              </a:lnSpc>
            </a:pPr>
            <a:endParaRPr lang="en-US" sz="24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4294967295"/>
          </p:nvPr>
        </p:nvSpPr>
        <p:spPr>
          <a:xfrm>
            <a:off x="152400" y="609600"/>
            <a:ext cx="8839200" cy="6096000"/>
          </a:xfrm>
        </p:spPr>
        <p:txBody>
          <a:bodyPr>
            <a:normAutofit/>
          </a:bodyPr>
          <a:lstStyle/>
          <a:p>
            <a:pPr>
              <a:lnSpc>
                <a:spcPct val="200000"/>
              </a:lnSpc>
            </a:pPr>
            <a:r>
              <a:rPr lang="en-GB" sz="2400" b="1" dirty="0" smtClean="0">
                <a:latin typeface="Arial" pitchFamily="34" charset="0"/>
                <a:cs typeface="Arial" pitchFamily="34" charset="0"/>
              </a:rPr>
              <a:t>Virus attachment protein</a:t>
            </a:r>
            <a:r>
              <a:rPr lang="en-GB" sz="2400" dirty="0" smtClean="0">
                <a:latin typeface="Arial" pitchFamily="34" charset="0"/>
                <a:cs typeface="Arial" pitchFamily="34" charset="0"/>
              </a:rPr>
              <a:t> embedded in outer-most layer of virus (in the </a:t>
            </a:r>
            <a:r>
              <a:rPr lang="en-GB" sz="2400" dirty="0" err="1" smtClean="0">
                <a:latin typeface="Arial" pitchFamily="34" charset="0"/>
                <a:cs typeface="Arial" pitchFamily="34" charset="0"/>
              </a:rPr>
              <a:t>capsid</a:t>
            </a:r>
            <a:r>
              <a:rPr lang="en-GB" sz="2400" dirty="0" smtClean="0">
                <a:latin typeface="Arial" pitchFamily="34" charset="0"/>
                <a:cs typeface="Arial" pitchFamily="34" charset="0"/>
              </a:rPr>
              <a:t>, in the case of a naked virus, or the envelope, in the case of an enveloped virus).</a:t>
            </a:r>
          </a:p>
          <a:p>
            <a:pPr>
              <a:lnSpc>
                <a:spcPct val="200000"/>
              </a:lnSpc>
            </a:pPr>
            <a:r>
              <a:rPr lang="en-GB" sz="2400" dirty="0" smtClean="0">
                <a:latin typeface="Arial" pitchFamily="34" charset="0"/>
                <a:cs typeface="Arial" pitchFamily="34" charset="0"/>
              </a:rPr>
              <a:t>The virus attachment protein is the viral protein that facilitates the docking of the virus to the plasma membrane of the host cell, the first step in gaining entry into a cell.</a:t>
            </a:r>
            <a:endParaRPr lang="en-US" sz="2400" dirty="0" smtClean="0">
              <a:latin typeface="Arial" pitchFamily="34" charset="0"/>
              <a:cs typeface="Arial" pitchFamily="34" charset="0"/>
            </a:endParaRPr>
          </a:p>
          <a:p>
            <a:pPr>
              <a:lnSpc>
                <a:spcPct val="200000"/>
              </a:lnSpc>
              <a:buNone/>
            </a:pPr>
            <a:endParaRPr lang="en-US" sz="24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4294967295"/>
          </p:nvPr>
        </p:nvSpPr>
        <p:spPr>
          <a:xfrm>
            <a:off x="381000" y="228600"/>
            <a:ext cx="8153400" cy="5791200"/>
          </a:xfrm>
        </p:spPr>
        <p:txBody>
          <a:bodyPr>
            <a:noAutofit/>
          </a:bodyPr>
          <a:lstStyle/>
          <a:p>
            <a:r>
              <a:rPr lang="en-US" sz="2400" dirty="0" smtClean="0">
                <a:solidFill>
                  <a:srgbClr val="FF0000"/>
                </a:solidFill>
                <a:latin typeface="Arial" pitchFamily="34" charset="0"/>
                <a:cs typeface="Arial" pitchFamily="34" charset="0"/>
              </a:rPr>
              <a:t>The </a:t>
            </a:r>
            <a:r>
              <a:rPr lang="en-US" sz="2400" b="1" dirty="0" err="1" smtClean="0">
                <a:solidFill>
                  <a:srgbClr val="FF0000"/>
                </a:solidFill>
                <a:latin typeface="Arial" pitchFamily="34" charset="0"/>
                <a:cs typeface="Arial" pitchFamily="34" charset="0"/>
              </a:rPr>
              <a:t>Capsid</a:t>
            </a:r>
            <a:r>
              <a:rPr lang="en-US" sz="2400" b="1" dirty="0" smtClean="0">
                <a:solidFill>
                  <a:srgbClr val="FF0000"/>
                </a:solidFill>
                <a:latin typeface="Arial" pitchFamily="34" charset="0"/>
                <a:cs typeface="Arial" pitchFamily="34" charset="0"/>
              </a:rPr>
              <a:t> (coat) </a:t>
            </a:r>
            <a:r>
              <a:rPr lang="en-US" sz="2400" dirty="0" smtClean="0">
                <a:solidFill>
                  <a:srgbClr val="FF0000"/>
                </a:solidFill>
                <a:latin typeface="Arial" pitchFamily="34" charset="0"/>
                <a:cs typeface="Arial" pitchFamily="34" charset="0"/>
              </a:rPr>
              <a:t>protein </a:t>
            </a:r>
            <a:r>
              <a:rPr lang="en-US" sz="2400" dirty="0" smtClean="0">
                <a:latin typeface="Arial" pitchFamily="34" charset="0"/>
                <a:cs typeface="Arial" pitchFamily="34" charset="0"/>
              </a:rPr>
              <a:t>is the basic unit of structure made up of protein subunits called </a:t>
            </a:r>
            <a:r>
              <a:rPr lang="en-US" sz="2400" b="1" dirty="0" err="1" smtClean="0">
                <a:latin typeface="Arial" pitchFamily="34" charset="0"/>
                <a:cs typeface="Arial" pitchFamily="34" charset="0"/>
              </a:rPr>
              <a:t>capsomeres</a:t>
            </a:r>
            <a:r>
              <a:rPr lang="en-US" sz="2400" dirty="0" smtClean="0">
                <a:latin typeface="Arial" pitchFamily="34" charset="0"/>
                <a:cs typeface="Arial" pitchFamily="34" charset="0"/>
              </a:rPr>
              <a:t>. Subunits called </a:t>
            </a:r>
            <a:r>
              <a:rPr lang="en-US" sz="2400" b="1" dirty="0" err="1" smtClean="0">
                <a:latin typeface="Arial" pitchFamily="34" charset="0"/>
                <a:cs typeface="Arial" pitchFamily="34" charset="0"/>
              </a:rPr>
              <a:t>protomers</a:t>
            </a:r>
            <a:r>
              <a:rPr lang="en-US" sz="2400" dirty="0" smtClean="0">
                <a:latin typeface="Arial" pitchFamily="34" charset="0"/>
                <a:cs typeface="Arial" pitchFamily="34" charset="0"/>
              </a:rPr>
              <a:t> aggregate to form </a:t>
            </a:r>
            <a:r>
              <a:rPr lang="en-US" sz="2400" dirty="0" err="1" smtClean="0">
                <a:latin typeface="Arial" pitchFamily="34" charset="0"/>
                <a:cs typeface="Arial" pitchFamily="34" charset="0"/>
              </a:rPr>
              <a:t>capsomeres</a:t>
            </a:r>
            <a:r>
              <a:rPr lang="en-US" sz="2400" dirty="0" smtClean="0">
                <a:latin typeface="Arial" pitchFamily="34" charset="0"/>
                <a:cs typeface="Arial" pitchFamily="34" charset="0"/>
              </a:rPr>
              <a:t>. </a:t>
            </a:r>
          </a:p>
          <a:p>
            <a:r>
              <a:rPr lang="en-US" sz="2400" dirty="0" smtClean="0">
                <a:latin typeface="Arial" pitchFamily="34" charset="0"/>
                <a:cs typeface="Arial" pitchFamily="34" charset="0"/>
              </a:rPr>
              <a:t>The number of </a:t>
            </a:r>
            <a:r>
              <a:rPr lang="en-US" sz="2400" dirty="0" err="1" smtClean="0">
                <a:latin typeface="Arial" pitchFamily="34" charset="0"/>
                <a:cs typeface="Arial" pitchFamily="34" charset="0"/>
              </a:rPr>
              <a:t>capsomeres</a:t>
            </a:r>
            <a:r>
              <a:rPr lang="en-US" sz="2400" dirty="0" smtClean="0">
                <a:latin typeface="Arial" pitchFamily="34" charset="0"/>
                <a:cs typeface="Arial" pitchFamily="34" charset="0"/>
              </a:rPr>
              <a:t> in a </a:t>
            </a:r>
            <a:r>
              <a:rPr lang="en-US" sz="2400" dirty="0" err="1" smtClean="0">
                <a:latin typeface="Arial" pitchFamily="34" charset="0"/>
                <a:cs typeface="Arial" pitchFamily="34" charset="0"/>
              </a:rPr>
              <a:t>capsid</a:t>
            </a:r>
            <a:r>
              <a:rPr lang="en-US" sz="2400" dirty="0" smtClean="0">
                <a:latin typeface="Arial" pitchFamily="34" charset="0"/>
                <a:cs typeface="Arial" pitchFamily="34" charset="0"/>
              </a:rPr>
              <a:t> varies from virus to virus.</a:t>
            </a:r>
          </a:p>
          <a:p>
            <a:pPr>
              <a:buNone/>
            </a:pPr>
            <a:r>
              <a:rPr lang="en-US" sz="2400" dirty="0" smtClean="0">
                <a:latin typeface="Arial" pitchFamily="34" charset="0"/>
                <a:cs typeface="Arial" pitchFamily="34" charset="0"/>
              </a:rPr>
              <a:t> </a:t>
            </a:r>
            <a:endParaRPr lang="en-US" sz="2400" dirty="0" smtClean="0">
              <a:latin typeface="Arial" pitchFamily="34" charset="0"/>
              <a:cs typeface="Arial" pitchFamily="34" charset="0"/>
            </a:endParaRPr>
          </a:p>
          <a:p>
            <a:pPr>
              <a:buNone/>
            </a:pPr>
            <a:r>
              <a:rPr lang="en-US" sz="2400" b="1" dirty="0" smtClean="0">
                <a:latin typeface="Arial" pitchFamily="34" charset="0"/>
                <a:cs typeface="Arial" pitchFamily="34" charset="0"/>
              </a:rPr>
              <a:t>Functions</a:t>
            </a:r>
            <a:endParaRPr lang="en-US" sz="2400" b="1" dirty="0" smtClean="0">
              <a:latin typeface="Arial" pitchFamily="34" charset="0"/>
              <a:cs typeface="Arial" pitchFamily="34" charset="0"/>
            </a:endParaRPr>
          </a:p>
          <a:p>
            <a:r>
              <a:rPr lang="en-US" sz="2400" dirty="0" smtClean="0">
                <a:latin typeface="Arial" pitchFamily="34" charset="0"/>
                <a:cs typeface="Arial" pitchFamily="34" charset="0"/>
              </a:rPr>
              <a:t>Protect viral nucleic acid</a:t>
            </a:r>
          </a:p>
          <a:p>
            <a:r>
              <a:rPr lang="en-US" sz="2400" dirty="0" smtClean="0">
                <a:latin typeface="Arial" pitchFamily="34" charset="0"/>
                <a:cs typeface="Arial" pitchFamily="34" charset="0"/>
              </a:rPr>
              <a:t>Interact specifically with the viral nucleic acid for packaging</a:t>
            </a:r>
          </a:p>
          <a:p>
            <a:r>
              <a:rPr lang="en-US" sz="2400" dirty="0" smtClean="0">
                <a:latin typeface="Arial" pitchFamily="34" charset="0"/>
                <a:cs typeface="Arial" pitchFamily="34" charset="0"/>
              </a:rPr>
              <a:t>Interact with host receptors for entry to cell </a:t>
            </a:r>
          </a:p>
          <a:p>
            <a:r>
              <a:rPr lang="en-US" sz="2400" dirty="0" smtClean="0">
                <a:latin typeface="Arial" pitchFamily="34" charset="0"/>
                <a:cs typeface="Arial" pitchFamily="34" charset="0"/>
              </a:rPr>
              <a:t>Allow for release of nucleic acid upon entry into new cell</a:t>
            </a:r>
          </a:p>
          <a:p>
            <a:endParaRPr lang="en-US" sz="24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Autofit/>
          </a:bodyPr>
          <a:lstStyle/>
          <a:p>
            <a:r>
              <a:rPr lang="en-US" sz="2800" b="1" dirty="0">
                <a:solidFill>
                  <a:schemeClr val="accent6">
                    <a:lumMod val="50000"/>
                  </a:schemeClr>
                </a:solidFill>
                <a:latin typeface="Arial" pitchFamily="34" charset="0"/>
                <a:cs typeface="Arial" pitchFamily="34" charset="0"/>
              </a:rPr>
              <a:t>VIRION NUCLEOCAPSID STRUCTURES</a:t>
            </a:r>
            <a:endParaRPr lang="en-US" sz="2800" dirty="0">
              <a:solidFill>
                <a:schemeClr val="accent6">
                  <a:lumMod val="50000"/>
                </a:schemeClr>
              </a:solidFill>
              <a:latin typeface="Arial" pitchFamily="34" charset="0"/>
              <a:cs typeface="Arial" pitchFamily="34" charset="0"/>
            </a:endParaRPr>
          </a:p>
        </p:txBody>
      </p:sp>
      <p:sp>
        <p:nvSpPr>
          <p:cNvPr id="4" name="Content Placeholder 3"/>
          <p:cNvSpPr>
            <a:spLocks noGrp="1"/>
          </p:cNvSpPr>
          <p:nvPr>
            <p:ph idx="1"/>
          </p:nvPr>
        </p:nvSpPr>
        <p:spPr/>
        <p:txBody>
          <a:bodyPr/>
          <a:lstStyle/>
          <a:p>
            <a:pPr marL="514350" indent="-514350">
              <a:buAutoNum type="arabicPeriod"/>
            </a:pPr>
            <a:r>
              <a:rPr lang="en-US" b="1" dirty="0" err="1"/>
              <a:t>Icosahedral</a:t>
            </a:r>
            <a:r>
              <a:rPr lang="en-US" b="1" dirty="0"/>
              <a:t> symmetry</a:t>
            </a:r>
          </a:p>
          <a:p>
            <a:pPr marL="514350" indent="-514350">
              <a:buAutoNum type="arabicPeriod"/>
            </a:pPr>
            <a:r>
              <a:rPr lang="en-US" b="1" dirty="0"/>
              <a:t>Helical symmetry</a:t>
            </a:r>
          </a:p>
          <a:p>
            <a:pPr marL="514350" indent="-514350">
              <a:buAutoNum type="arabicPeriod"/>
            </a:pPr>
            <a:r>
              <a:rPr lang="en-US" b="1" dirty="0"/>
              <a:t>Complex </a:t>
            </a:r>
          </a:p>
          <a:p>
            <a:pPr marL="514350" indent="-514350">
              <a:buNone/>
            </a:pPr>
            <a:endParaRPr lang="en-US" b="1" dirty="0"/>
          </a:p>
          <a:p>
            <a:r>
              <a:rPr lang="en-US" sz="2800" dirty="0">
                <a:latin typeface="Arial" pitchFamily="34" charset="0"/>
                <a:cs typeface="Arial" pitchFamily="34" charset="0"/>
              </a:rPr>
              <a:t>Symmetry refers to the way in which </a:t>
            </a:r>
            <a:r>
              <a:rPr lang="en-US" sz="2800" dirty="0" err="1">
                <a:latin typeface="Arial" pitchFamily="34" charset="0"/>
                <a:cs typeface="Arial" pitchFamily="34" charset="0"/>
              </a:rPr>
              <a:t>capsomere</a:t>
            </a:r>
            <a:r>
              <a:rPr lang="en-US" sz="2800" dirty="0">
                <a:latin typeface="Arial" pitchFamily="34" charset="0"/>
                <a:cs typeface="Arial" pitchFamily="34" charset="0"/>
              </a:rPr>
              <a:t> units are arranged in viral </a:t>
            </a:r>
            <a:r>
              <a:rPr lang="en-US" sz="2800" dirty="0" err="1">
                <a:latin typeface="Arial" pitchFamily="34" charset="0"/>
                <a:cs typeface="Arial" pitchFamily="34" charset="0"/>
              </a:rPr>
              <a:t>capsid</a:t>
            </a:r>
            <a:r>
              <a:rPr lang="en-US" dirty="0"/>
              <a:t>.</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457200" y="381000"/>
            <a:ext cx="8196290" cy="1569660"/>
          </a:xfrm>
          <a:prstGeom prst="rect">
            <a:avLst/>
          </a:prstGeom>
          <a:noFill/>
        </p:spPr>
        <p:txBody>
          <a:bodyPr wrap="square">
            <a:spAutoFit/>
          </a:bodyPr>
          <a:lstStyle/>
          <a:p>
            <a:r>
              <a:rPr lang="en-IN" sz="2400" b="1" dirty="0">
                <a:latin typeface="Arial" pitchFamily="34" charset="0"/>
                <a:cs typeface="Arial" pitchFamily="34" charset="0"/>
              </a:rPr>
              <a:t>An ICOSAHEDRON </a:t>
            </a:r>
            <a:r>
              <a:rPr lang="en-IN" sz="2400" dirty="0">
                <a:latin typeface="Arial" pitchFamily="34" charset="0"/>
                <a:cs typeface="Arial" pitchFamily="34" charset="0"/>
              </a:rPr>
              <a:t>is composed of 20 faces, each an equilateral triangle, 12 vertices and 30 edges, and because of the axes of rotational symmetry is said to have</a:t>
            </a:r>
            <a:br>
              <a:rPr lang="en-IN" sz="2400" dirty="0">
                <a:latin typeface="Arial" pitchFamily="34" charset="0"/>
                <a:cs typeface="Arial" pitchFamily="34" charset="0"/>
              </a:rPr>
            </a:br>
            <a:r>
              <a:rPr lang="en-IN" sz="2400" b="1" dirty="0">
                <a:latin typeface="Arial" pitchFamily="34" charset="0"/>
                <a:cs typeface="Arial" pitchFamily="34" charset="0"/>
              </a:rPr>
              <a:t>5:3:2 </a:t>
            </a:r>
            <a:r>
              <a:rPr lang="en-IN" sz="2400" b="1" dirty="0" smtClean="0">
                <a:latin typeface="Arial" pitchFamily="34" charset="0"/>
                <a:cs typeface="Arial" pitchFamily="34" charset="0"/>
              </a:rPr>
              <a:t>symmetry. Mostly appear spherical in shape.</a:t>
            </a:r>
            <a:endParaRPr lang="en-IN" sz="2400" dirty="0">
              <a:latin typeface="Arial" pitchFamily="34" charset="0"/>
              <a:cs typeface="Arial" pitchFamily="34" charset="0"/>
            </a:endParaRPr>
          </a:p>
        </p:txBody>
      </p:sp>
      <p:sp>
        <p:nvSpPr>
          <p:cNvPr id="3" name="Rectangle 2"/>
          <p:cNvSpPr/>
          <p:nvPr/>
        </p:nvSpPr>
        <p:spPr>
          <a:xfrm>
            <a:off x="642910" y="4643446"/>
            <a:ext cx="7715304" cy="1569660"/>
          </a:xfrm>
          <a:prstGeom prst="rect">
            <a:avLst/>
          </a:prstGeom>
        </p:spPr>
        <p:txBody>
          <a:bodyPr wrap="square">
            <a:spAutoFit/>
          </a:bodyPr>
          <a:lstStyle/>
          <a:p>
            <a:r>
              <a:rPr lang="en-IN" sz="2400" b="1" dirty="0">
                <a:latin typeface="Arial" pitchFamily="34" charset="0"/>
                <a:cs typeface="Arial" pitchFamily="34" charset="0"/>
              </a:rPr>
              <a:t>Axes of Symmetry </a:t>
            </a:r>
            <a:r>
              <a:rPr lang="en-IN" sz="2400" b="1" dirty="0" smtClean="0">
                <a:latin typeface="Arial" pitchFamily="34" charset="0"/>
                <a:cs typeface="Arial" pitchFamily="34" charset="0"/>
              </a:rPr>
              <a:t>: </a:t>
            </a:r>
            <a:r>
              <a:rPr lang="en-IN" sz="2400" dirty="0" smtClean="0">
                <a:latin typeface="Arial" pitchFamily="34" charset="0"/>
                <a:cs typeface="Arial" pitchFamily="34" charset="0"/>
              </a:rPr>
              <a:t>Six </a:t>
            </a:r>
            <a:r>
              <a:rPr lang="en-IN" sz="2400" dirty="0">
                <a:latin typeface="Arial" pitchFamily="34" charset="0"/>
                <a:cs typeface="Arial" pitchFamily="34" charset="0"/>
              </a:rPr>
              <a:t>5-fold axes of symmetry passing through the vertices, ten 3-fold axes extending through each face and fifteen 2-fold axes passing through the edges of an icosahedron.</a:t>
            </a:r>
          </a:p>
        </p:txBody>
      </p:sp>
      <p:sp>
        <p:nvSpPr>
          <p:cNvPr id="1026" name="AutoShape 2" descr="http://web.uct.ac.za/depts/mmi/stannard/532symm.gif"/>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IN"/>
          </a:p>
        </p:txBody>
      </p:sp>
      <p:sp>
        <p:nvSpPr>
          <p:cNvPr id="1028" name="AutoShape 4" descr="http://web.uct.ac.za/depts/mmi/stannard/532symm.gif"/>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IN"/>
          </a:p>
        </p:txBody>
      </p:sp>
      <p:sp>
        <p:nvSpPr>
          <p:cNvPr id="1030" name="AutoShape 6" descr="http://web.uct.ac.za/depts/mmi/stannard/532symm.gif"/>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IN"/>
          </a:p>
        </p:txBody>
      </p:sp>
      <p:pic>
        <p:nvPicPr>
          <p:cNvPr id="1031" name="Picture 7" descr="C:\Users\dr rahul\Documents\Downloads\532symm.gif"/>
          <p:cNvPicPr>
            <a:picLocks noChangeAspect="1" noChangeArrowheads="1"/>
          </p:cNvPicPr>
          <p:nvPr/>
        </p:nvPicPr>
        <p:blipFill>
          <a:blip r:embed="rId2"/>
          <a:srcRect/>
          <a:stretch>
            <a:fillRect/>
          </a:stretch>
        </p:blipFill>
        <p:spPr bwMode="auto">
          <a:xfrm>
            <a:off x="1571604" y="2285992"/>
            <a:ext cx="4786346" cy="2071702"/>
          </a:xfrm>
          <a:prstGeom prst="rect">
            <a:avLst/>
          </a:prstGeom>
          <a:noFill/>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4294967295"/>
          </p:nvPr>
        </p:nvSpPr>
        <p:spPr>
          <a:xfrm>
            <a:off x="152400" y="762000"/>
            <a:ext cx="8534400" cy="5562600"/>
          </a:xfrm>
        </p:spPr>
        <p:txBody>
          <a:bodyPr>
            <a:normAutofit/>
          </a:bodyPr>
          <a:lstStyle/>
          <a:p>
            <a:r>
              <a:rPr lang="en-US" sz="2400" dirty="0" err="1">
                <a:latin typeface="Arial" pitchFamily="34" charset="0"/>
                <a:cs typeface="Arial" pitchFamily="34" charset="0"/>
              </a:rPr>
              <a:t>Capsomers</a:t>
            </a:r>
            <a:r>
              <a:rPr lang="en-US" sz="2400" dirty="0">
                <a:latin typeface="Arial" pitchFamily="34" charset="0"/>
                <a:cs typeface="Arial" pitchFamily="34" charset="0"/>
              </a:rPr>
              <a:t> at the 12 corners have a 5-fold symmetry and interact with 5 neighboring </a:t>
            </a:r>
            <a:r>
              <a:rPr lang="en-US" sz="2400" dirty="0" err="1">
                <a:latin typeface="Arial" pitchFamily="34" charset="0"/>
                <a:cs typeface="Arial" pitchFamily="34" charset="0"/>
              </a:rPr>
              <a:t>capsomers</a:t>
            </a:r>
            <a:r>
              <a:rPr lang="en-US" sz="2400" dirty="0">
                <a:latin typeface="Arial" pitchFamily="34" charset="0"/>
                <a:cs typeface="Arial" pitchFamily="34" charset="0"/>
              </a:rPr>
              <a:t>, and are thus known as </a:t>
            </a:r>
            <a:r>
              <a:rPr lang="en-US" sz="2400" b="1" dirty="0" err="1">
                <a:latin typeface="Arial" pitchFamily="34" charset="0"/>
                <a:cs typeface="Arial" pitchFamily="34" charset="0"/>
              </a:rPr>
              <a:t>pentons</a:t>
            </a:r>
            <a:r>
              <a:rPr lang="en-US" sz="2400" b="1" dirty="0">
                <a:latin typeface="Arial" pitchFamily="34" charset="0"/>
                <a:cs typeface="Arial" pitchFamily="34" charset="0"/>
              </a:rPr>
              <a:t> or </a:t>
            </a:r>
            <a:r>
              <a:rPr lang="en-US" sz="2400" b="1" dirty="0" err="1">
                <a:latin typeface="Arial" pitchFamily="34" charset="0"/>
                <a:cs typeface="Arial" pitchFamily="34" charset="0"/>
              </a:rPr>
              <a:t>pentamer</a:t>
            </a:r>
            <a:r>
              <a:rPr lang="en-US" sz="2400" b="1" dirty="0">
                <a:latin typeface="Arial" pitchFamily="34" charset="0"/>
                <a:cs typeface="Arial" pitchFamily="34" charset="0"/>
              </a:rPr>
              <a:t>. </a:t>
            </a:r>
          </a:p>
          <a:p>
            <a:endParaRPr lang="en-US" sz="2400" dirty="0" smtClean="0">
              <a:latin typeface="Arial" pitchFamily="34" charset="0"/>
              <a:cs typeface="Arial" pitchFamily="34" charset="0"/>
            </a:endParaRPr>
          </a:p>
          <a:p>
            <a:r>
              <a:rPr lang="en-US" sz="2400" dirty="0" smtClean="0">
                <a:latin typeface="Arial" pitchFamily="34" charset="0"/>
                <a:cs typeface="Arial" pitchFamily="34" charset="0"/>
              </a:rPr>
              <a:t>Larger </a:t>
            </a:r>
            <a:r>
              <a:rPr lang="en-US" sz="2400" dirty="0">
                <a:latin typeface="Arial" pitchFamily="34" charset="0"/>
                <a:cs typeface="Arial" pitchFamily="34" charset="0"/>
              </a:rPr>
              <a:t>viruses contain more </a:t>
            </a:r>
            <a:r>
              <a:rPr lang="en-US" sz="2400" dirty="0" err="1">
                <a:latin typeface="Arial" pitchFamily="34" charset="0"/>
                <a:cs typeface="Arial" pitchFamily="34" charset="0"/>
              </a:rPr>
              <a:t>capsomers</a:t>
            </a:r>
            <a:r>
              <a:rPr lang="en-US" sz="2400" dirty="0">
                <a:latin typeface="Arial" pitchFamily="34" charset="0"/>
                <a:cs typeface="Arial" pitchFamily="34" charset="0"/>
              </a:rPr>
              <a:t>; extra </a:t>
            </a:r>
            <a:r>
              <a:rPr lang="en-US" sz="2400" dirty="0" err="1">
                <a:latin typeface="Arial" pitchFamily="34" charset="0"/>
                <a:cs typeface="Arial" pitchFamily="34" charset="0"/>
              </a:rPr>
              <a:t>capsomers</a:t>
            </a:r>
            <a:r>
              <a:rPr lang="en-US" sz="2400" dirty="0">
                <a:latin typeface="Arial" pitchFamily="34" charset="0"/>
                <a:cs typeface="Arial" pitchFamily="34" charset="0"/>
              </a:rPr>
              <a:t> are arranged in a regular array on the  </a:t>
            </a:r>
            <a:r>
              <a:rPr lang="en-US" sz="2400" b="1" dirty="0">
                <a:latin typeface="Arial" pitchFamily="34" charset="0"/>
                <a:cs typeface="Arial" pitchFamily="34" charset="0"/>
              </a:rPr>
              <a:t>faces</a:t>
            </a:r>
            <a:r>
              <a:rPr lang="en-US" sz="2400" dirty="0">
                <a:latin typeface="Arial" pitchFamily="34" charset="0"/>
                <a:cs typeface="Arial" pitchFamily="34" charset="0"/>
              </a:rPr>
              <a:t> of the icosahedrons. They have six neighbors and are called </a:t>
            </a:r>
            <a:r>
              <a:rPr lang="en-US" sz="2400" b="1" dirty="0" err="1">
                <a:latin typeface="Arial" pitchFamily="34" charset="0"/>
                <a:cs typeface="Arial" pitchFamily="34" charset="0"/>
              </a:rPr>
              <a:t>hexons</a:t>
            </a:r>
            <a:r>
              <a:rPr lang="en-US" sz="2400" b="1" dirty="0">
                <a:latin typeface="Arial" pitchFamily="34" charset="0"/>
                <a:cs typeface="Arial" pitchFamily="34" charset="0"/>
              </a:rPr>
              <a:t> or </a:t>
            </a:r>
            <a:r>
              <a:rPr lang="en-US" sz="2400" b="1" dirty="0" err="1">
                <a:latin typeface="Arial" pitchFamily="34" charset="0"/>
                <a:cs typeface="Arial" pitchFamily="34" charset="0"/>
              </a:rPr>
              <a:t>hexamers</a:t>
            </a:r>
            <a:endParaRPr lang="en-US" sz="2400" b="1" dirty="0">
              <a:latin typeface="Arial" pitchFamily="34" charset="0"/>
              <a:cs typeface="Arial" pitchFamily="34" charset="0"/>
            </a:endParaRPr>
          </a:p>
          <a:p>
            <a:endParaRPr lang="en-US" sz="2400" dirty="0" smtClean="0">
              <a:latin typeface="Arial" pitchFamily="34" charset="0"/>
              <a:cs typeface="Arial" pitchFamily="34" charset="0"/>
            </a:endParaRPr>
          </a:p>
          <a:p>
            <a:r>
              <a:rPr lang="en-US" sz="2400" dirty="0" smtClean="0">
                <a:latin typeface="Arial" pitchFamily="34" charset="0"/>
                <a:cs typeface="Arial" pitchFamily="34" charset="0"/>
              </a:rPr>
              <a:t>The </a:t>
            </a:r>
            <a:r>
              <a:rPr lang="en-US" sz="2400" dirty="0">
                <a:latin typeface="Arial" pitchFamily="34" charset="0"/>
                <a:cs typeface="Arial" pitchFamily="34" charset="0"/>
              </a:rPr>
              <a:t>size of such an </a:t>
            </a:r>
            <a:r>
              <a:rPr lang="en-US" sz="2400" dirty="0" err="1">
                <a:latin typeface="Arial" pitchFamily="34" charset="0"/>
                <a:cs typeface="Arial" pitchFamily="34" charset="0"/>
              </a:rPr>
              <a:t>icosahedron</a:t>
            </a:r>
            <a:r>
              <a:rPr lang="en-US" sz="2400" dirty="0">
                <a:latin typeface="Arial" pitchFamily="34" charset="0"/>
                <a:cs typeface="Arial" pitchFamily="34" charset="0"/>
              </a:rPr>
              <a:t> depends on the size and number of </a:t>
            </a:r>
            <a:r>
              <a:rPr lang="en-US" sz="2400" dirty="0" err="1">
                <a:latin typeface="Arial" pitchFamily="34" charset="0"/>
                <a:cs typeface="Arial" pitchFamily="34" charset="0"/>
              </a:rPr>
              <a:t>capsomers</a:t>
            </a:r>
            <a:r>
              <a:rPr lang="en-US" sz="2400" dirty="0">
                <a:latin typeface="Arial" pitchFamily="34" charset="0"/>
                <a:cs typeface="Arial" pitchFamily="34" charset="0"/>
              </a:rPr>
              <a:t>, there will always be 12 </a:t>
            </a:r>
            <a:r>
              <a:rPr lang="en-US" sz="2400" dirty="0" err="1">
                <a:latin typeface="Arial" pitchFamily="34" charset="0"/>
                <a:cs typeface="Arial" pitchFamily="34" charset="0"/>
              </a:rPr>
              <a:t>pentons</a:t>
            </a:r>
            <a:r>
              <a:rPr lang="en-US" sz="2400" dirty="0">
                <a:latin typeface="Arial" pitchFamily="34" charset="0"/>
                <a:cs typeface="Arial" pitchFamily="34" charset="0"/>
              </a:rPr>
              <a:t>, but the number of </a:t>
            </a:r>
            <a:r>
              <a:rPr lang="en-US" sz="2400" dirty="0" err="1">
                <a:latin typeface="Arial" pitchFamily="34" charset="0"/>
                <a:cs typeface="Arial" pitchFamily="34" charset="0"/>
              </a:rPr>
              <a:t>hexons</a:t>
            </a:r>
            <a:r>
              <a:rPr lang="en-US" sz="2400" dirty="0">
                <a:latin typeface="Arial" pitchFamily="34" charset="0"/>
                <a:cs typeface="Arial" pitchFamily="34" charset="0"/>
              </a:rPr>
              <a:t> may increase.</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5842" name="Picture 2" descr="https://www.microbiologybook.org/mhunt/penton.gif"/>
          <p:cNvPicPr>
            <a:picLocks noChangeAspect="1" noChangeArrowheads="1"/>
          </p:cNvPicPr>
          <p:nvPr/>
        </p:nvPicPr>
        <p:blipFill>
          <a:blip r:embed="rId2"/>
          <a:srcRect/>
          <a:stretch>
            <a:fillRect/>
          </a:stretch>
        </p:blipFill>
        <p:spPr bwMode="auto">
          <a:xfrm>
            <a:off x="152400" y="228600"/>
            <a:ext cx="5562600" cy="3596665"/>
          </a:xfrm>
          <a:prstGeom prst="rect">
            <a:avLst/>
          </a:prstGeom>
          <a:noFill/>
        </p:spPr>
      </p:pic>
      <p:pic>
        <p:nvPicPr>
          <p:cNvPr id="35844" name="Picture 4" descr="https://www.microbiologybook.org/mhunt/hexon.gif"/>
          <p:cNvPicPr>
            <a:picLocks noChangeAspect="1" noChangeArrowheads="1"/>
          </p:cNvPicPr>
          <p:nvPr/>
        </p:nvPicPr>
        <p:blipFill>
          <a:blip r:embed="rId3"/>
          <a:srcRect t="23821"/>
          <a:stretch>
            <a:fillRect/>
          </a:stretch>
        </p:blipFill>
        <p:spPr bwMode="auto">
          <a:xfrm>
            <a:off x="152400" y="3933824"/>
            <a:ext cx="5838825" cy="2924176"/>
          </a:xfrm>
          <a:prstGeom prst="rect">
            <a:avLst/>
          </a:prstGeom>
          <a:noFill/>
        </p:spPr>
      </p:pic>
      <p:pic>
        <p:nvPicPr>
          <p:cNvPr id="20482" name="Picture 2" descr="capsomere"/>
          <p:cNvPicPr>
            <a:picLocks noChangeAspect="1" noChangeArrowheads="1"/>
          </p:cNvPicPr>
          <p:nvPr/>
        </p:nvPicPr>
        <p:blipFill>
          <a:blip r:embed="rId4"/>
          <a:srcRect/>
          <a:stretch>
            <a:fillRect/>
          </a:stretch>
        </p:blipFill>
        <p:spPr bwMode="auto">
          <a:xfrm>
            <a:off x="5404148" y="2477391"/>
            <a:ext cx="3587452" cy="3085209"/>
          </a:xfrm>
          <a:prstGeom prst="rect">
            <a:avLst/>
          </a:prstGeom>
          <a:noFill/>
        </p:spPr>
      </p:pic>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3794" name="Picture 2" descr="C:\Users\dr rahul\Documents\Downloads\a-naked-icosahedral.jpg"/>
          <p:cNvPicPr>
            <a:picLocks noChangeAspect="1" noChangeArrowheads="1"/>
          </p:cNvPicPr>
          <p:nvPr/>
        </p:nvPicPr>
        <p:blipFill>
          <a:blip r:embed="rId2"/>
          <a:srcRect/>
          <a:stretch>
            <a:fillRect/>
          </a:stretch>
        </p:blipFill>
        <p:spPr bwMode="auto">
          <a:xfrm>
            <a:off x="428596" y="928670"/>
            <a:ext cx="2392194" cy="2918476"/>
          </a:xfrm>
          <a:prstGeom prst="rect">
            <a:avLst/>
          </a:prstGeom>
        </p:spPr>
        <p:style>
          <a:lnRef idx="2">
            <a:schemeClr val="dk1"/>
          </a:lnRef>
          <a:fillRef idx="1">
            <a:schemeClr val="lt1"/>
          </a:fillRef>
          <a:effectRef idx="0">
            <a:schemeClr val="dk1"/>
          </a:effectRef>
          <a:fontRef idx="minor">
            <a:schemeClr val="dk1"/>
          </a:fontRef>
        </p:style>
      </p:pic>
      <p:pic>
        <p:nvPicPr>
          <p:cNvPr id="33795" name="Picture 3" descr="C:\Users\dr rahul\Documents\Downloads\b-naked-icosahedral.jpg"/>
          <p:cNvPicPr>
            <a:picLocks noChangeAspect="1" noChangeArrowheads="1"/>
          </p:cNvPicPr>
          <p:nvPr/>
        </p:nvPicPr>
        <p:blipFill>
          <a:blip r:embed="rId3"/>
          <a:srcRect/>
          <a:stretch>
            <a:fillRect/>
          </a:stretch>
        </p:blipFill>
        <p:spPr bwMode="auto">
          <a:xfrm>
            <a:off x="3214678" y="714356"/>
            <a:ext cx="5436938" cy="3109929"/>
          </a:xfrm>
          <a:prstGeom prst="rect">
            <a:avLst/>
          </a:prstGeom>
        </p:spPr>
        <p:style>
          <a:lnRef idx="2">
            <a:schemeClr val="dk1"/>
          </a:lnRef>
          <a:fillRef idx="1">
            <a:schemeClr val="lt1"/>
          </a:fillRef>
          <a:effectRef idx="0">
            <a:schemeClr val="dk1"/>
          </a:effectRef>
          <a:fontRef idx="minor">
            <a:schemeClr val="dk1"/>
          </a:fontRef>
        </p:style>
      </p:pic>
      <p:sp>
        <p:nvSpPr>
          <p:cNvPr id="5" name="TextBox 4"/>
          <p:cNvSpPr txBox="1"/>
          <p:nvPr/>
        </p:nvSpPr>
        <p:spPr>
          <a:xfrm>
            <a:off x="571472" y="4143380"/>
            <a:ext cx="2000264" cy="523220"/>
          </a:xfrm>
          <a:prstGeom prst="rect">
            <a:avLst/>
          </a:prstGeom>
          <a:solidFill>
            <a:schemeClr val="bg1"/>
          </a:solidFill>
        </p:spPr>
        <p:txBody>
          <a:bodyPr wrap="square" rtlCol="0">
            <a:spAutoFit/>
          </a:bodyPr>
          <a:lstStyle/>
          <a:p>
            <a:r>
              <a:rPr lang="en-US" sz="2800" b="1" dirty="0" err="1" smtClean="0"/>
              <a:t>Icosahedral</a:t>
            </a:r>
            <a:endParaRPr lang="en-IN" sz="2800" b="1" dirty="0"/>
          </a:p>
        </p:txBody>
      </p:sp>
      <p:sp>
        <p:nvSpPr>
          <p:cNvPr id="6" name="TextBox 5"/>
          <p:cNvSpPr txBox="1"/>
          <p:nvPr/>
        </p:nvSpPr>
        <p:spPr>
          <a:xfrm>
            <a:off x="3948981" y="4098909"/>
            <a:ext cx="4002506" cy="954107"/>
          </a:xfrm>
          <a:prstGeom prst="rect">
            <a:avLst/>
          </a:prstGeom>
          <a:solidFill>
            <a:schemeClr val="bg1"/>
          </a:solidFill>
        </p:spPr>
        <p:txBody>
          <a:bodyPr wrap="none" rtlCol="0">
            <a:spAutoFit/>
          </a:bodyPr>
          <a:lstStyle/>
          <a:p>
            <a:r>
              <a:rPr lang="en-US" sz="2800" b="1" dirty="0"/>
              <a:t>B. Naked Icosahedral</a:t>
            </a:r>
          </a:p>
          <a:p>
            <a:r>
              <a:rPr lang="en-US" sz="2800" b="1" dirty="0"/>
              <a:t>C. Enveloped Icosahedral</a:t>
            </a:r>
            <a:endParaRPr lang="en-IN" sz="2800" b="1"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1143000"/>
          </a:xfrm>
        </p:spPr>
        <p:txBody>
          <a:bodyPr>
            <a:normAutofit/>
          </a:bodyPr>
          <a:lstStyle/>
          <a:p>
            <a:r>
              <a:rPr lang="en-US" sz="3600" b="1" dirty="0">
                <a:solidFill>
                  <a:schemeClr val="accent2">
                    <a:lumMod val="75000"/>
                  </a:schemeClr>
                </a:solidFill>
                <a:latin typeface="Arial" pitchFamily="34" charset="0"/>
                <a:cs typeface="Arial" pitchFamily="34" charset="0"/>
              </a:rPr>
              <a:t>Helical symmetry</a:t>
            </a:r>
            <a:endParaRPr lang="en-US" sz="3600" dirty="0">
              <a:solidFill>
                <a:schemeClr val="accent2">
                  <a:lumMod val="75000"/>
                </a:schemeClr>
              </a:solidFill>
              <a:latin typeface="Arial" pitchFamily="34" charset="0"/>
              <a:cs typeface="Arial" pitchFamily="34" charset="0"/>
            </a:endParaRPr>
          </a:p>
        </p:txBody>
      </p:sp>
      <p:sp>
        <p:nvSpPr>
          <p:cNvPr id="3" name="Content Placeholder 2"/>
          <p:cNvSpPr>
            <a:spLocks noGrp="1"/>
          </p:cNvSpPr>
          <p:nvPr>
            <p:ph idx="1"/>
          </p:nvPr>
        </p:nvSpPr>
        <p:spPr>
          <a:xfrm>
            <a:off x="228600" y="1219200"/>
            <a:ext cx="8763000" cy="5211763"/>
          </a:xfrm>
        </p:spPr>
        <p:txBody>
          <a:bodyPr>
            <a:normAutofit lnSpcReduction="10000"/>
          </a:bodyPr>
          <a:lstStyle/>
          <a:p>
            <a:r>
              <a:rPr lang="en-US" sz="2400" dirty="0" smtClean="0">
                <a:latin typeface="Arial" pitchFamily="34" charset="0"/>
                <a:cs typeface="Arial" pitchFamily="34" charset="0"/>
              </a:rPr>
              <a:t>The helix is a spiral shape that curves cylindrically around an axis.</a:t>
            </a:r>
          </a:p>
          <a:p>
            <a:r>
              <a:rPr lang="en-US" sz="2400" dirty="0" smtClean="0">
                <a:latin typeface="Arial" pitchFamily="34" charset="0"/>
                <a:cs typeface="Arial" pitchFamily="34" charset="0"/>
              </a:rPr>
              <a:t>The viral nucleic acid coils into a helical shape and the </a:t>
            </a:r>
            <a:r>
              <a:rPr lang="en-US" sz="2400" dirty="0" err="1" smtClean="0">
                <a:latin typeface="Arial" pitchFamily="34" charset="0"/>
                <a:cs typeface="Arial" pitchFamily="34" charset="0"/>
              </a:rPr>
              <a:t>capsid</a:t>
            </a:r>
            <a:r>
              <a:rPr lang="en-US" sz="2400" dirty="0" smtClean="0">
                <a:latin typeface="Arial" pitchFamily="34" charset="0"/>
                <a:cs typeface="Arial" pitchFamily="34" charset="0"/>
              </a:rPr>
              <a:t> proteins wind around the inside or outside of the nucleic acid, forming a long tube or rod-like structure.</a:t>
            </a:r>
          </a:p>
          <a:p>
            <a:r>
              <a:rPr lang="en-US" sz="2400" dirty="0" smtClean="0">
                <a:latin typeface="Arial" pitchFamily="34" charset="0"/>
                <a:cs typeface="Arial" pitchFamily="34" charset="0"/>
              </a:rPr>
              <a:t>One type of </a:t>
            </a:r>
            <a:r>
              <a:rPr lang="en-US" sz="2400" dirty="0" err="1" smtClean="0">
                <a:latin typeface="Arial" pitchFamily="34" charset="0"/>
                <a:cs typeface="Arial" pitchFamily="34" charset="0"/>
              </a:rPr>
              <a:t>capsid</a:t>
            </a:r>
            <a:r>
              <a:rPr lang="en-US" sz="2400" dirty="0" smtClean="0">
                <a:latin typeface="Arial" pitchFamily="34" charset="0"/>
                <a:cs typeface="Arial" pitchFamily="34" charset="0"/>
              </a:rPr>
              <a:t> protein (only 1 gene required hence small size genomes) present so simple in structure.</a:t>
            </a:r>
          </a:p>
          <a:p>
            <a:r>
              <a:rPr lang="en-US" sz="2400" dirty="0" smtClean="0">
                <a:latin typeface="Arial" pitchFamily="34" charset="0"/>
                <a:cs typeface="Arial" pitchFamily="34" charset="0"/>
              </a:rPr>
              <a:t>The </a:t>
            </a:r>
            <a:r>
              <a:rPr lang="en-US" sz="2400" dirty="0" err="1" smtClean="0">
                <a:latin typeface="Arial" pitchFamily="34" charset="0"/>
                <a:cs typeface="Arial" pitchFamily="34" charset="0"/>
              </a:rPr>
              <a:t>capsid</a:t>
            </a:r>
            <a:r>
              <a:rPr lang="en-US" sz="2400" dirty="0" smtClean="0">
                <a:latin typeface="Arial" pitchFamily="34" charset="0"/>
                <a:cs typeface="Arial" pitchFamily="34" charset="0"/>
              </a:rPr>
              <a:t> length will be the size of the coiled nucleic acid   (helical structure can continue indefinitely)</a:t>
            </a:r>
          </a:p>
          <a:p>
            <a:r>
              <a:rPr lang="en-US" sz="2400" b="1" dirty="0" smtClean="0">
                <a:latin typeface="Arial" pitchFamily="34" charset="0"/>
                <a:cs typeface="Arial" pitchFamily="34" charset="0"/>
              </a:rPr>
              <a:t>First non-enveloped helical symmetry plant virus - TMV</a:t>
            </a:r>
            <a:endParaRPr lang="en-US" sz="2400" b="1" dirty="0">
              <a:latin typeface="Arial" pitchFamily="34" charset="0"/>
              <a:cs typeface="Arial" pitchFamily="34" charset="0"/>
            </a:endParaRPr>
          </a:p>
          <a:p>
            <a:r>
              <a:rPr lang="en-US" sz="2400" dirty="0">
                <a:latin typeface="Arial" pitchFamily="34" charset="0"/>
                <a:cs typeface="Arial" pitchFamily="34" charset="0"/>
              </a:rPr>
              <a:t>In enveloped, helically symmetrical viruses (e.g. influenza virus, rabies virus), the </a:t>
            </a:r>
            <a:r>
              <a:rPr lang="en-US" sz="2400" dirty="0" err="1">
                <a:latin typeface="Arial" pitchFamily="34" charset="0"/>
                <a:cs typeface="Arial" pitchFamily="34" charset="0"/>
              </a:rPr>
              <a:t>capsid</a:t>
            </a:r>
            <a:r>
              <a:rPr lang="en-US" sz="2400" dirty="0">
                <a:latin typeface="Arial" pitchFamily="34" charset="0"/>
                <a:cs typeface="Arial" pitchFamily="34" charset="0"/>
              </a:rPr>
              <a:t> is more flexible (and longer</a:t>
            </a:r>
            <a:r>
              <a:rPr lang="en-US" sz="2400" dirty="0" smtClean="0">
                <a:latin typeface="Arial" pitchFamily="34" charset="0"/>
                <a:cs typeface="Arial" pitchFamily="34" charset="0"/>
              </a:rPr>
              <a:t>)</a:t>
            </a:r>
            <a:endParaRPr lang="en-US" sz="2400" dirty="0">
              <a:latin typeface="Arial" pitchFamily="34" charset="0"/>
              <a:cs typeface="Arial" pitchFamily="34" charset="0"/>
            </a:endParaRPr>
          </a:p>
          <a:p>
            <a:r>
              <a:rPr lang="en-US" sz="2400" b="1" dirty="0" smtClean="0"/>
              <a:t>All helical animal viruses </a:t>
            </a:r>
            <a:r>
              <a:rPr lang="en-US" sz="2400" b="1" dirty="0"/>
              <a:t>are enveloped and all are RNA viruses</a:t>
            </a:r>
            <a:r>
              <a:rPr lang="en-US" sz="2400" dirty="0"/>
              <a:t>.</a:t>
            </a:r>
            <a:endParaRPr lang="en-US" sz="2400" dirty="0">
              <a:latin typeface="Arial" pitchFamily="34" charset="0"/>
              <a:cs typeface="Arial" pitchFamily="34" charset="0"/>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4818" name="Picture 2" descr="A. Naked Virus (TMV)"/>
          <p:cNvPicPr>
            <a:picLocks noChangeAspect="1" noChangeArrowheads="1"/>
          </p:cNvPicPr>
          <p:nvPr/>
        </p:nvPicPr>
        <p:blipFill>
          <a:blip r:embed="rId2"/>
          <a:srcRect/>
          <a:stretch>
            <a:fillRect/>
          </a:stretch>
        </p:blipFill>
        <p:spPr bwMode="auto">
          <a:xfrm>
            <a:off x="642910" y="928670"/>
            <a:ext cx="2594326" cy="3286148"/>
          </a:xfrm>
          <a:prstGeom prst="rect">
            <a:avLst/>
          </a:prstGeom>
        </p:spPr>
        <p:style>
          <a:lnRef idx="2">
            <a:schemeClr val="dk1"/>
          </a:lnRef>
          <a:fillRef idx="1">
            <a:schemeClr val="lt1"/>
          </a:fillRef>
          <a:effectRef idx="0">
            <a:schemeClr val="dk1"/>
          </a:effectRef>
          <a:fontRef idx="minor">
            <a:schemeClr val="dk1"/>
          </a:fontRef>
        </p:style>
      </p:pic>
      <p:pic>
        <p:nvPicPr>
          <p:cNvPr id="34820" name="Picture 4" descr="B-Enveloped Helical Virus (Influenza Virus)"/>
          <p:cNvPicPr>
            <a:picLocks noChangeAspect="1" noChangeArrowheads="1"/>
          </p:cNvPicPr>
          <p:nvPr/>
        </p:nvPicPr>
        <p:blipFill>
          <a:blip r:embed="rId3"/>
          <a:srcRect/>
          <a:stretch>
            <a:fillRect/>
          </a:stretch>
        </p:blipFill>
        <p:spPr bwMode="auto">
          <a:xfrm>
            <a:off x="4053402" y="928670"/>
            <a:ext cx="3804746" cy="3214710"/>
          </a:xfrm>
          <a:prstGeom prst="rect">
            <a:avLst/>
          </a:prstGeom>
        </p:spPr>
        <p:style>
          <a:lnRef idx="2">
            <a:schemeClr val="dk1"/>
          </a:lnRef>
          <a:fillRef idx="1">
            <a:schemeClr val="lt1"/>
          </a:fillRef>
          <a:effectRef idx="0">
            <a:schemeClr val="dk1"/>
          </a:effectRef>
          <a:fontRef idx="minor">
            <a:schemeClr val="dk1"/>
          </a:fontRef>
        </p:style>
      </p:pic>
      <p:sp>
        <p:nvSpPr>
          <p:cNvPr id="4" name="TextBox 3"/>
          <p:cNvSpPr txBox="1"/>
          <p:nvPr/>
        </p:nvSpPr>
        <p:spPr>
          <a:xfrm>
            <a:off x="785786" y="4500570"/>
            <a:ext cx="2009012" cy="954107"/>
          </a:xfrm>
          <a:prstGeom prst="rect">
            <a:avLst/>
          </a:prstGeom>
          <a:solidFill>
            <a:schemeClr val="bg1"/>
          </a:solidFill>
        </p:spPr>
        <p:txBody>
          <a:bodyPr wrap="none" rtlCol="0">
            <a:spAutoFit/>
          </a:bodyPr>
          <a:lstStyle/>
          <a:p>
            <a:r>
              <a:rPr lang="en-US" sz="2800" b="1" dirty="0">
                <a:solidFill>
                  <a:schemeClr val="accent2">
                    <a:lumMod val="75000"/>
                  </a:schemeClr>
                </a:solidFill>
              </a:rPr>
              <a:t>Naked Virus</a:t>
            </a:r>
          </a:p>
          <a:p>
            <a:r>
              <a:rPr lang="en-US" sz="2800" b="1" dirty="0">
                <a:solidFill>
                  <a:schemeClr val="accent2">
                    <a:lumMod val="75000"/>
                  </a:schemeClr>
                </a:solidFill>
              </a:rPr>
              <a:t>     (TMV)</a:t>
            </a:r>
            <a:endParaRPr lang="en-IN" sz="2800" b="1" dirty="0">
              <a:solidFill>
                <a:schemeClr val="accent2">
                  <a:lumMod val="75000"/>
                </a:schemeClr>
              </a:solidFill>
            </a:endParaRPr>
          </a:p>
        </p:txBody>
      </p:sp>
      <p:sp>
        <p:nvSpPr>
          <p:cNvPr id="5" name="TextBox 4"/>
          <p:cNvSpPr txBox="1"/>
          <p:nvPr/>
        </p:nvSpPr>
        <p:spPr>
          <a:xfrm>
            <a:off x="4071934" y="4429132"/>
            <a:ext cx="3649845" cy="954107"/>
          </a:xfrm>
          <a:prstGeom prst="rect">
            <a:avLst/>
          </a:prstGeom>
          <a:solidFill>
            <a:schemeClr val="bg1"/>
          </a:solidFill>
        </p:spPr>
        <p:txBody>
          <a:bodyPr wrap="none" rtlCol="0">
            <a:spAutoFit/>
          </a:bodyPr>
          <a:lstStyle/>
          <a:p>
            <a:r>
              <a:rPr lang="en-US" sz="2800" b="1" dirty="0">
                <a:solidFill>
                  <a:schemeClr val="accent2">
                    <a:lumMod val="75000"/>
                  </a:schemeClr>
                </a:solidFill>
              </a:rPr>
              <a:t>Enveloped helical virus</a:t>
            </a:r>
          </a:p>
          <a:p>
            <a:r>
              <a:rPr lang="en-US" sz="2800" b="1" dirty="0">
                <a:solidFill>
                  <a:schemeClr val="accent2">
                    <a:lumMod val="75000"/>
                  </a:schemeClr>
                </a:solidFill>
              </a:rPr>
              <a:t>     (Influenza virus)</a:t>
            </a:r>
            <a:endParaRPr lang="en-IN" sz="2800" b="1" dirty="0">
              <a:solidFill>
                <a:schemeClr val="accent2">
                  <a:lumMod val="75000"/>
                </a:schemeClr>
              </a:solidFill>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0" y="274638"/>
            <a:ext cx="8229600" cy="1143000"/>
          </a:xfrm>
        </p:spPr>
        <p:txBody>
          <a:bodyPr>
            <a:normAutofit/>
          </a:bodyPr>
          <a:lstStyle/>
          <a:p>
            <a:r>
              <a:rPr lang="en-US" sz="3600" b="1" dirty="0">
                <a:solidFill>
                  <a:schemeClr val="accent2">
                    <a:lumMod val="75000"/>
                  </a:schemeClr>
                </a:solidFill>
                <a:latin typeface="Arial" pitchFamily="34" charset="0"/>
                <a:cs typeface="Arial" pitchFamily="34" charset="0"/>
              </a:rPr>
              <a:t>Complex symmetry</a:t>
            </a:r>
          </a:p>
        </p:txBody>
      </p:sp>
      <p:sp>
        <p:nvSpPr>
          <p:cNvPr id="3" name="Content Placeholder 2"/>
          <p:cNvSpPr>
            <a:spLocks noGrp="1"/>
          </p:cNvSpPr>
          <p:nvPr>
            <p:ph sz="half" idx="4294967295"/>
          </p:nvPr>
        </p:nvSpPr>
        <p:spPr>
          <a:xfrm>
            <a:off x="0" y="1371600"/>
            <a:ext cx="4953000" cy="5029199"/>
          </a:xfrm>
        </p:spPr>
        <p:txBody>
          <a:bodyPr>
            <a:normAutofit/>
          </a:bodyPr>
          <a:lstStyle/>
          <a:p>
            <a:r>
              <a:rPr lang="en-US" sz="2400" dirty="0" smtClean="0">
                <a:latin typeface="Arial" pitchFamily="34" charset="0"/>
                <a:cs typeface="Arial" pitchFamily="34" charset="0"/>
              </a:rPr>
              <a:t>Symmetry that does not strictly conform to a simple helical or </a:t>
            </a:r>
            <a:r>
              <a:rPr lang="en-US" sz="2400" dirty="0" err="1" smtClean="0">
                <a:latin typeface="Arial" pitchFamily="34" charset="0"/>
                <a:cs typeface="Arial" pitchFamily="34" charset="0"/>
              </a:rPr>
              <a:t>icosahedral</a:t>
            </a:r>
            <a:r>
              <a:rPr lang="en-US" sz="2400" dirty="0" smtClean="0">
                <a:latin typeface="Arial" pitchFamily="34" charset="0"/>
                <a:cs typeface="Arial" pitchFamily="34" charset="0"/>
              </a:rPr>
              <a:t> shape.</a:t>
            </a:r>
          </a:p>
          <a:p>
            <a:r>
              <a:rPr lang="en-US" sz="2400" dirty="0" smtClean="0">
                <a:latin typeface="Arial" pitchFamily="34" charset="0"/>
                <a:cs typeface="Arial" pitchFamily="34" charset="0"/>
              </a:rPr>
              <a:t>Example</a:t>
            </a:r>
            <a:r>
              <a:rPr lang="en-US" sz="2400" dirty="0">
                <a:latin typeface="Arial" pitchFamily="34" charset="0"/>
                <a:cs typeface="Arial" pitchFamily="34" charset="0"/>
              </a:rPr>
              <a:t>: </a:t>
            </a:r>
            <a:r>
              <a:rPr lang="en-US" sz="2400" b="1" dirty="0" smtClean="0">
                <a:latin typeface="Arial" pitchFamily="34" charset="0"/>
                <a:cs typeface="Arial" pitchFamily="34" charset="0"/>
              </a:rPr>
              <a:t>Poxviruses and many </a:t>
            </a:r>
            <a:r>
              <a:rPr lang="en-US" sz="2400" b="1" dirty="0" err="1" smtClean="0">
                <a:latin typeface="Arial" pitchFamily="34" charset="0"/>
                <a:cs typeface="Arial" pitchFamily="34" charset="0"/>
              </a:rPr>
              <a:t>bacteriophages</a:t>
            </a:r>
            <a:endParaRPr lang="en-US" sz="2400" b="1" dirty="0">
              <a:latin typeface="Arial" pitchFamily="34" charset="0"/>
              <a:cs typeface="Arial" pitchFamily="34" charset="0"/>
            </a:endParaRPr>
          </a:p>
          <a:p>
            <a:r>
              <a:rPr lang="en-US" sz="2400" dirty="0" smtClean="0">
                <a:latin typeface="Arial" pitchFamily="34" charset="0"/>
                <a:cs typeface="Arial" pitchFamily="34" charset="0"/>
              </a:rPr>
              <a:t>They </a:t>
            </a:r>
            <a:r>
              <a:rPr lang="en-US" sz="2400" dirty="0">
                <a:latin typeface="Arial" pitchFamily="34" charset="0"/>
                <a:cs typeface="Arial" pitchFamily="34" charset="0"/>
              </a:rPr>
              <a:t>may posses tails and </a:t>
            </a:r>
            <a:r>
              <a:rPr lang="en-US" sz="2400" dirty="0" err="1" smtClean="0">
                <a:latin typeface="Arial" pitchFamily="34" charset="0"/>
                <a:cs typeface="Arial" pitchFamily="34" charset="0"/>
              </a:rPr>
              <a:t>icosahedral</a:t>
            </a:r>
            <a:r>
              <a:rPr lang="en-US" sz="2400" dirty="0" smtClean="0">
                <a:latin typeface="Arial" pitchFamily="34" charset="0"/>
                <a:cs typeface="Arial" pitchFamily="34" charset="0"/>
              </a:rPr>
              <a:t> head (e.g</a:t>
            </a:r>
            <a:r>
              <a:rPr lang="en-US" sz="2400" dirty="0">
                <a:latin typeface="Arial" pitchFamily="34" charset="0"/>
                <a:cs typeface="Arial" pitchFamily="34" charset="0"/>
              </a:rPr>
              <a:t>., many </a:t>
            </a:r>
            <a:r>
              <a:rPr lang="en-US" sz="2400" dirty="0" err="1">
                <a:latin typeface="Arial" pitchFamily="34" charset="0"/>
                <a:cs typeface="Arial" pitchFamily="34" charset="0"/>
              </a:rPr>
              <a:t>bacteriophages</a:t>
            </a:r>
            <a:r>
              <a:rPr lang="en-US" sz="2400" dirty="0">
                <a:latin typeface="Arial" pitchFamily="34" charset="0"/>
                <a:cs typeface="Arial" pitchFamily="34" charset="0"/>
              </a:rPr>
              <a:t>)  or</a:t>
            </a:r>
          </a:p>
          <a:p>
            <a:r>
              <a:rPr lang="en-US" sz="2400" dirty="0">
                <a:latin typeface="Arial" pitchFamily="34" charset="0"/>
                <a:cs typeface="Arial" pitchFamily="34" charset="0"/>
              </a:rPr>
              <a:t> have complex, multilayered walls surrounding the nucleic acid (e.g., poxviruses such as </a:t>
            </a:r>
            <a:r>
              <a:rPr lang="en-US" sz="2400" dirty="0" err="1">
                <a:latin typeface="Arial" pitchFamily="34" charset="0"/>
                <a:cs typeface="Arial" pitchFamily="34" charset="0"/>
              </a:rPr>
              <a:t>vaccinia</a:t>
            </a:r>
            <a:r>
              <a:rPr lang="en-US" sz="2400" dirty="0">
                <a:latin typeface="Arial" pitchFamily="34" charset="0"/>
                <a:cs typeface="Arial" pitchFamily="34" charset="0"/>
              </a:rPr>
              <a:t>).</a:t>
            </a:r>
          </a:p>
          <a:p>
            <a:pPr>
              <a:buNone/>
            </a:pPr>
            <a:endParaRPr lang="en-US" sz="2800" dirty="0"/>
          </a:p>
        </p:txBody>
      </p:sp>
      <p:pic>
        <p:nvPicPr>
          <p:cNvPr id="43010" name="Picture 2" descr="https://www.microbiologybook.org/int7.jpg"/>
          <p:cNvPicPr>
            <a:picLocks noChangeAspect="1" noChangeArrowheads="1"/>
          </p:cNvPicPr>
          <p:nvPr/>
        </p:nvPicPr>
        <p:blipFill>
          <a:blip r:embed="rId2"/>
          <a:srcRect/>
          <a:stretch>
            <a:fillRect/>
          </a:stretch>
        </p:blipFill>
        <p:spPr bwMode="auto">
          <a:xfrm>
            <a:off x="4800600" y="1676400"/>
            <a:ext cx="4198287" cy="3352800"/>
          </a:xfrm>
          <a:prstGeom prst="rect">
            <a:avLst/>
          </a:prstGeom>
          <a:noFill/>
        </p:spPr>
      </p:pic>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sz="3600" b="1" dirty="0">
                <a:solidFill>
                  <a:schemeClr val="accent2">
                    <a:lumMod val="75000"/>
                  </a:schemeClr>
                </a:solidFill>
                <a:latin typeface="Arial" pitchFamily="34" charset="0"/>
                <a:cs typeface="Arial" pitchFamily="34" charset="0"/>
              </a:rPr>
              <a:t>FIVE BASIC STRUCTURAL FORMS OF VIRUSES IN NATURE</a:t>
            </a:r>
            <a:br>
              <a:rPr lang="en-US" sz="3600" b="1" dirty="0">
                <a:solidFill>
                  <a:schemeClr val="accent2">
                    <a:lumMod val="75000"/>
                  </a:schemeClr>
                </a:solidFill>
                <a:latin typeface="Arial" pitchFamily="34" charset="0"/>
                <a:cs typeface="Arial" pitchFamily="34" charset="0"/>
              </a:rPr>
            </a:br>
            <a:endParaRPr lang="en-US" b="1" dirty="0">
              <a:solidFill>
                <a:schemeClr val="accent2">
                  <a:lumMod val="75000"/>
                </a:schemeClr>
              </a:solidFill>
              <a:latin typeface="Arial" pitchFamily="34" charset="0"/>
              <a:cs typeface="Arial" pitchFamily="34" charset="0"/>
            </a:endParaRPr>
          </a:p>
        </p:txBody>
      </p:sp>
      <p:sp>
        <p:nvSpPr>
          <p:cNvPr id="3" name="Content Placeholder 2"/>
          <p:cNvSpPr>
            <a:spLocks noGrp="1"/>
          </p:cNvSpPr>
          <p:nvPr>
            <p:ph idx="1"/>
          </p:nvPr>
        </p:nvSpPr>
        <p:spPr>
          <a:xfrm>
            <a:off x="0" y="1600200"/>
            <a:ext cx="8915400" cy="4525963"/>
          </a:xfrm>
        </p:spPr>
        <p:txBody>
          <a:bodyPr>
            <a:normAutofit/>
          </a:bodyPr>
          <a:lstStyle/>
          <a:p>
            <a:pPr marL="514350" indent="-514350">
              <a:buFont typeface="+mj-lt"/>
              <a:buAutoNum type="arabicPeriod"/>
            </a:pPr>
            <a:r>
              <a:rPr lang="en-US" sz="2400" b="1" dirty="0">
                <a:latin typeface="Arial" pitchFamily="34" charset="0"/>
                <a:cs typeface="Arial" pitchFamily="34" charset="0"/>
              </a:rPr>
              <a:t>Naked </a:t>
            </a:r>
            <a:r>
              <a:rPr lang="en-US" sz="2400" b="1" dirty="0" err="1">
                <a:latin typeface="Arial" pitchFamily="34" charset="0"/>
                <a:cs typeface="Arial" pitchFamily="34" charset="0"/>
              </a:rPr>
              <a:t>icosahedral</a:t>
            </a:r>
            <a:r>
              <a:rPr lang="en-US" sz="2400" dirty="0">
                <a:latin typeface="Arial" pitchFamily="34" charset="0"/>
                <a:cs typeface="Arial" pitchFamily="34" charset="0"/>
              </a:rPr>
              <a:t> e.g. poliovirus, adenovirus, hepatitis A virus</a:t>
            </a:r>
          </a:p>
          <a:p>
            <a:pPr marL="514350" indent="-514350">
              <a:buFont typeface="+mj-lt"/>
              <a:buAutoNum type="arabicPeriod"/>
            </a:pPr>
            <a:r>
              <a:rPr lang="en-US" sz="2400" b="1" dirty="0">
                <a:latin typeface="Arial" pitchFamily="34" charset="0"/>
                <a:cs typeface="Arial" pitchFamily="34" charset="0"/>
              </a:rPr>
              <a:t>Naked helical</a:t>
            </a:r>
            <a:r>
              <a:rPr lang="en-US" sz="2400" dirty="0">
                <a:latin typeface="Arial" pitchFamily="34" charset="0"/>
                <a:cs typeface="Arial" pitchFamily="34" charset="0"/>
              </a:rPr>
              <a:t> e.g. tobacco mosaic virus. So far no human viruses with this structure are known</a:t>
            </a:r>
          </a:p>
          <a:p>
            <a:pPr marL="514350" indent="-514350">
              <a:buFont typeface="+mj-lt"/>
              <a:buAutoNum type="arabicPeriod"/>
            </a:pPr>
            <a:r>
              <a:rPr lang="en-US" sz="2400" b="1" dirty="0">
                <a:latin typeface="Arial" pitchFamily="34" charset="0"/>
                <a:cs typeface="Arial" pitchFamily="34" charset="0"/>
              </a:rPr>
              <a:t>Enveloped </a:t>
            </a:r>
            <a:r>
              <a:rPr lang="en-US" sz="2400" b="1" dirty="0" err="1">
                <a:latin typeface="Arial" pitchFamily="34" charset="0"/>
                <a:cs typeface="Arial" pitchFamily="34" charset="0"/>
              </a:rPr>
              <a:t>icosahedral</a:t>
            </a:r>
            <a:r>
              <a:rPr lang="en-US" sz="2400" dirty="0">
                <a:latin typeface="Arial" pitchFamily="34" charset="0"/>
                <a:cs typeface="Arial" pitchFamily="34" charset="0"/>
              </a:rPr>
              <a:t> e.g. herpes virus, yellow fever virus, rubella virus</a:t>
            </a:r>
          </a:p>
          <a:p>
            <a:pPr marL="514350" indent="-514350">
              <a:buFont typeface="+mj-lt"/>
              <a:buAutoNum type="arabicPeriod"/>
            </a:pPr>
            <a:r>
              <a:rPr lang="en-US" sz="2400" b="1" dirty="0">
                <a:latin typeface="Arial" pitchFamily="34" charset="0"/>
                <a:cs typeface="Arial" pitchFamily="34" charset="0"/>
              </a:rPr>
              <a:t>Enveloped helical</a:t>
            </a:r>
            <a:r>
              <a:rPr lang="en-US" sz="2400" dirty="0">
                <a:latin typeface="Arial" pitchFamily="34" charset="0"/>
                <a:cs typeface="Arial" pitchFamily="34" charset="0"/>
              </a:rPr>
              <a:t> e.g. rabies virus, influenza virus, </a:t>
            </a:r>
            <a:r>
              <a:rPr lang="en-US" sz="2400" dirty="0" err="1">
                <a:latin typeface="Arial" pitchFamily="34" charset="0"/>
                <a:cs typeface="Arial" pitchFamily="34" charset="0"/>
              </a:rPr>
              <a:t>parainfluenza</a:t>
            </a:r>
            <a:r>
              <a:rPr lang="en-US" sz="2400" dirty="0">
                <a:latin typeface="Arial" pitchFamily="34" charset="0"/>
                <a:cs typeface="Arial" pitchFamily="34" charset="0"/>
              </a:rPr>
              <a:t> virus, mumps virus, measles virus</a:t>
            </a:r>
          </a:p>
          <a:p>
            <a:pPr marL="514350" indent="-514350">
              <a:buFont typeface="+mj-lt"/>
              <a:buAutoNum type="arabicPeriod"/>
            </a:pPr>
            <a:r>
              <a:rPr lang="en-US" sz="2400" b="1" dirty="0">
                <a:latin typeface="Arial" pitchFamily="34" charset="0"/>
                <a:cs typeface="Arial" pitchFamily="34" charset="0"/>
              </a:rPr>
              <a:t>Complex</a:t>
            </a:r>
            <a:r>
              <a:rPr lang="en-US" sz="2400" dirty="0">
                <a:latin typeface="Arial" pitchFamily="34" charset="0"/>
                <a:cs typeface="Arial" pitchFamily="34" charset="0"/>
              </a:rPr>
              <a:t> e.g. poxvirus</a:t>
            </a:r>
          </a:p>
          <a:p>
            <a:endParaRPr lang="en-US"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3200" b="1" dirty="0">
                <a:solidFill>
                  <a:schemeClr val="accent2">
                    <a:lumMod val="75000"/>
                  </a:schemeClr>
                </a:solidFill>
                <a:latin typeface="Arial" pitchFamily="34" charset="0"/>
                <a:cs typeface="Arial" pitchFamily="34" charset="0"/>
              </a:rPr>
              <a:t>CLASSIFICATION OF VIRUSES</a:t>
            </a:r>
            <a:br>
              <a:rPr lang="en-US" sz="3200" b="1" dirty="0">
                <a:solidFill>
                  <a:schemeClr val="accent2">
                    <a:lumMod val="75000"/>
                  </a:schemeClr>
                </a:solidFill>
                <a:latin typeface="Arial" pitchFamily="34" charset="0"/>
                <a:cs typeface="Arial" pitchFamily="34" charset="0"/>
              </a:rPr>
            </a:br>
            <a:endParaRPr lang="en-US" sz="3200" b="1" dirty="0">
              <a:solidFill>
                <a:schemeClr val="accent2">
                  <a:lumMod val="75000"/>
                </a:schemeClr>
              </a:solidFill>
              <a:latin typeface="Arial" pitchFamily="34" charset="0"/>
              <a:cs typeface="Arial" pitchFamily="34" charset="0"/>
            </a:endParaRPr>
          </a:p>
        </p:txBody>
      </p:sp>
      <p:sp>
        <p:nvSpPr>
          <p:cNvPr id="3" name="Content Placeholder 2"/>
          <p:cNvSpPr>
            <a:spLocks noGrp="1"/>
          </p:cNvSpPr>
          <p:nvPr>
            <p:ph idx="1"/>
          </p:nvPr>
        </p:nvSpPr>
        <p:spPr/>
        <p:txBody>
          <a:bodyPr>
            <a:normAutofit lnSpcReduction="10000"/>
          </a:bodyPr>
          <a:lstStyle/>
          <a:p>
            <a:pPr>
              <a:lnSpc>
                <a:spcPct val="150000"/>
              </a:lnSpc>
            </a:pPr>
            <a:r>
              <a:rPr lang="en-US" sz="2400" dirty="0">
                <a:latin typeface="Arial" pitchFamily="34" charset="0"/>
                <a:cs typeface="Arial" pitchFamily="34" charset="0"/>
              </a:rPr>
              <a:t>The process of naming viruses and placing them into a taxonomic system</a:t>
            </a:r>
          </a:p>
          <a:p>
            <a:pPr>
              <a:lnSpc>
                <a:spcPct val="150000"/>
              </a:lnSpc>
            </a:pPr>
            <a:r>
              <a:rPr lang="en-US" sz="2400" dirty="0">
                <a:latin typeface="Arial" pitchFamily="34" charset="0"/>
              </a:rPr>
              <a:t>1966 the International Committee for the Nomenclature of Viruses formed.</a:t>
            </a:r>
          </a:p>
          <a:p>
            <a:pPr>
              <a:lnSpc>
                <a:spcPct val="150000"/>
              </a:lnSpc>
            </a:pPr>
            <a:r>
              <a:rPr lang="en-US" sz="2400" dirty="0">
                <a:latin typeface="Arial" pitchFamily="34" charset="0"/>
              </a:rPr>
              <a:t>Changed to the </a:t>
            </a:r>
            <a:r>
              <a:rPr lang="en-US" sz="2400" b="1" dirty="0">
                <a:solidFill>
                  <a:srgbClr val="FF0000"/>
                </a:solidFill>
                <a:latin typeface="Arial" pitchFamily="34" charset="0"/>
              </a:rPr>
              <a:t>International Committee for the Taxonomy of Viruses (ICTV) </a:t>
            </a:r>
            <a:r>
              <a:rPr lang="en-US" sz="2400" dirty="0">
                <a:latin typeface="Arial" pitchFamily="34" charset="0"/>
              </a:rPr>
              <a:t>in </a:t>
            </a:r>
            <a:r>
              <a:rPr lang="en-US" sz="2400" dirty="0" smtClean="0">
                <a:latin typeface="Arial" pitchFamily="34" charset="0"/>
              </a:rPr>
              <a:t>1973</a:t>
            </a:r>
          </a:p>
          <a:p>
            <a:pPr>
              <a:lnSpc>
                <a:spcPct val="150000"/>
              </a:lnSpc>
            </a:pPr>
            <a:r>
              <a:rPr lang="en-US" sz="2400" dirty="0" smtClean="0">
                <a:latin typeface="Arial" pitchFamily="34" charset="0"/>
              </a:rPr>
              <a:t>Viruses are only classified using </a:t>
            </a:r>
            <a:r>
              <a:rPr lang="en-US" sz="2400" b="1" dirty="0" smtClean="0">
                <a:latin typeface="Arial" pitchFamily="34" charset="0"/>
              </a:rPr>
              <a:t>order, family, genus, and species</a:t>
            </a:r>
            <a:endParaRPr lang="en-US" sz="2400" b="1" dirty="0">
              <a:latin typeface="Arial" pitchFamily="34" charset="0"/>
            </a:endParaRPr>
          </a:p>
          <a:p>
            <a:pPr>
              <a:lnSpc>
                <a:spcPct val="150000"/>
              </a:lnSpc>
              <a:buNone/>
            </a:pPr>
            <a:endParaRPr lang="en-US" sz="2400" dirty="0">
              <a:latin typeface="Arial" pitchFamily="34" charset="0"/>
              <a:cs typeface="Arial" pitchFamily="34" charset="0"/>
            </a:endParaRP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normAutofit/>
          </a:bodyPr>
          <a:lstStyle/>
          <a:p>
            <a:r>
              <a:rPr lang="en-IN" sz="2800" dirty="0">
                <a:latin typeface="Arial" pitchFamily="34" charset="0"/>
                <a:cs typeface="Arial" pitchFamily="34" charset="0"/>
              </a:rPr>
              <a:t>The general taxonomic structure is as follows:</a:t>
            </a:r>
          </a:p>
          <a:p>
            <a:pPr>
              <a:buNone/>
            </a:pPr>
            <a:r>
              <a:rPr lang="en-IN" sz="2800" dirty="0">
                <a:latin typeface="Arial" pitchFamily="34" charset="0"/>
                <a:cs typeface="Arial" pitchFamily="34" charset="0"/>
              </a:rPr>
              <a:t>Order (-</a:t>
            </a:r>
            <a:r>
              <a:rPr lang="en-IN" sz="2800" dirty="0" err="1">
                <a:latin typeface="Arial" pitchFamily="34" charset="0"/>
                <a:cs typeface="Arial" pitchFamily="34" charset="0"/>
              </a:rPr>
              <a:t>virales</a:t>
            </a:r>
            <a:r>
              <a:rPr lang="en-IN" sz="2800" dirty="0">
                <a:latin typeface="Arial" pitchFamily="34" charset="0"/>
                <a:cs typeface="Arial" pitchFamily="34" charset="0"/>
              </a:rPr>
              <a:t>)</a:t>
            </a:r>
          </a:p>
          <a:p>
            <a:pPr>
              <a:buNone/>
            </a:pPr>
            <a:r>
              <a:rPr lang="en-IN" sz="2800" dirty="0">
                <a:latin typeface="Arial" pitchFamily="34" charset="0"/>
                <a:cs typeface="Arial" pitchFamily="34" charset="0"/>
              </a:rPr>
              <a:t>     Family (-</a:t>
            </a:r>
            <a:r>
              <a:rPr lang="en-IN" sz="2800" dirty="0" err="1">
                <a:latin typeface="Arial" pitchFamily="34" charset="0"/>
                <a:cs typeface="Arial" pitchFamily="34" charset="0"/>
              </a:rPr>
              <a:t>viridae</a:t>
            </a:r>
            <a:r>
              <a:rPr lang="en-IN" sz="2800" dirty="0">
                <a:latin typeface="Arial" pitchFamily="34" charset="0"/>
                <a:cs typeface="Arial" pitchFamily="34" charset="0"/>
              </a:rPr>
              <a:t>)</a:t>
            </a:r>
          </a:p>
          <a:p>
            <a:pPr>
              <a:buNone/>
            </a:pPr>
            <a:r>
              <a:rPr lang="en-IN" sz="2800" dirty="0">
                <a:latin typeface="Arial" pitchFamily="34" charset="0"/>
                <a:cs typeface="Arial" pitchFamily="34" charset="0"/>
              </a:rPr>
              <a:t>          Subfamily (-</a:t>
            </a:r>
            <a:r>
              <a:rPr lang="en-IN" sz="2800" dirty="0" err="1">
                <a:latin typeface="Arial" pitchFamily="34" charset="0"/>
                <a:cs typeface="Arial" pitchFamily="34" charset="0"/>
              </a:rPr>
              <a:t>virinae</a:t>
            </a:r>
            <a:r>
              <a:rPr lang="en-IN" sz="2800" dirty="0">
                <a:latin typeface="Arial" pitchFamily="34" charset="0"/>
                <a:cs typeface="Arial" pitchFamily="34" charset="0"/>
              </a:rPr>
              <a:t>)</a:t>
            </a:r>
          </a:p>
          <a:p>
            <a:pPr>
              <a:buNone/>
            </a:pPr>
            <a:r>
              <a:rPr lang="en-IN" sz="2800" dirty="0">
                <a:latin typeface="Arial" pitchFamily="34" charset="0"/>
                <a:cs typeface="Arial" pitchFamily="34" charset="0"/>
              </a:rPr>
              <a:t>              Genus (''-virus'')</a:t>
            </a:r>
          </a:p>
          <a:p>
            <a:pPr>
              <a:buNone/>
            </a:pPr>
            <a:r>
              <a:rPr lang="en-IN" sz="2800" dirty="0">
                <a:latin typeface="Arial" pitchFamily="34" charset="0"/>
                <a:cs typeface="Arial" pitchFamily="34" charset="0"/>
              </a:rPr>
              <a:t>                    Species (''-virus'')</a:t>
            </a: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990600" y="152400"/>
            <a:ext cx="6787436" cy="461665"/>
          </a:xfrm>
          <a:prstGeom prst="rect">
            <a:avLst/>
          </a:prstGeom>
        </p:spPr>
        <p:txBody>
          <a:bodyPr wrap="none">
            <a:spAutoFit/>
          </a:bodyPr>
          <a:lstStyle/>
          <a:p>
            <a:r>
              <a:rPr lang="en-US" sz="2400" b="1" dirty="0">
                <a:solidFill>
                  <a:schemeClr val="accent2">
                    <a:lumMod val="75000"/>
                  </a:schemeClr>
                </a:solidFill>
                <a:latin typeface="Arial" pitchFamily="34" charset="0"/>
                <a:cs typeface="Arial" pitchFamily="34" charset="0"/>
              </a:rPr>
              <a:t>Primary characteristics used in classification</a:t>
            </a:r>
            <a:endParaRPr lang="en-US" sz="2400" dirty="0">
              <a:solidFill>
                <a:schemeClr val="accent2">
                  <a:lumMod val="75000"/>
                </a:schemeClr>
              </a:solidFill>
              <a:latin typeface="Arial" pitchFamily="34" charset="0"/>
              <a:cs typeface="Arial" pitchFamily="34" charset="0"/>
            </a:endParaRPr>
          </a:p>
        </p:txBody>
      </p:sp>
      <p:graphicFrame>
        <p:nvGraphicFramePr>
          <p:cNvPr id="5" name="Table 4"/>
          <p:cNvGraphicFramePr>
            <a:graphicFrameLocks noGrp="1"/>
          </p:cNvGraphicFramePr>
          <p:nvPr/>
        </p:nvGraphicFramePr>
        <p:xfrm>
          <a:off x="533400" y="838200"/>
          <a:ext cx="7543800" cy="5562600"/>
        </p:xfrm>
        <a:graphic>
          <a:graphicData uri="http://schemas.openxmlformats.org/drawingml/2006/table">
            <a:tbl>
              <a:tblPr/>
              <a:tblGrid>
                <a:gridCol w="3771900">
                  <a:extLst>
                    <a:ext uri="{9D8B030D-6E8A-4147-A177-3AD203B41FA5}">
                      <a16:colId xmlns="" xmlns:a16="http://schemas.microsoft.com/office/drawing/2014/main" val="20000"/>
                    </a:ext>
                  </a:extLst>
                </a:gridCol>
                <a:gridCol w="3771900">
                  <a:extLst>
                    <a:ext uri="{9D8B030D-6E8A-4147-A177-3AD203B41FA5}">
                      <a16:colId xmlns="" xmlns:a16="http://schemas.microsoft.com/office/drawing/2014/main" val="20001"/>
                    </a:ext>
                  </a:extLst>
                </a:gridCol>
              </a:tblGrid>
              <a:tr h="362306">
                <a:tc gridSpan="2">
                  <a:txBody>
                    <a:bodyPr/>
                    <a:lstStyle/>
                    <a:p>
                      <a:pPr algn="ctr"/>
                      <a:r>
                        <a:rPr lang="en-US" sz="2000" b="1" dirty="0">
                          <a:solidFill>
                            <a:srgbClr val="FFFF00"/>
                          </a:solidFill>
                          <a:latin typeface="Arial" pitchFamily="34" charset="0"/>
                          <a:cs typeface="Arial" pitchFamily="34" charset="0"/>
                        </a:rPr>
                        <a:t>VIRAL CLASSIFICATION</a:t>
                      </a:r>
                      <a:endParaRPr lang="en-US" sz="2000" dirty="0">
                        <a:solidFill>
                          <a:srgbClr val="FFFF00"/>
                        </a:solidFill>
                        <a:latin typeface="Arial" pitchFamily="34" charset="0"/>
                        <a:cs typeface="Arial" pitchFamily="34" charset="0"/>
                      </a:endParaRPr>
                    </a:p>
                  </a:txBody>
                  <a:tcPr marL="27166" marR="27166" marT="27166" marB="27166" anchor="ctr">
                    <a:lnL>
                      <a:noFill/>
                    </a:lnL>
                    <a:lnR>
                      <a:noFill/>
                    </a:lnR>
                    <a:lnT>
                      <a:noFill/>
                    </a:lnT>
                    <a:lnB>
                      <a:noFill/>
                    </a:lnB>
                    <a:solidFill>
                      <a:srgbClr val="800000"/>
                    </a:solidFill>
                  </a:tcPr>
                </a:tc>
                <a:tc hMerge="1">
                  <a:txBody>
                    <a:bodyPr/>
                    <a:lstStyle/>
                    <a:p>
                      <a:endParaRPr lang="en-US"/>
                    </a:p>
                  </a:txBody>
                  <a:tcPr/>
                </a:tc>
                <a:extLst>
                  <a:ext uri="{0D108BD9-81ED-4DB2-BD59-A6C34878D82A}">
                    <a16:rowId xmlns="" xmlns:a16="http://schemas.microsoft.com/office/drawing/2014/main" val="10000"/>
                  </a:ext>
                </a:extLst>
              </a:tr>
              <a:tr h="362306">
                <a:tc rowSpan="6">
                  <a:txBody>
                    <a:bodyPr/>
                    <a:lstStyle/>
                    <a:p>
                      <a:pPr algn="ctr"/>
                      <a:r>
                        <a:rPr lang="en-US" sz="2000" b="1" dirty="0">
                          <a:latin typeface="Arial" pitchFamily="34" charset="0"/>
                          <a:cs typeface="Arial" pitchFamily="34" charset="0"/>
                        </a:rPr>
                        <a:t>Nucleic acid</a:t>
                      </a:r>
                      <a:r>
                        <a:rPr lang="en-US" sz="2000" dirty="0">
                          <a:latin typeface="Arial" pitchFamily="34" charset="0"/>
                          <a:cs typeface="Arial" pitchFamily="34" charset="0"/>
                        </a:rPr>
                        <a:t>  </a:t>
                      </a:r>
                    </a:p>
                  </a:txBody>
                  <a:tcPr marL="27166" marR="27166" marT="27166" marB="27166" anchor="ctr">
                    <a:lnL>
                      <a:noFill/>
                    </a:lnL>
                    <a:lnR>
                      <a:noFill/>
                    </a:lnR>
                    <a:lnT>
                      <a:noFill/>
                    </a:lnT>
                    <a:lnB>
                      <a:noFill/>
                    </a:lnB>
                    <a:solidFill>
                      <a:srgbClr val="F3F3F3"/>
                    </a:solidFill>
                  </a:tcPr>
                </a:tc>
                <a:tc>
                  <a:txBody>
                    <a:bodyPr/>
                    <a:lstStyle/>
                    <a:p>
                      <a:pPr algn="ctr"/>
                      <a:r>
                        <a:rPr lang="en-US" sz="2000">
                          <a:latin typeface="Arial" pitchFamily="34" charset="0"/>
                          <a:cs typeface="Arial" pitchFamily="34" charset="0"/>
                        </a:rPr>
                        <a:t>RNA or DNA</a:t>
                      </a:r>
                    </a:p>
                  </a:txBody>
                  <a:tcPr marL="27166" marR="27166" marT="27166" marB="27166" anchor="ctr">
                    <a:lnL>
                      <a:noFill/>
                    </a:lnL>
                    <a:lnR>
                      <a:noFill/>
                    </a:lnR>
                    <a:lnT>
                      <a:noFill/>
                    </a:lnT>
                    <a:lnB>
                      <a:noFill/>
                    </a:lnB>
                    <a:solidFill>
                      <a:srgbClr val="F3F3F3"/>
                    </a:solidFill>
                  </a:tcPr>
                </a:tc>
                <a:extLst>
                  <a:ext uri="{0D108BD9-81ED-4DB2-BD59-A6C34878D82A}">
                    <a16:rowId xmlns="" xmlns:a16="http://schemas.microsoft.com/office/drawing/2014/main" val="10001"/>
                  </a:ext>
                </a:extLst>
              </a:tr>
              <a:tr h="669800">
                <a:tc vMerge="1">
                  <a:txBody>
                    <a:bodyPr/>
                    <a:lstStyle/>
                    <a:p>
                      <a:endParaRPr lang="en-US"/>
                    </a:p>
                  </a:txBody>
                  <a:tcPr/>
                </a:tc>
                <a:tc>
                  <a:txBody>
                    <a:bodyPr/>
                    <a:lstStyle/>
                    <a:p>
                      <a:pPr algn="ctr"/>
                      <a:r>
                        <a:rPr lang="en-US" sz="2000">
                          <a:latin typeface="Arial" pitchFamily="34" charset="0"/>
                          <a:cs typeface="Arial" pitchFamily="34" charset="0"/>
                        </a:rPr>
                        <a:t>single-stranded or double-stranded</a:t>
                      </a:r>
                    </a:p>
                  </a:txBody>
                  <a:tcPr marL="27166" marR="27166" marT="27166" marB="27166" anchor="ctr">
                    <a:lnL>
                      <a:noFill/>
                    </a:lnL>
                    <a:lnR>
                      <a:noFill/>
                    </a:lnR>
                    <a:lnT>
                      <a:noFill/>
                    </a:lnT>
                    <a:lnB>
                      <a:noFill/>
                    </a:lnB>
                    <a:solidFill>
                      <a:srgbClr val="F3F3F3"/>
                    </a:solidFill>
                  </a:tcPr>
                </a:tc>
                <a:extLst>
                  <a:ext uri="{0D108BD9-81ED-4DB2-BD59-A6C34878D82A}">
                    <a16:rowId xmlns="" xmlns:a16="http://schemas.microsoft.com/office/drawing/2014/main" val="10002"/>
                  </a:ext>
                </a:extLst>
              </a:tr>
              <a:tr h="522278">
                <a:tc vMerge="1">
                  <a:txBody>
                    <a:bodyPr/>
                    <a:lstStyle/>
                    <a:p>
                      <a:endParaRPr lang="en-US"/>
                    </a:p>
                  </a:txBody>
                  <a:tcPr/>
                </a:tc>
                <a:tc>
                  <a:txBody>
                    <a:bodyPr/>
                    <a:lstStyle/>
                    <a:p>
                      <a:pPr algn="ctr"/>
                      <a:r>
                        <a:rPr lang="en-US" sz="2000">
                          <a:latin typeface="Arial" pitchFamily="34" charset="0"/>
                          <a:cs typeface="Arial" pitchFamily="34" charset="0"/>
                        </a:rPr>
                        <a:t>non-segmented or segmented</a:t>
                      </a:r>
                    </a:p>
                  </a:txBody>
                  <a:tcPr marL="27166" marR="27166" marT="27166" marB="27166" anchor="ctr">
                    <a:lnL>
                      <a:noFill/>
                    </a:lnL>
                    <a:lnR>
                      <a:noFill/>
                    </a:lnR>
                    <a:lnT>
                      <a:noFill/>
                    </a:lnT>
                    <a:lnB>
                      <a:noFill/>
                    </a:lnB>
                    <a:solidFill>
                      <a:srgbClr val="F3F3F3"/>
                    </a:solidFill>
                  </a:tcPr>
                </a:tc>
                <a:extLst>
                  <a:ext uri="{0D108BD9-81ED-4DB2-BD59-A6C34878D82A}">
                    <a16:rowId xmlns="" xmlns:a16="http://schemas.microsoft.com/office/drawing/2014/main" val="10003"/>
                  </a:ext>
                </a:extLst>
              </a:tr>
              <a:tr h="362306">
                <a:tc vMerge="1">
                  <a:txBody>
                    <a:bodyPr/>
                    <a:lstStyle/>
                    <a:p>
                      <a:endParaRPr lang="en-US"/>
                    </a:p>
                  </a:txBody>
                  <a:tcPr/>
                </a:tc>
                <a:tc>
                  <a:txBody>
                    <a:bodyPr/>
                    <a:lstStyle/>
                    <a:p>
                      <a:pPr algn="ctr"/>
                      <a:r>
                        <a:rPr lang="en-US" sz="2000">
                          <a:latin typeface="Arial" pitchFamily="34" charset="0"/>
                          <a:cs typeface="Arial" pitchFamily="34" charset="0"/>
                        </a:rPr>
                        <a:t>linear or circular</a:t>
                      </a:r>
                    </a:p>
                  </a:txBody>
                  <a:tcPr marL="27166" marR="27166" marT="27166" marB="27166" anchor="ctr">
                    <a:lnL>
                      <a:noFill/>
                    </a:lnL>
                    <a:lnR>
                      <a:noFill/>
                    </a:lnR>
                    <a:lnT>
                      <a:noFill/>
                    </a:lnT>
                    <a:lnB>
                      <a:noFill/>
                    </a:lnB>
                    <a:solidFill>
                      <a:srgbClr val="F3F3F3"/>
                    </a:solidFill>
                  </a:tcPr>
                </a:tc>
                <a:extLst>
                  <a:ext uri="{0D108BD9-81ED-4DB2-BD59-A6C34878D82A}">
                    <a16:rowId xmlns="" xmlns:a16="http://schemas.microsoft.com/office/drawing/2014/main" val="10004"/>
                  </a:ext>
                </a:extLst>
              </a:tr>
              <a:tr h="977294">
                <a:tc vMerge="1">
                  <a:txBody>
                    <a:bodyPr/>
                    <a:lstStyle/>
                    <a:p>
                      <a:endParaRPr lang="en-US"/>
                    </a:p>
                  </a:txBody>
                  <a:tcPr/>
                </a:tc>
                <a:tc>
                  <a:txBody>
                    <a:bodyPr/>
                    <a:lstStyle/>
                    <a:p>
                      <a:pPr algn="ctr"/>
                      <a:r>
                        <a:rPr lang="en-US" sz="2000">
                          <a:latin typeface="Arial" pitchFamily="34" charset="0"/>
                          <a:cs typeface="Arial" pitchFamily="34" charset="0"/>
                        </a:rPr>
                        <a:t>if genome is single stranded RNA, can it function as mRNA?</a:t>
                      </a:r>
                    </a:p>
                  </a:txBody>
                  <a:tcPr marL="27166" marR="27166" marT="27166" marB="27166" anchor="ctr">
                    <a:lnL>
                      <a:noFill/>
                    </a:lnL>
                    <a:lnR>
                      <a:noFill/>
                    </a:lnR>
                    <a:lnT>
                      <a:noFill/>
                    </a:lnT>
                    <a:lnB>
                      <a:noFill/>
                    </a:lnB>
                    <a:solidFill>
                      <a:srgbClr val="F3F3F3"/>
                    </a:solidFill>
                  </a:tcPr>
                </a:tc>
                <a:extLst>
                  <a:ext uri="{0D108BD9-81ED-4DB2-BD59-A6C34878D82A}">
                    <a16:rowId xmlns="" xmlns:a16="http://schemas.microsoft.com/office/drawing/2014/main" val="10005"/>
                  </a:ext>
                </a:extLst>
              </a:tr>
              <a:tr h="751926">
                <a:tc vMerge="1">
                  <a:txBody>
                    <a:bodyPr/>
                    <a:lstStyle/>
                    <a:p>
                      <a:endParaRPr lang="en-US"/>
                    </a:p>
                  </a:txBody>
                  <a:tcPr/>
                </a:tc>
                <a:tc>
                  <a:txBody>
                    <a:bodyPr/>
                    <a:lstStyle/>
                    <a:p>
                      <a:pPr algn="ctr"/>
                      <a:r>
                        <a:rPr lang="en-US" sz="2000">
                          <a:latin typeface="Arial" pitchFamily="34" charset="0"/>
                          <a:cs typeface="Arial" pitchFamily="34" charset="0"/>
                        </a:rPr>
                        <a:t>whether genome is diploid (such as in retroviruses)</a:t>
                      </a:r>
                    </a:p>
                  </a:txBody>
                  <a:tcPr marL="27166" marR="27166" marT="27166" marB="27166" anchor="ctr">
                    <a:lnL>
                      <a:noFill/>
                    </a:lnL>
                    <a:lnR>
                      <a:noFill/>
                    </a:lnR>
                    <a:lnT>
                      <a:noFill/>
                    </a:lnT>
                    <a:lnB>
                      <a:noFill/>
                    </a:lnB>
                    <a:solidFill>
                      <a:srgbClr val="F3F3F3"/>
                    </a:solidFill>
                  </a:tcPr>
                </a:tc>
                <a:extLst>
                  <a:ext uri="{0D108BD9-81ED-4DB2-BD59-A6C34878D82A}">
                    <a16:rowId xmlns="" xmlns:a16="http://schemas.microsoft.com/office/drawing/2014/main" val="10006"/>
                  </a:ext>
                </a:extLst>
              </a:tr>
              <a:tr h="669800">
                <a:tc rowSpan="3">
                  <a:txBody>
                    <a:bodyPr/>
                    <a:lstStyle/>
                    <a:p>
                      <a:pPr algn="ctr"/>
                      <a:r>
                        <a:rPr lang="en-US" sz="2000" b="1" dirty="0" err="1">
                          <a:latin typeface="Arial" pitchFamily="34" charset="0"/>
                          <a:cs typeface="Arial" pitchFamily="34" charset="0"/>
                        </a:rPr>
                        <a:t>Virion</a:t>
                      </a:r>
                      <a:r>
                        <a:rPr lang="en-US" sz="2000" b="1" dirty="0">
                          <a:latin typeface="Arial" pitchFamily="34" charset="0"/>
                          <a:cs typeface="Arial" pitchFamily="34" charset="0"/>
                        </a:rPr>
                        <a:t> structure</a:t>
                      </a:r>
                      <a:endParaRPr lang="en-US" sz="2000" dirty="0">
                        <a:latin typeface="Arial" pitchFamily="34" charset="0"/>
                        <a:cs typeface="Arial" pitchFamily="34" charset="0"/>
                      </a:endParaRPr>
                    </a:p>
                  </a:txBody>
                  <a:tcPr marL="27166" marR="27166" marT="27166" marB="27166" anchor="ctr">
                    <a:lnL>
                      <a:noFill/>
                    </a:lnL>
                    <a:lnR>
                      <a:noFill/>
                    </a:lnR>
                    <a:lnT>
                      <a:noFill/>
                    </a:lnT>
                    <a:lnB>
                      <a:noFill/>
                    </a:lnB>
                    <a:solidFill>
                      <a:srgbClr val="F3F3F3"/>
                    </a:solidFill>
                  </a:tcPr>
                </a:tc>
                <a:tc>
                  <a:txBody>
                    <a:bodyPr/>
                    <a:lstStyle/>
                    <a:p>
                      <a:pPr algn="ctr"/>
                      <a:r>
                        <a:rPr lang="en-US" sz="2000">
                          <a:latin typeface="Arial" pitchFamily="34" charset="0"/>
                          <a:cs typeface="Arial" pitchFamily="34" charset="0"/>
                        </a:rPr>
                        <a:t>symmetry (icosahedral, helical, complex)</a:t>
                      </a:r>
                    </a:p>
                  </a:txBody>
                  <a:tcPr marL="27166" marR="27166" marT="27166" marB="27166" anchor="ctr">
                    <a:lnL>
                      <a:noFill/>
                    </a:lnL>
                    <a:lnR>
                      <a:noFill/>
                    </a:lnR>
                    <a:lnT>
                      <a:noFill/>
                    </a:lnT>
                    <a:lnB>
                      <a:noFill/>
                    </a:lnB>
                    <a:solidFill>
                      <a:srgbClr val="F3F3F3"/>
                    </a:solidFill>
                  </a:tcPr>
                </a:tc>
                <a:extLst>
                  <a:ext uri="{0D108BD9-81ED-4DB2-BD59-A6C34878D82A}">
                    <a16:rowId xmlns="" xmlns:a16="http://schemas.microsoft.com/office/drawing/2014/main" val="10007"/>
                  </a:ext>
                </a:extLst>
              </a:tr>
              <a:tr h="522278">
                <a:tc vMerge="1">
                  <a:txBody>
                    <a:bodyPr/>
                    <a:lstStyle/>
                    <a:p>
                      <a:endParaRPr lang="en-US"/>
                    </a:p>
                  </a:txBody>
                  <a:tcPr/>
                </a:tc>
                <a:tc>
                  <a:txBody>
                    <a:bodyPr/>
                    <a:lstStyle/>
                    <a:p>
                      <a:pPr algn="ctr"/>
                      <a:r>
                        <a:rPr lang="en-US" sz="2000" dirty="0">
                          <a:latin typeface="Arial" pitchFamily="34" charset="0"/>
                          <a:cs typeface="Arial" pitchFamily="34" charset="0"/>
                        </a:rPr>
                        <a:t>enveloped or non</a:t>
                      </a:r>
                      <a:r>
                        <a:rPr lang="en-US" sz="2000" baseline="0" dirty="0">
                          <a:latin typeface="Arial" pitchFamily="34" charset="0"/>
                          <a:cs typeface="Arial" pitchFamily="34" charset="0"/>
                        </a:rPr>
                        <a:t> </a:t>
                      </a:r>
                      <a:r>
                        <a:rPr lang="en-US" sz="2000" dirty="0">
                          <a:latin typeface="Arial" pitchFamily="34" charset="0"/>
                          <a:cs typeface="Arial" pitchFamily="34" charset="0"/>
                        </a:rPr>
                        <a:t>enveloped</a:t>
                      </a:r>
                    </a:p>
                  </a:txBody>
                  <a:tcPr marL="27166" marR="27166" marT="27166" marB="27166" anchor="ctr">
                    <a:lnL>
                      <a:noFill/>
                    </a:lnL>
                    <a:lnR>
                      <a:noFill/>
                    </a:lnR>
                    <a:lnT>
                      <a:noFill/>
                    </a:lnT>
                    <a:lnB>
                      <a:noFill/>
                    </a:lnB>
                    <a:solidFill>
                      <a:srgbClr val="F3F3F3"/>
                    </a:solidFill>
                  </a:tcPr>
                </a:tc>
                <a:extLst>
                  <a:ext uri="{0D108BD9-81ED-4DB2-BD59-A6C34878D82A}">
                    <a16:rowId xmlns="" xmlns:a16="http://schemas.microsoft.com/office/drawing/2014/main" val="10008"/>
                  </a:ext>
                </a:extLst>
              </a:tr>
              <a:tr h="362306">
                <a:tc vMerge="1">
                  <a:txBody>
                    <a:bodyPr/>
                    <a:lstStyle/>
                    <a:p>
                      <a:endParaRPr lang="en-US"/>
                    </a:p>
                  </a:txBody>
                  <a:tcPr/>
                </a:tc>
                <a:tc>
                  <a:txBody>
                    <a:bodyPr/>
                    <a:lstStyle/>
                    <a:p>
                      <a:pPr algn="ctr"/>
                      <a:r>
                        <a:rPr lang="en-US" sz="2000" dirty="0">
                          <a:latin typeface="Arial" pitchFamily="34" charset="0"/>
                          <a:cs typeface="Arial" pitchFamily="34" charset="0"/>
                        </a:rPr>
                        <a:t>number of </a:t>
                      </a:r>
                      <a:r>
                        <a:rPr lang="en-US" sz="2000" dirty="0" err="1">
                          <a:latin typeface="Arial" pitchFamily="34" charset="0"/>
                          <a:cs typeface="Arial" pitchFamily="34" charset="0"/>
                        </a:rPr>
                        <a:t>capsomers</a:t>
                      </a:r>
                      <a:endParaRPr lang="en-US" sz="2000" dirty="0">
                        <a:latin typeface="Arial" pitchFamily="34" charset="0"/>
                        <a:cs typeface="Arial" pitchFamily="34" charset="0"/>
                      </a:endParaRPr>
                    </a:p>
                  </a:txBody>
                  <a:tcPr marL="27166" marR="27166" marT="27166" marB="27166" anchor="ctr">
                    <a:lnL>
                      <a:noFill/>
                    </a:lnL>
                    <a:lnR>
                      <a:noFill/>
                    </a:lnR>
                    <a:lnT>
                      <a:noFill/>
                    </a:lnT>
                    <a:lnB>
                      <a:noFill/>
                    </a:lnB>
                    <a:solidFill>
                      <a:srgbClr val="F3F3F3"/>
                    </a:solidFill>
                  </a:tcPr>
                </a:tc>
                <a:extLst>
                  <a:ext uri="{0D108BD9-81ED-4DB2-BD59-A6C34878D82A}">
                    <a16:rowId xmlns="" xmlns:a16="http://schemas.microsoft.com/office/drawing/2014/main" val="10009"/>
                  </a:ext>
                </a:extLst>
              </a:tr>
            </a:tbl>
          </a:graphicData>
        </a:graphic>
      </p:graphicFrame>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7106" name="Picture 2" descr="https://www.onlinebiologynotes.com/wp-content/uploads/2017/09/virus-classification-1.jpg"/>
          <p:cNvPicPr>
            <a:picLocks noChangeAspect="1" noChangeArrowheads="1"/>
          </p:cNvPicPr>
          <p:nvPr/>
        </p:nvPicPr>
        <p:blipFill>
          <a:blip r:embed="rId2"/>
          <a:srcRect/>
          <a:stretch>
            <a:fillRect/>
          </a:stretch>
        </p:blipFill>
        <p:spPr bwMode="auto">
          <a:xfrm>
            <a:off x="609600" y="914400"/>
            <a:ext cx="7543800" cy="5212450"/>
          </a:xfrm>
          <a:prstGeom prst="rect">
            <a:avLst/>
          </a:prstGeom>
          <a:noFill/>
        </p:spPr>
      </p:pic>
      <p:sp>
        <p:nvSpPr>
          <p:cNvPr id="5" name="Rectangle 4"/>
          <p:cNvSpPr/>
          <p:nvPr/>
        </p:nvSpPr>
        <p:spPr>
          <a:xfrm>
            <a:off x="762000" y="228601"/>
            <a:ext cx="7848600" cy="461665"/>
          </a:xfrm>
          <a:prstGeom prst="rect">
            <a:avLst/>
          </a:prstGeom>
        </p:spPr>
        <p:txBody>
          <a:bodyPr wrap="square">
            <a:spAutoFit/>
          </a:bodyPr>
          <a:lstStyle/>
          <a:p>
            <a:pPr fontAlgn="base"/>
            <a:r>
              <a:rPr lang="en-US" sz="2400" b="1" dirty="0">
                <a:solidFill>
                  <a:schemeClr val="accent2">
                    <a:lumMod val="75000"/>
                  </a:schemeClr>
                </a:solidFill>
                <a:latin typeface="Arial" pitchFamily="34" charset="0"/>
                <a:cs typeface="Arial" pitchFamily="34" charset="0"/>
              </a:rPr>
              <a:t>Classification of virus on the basis of nucleic acid</a:t>
            </a: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1143000"/>
          </a:xfrm>
        </p:spPr>
        <p:txBody>
          <a:bodyPr>
            <a:normAutofit/>
          </a:bodyPr>
          <a:lstStyle/>
          <a:p>
            <a:r>
              <a:rPr lang="en-US" sz="2800" b="1" dirty="0">
                <a:solidFill>
                  <a:schemeClr val="accent2">
                    <a:lumMod val="75000"/>
                  </a:schemeClr>
                </a:solidFill>
                <a:latin typeface="Arial" pitchFamily="34" charset="0"/>
                <a:cs typeface="Arial" pitchFamily="34" charset="0"/>
              </a:rPr>
              <a:t>BALTIMORE CLASSIFICATION</a:t>
            </a:r>
          </a:p>
        </p:txBody>
      </p:sp>
      <p:sp>
        <p:nvSpPr>
          <p:cNvPr id="3" name="Content Placeholder 2"/>
          <p:cNvSpPr>
            <a:spLocks noGrp="1"/>
          </p:cNvSpPr>
          <p:nvPr>
            <p:ph idx="1"/>
          </p:nvPr>
        </p:nvSpPr>
        <p:spPr>
          <a:xfrm>
            <a:off x="0" y="1143000"/>
            <a:ext cx="9144000" cy="5410200"/>
          </a:xfrm>
        </p:spPr>
        <p:txBody>
          <a:bodyPr>
            <a:noAutofit/>
          </a:bodyPr>
          <a:lstStyle/>
          <a:p>
            <a:r>
              <a:rPr lang="en-US" sz="2400" dirty="0" smtClean="0">
                <a:latin typeface="Arial" pitchFamily="34" charset="0"/>
                <a:cs typeface="Arial" pitchFamily="34" charset="0"/>
              </a:rPr>
              <a:t>Nobel </a:t>
            </a:r>
            <a:r>
              <a:rPr lang="en-US" sz="2400" dirty="0">
                <a:latin typeface="Arial" pitchFamily="34" charset="0"/>
                <a:cs typeface="Arial" pitchFamily="34" charset="0"/>
              </a:rPr>
              <a:t>Prize-winning biologist </a:t>
            </a:r>
            <a:r>
              <a:rPr lang="en-US" sz="2400" dirty="0">
                <a:solidFill>
                  <a:srgbClr val="FF0000"/>
                </a:solidFill>
                <a:latin typeface="Arial" pitchFamily="34" charset="0"/>
                <a:cs typeface="Arial" pitchFamily="34" charset="0"/>
              </a:rPr>
              <a:t>David Baltimore </a:t>
            </a:r>
            <a:r>
              <a:rPr lang="en-US" sz="2400" dirty="0" smtClean="0">
                <a:latin typeface="Arial" pitchFamily="34" charset="0"/>
                <a:cs typeface="Arial" pitchFamily="34" charset="0"/>
              </a:rPr>
              <a:t>in </a:t>
            </a:r>
            <a:r>
              <a:rPr lang="en-US" sz="2400" dirty="0">
                <a:latin typeface="Arial" pitchFamily="34" charset="0"/>
                <a:cs typeface="Arial" pitchFamily="34" charset="0"/>
              </a:rPr>
              <a:t>the early 1970s.</a:t>
            </a:r>
          </a:p>
          <a:p>
            <a:pPr marL="274320" lvl="0" indent="-274320">
              <a:buClr>
                <a:srgbClr val="0BD0D9"/>
              </a:buClr>
              <a:buSzPct val="95000"/>
            </a:pPr>
            <a:endParaRPr lang="en-IN" sz="2400" dirty="0" smtClean="0">
              <a:solidFill>
                <a:prstClr val="black"/>
              </a:solidFill>
              <a:latin typeface="Arial" pitchFamily="34" charset="0"/>
              <a:cs typeface="Arial" pitchFamily="34" charset="0"/>
            </a:endParaRPr>
          </a:p>
          <a:p>
            <a:pPr marL="274320" lvl="0" indent="-274320">
              <a:buClr>
                <a:srgbClr val="0BD0D9"/>
              </a:buClr>
              <a:buSzPct val="95000"/>
            </a:pPr>
            <a:r>
              <a:rPr lang="en-IN" sz="2400" dirty="0" smtClean="0">
                <a:solidFill>
                  <a:prstClr val="black"/>
                </a:solidFill>
                <a:latin typeface="Arial" pitchFamily="34" charset="0"/>
                <a:cs typeface="Arial" pitchFamily="34" charset="0"/>
              </a:rPr>
              <a:t>The </a:t>
            </a:r>
            <a:r>
              <a:rPr lang="en-IN" sz="2400" dirty="0">
                <a:solidFill>
                  <a:prstClr val="black"/>
                </a:solidFill>
                <a:latin typeface="Arial" pitchFamily="34" charset="0"/>
                <a:cs typeface="Arial" pitchFamily="34" charset="0"/>
              </a:rPr>
              <a:t>central theme </a:t>
            </a:r>
            <a:r>
              <a:rPr lang="en-IN" sz="2400" dirty="0" smtClean="0">
                <a:solidFill>
                  <a:prstClr val="black"/>
                </a:solidFill>
                <a:latin typeface="Arial" pitchFamily="34" charset="0"/>
                <a:cs typeface="Arial" pitchFamily="34" charset="0"/>
              </a:rPr>
              <a:t>- </a:t>
            </a:r>
            <a:r>
              <a:rPr lang="en-IN" sz="2400" dirty="0">
                <a:solidFill>
                  <a:prstClr val="black"/>
                </a:solidFill>
                <a:latin typeface="Arial" pitchFamily="34" charset="0"/>
                <a:cs typeface="Arial" pitchFamily="34" charset="0"/>
              </a:rPr>
              <a:t>all viruses must generate positive strand mRNAs from their  genomes, in order to produce proteins and replicate themselves.</a:t>
            </a:r>
          </a:p>
          <a:p>
            <a:pPr marL="274320" lvl="0" indent="-274320">
              <a:buClr>
                <a:srgbClr val="0BD0D9"/>
              </a:buClr>
              <a:buSzPct val="95000"/>
            </a:pPr>
            <a:endParaRPr lang="en-IN" sz="2400" dirty="0" smtClean="0">
              <a:solidFill>
                <a:prstClr val="black"/>
              </a:solidFill>
              <a:latin typeface="Arial" pitchFamily="34" charset="0"/>
              <a:cs typeface="Arial" pitchFamily="34" charset="0"/>
            </a:endParaRPr>
          </a:p>
          <a:p>
            <a:pPr marL="274320" lvl="0" indent="-274320">
              <a:buClr>
                <a:srgbClr val="0BD0D9"/>
              </a:buClr>
              <a:buSzPct val="95000"/>
            </a:pPr>
            <a:r>
              <a:rPr lang="en-IN" sz="2400" dirty="0" smtClean="0">
                <a:solidFill>
                  <a:prstClr val="black"/>
                </a:solidFill>
                <a:latin typeface="Arial" pitchFamily="34" charset="0"/>
                <a:cs typeface="Arial" pitchFamily="34" charset="0"/>
              </a:rPr>
              <a:t>The </a:t>
            </a:r>
            <a:r>
              <a:rPr lang="en-IN" sz="2400" dirty="0">
                <a:solidFill>
                  <a:prstClr val="black"/>
                </a:solidFill>
                <a:latin typeface="Arial" pitchFamily="34" charset="0"/>
                <a:cs typeface="Arial" pitchFamily="34" charset="0"/>
              </a:rPr>
              <a:t>precise mechanisms whereby this is achieved differ for each virus family. </a:t>
            </a:r>
          </a:p>
          <a:p>
            <a:r>
              <a:rPr lang="en-US" sz="2400" dirty="0" smtClean="0">
                <a:latin typeface="Arial" pitchFamily="34" charset="0"/>
                <a:cs typeface="Arial" pitchFamily="34" charset="0"/>
              </a:rPr>
              <a:t>Either </a:t>
            </a:r>
            <a:r>
              <a:rPr lang="en-US" sz="2400" dirty="0">
                <a:latin typeface="Arial" pitchFamily="34" charset="0"/>
                <a:cs typeface="Arial" pitchFamily="34" charset="0"/>
              </a:rPr>
              <a:t>the genes are stored in the 5'→3' direction (positive or + polarity), analogous to the direction in which genes are represented in mRNA in cells, </a:t>
            </a:r>
            <a:r>
              <a:rPr lang="en-US" sz="2400" dirty="0" smtClean="0">
                <a:latin typeface="Arial" pitchFamily="34" charset="0"/>
                <a:cs typeface="Arial" pitchFamily="34" charset="0"/>
              </a:rPr>
              <a:t>or </a:t>
            </a:r>
            <a:r>
              <a:rPr lang="en-US" sz="2400" dirty="0">
                <a:latin typeface="Arial" pitchFamily="34" charset="0"/>
                <a:cs typeface="Arial" pitchFamily="34" charset="0"/>
              </a:rPr>
              <a:t>the genes are stored in the opposite, 3'→5' direction (negative or - polarity). </a:t>
            </a: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Autofit/>
          </a:bodyPr>
          <a:lstStyle/>
          <a:p>
            <a:pPr marL="274320" lvl="0" indent="-274320">
              <a:lnSpc>
                <a:spcPct val="150000"/>
              </a:lnSpc>
              <a:buClr>
                <a:srgbClr val="0BD0D9"/>
              </a:buClr>
              <a:buSzPct val="95000"/>
              <a:buFont typeface="Wingdings 2"/>
              <a:buChar char=""/>
            </a:pPr>
            <a:r>
              <a:rPr lang="en-US" sz="2400" dirty="0" smtClean="0">
                <a:latin typeface="Arial" pitchFamily="34" charset="0"/>
                <a:cs typeface="Arial" pitchFamily="34" charset="0"/>
              </a:rPr>
              <a:t>In other words: + or - polarity of RNA:</a:t>
            </a:r>
          </a:p>
          <a:p>
            <a:pPr marL="640080" lvl="1" indent="-246888">
              <a:lnSpc>
                <a:spcPct val="150000"/>
              </a:lnSpc>
              <a:buClr>
                <a:srgbClr val="0F6FC6"/>
              </a:buClr>
              <a:buSzPct val="85000"/>
              <a:buFont typeface="Wingdings 2"/>
              <a:buChar char=""/>
            </a:pPr>
            <a:r>
              <a:rPr lang="en-US" sz="2400" dirty="0" smtClean="0">
                <a:latin typeface="Arial" pitchFamily="34" charset="0"/>
                <a:cs typeface="Arial" pitchFamily="34" charset="0"/>
              </a:rPr>
              <a:t> "+“ sense  is able to serve as mRNA. </a:t>
            </a:r>
          </a:p>
          <a:p>
            <a:pPr marL="640080" lvl="1" indent="-246888">
              <a:lnSpc>
                <a:spcPct val="150000"/>
              </a:lnSpc>
              <a:buClr>
                <a:srgbClr val="0F6FC6"/>
              </a:buClr>
              <a:buSzPct val="85000"/>
              <a:buFont typeface="Wingdings 2"/>
              <a:buChar char=""/>
            </a:pPr>
            <a:r>
              <a:rPr lang="en-US" sz="2400" dirty="0" smtClean="0">
                <a:latin typeface="Arial" pitchFamily="34" charset="0"/>
                <a:cs typeface="Arial" pitchFamily="34" charset="0"/>
              </a:rPr>
              <a:t>"-"  sense is the complement of “+”, must function as template to make a complementary strand of + RNA before any translation can occur. </a:t>
            </a:r>
          </a:p>
          <a:p>
            <a:pPr>
              <a:lnSpc>
                <a:spcPct val="150000"/>
              </a:lnSpc>
            </a:pPr>
            <a:r>
              <a:rPr lang="en-US" sz="2400" b="1" dirty="0" err="1" smtClean="0">
                <a:solidFill>
                  <a:srgbClr val="222222"/>
                </a:solidFill>
                <a:latin typeface="Arial" pitchFamily="34" charset="0"/>
                <a:cs typeface="Arial" pitchFamily="34" charset="0"/>
              </a:rPr>
              <a:t>Ambisense</a:t>
            </a:r>
            <a:r>
              <a:rPr lang="en-US" sz="2400" b="1" dirty="0" smtClean="0">
                <a:solidFill>
                  <a:srgbClr val="222222"/>
                </a:solidFill>
                <a:latin typeface="Arial" pitchFamily="34" charset="0"/>
                <a:cs typeface="Arial" pitchFamily="34" charset="0"/>
              </a:rPr>
              <a:t> viruses</a:t>
            </a:r>
            <a:r>
              <a:rPr lang="en-US" sz="2400" dirty="0" smtClean="0">
                <a:solidFill>
                  <a:srgbClr val="222222"/>
                </a:solidFill>
                <a:latin typeface="Arial" pitchFamily="34" charset="0"/>
                <a:cs typeface="Arial" pitchFamily="34" charset="0"/>
              </a:rPr>
              <a:t> contain at least one </a:t>
            </a:r>
            <a:r>
              <a:rPr lang="en-US" sz="2400" b="1" dirty="0" err="1" smtClean="0">
                <a:solidFill>
                  <a:srgbClr val="222222"/>
                </a:solidFill>
                <a:latin typeface="Arial" pitchFamily="34" charset="0"/>
                <a:cs typeface="Arial" pitchFamily="34" charset="0"/>
              </a:rPr>
              <a:t>ambisense</a:t>
            </a:r>
            <a:r>
              <a:rPr lang="en-US" sz="2400" dirty="0" smtClean="0">
                <a:solidFill>
                  <a:srgbClr val="222222"/>
                </a:solidFill>
                <a:latin typeface="Arial" pitchFamily="34" charset="0"/>
                <a:cs typeface="Arial" pitchFamily="34" charset="0"/>
              </a:rPr>
              <a:t> RNA segment, i.e. an RNA that is in part of positive and in part of negative polarity.</a:t>
            </a:r>
            <a:endParaRPr lang="en-US" sz="2400" dirty="0" smtClean="0">
              <a:latin typeface="Arial" pitchFamily="34" charset="0"/>
              <a:cs typeface="Arial" pitchFamily="34" charset="0"/>
            </a:endParaRPr>
          </a:p>
          <a:p>
            <a:pPr>
              <a:lnSpc>
                <a:spcPct val="150000"/>
              </a:lnSpc>
            </a:pPr>
            <a:endParaRPr lang="en-US" sz="360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457200" y="928670"/>
            <a:ext cx="8329642" cy="5426255"/>
          </a:xfrm>
        </p:spPr>
        <p:txBody>
          <a:bodyPr>
            <a:normAutofit/>
          </a:bodyPr>
          <a:lstStyle/>
          <a:p>
            <a:r>
              <a:rPr lang="en-IN" b="1" dirty="0"/>
              <a:t>7 </a:t>
            </a:r>
            <a:r>
              <a:rPr lang="en-IN" b="1" dirty="0" smtClean="0"/>
              <a:t>classes or groups</a:t>
            </a:r>
            <a:r>
              <a:rPr lang="en-IN" dirty="0" smtClean="0"/>
              <a:t>:</a:t>
            </a:r>
            <a:endParaRPr lang="en-IN" dirty="0"/>
          </a:p>
          <a:p>
            <a:pPr marL="514350" indent="-514350">
              <a:buFont typeface="+mj-lt"/>
              <a:buAutoNum type="arabicPeriod"/>
            </a:pPr>
            <a:r>
              <a:rPr lang="en-IN" b="1" dirty="0"/>
              <a:t>              • </a:t>
            </a:r>
            <a:r>
              <a:rPr lang="en-IN" b="1" dirty="0" err="1"/>
              <a:t>dsDNA</a:t>
            </a:r>
            <a:r>
              <a:rPr lang="en-IN" b="1" dirty="0"/>
              <a:t> viruses</a:t>
            </a:r>
          </a:p>
          <a:p>
            <a:pPr marL="514350" indent="-514350">
              <a:buFont typeface="+mj-lt"/>
              <a:buAutoNum type="arabicPeriod"/>
            </a:pPr>
            <a:r>
              <a:rPr lang="en-IN" b="1" dirty="0"/>
              <a:t>              • </a:t>
            </a:r>
            <a:r>
              <a:rPr lang="en-IN" b="1" dirty="0" err="1"/>
              <a:t>ssDNA</a:t>
            </a:r>
            <a:r>
              <a:rPr lang="en-IN" b="1" dirty="0"/>
              <a:t> viruses</a:t>
            </a:r>
          </a:p>
          <a:p>
            <a:pPr marL="514350" indent="-514350">
              <a:buFont typeface="+mj-lt"/>
              <a:buAutoNum type="arabicPeriod"/>
            </a:pPr>
            <a:r>
              <a:rPr lang="en-IN" b="1" dirty="0"/>
              <a:t>              • </a:t>
            </a:r>
            <a:r>
              <a:rPr lang="en-IN" b="1" dirty="0" err="1"/>
              <a:t>dsRNA</a:t>
            </a:r>
            <a:r>
              <a:rPr lang="en-IN" b="1" dirty="0"/>
              <a:t> viruses</a:t>
            </a:r>
          </a:p>
          <a:p>
            <a:pPr marL="514350" indent="-514350">
              <a:buFont typeface="+mj-lt"/>
              <a:buAutoNum type="arabicPeriod"/>
            </a:pPr>
            <a:r>
              <a:rPr lang="en-IN" b="1" dirty="0"/>
              <a:t>              • (+)-sense </a:t>
            </a:r>
            <a:r>
              <a:rPr lang="en-IN" b="1" dirty="0" err="1"/>
              <a:t>ssRNA</a:t>
            </a:r>
            <a:r>
              <a:rPr lang="en-IN" b="1" dirty="0"/>
              <a:t> viruses</a:t>
            </a:r>
          </a:p>
          <a:p>
            <a:pPr marL="514350" indent="-514350">
              <a:buFont typeface="+mj-lt"/>
              <a:buAutoNum type="arabicPeriod"/>
            </a:pPr>
            <a:r>
              <a:rPr lang="en-IN" b="1" dirty="0"/>
              <a:t>              • (-)-sense </a:t>
            </a:r>
            <a:r>
              <a:rPr lang="en-IN" b="1" dirty="0" err="1"/>
              <a:t>ssRNA</a:t>
            </a:r>
            <a:r>
              <a:rPr lang="en-IN" b="1" dirty="0"/>
              <a:t> viruses</a:t>
            </a:r>
          </a:p>
          <a:p>
            <a:pPr marL="514350" indent="-514350">
              <a:buFont typeface="+mj-lt"/>
              <a:buAutoNum type="arabicPeriod"/>
            </a:pPr>
            <a:r>
              <a:rPr lang="en-IN" b="1" dirty="0"/>
              <a:t>              • RNA reverse transcribing viruses </a:t>
            </a:r>
          </a:p>
          <a:p>
            <a:pPr marL="514350" indent="-514350">
              <a:buFont typeface="+mj-lt"/>
              <a:buAutoNum type="arabicPeriod"/>
            </a:pPr>
            <a:r>
              <a:rPr lang="en-IN" b="1" dirty="0"/>
              <a:t>               • DNA reverse transcribing viruses</a:t>
            </a: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ontent Placeholder 5"/>
          <p:cNvSpPr>
            <a:spLocks noGrp="1"/>
          </p:cNvSpPr>
          <p:nvPr>
            <p:ph idx="4294967295"/>
          </p:nvPr>
        </p:nvSpPr>
        <p:spPr>
          <a:xfrm>
            <a:off x="0" y="381000"/>
            <a:ext cx="9144000" cy="6172200"/>
          </a:xfrm>
        </p:spPr>
        <p:txBody>
          <a:bodyPr>
            <a:normAutofit/>
          </a:bodyPr>
          <a:lstStyle/>
          <a:p>
            <a:r>
              <a:rPr lang="en-US" sz="2800" b="1" dirty="0">
                <a:latin typeface="Arial" pitchFamily="34" charset="0"/>
                <a:cs typeface="Arial" pitchFamily="34" charset="0"/>
              </a:rPr>
              <a:t>Group I  (Adenoviruses; </a:t>
            </a:r>
            <a:r>
              <a:rPr lang="en-US" sz="2800" b="1" dirty="0" err="1">
                <a:latin typeface="Arial" pitchFamily="34" charset="0"/>
                <a:cs typeface="Arial" pitchFamily="34" charset="0"/>
              </a:rPr>
              <a:t>Herpesviruses</a:t>
            </a:r>
            <a:r>
              <a:rPr lang="en-US" sz="2800" b="1" dirty="0">
                <a:latin typeface="Arial" pitchFamily="34" charset="0"/>
                <a:cs typeface="Arial" pitchFamily="34" charset="0"/>
              </a:rPr>
              <a:t>; Poxviruses, etc) </a:t>
            </a:r>
            <a:r>
              <a:rPr lang="en-US" sz="2800" dirty="0">
                <a:latin typeface="Arial" pitchFamily="34" charset="0"/>
                <a:cs typeface="Arial" pitchFamily="34" charset="0"/>
              </a:rPr>
              <a:t>viruses contain double-stranded DNA </a:t>
            </a:r>
            <a:r>
              <a:rPr lang="en-US" sz="2800" b="1" dirty="0">
                <a:latin typeface="Arial" pitchFamily="34" charset="0"/>
                <a:cs typeface="Arial" pitchFamily="34" charset="0"/>
              </a:rPr>
              <a:t>(</a:t>
            </a:r>
            <a:r>
              <a:rPr lang="en-US" sz="2800" b="1" dirty="0" err="1">
                <a:latin typeface="Arial" pitchFamily="34" charset="0"/>
                <a:cs typeface="Arial" pitchFamily="34" charset="0"/>
              </a:rPr>
              <a:t>dsDNA</a:t>
            </a:r>
            <a:r>
              <a:rPr lang="en-US" sz="2800" b="1" dirty="0">
                <a:latin typeface="Arial" pitchFamily="34" charset="0"/>
                <a:cs typeface="Arial" pitchFamily="34" charset="0"/>
              </a:rPr>
              <a:t>) </a:t>
            </a:r>
            <a:r>
              <a:rPr lang="en-US" sz="2800" dirty="0">
                <a:latin typeface="Arial" pitchFamily="34" charset="0"/>
                <a:cs typeface="Arial" pitchFamily="34" charset="0"/>
              </a:rPr>
              <a:t>as their genome. Their mRNA is produced by transcription in much the same way as with cellular DNA.</a:t>
            </a:r>
          </a:p>
          <a:p>
            <a:pPr algn="just"/>
            <a:endParaRPr lang="en-US" sz="2800" b="1" dirty="0" smtClean="0">
              <a:latin typeface="Arial" pitchFamily="34" charset="0"/>
              <a:cs typeface="Arial" pitchFamily="34" charset="0"/>
            </a:endParaRPr>
          </a:p>
          <a:p>
            <a:pPr algn="just"/>
            <a:r>
              <a:rPr lang="en-US" sz="2800" b="1" dirty="0" smtClean="0">
                <a:latin typeface="Arial" pitchFamily="34" charset="0"/>
                <a:cs typeface="Arial" pitchFamily="34" charset="0"/>
              </a:rPr>
              <a:t>Group </a:t>
            </a:r>
            <a:r>
              <a:rPr lang="en-US" sz="2800" b="1" dirty="0">
                <a:latin typeface="Arial" pitchFamily="34" charset="0"/>
                <a:cs typeface="Arial" pitchFamily="34" charset="0"/>
              </a:rPr>
              <a:t>II  (</a:t>
            </a:r>
            <a:r>
              <a:rPr lang="en-US" sz="2800" b="1" dirty="0" err="1">
                <a:latin typeface="Arial" pitchFamily="34" charset="0"/>
                <a:cs typeface="Arial" pitchFamily="34" charset="0"/>
              </a:rPr>
              <a:t>Parvoviruses</a:t>
            </a:r>
            <a:r>
              <a:rPr lang="en-US" sz="2800" b="1" dirty="0">
                <a:latin typeface="Arial" pitchFamily="34" charset="0"/>
                <a:cs typeface="Arial" pitchFamily="34" charset="0"/>
              </a:rPr>
              <a:t>) </a:t>
            </a:r>
            <a:r>
              <a:rPr lang="en-US" sz="2800" dirty="0">
                <a:latin typeface="Arial" pitchFamily="34" charset="0"/>
                <a:cs typeface="Arial" pitchFamily="34" charset="0"/>
              </a:rPr>
              <a:t>viruses have single-stranded DNA </a:t>
            </a:r>
            <a:r>
              <a:rPr lang="en-US" sz="2800" b="1" dirty="0">
                <a:latin typeface="Arial" pitchFamily="34" charset="0"/>
                <a:cs typeface="Arial" pitchFamily="34" charset="0"/>
              </a:rPr>
              <a:t>(</a:t>
            </a:r>
            <a:r>
              <a:rPr lang="en-US" sz="2800" b="1" dirty="0" err="1">
                <a:latin typeface="Arial" pitchFamily="34" charset="0"/>
                <a:cs typeface="Arial" pitchFamily="34" charset="0"/>
              </a:rPr>
              <a:t>ssDNA</a:t>
            </a:r>
            <a:r>
              <a:rPr lang="en-US" sz="2800" b="1" dirty="0">
                <a:latin typeface="Arial" pitchFamily="34" charset="0"/>
                <a:cs typeface="Arial" pitchFamily="34" charset="0"/>
              </a:rPr>
              <a:t>) </a:t>
            </a:r>
            <a:r>
              <a:rPr lang="en-US" sz="2800" dirty="0">
                <a:latin typeface="Arial" pitchFamily="34" charset="0"/>
                <a:cs typeface="Arial" pitchFamily="34" charset="0"/>
              </a:rPr>
              <a:t>as their genome. They convert their single-stranded genomes into a </a:t>
            </a:r>
            <a:r>
              <a:rPr lang="en-US" sz="2800" dirty="0" err="1">
                <a:latin typeface="Arial" pitchFamily="34" charset="0"/>
                <a:cs typeface="Arial" pitchFamily="34" charset="0"/>
              </a:rPr>
              <a:t>dsDNA</a:t>
            </a:r>
            <a:r>
              <a:rPr lang="en-US" sz="2800" dirty="0">
                <a:latin typeface="Arial" pitchFamily="34" charset="0"/>
                <a:cs typeface="Arial" pitchFamily="34" charset="0"/>
              </a:rPr>
              <a:t> intermediate before transcription to mRNA can occur.</a:t>
            </a:r>
          </a:p>
          <a:p>
            <a:endParaRPr lang="en-US" sz="2800" dirty="0">
              <a:latin typeface="Arial" pitchFamily="34" charset="0"/>
              <a:cs typeface="Arial" pitchFamily="34" charset="0"/>
            </a:endParaRP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4294967295"/>
          </p:nvPr>
        </p:nvSpPr>
        <p:spPr>
          <a:xfrm>
            <a:off x="228600" y="533400"/>
            <a:ext cx="8686800" cy="5791200"/>
          </a:xfrm>
        </p:spPr>
        <p:txBody>
          <a:bodyPr>
            <a:normAutofit/>
          </a:bodyPr>
          <a:lstStyle/>
          <a:p>
            <a:pPr algn="just"/>
            <a:r>
              <a:rPr lang="en-US" sz="2400" b="1" dirty="0" smtClean="0">
                <a:latin typeface="Arial" pitchFamily="34" charset="0"/>
                <a:cs typeface="Arial" pitchFamily="34" charset="0"/>
              </a:rPr>
              <a:t>Group III  (</a:t>
            </a:r>
            <a:r>
              <a:rPr lang="en-US" sz="2400" b="1" dirty="0" err="1" smtClean="0">
                <a:latin typeface="Arial" pitchFamily="34" charset="0"/>
                <a:cs typeface="Arial" pitchFamily="34" charset="0"/>
              </a:rPr>
              <a:t>Reoviruses</a:t>
            </a:r>
            <a:r>
              <a:rPr lang="en-US" sz="2400" b="1" dirty="0" smtClean="0">
                <a:latin typeface="Arial" pitchFamily="34" charset="0"/>
                <a:cs typeface="Arial" pitchFamily="34" charset="0"/>
              </a:rPr>
              <a:t>; </a:t>
            </a:r>
            <a:r>
              <a:rPr lang="en-US" sz="2400" b="1" dirty="0" err="1" smtClean="0">
                <a:latin typeface="Arial" pitchFamily="34" charset="0"/>
                <a:cs typeface="Arial" pitchFamily="34" charset="0"/>
              </a:rPr>
              <a:t>Birnaviruses</a:t>
            </a:r>
            <a:r>
              <a:rPr lang="en-US" sz="2400" b="1" dirty="0" smtClean="0">
                <a:latin typeface="Arial" pitchFamily="34" charset="0"/>
                <a:cs typeface="Arial" pitchFamily="34" charset="0"/>
              </a:rPr>
              <a:t>) </a:t>
            </a:r>
            <a:r>
              <a:rPr lang="en-US" sz="2400" b="1" dirty="0" err="1" smtClean="0">
                <a:latin typeface="Arial" pitchFamily="34" charset="0"/>
                <a:cs typeface="Arial" pitchFamily="34" charset="0"/>
              </a:rPr>
              <a:t>dsRNA</a:t>
            </a:r>
            <a:r>
              <a:rPr lang="en-US" sz="2400" dirty="0" smtClean="0">
                <a:latin typeface="Arial" pitchFamily="34" charset="0"/>
                <a:cs typeface="Arial" pitchFamily="34" charset="0"/>
              </a:rPr>
              <a:t> genome. The strands separate, and one of them is used as a template for the generation of mRNA using the RNA-dependent RNA polymerase encoded by the virus.</a:t>
            </a:r>
          </a:p>
          <a:p>
            <a:pPr algn="just"/>
            <a:endParaRPr lang="en-US" sz="2400" b="1" dirty="0" smtClean="0">
              <a:latin typeface="Arial" pitchFamily="34" charset="0"/>
              <a:cs typeface="Arial" pitchFamily="34" charset="0"/>
            </a:endParaRPr>
          </a:p>
          <a:p>
            <a:pPr algn="just"/>
            <a:r>
              <a:rPr lang="en-US" sz="2400" b="1" dirty="0" smtClean="0">
                <a:latin typeface="Arial" pitchFamily="34" charset="0"/>
                <a:cs typeface="Arial" pitchFamily="34" charset="0"/>
              </a:rPr>
              <a:t>Group IV  (</a:t>
            </a:r>
            <a:r>
              <a:rPr lang="en-US" sz="2400" b="1" dirty="0" err="1" smtClean="0">
                <a:latin typeface="Arial" pitchFamily="34" charset="0"/>
                <a:cs typeface="Arial" pitchFamily="34" charset="0"/>
              </a:rPr>
              <a:t>Picornaviruses</a:t>
            </a:r>
            <a:r>
              <a:rPr lang="en-US" sz="2400" b="1" dirty="0" smtClean="0">
                <a:latin typeface="Arial" pitchFamily="34" charset="0"/>
                <a:cs typeface="Arial" pitchFamily="34" charset="0"/>
              </a:rPr>
              <a:t>; </a:t>
            </a:r>
            <a:r>
              <a:rPr lang="en-US" sz="2400" b="1" dirty="0" err="1" smtClean="0">
                <a:latin typeface="Arial" pitchFamily="34" charset="0"/>
                <a:cs typeface="Arial" pitchFamily="34" charset="0"/>
              </a:rPr>
              <a:t>Togaviruses</a:t>
            </a:r>
            <a:r>
              <a:rPr lang="en-US" sz="2400" b="1" dirty="0" smtClean="0">
                <a:latin typeface="Arial" pitchFamily="34" charset="0"/>
                <a:cs typeface="Arial" pitchFamily="34" charset="0"/>
              </a:rPr>
              <a:t>, etc) </a:t>
            </a:r>
            <a:r>
              <a:rPr lang="en-US" sz="2400" dirty="0" smtClean="0">
                <a:latin typeface="Arial" pitchFamily="34" charset="0"/>
                <a:cs typeface="Arial" pitchFamily="34" charset="0"/>
              </a:rPr>
              <a:t>viruses have </a:t>
            </a:r>
            <a:r>
              <a:rPr lang="en-US" sz="2400" b="1" dirty="0" err="1" smtClean="0">
                <a:latin typeface="Arial" pitchFamily="34" charset="0"/>
                <a:cs typeface="Arial" pitchFamily="34" charset="0"/>
              </a:rPr>
              <a:t>ssRNA</a:t>
            </a:r>
            <a:r>
              <a:rPr lang="en-US" sz="2400" dirty="0" smtClean="0">
                <a:latin typeface="Arial" pitchFamily="34" charset="0"/>
                <a:cs typeface="Arial" pitchFamily="34" charset="0"/>
              </a:rPr>
              <a:t> as their genome with a positive polarity. Intermediates of </a:t>
            </a:r>
            <a:r>
              <a:rPr lang="en-US" sz="2400" dirty="0" err="1" smtClean="0">
                <a:latin typeface="Arial" pitchFamily="34" charset="0"/>
                <a:cs typeface="Arial" pitchFamily="34" charset="0"/>
              </a:rPr>
              <a:t>dsRNA</a:t>
            </a:r>
            <a:r>
              <a:rPr lang="en-US" sz="2400" dirty="0" smtClean="0">
                <a:latin typeface="Arial" pitchFamily="34" charset="0"/>
                <a:cs typeface="Arial" pitchFamily="34" charset="0"/>
              </a:rPr>
              <a:t>, called </a:t>
            </a:r>
            <a:r>
              <a:rPr lang="en-US" sz="2400" dirty="0" err="1" smtClean="0">
                <a:latin typeface="Arial" pitchFamily="34" charset="0"/>
                <a:cs typeface="Arial" pitchFamily="34" charset="0"/>
              </a:rPr>
              <a:t>replicative</a:t>
            </a:r>
            <a:r>
              <a:rPr lang="en-US" sz="2400" dirty="0" smtClean="0">
                <a:latin typeface="Arial" pitchFamily="34" charset="0"/>
                <a:cs typeface="Arial" pitchFamily="34" charset="0"/>
              </a:rPr>
              <a:t> intermediates, are made in the process of copying the genomic RNA. Multiple, full-length RNA strands of negative polarity (complementary to the positive-stranded genomic RNA) are formed from these intermediates, which may then serve as templates for the production of RNA with positive polarity, including both full-length genomic RNA and shorter viral mRNAs.</a:t>
            </a:r>
          </a:p>
          <a:p>
            <a:pPr algn="just"/>
            <a:endParaRPr lang="en-US" sz="240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4294967295"/>
          </p:nvPr>
        </p:nvSpPr>
        <p:spPr>
          <a:xfrm>
            <a:off x="0" y="960437"/>
            <a:ext cx="9144000" cy="5897563"/>
          </a:xfrm>
        </p:spPr>
        <p:txBody>
          <a:bodyPr>
            <a:normAutofit/>
          </a:bodyPr>
          <a:lstStyle/>
          <a:p>
            <a:pPr algn="just"/>
            <a:r>
              <a:rPr lang="en-US" sz="2400" b="1" dirty="0">
                <a:latin typeface="Arial" pitchFamily="34" charset="0"/>
                <a:cs typeface="Arial" pitchFamily="34" charset="0"/>
              </a:rPr>
              <a:t>Group V  (</a:t>
            </a:r>
            <a:r>
              <a:rPr lang="en-US" sz="2400" b="1" dirty="0" err="1">
                <a:latin typeface="Arial" pitchFamily="34" charset="0"/>
                <a:cs typeface="Arial" pitchFamily="34" charset="0"/>
              </a:rPr>
              <a:t>Orthomyxoviruses</a:t>
            </a:r>
            <a:r>
              <a:rPr lang="en-US" sz="2400" b="1" dirty="0">
                <a:latin typeface="Arial" pitchFamily="34" charset="0"/>
                <a:cs typeface="Arial" pitchFamily="34" charset="0"/>
              </a:rPr>
              <a:t>, </a:t>
            </a:r>
            <a:r>
              <a:rPr lang="en-US" sz="2400" b="1" dirty="0" err="1">
                <a:latin typeface="Arial" pitchFamily="34" charset="0"/>
                <a:cs typeface="Arial" pitchFamily="34" charset="0"/>
              </a:rPr>
              <a:t>Rhabdoviruses</a:t>
            </a:r>
            <a:r>
              <a:rPr lang="en-US" sz="2400" b="1" dirty="0">
                <a:latin typeface="Arial" pitchFamily="34" charset="0"/>
                <a:cs typeface="Arial" pitchFamily="34" charset="0"/>
              </a:rPr>
              <a:t>, etc) </a:t>
            </a:r>
            <a:r>
              <a:rPr lang="en-US" sz="2400" dirty="0">
                <a:latin typeface="Arial" pitchFamily="34" charset="0"/>
                <a:cs typeface="Arial" pitchFamily="34" charset="0"/>
              </a:rPr>
              <a:t>viruses contain </a:t>
            </a:r>
            <a:r>
              <a:rPr lang="en-US" sz="2400" b="1" dirty="0" err="1">
                <a:latin typeface="Arial" pitchFamily="34" charset="0"/>
                <a:cs typeface="Arial" pitchFamily="34" charset="0"/>
              </a:rPr>
              <a:t>ssRNA</a:t>
            </a:r>
            <a:r>
              <a:rPr lang="en-US" sz="2400" b="1" dirty="0">
                <a:latin typeface="Arial" pitchFamily="34" charset="0"/>
                <a:cs typeface="Arial" pitchFamily="34" charset="0"/>
              </a:rPr>
              <a:t> genomes with a negative polarity, </a:t>
            </a:r>
            <a:r>
              <a:rPr lang="en-US" sz="2400" dirty="0">
                <a:latin typeface="Arial" pitchFamily="34" charset="0"/>
                <a:cs typeface="Arial" pitchFamily="34" charset="0"/>
              </a:rPr>
              <a:t>meaning that their sequence is complementary to the mRNA. </a:t>
            </a:r>
            <a:endParaRPr lang="en-US" sz="2400" dirty="0" smtClean="0">
              <a:latin typeface="Arial" pitchFamily="34" charset="0"/>
              <a:cs typeface="Arial" pitchFamily="34" charset="0"/>
            </a:endParaRPr>
          </a:p>
          <a:p>
            <a:pPr algn="just"/>
            <a:r>
              <a:rPr lang="en-US" sz="2400" dirty="0" smtClean="0">
                <a:latin typeface="Arial" pitchFamily="34" charset="0"/>
                <a:cs typeface="Arial" pitchFamily="34" charset="0"/>
              </a:rPr>
              <a:t>As </a:t>
            </a:r>
            <a:r>
              <a:rPr lang="en-US" sz="2400" dirty="0">
                <a:latin typeface="Arial" pitchFamily="34" charset="0"/>
                <a:cs typeface="Arial" pitchFamily="34" charset="0"/>
              </a:rPr>
              <a:t>with Group IV viruses, </a:t>
            </a:r>
            <a:r>
              <a:rPr lang="en-US" sz="2400" dirty="0" err="1">
                <a:latin typeface="Arial" pitchFamily="34" charset="0"/>
                <a:cs typeface="Arial" pitchFamily="34" charset="0"/>
              </a:rPr>
              <a:t>dsRNA</a:t>
            </a:r>
            <a:r>
              <a:rPr lang="en-US" sz="2400" dirty="0">
                <a:latin typeface="Arial" pitchFamily="34" charset="0"/>
                <a:cs typeface="Arial" pitchFamily="34" charset="0"/>
              </a:rPr>
              <a:t> intermediates are used to make copies of the genome and produce mRNA. In this case, the negative-stranded genome can be converted directly to mRNA. Additionally, full-length positive RNA strands are made to serve as templates for the production of the negative-stranded genome.</a:t>
            </a:r>
          </a:p>
          <a:p>
            <a:pPr algn="just"/>
            <a:endParaRPr lang="en-US" sz="2400" dirty="0">
              <a:latin typeface="Arial" pitchFamily="34" charset="0"/>
              <a:cs typeface="Arial" pitchFamily="34" charset="0"/>
            </a:endParaRP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28600" y="762000"/>
            <a:ext cx="8763000" cy="4893647"/>
          </a:xfrm>
          <a:prstGeom prst="rect">
            <a:avLst/>
          </a:prstGeom>
        </p:spPr>
        <p:txBody>
          <a:bodyPr wrap="square">
            <a:spAutoFit/>
          </a:bodyPr>
          <a:lstStyle/>
          <a:p>
            <a:pPr algn="just"/>
            <a:r>
              <a:rPr lang="en-US" sz="2400" b="1" dirty="0" smtClean="0">
                <a:latin typeface="Arial" pitchFamily="34" charset="0"/>
                <a:cs typeface="Arial" pitchFamily="34" charset="0"/>
              </a:rPr>
              <a:t>Group VI (Retroviruses)</a:t>
            </a:r>
            <a:r>
              <a:rPr lang="en-US" sz="2400" dirty="0" smtClean="0">
                <a:latin typeface="Arial" pitchFamily="34" charset="0"/>
                <a:cs typeface="Arial" pitchFamily="34" charset="0"/>
              </a:rPr>
              <a:t>viruses have </a:t>
            </a:r>
            <a:r>
              <a:rPr lang="en-US" sz="2400" b="1" dirty="0" smtClean="0">
                <a:latin typeface="Arial" pitchFamily="34" charset="0"/>
                <a:cs typeface="Arial" pitchFamily="34" charset="0"/>
              </a:rPr>
              <a:t>diploid (two copies) </a:t>
            </a:r>
            <a:r>
              <a:rPr lang="en-US" sz="2400" b="1" dirty="0" err="1" smtClean="0">
                <a:latin typeface="Arial" pitchFamily="34" charset="0"/>
                <a:cs typeface="Arial" pitchFamily="34" charset="0"/>
              </a:rPr>
              <a:t>ssRNA</a:t>
            </a:r>
            <a:r>
              <a:rPr lang="en-US" sz="2400" dirty="0" smtClean="0">
                <a:latin typeface="Arial" pitchFamily="34" charset="0"/>
                <a:cs typeface="Arial" pitchFamily="34" charset="0"/>
              </a:rPr>
              <a:t> genomes that must be converted, using the enzyme reverse transcriptase, to </a:t>
            </a:r>
            <a:r>
              <a:rPr lang="en-US" sz="2400" dirty="0" err="1" smtClean="0">
                <a:latin typeface="Arial" pitchFamily="34" charset="0"/>
                <a:cs typeface="Arial" pitchFamily="34" charset="0"/>
              </a:rPr>
              <a:t>dsDNA</a:t>
            </a:r>
            <a:r>
              <a:rPr lang="en-US" sz="2400" dirty="0" smtClean="0">
                <a:latin typeface="Arial" pitchFamily="34" charset="0"/>
                <a:cs typeface="Arial" pitchFamily="34" charset="0"/>
              </a:rPr>
              <a:t>; the </a:t>
            </a:r>
            <a:r>
              <a:rPr lang="en-US" sz="2400" dirty="0" err="1" smtClean="0">
                <a:latin typeface="Arial" pitchFamily="34" charset="0"/>
                <a:cs typeface="Arial" pitchFamily="34" charset="0"/>
              </a:rPr>
              <a:t>dsDNA</a:t>
            </a:r>
            <a:r>
              <a:rPr lang="en-US" sz="2400" dirty="0" smtClean="0">
                <a:latin typeface="Arial" pitchFamily="34" charset="0"/>
                <a:cs typeface="Arial" pitchFamily="34" charset="0"/>
              </a:rPr>
              <a:t> is then transported to the nucleus of the host cell and inserted into the host genome. Then, mRNA can be produced by transcription of the viral DNA that was integrated into the host genome.</a:t>
            </a:r>
          </a:p>
          <a:p>
            <a:pPr algn="just"/>
            <a:endParaRPr lang="en-US" sz="2400" b="1" dirty="0" smtClean="0">
              <a:latin typeface="Arial" pitchFamily="34" charset="0"/>
              <a:cs typeface="Arial" pitchFamily="34" charset="0"/>
            </a:endParaRPr>
          </a:p>
          <a:p>
            <a:pPr algn="just"/>
            <a:r>
              <a:rPr lang="en-US" sz="2400" b="1" dirty="0" smtClean="0">
                <a:latin typeface="Arial" pitchFamily="34" charset="0"/>
                <a:cs typeface="Arial" pitchFamily="34" charset="0"/>
              </a:rPr>
              <a:t>Group VII  (</a:t>
            </a:r>
            <a:r>
              <a:rPr lang="en-US" sz="2400" b="1" dirty="0" err="1" smtClean="0">
                <a:latin typeface="Arial" pitchFamily="34" charset="0"/>
                <a:cs typeface="Arial" pitchFamily="34" charset="0"/>
              </a:rPr>
              <a:t>Hepadnaviruses</a:t>
            </a:r>
            <a:r>
              <a:rPr lang="en-US" sz="2400" b="1" dirty="0" smtClean="0">
                <a:latin typeface="Arial" pitchFamily="34" charset="0"/>
                <a:cs typeface="Arial" pitchFamily="34" charset="0"/>
              </a:rPr>
              <a:t>) </a:t>
            </a:r>
            <a:r>
              <a:rPr lang="en-US" sz="2400" dirty="0" smtClean="0">
                <a:latin typeface="Arial" pitchFamily="34" charset="0"/>
                <a:cs typeface="Arial" pitchFamily="34" charset="0"/>
              </a:rPr>
              <a:t>viruses have </a:t>
            </a:r>
            <a:r>
              <a:rPr lang="en-US" sz="2400" b="1" dirty="0" smtClean="0">
                <a:latin typeface="Arial" pitchFamily="34" charset="0"/>
                <a:cs typeface="Arial" pitchFamily="34" charset="0"/>
              </a:rPr>
              <a:t>partial </a:t>
            </a:r>
            <a:r>
              <a:rPr lang="en-US" sz="2400" b="1" dirty="0" err="1" smtClean="0">
                <a:latin typeface="Arial" pitchFamily="34" charset="0"/>
                <a:cs typeface="Arial" pitchFamily="34" charset="0"/>
              </a:rPr>
              <a:t>dsDNA</a:t>
            </a:r>
            <a:r>
              <a:rPr lang="en-US" sz="2400" b="1" dirty="0" smtClean="0">
                <a:latin typeface="Arial" pitchFamily="34" charset="0"/>
                <a:cs typeface="Arial" pitchFamily="34" charset="0"/>
              </a:rPr>
              <a:t> </a:t>
            </a:r>
            <a:r>
              <a:rPr lang="en-US" sz="2400" dirty="0" smtClean="0">
                <a:latin typeface="Arial" pitchFamily="34" charset="0"/>
                <a:cs typeface="Arial" pitchFamily="34" charset="0"/>
              </a:rPr>
              <a:t>genomes  </a:t>
            </a:r>
            <a:r>
              <a:rPr lang="en-GB" sz="2400" dirty="0" smtClean="0">
                <a:latin typeface="Arial" pitchFamily="34" charset="0"/>
                <a:cs typeface="Arial" pitchFamily="34" charset="0"/>
              </a:rPr>
              <a:t> (longer negative-sense strand and a shorter positive-sense strand of variable length) </a:t>
            </a:r>
            <a:r>
              <a:rPr lang="en-US" sz="2400" dirty="0" smtClean="0">
                <a:latin typeface="Arial" pitchFamily="34" charset="0"/>
                <a:cs typeface="Arial" pitchFamily="34" charset="0"/>
              </a:rPr>
              <a:t>and make </a:t>
            </a:r>
            <a:r>
              <a:rPr lang="en-US" sz="2400" dirty="0" err="1" smtClean="0">
                <a:latin typeface="Arial" pitchFamily="34" charset="0"/>
                <a:cs typeface="Arial" pitchFamily="34" charset="0"/>
              </a:rPr>
              <a:t>ssRNA</a:t>
            </a:r>
            <a:r>
              <a:rPr lang="en-US" sz="2400" dirty="0" smtClean="0">
                <a:latin typeface="Arial" pitchFamily="34" charset="0"/>
                <a:cs typeface="Arial" pitchFamily="34" charset="0"/>
              </a:rPr>
              <a:t> intermediates that act as mRNA, but are also converted back into </a:t>
            </a:r>
            <a:r>
              <a:rPr lang="en-US" sz="2400" dirty="0" err="1" smtClean="0">
                <a:latin typeface="Arial" pitchFamily="34" charset="0"/>
                <a:cs typeface="Arial" pitchFamily="34" charset="0"/>
              </a:rPr>
              <a:t>dsDNA</a:t>
            </a:r>
            <a:r>
              <a:rPr lang="en-US" sz="2400" dirty="0" smtClean="0">
                <a:latin typeface="Arial" pitchFamily="34" charset="0"/>
                <a:cs typeface="Arial" pitchFamily="34" charset="0"/>
              </a:rPr>
              <a:t> genomes by reverse transcriptase, necessary for genome replication.</a:t>
            </a:r>
            <a:endParaRPr lang="en-US" sz="2400" dirty="0">
              <a:latin typeface="Arial" pitchFamily="34" charset="0"/>
              <a:cs typeface="Arial" pitchFamily="34" charset="0"/>
            </a:endParaRP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1204" name="Picture 4" descr="Baltimore Classification"/>
          <p:cNvPicPr>
            <a:picLocks noChangeAspect="1" noChangeArrowheads="1"/>
          </p:cNvPicPr>
          <p:nvPr/>
        </p:nvPicPr>
        <p:blipFill>
          <a:blip r:embed="rId2"/>
          <a:srcRect/>
          <a:stretch>
            <a:fillRect/>
          </a:stretch>
        </p:blipFill>
        <p:spPr bwMode="auto">
          <a:xfrm>
            <a:off x="0" y="609600"/>
            <a:ext cx="8853712" cy="5486400"/>
          </a:xfrm>
          <a:prstGeom prst="rect">
            <a:avLst/>
          </a:prstGeom>
          <a:noFill/>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1557</TotalTime>
  <Words>1502</Words>
  <Application>Microsoft Office PowerPoint</Application>
  <PresentationFormat>On-screen Show (4:3)</PresentationFormat>
  <Paragraphs>261</Paragraphs>
  <Slides>52</Slides>
  <Notes>8</Notes>
  <HiddenSlides>0</HiddenSlides>
  <MMClips>0</MMClips>
  <ScaleCrop>false</ScaleCrop>
  <HeadingPairs>
    <vt:vector size="4" baseType="variant">
      <vt:variant>
        <vt:lpstr>Theme</vt:lpstr>
      </vt:variant>
      <vt:variant>
        <vt:i4>1</vt:i4>
      </vt:variant>
      <vt:variant>
        <vt:lpstr>Slide Titles</vt:lpstr>
      </vt:variant>
      <vt:variant>
        <vt:i4>52</vt:i4>
      </vt:variant>
    </vt:vector>
  </HeadingPairs>
  <TitlesOfParts>
    <vt:vector size="53" baseType="lpstr">
      <vt:lpstr>Office Theme</vt:lpstr>
      <vt:lpstr>History of virology structure and classification of viruses</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COMMON TERMS</vt:lpstr>
      <vt:lpstr>Slide 20</vt:lpstr>
      <vt:lpstr>Slide 21</vt:lpstr>
      <vt:lpstr>PROPERTIES OF VIRUSES </vt:lpstr>
      <vt:lpstr>Slide 23</vt:lpstr>
      <vt:lpstr>Virus size</vt:lpstr>
      <vt:lpstr>Slide 25</vt:lpstr>
      <vt:lpstr>VIRUS STRUCTURE</vt:lpstr>
      <vt:lpstr>Slide 27</vt:lpstr>
      <vt:lpstr>Slide 28</vt:lpstr>
      <vt:lpstr>Slide 29</vt:lpstr>
      <vt:lpstr>Slide 30</vt:lpstr>
      <vt:lpstr>Slide 31</vt:lpstr>
      <vt:lpstr>VIRION NUCLEOCAPSID STRUCTURES</vt:lpstr>
      <vt:lpstr>Slide 33</vt:lpstr>
      <vt:lpstr>Slide 34</vt:lpstr>
      <vt:lpstr>Slide 35</vt:lpstr>
      <vt:lpstr>Slide 36</vt:lpstr>
      <vt:lpstr>Helical symmetry</vt:lpstr>
      <vt:lpstr>Slide 38</vt:lpstr>
      <vt:lpstr>Complex symmetry</vt:lpstr>
      <vt:lpstr>FIVE BASIC STRUCTURAL FORMS OF VIRUSES IN NATURE </vt:lpstr>
      <vt:lpstr>CLASSIFICATION OF VIRUSES </vt:lpstr>
      <vt:lpstr>Slide 42</vt:lpstr>
      <vt:lpstr>Slide 43</vt:lpstr>
      <vt:lpstr>Slide 44</vt:lpstr>
      <vt:lpstr>BALTIMORE CLASSIFICATION</vt:lpstr>
      <vt:lpstr>Slide 46</vt:lpstr>
      <vt:lpstr>Slide 47</vt:lpstr>
      <vt:lpstr>Slide 48</vt:lpstr>
      <vt:lpstr>Slide 49</vt:lpstr>
      <vt:lpstr>Slide 50</vt:lpstr>
      <vt:lpstr>Slide 51</vt:lpstr>
      <vt:lpstr>Slide 52</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 History of Virology</dc:title>
  <dc:creator>users</dc:creator>
  <cp:lastModifiedBy>RATHORE</cp:lastModifiedBy>
  <cp:revision>173</cp:revision>
  <dcterms:created xsi:type="dcterms:W3CDTF">2010-05-26T13:17:51Z</dcterms:created>
  <dcterms:modified xsi:type="dcterms:W3CDTF">2024-11-14T05:54:06Z</dcterms:modified>
</cp:coreProperties>
</file>