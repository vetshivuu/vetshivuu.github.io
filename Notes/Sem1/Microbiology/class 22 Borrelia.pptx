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4" r:id="rId4"/>
    <p:sldId id="276" r:id="rId5"/>
    <p:sldId id="258" r:id="rId6"/>
    <p:sldId id="275" r:id="rId7"/>
    <p:sldId id="277" r:id="rId8"/>
    <p:sldId id="259" r:id="rId9"/>
    <p:sldId id="260" r:id="rId10"/>
    <p:sldId id="280" r:id="rId11"/>
    <p:sldId id="261" r:id="rId12"/>
    <p:sldId id="262" r:id="rId13"/>
    <p:sldId id="281" r:id="rId14"/>
    <p:sldId id="278" r:id="rId15"/>
    <p:sldId id="263" r:id="rId16"/>
    <p:sldId id="264" r:id="rId17"/>
    <p:sldId id="265" r:id="rId18"/>
    <p:sldId id="267" r:id="rId19"/>
    <p:sldId id="279" r:id="rId20"/>
    <p:sldId id="268" r:id="rId21"/>
    <p:sldId id="269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F547DE9-2CEA-4FE4-8FE5-FF2FD5E373BB}" type="datetimeFigureOut">
              <a:rPr lang="en-US" smtClean="0"/>
              <a:pPr/>
              <a:t>8/22/2022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59CA26D-752D-4DDE-A2D3-907365F8A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Borrelia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Dr. </a:t>
            </a:r>
            <a:r>
              <a:rPr lang="en-US" dirty="0" err="1" smtClean="0"/>
              <a:t>Bincy</a:t>
            </a:r>
            <a:r>
              <a:rPr lang="en-US" dirty="0" smtClean="0"/>
              <a:t> Joseph</a:t>
            </a:r>
          </a:p>
          <a:p>
            <a:pPr algn="r"/>
            <a:r>
              <a:rPr lang="en-US" dirty="0" smtClean="0"/>
              <a:t>Assistant professor</a:t>
            </a:r>
          </a:p>
          <a:p>
            <a:pPr algn="r"/>
            <a:r>
              <a:rPr lang="en-US" dirty="0" smtClean="0"/>
              <a:t>PGIVER, </a:t>
            </a:r>
            <a:r>
              <a:rPr lang="en-US" dirty="0" err="1" smtClean="0"/>
              <a:t>Jaipur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0"/>
            <a:ext cx="7239000" cy="37707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Genus: </a:t>
            </a:r>
            <a:r>
              <a:rPr lang="en-US" dirty="0" err="1" smtClean="0"/>
              <a:t>Borrelia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rgbClr val="FF0000"/>
                </a:solidFill>
              </a:rPr>
              <a:t>Borrelia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anserina</a:t>
            </a:r>
            <a:r>
              <a:rPr lang="en-US" dirty="0" smtClean="0"/>
              <a:t>: Avian </a:t>
            </a:r>
            <a:r>
              <a:rPr lang="en-US" dirty="0" err="1" smtClean="0"/>
              <a:t>spirochaetosis</a:t>
            </a:r>
            <a:endParaRPr lang="en-US" dirty="0" smtClean="0"/>
          </a:p>
          <a:p>
            <a:r>
              <a:rPr lang="en-US" i="1" dirty="0" err="1" smtClean="0"/>
              <a:t>Borrelia</a:t>
            </a:r>
            <a:r>
              <a:rPr lang="en-US" i="1" dirty="0" smtClean="0"/>
              <a:t> </a:t>
            </a:r>
            <a:r>
              <a:rPr lang="en-US" i="1" dirty="0" err="1" smtClean="0"/>
              <a:t>theileri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Tick borne fever</a:t>
            </a:r>
          </a:p>
          <a:p>
            <a:r>
              <a:rPr lang="en-US" i="1" dirty="0" err="1" smtClean="0"/>
              <a:t>Borrelia</a:t>
            </a:r>
            <a:r>
              <a:rPr lang="en-US" i="1" dirty="0" smtClean="0"/>
              <a:t> </a:t>
            </a:r>
            <a:r>
              <a:rPr lang="en-US" i="1" dirty="0" err="1" smtClean="0"/>
              <a:t>burgdorferi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B0F0"/>
                </a:solidFill>
              </a:rPr>
              <a:t>Lyme disease in human </a:t>
            </a:r>
            <a:r>
              <a:rPr lang="en-US" dirty="0" smtClean="0">
                <a:solidFill>
                  <a:srgbClr val="00B0F0"/>
                </a:solidFill>
              </a:rPr>
              <a:t>being</a:t>
            </a:r>
            <a:endParaRPr lang="en-US" dirty="0" smtClean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Avian </a:t>
            </a:r>
            <a:r>
              <a:rPr lang="en-US" dirty="0" err="1" smtClean="0"/>
              <a:t>spirochaetosis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err="1" smtClean="0"/>
              <a:t>Borrelia</a:t>
            </a:r>
            <a:r>
              <a:rPr lang="en-US" i="1" dirty="0" smtClean="0"/>
              <a:t> </a:t>
            </a:r>
            <a:r>
              <a:rPr lang="en-US" i="1" dirty="0" err="1" smtClean="0"/>
              <a:t>anserina</a:t>
            </a:r>
            <a:r>
              <a:rPr lang="en-US" i="1" dirty="0" smtClean="0"/>
              <a:t> </a:t>
            </a:r>
            <a:r>
              <a:rPr lang="en-US" dirty="0" smtClean="0"/>
              <a:t>is transmitted by soft tick of poultry : </a:t>
            </a:r>
            <a:r>
              <a:rPr lang="en-US" i="1" dirty="0" err="1" smtClean="0">
                <a:solidFill>
                  <a:srgbClr val="00B0F0"/>
                </a:solidFill>
              </a:rPr>
              <a:t>Arguss</a:t>
            </a:r>
            <a:r>
              <a:rPr lang="en-US" i="1" dirty="0" smtClean="0">
                <a:solidFill>
                  <a:srgbClr val="00B0F0"/>
                </a:solidFill>
              </a:rPr>
              <a:t> </a:t>
            </a:r>
            <a:r>
              <a:rPr lang="en-US" i="1" dirty="0" err="1" smtClean="0">
                <a:solidFill>
                  <a:srgbClr val="00B0F0"/>
                </a:solidFill>
              </a:rPr>
              <a:t>persicuss</a:t>
            </a:r>
            <a:endParaRPr lang="en-US" i="1" dirty="0" smtClean="0">
              <a:solidFill>
                <a:srgbClr val="00B0F0"/>
              </a:solidFill>
            </a:endParaRPr>
          </a:p>
          <a:p>
            <a:r>
              <a:rPr lang="en-US" dirty="0" smtClean="0"/>
              <a:t>The organism are cultivated by yolk sac route in chicken embryo/ or intra peritoneal route in newly hatched chicks</a:t>
            </a:r>
          </a:p>
          <a:p>
            <a:r>
              <a:rPr lang="en-US" dirty="0" smtClean="0"/>
              <a:t>Symptoms : fever anorexia, depression, greenish </a:t>
            </a:r>
            <a:r>
              <a:rPr lang="en-US" dirty="0" err="1" smtClean="0"/>
              <a:t>diarrhoea</a:t>
            </a:r>
            <a:r>
              <a:rPr lang="en-US" dirty="0" smtClean="0"/>
              <a:t> and mortality 100</a:t>
            </a:r>
            <a:r>
              <a:rPr lang="en-US" dirty="0" smtClean="0"/>
              <a:t>%</a:t>
            </a:r>
          </a:p>
          <a:p>
            <a:r>
              <a:rPr lang="en-US" dirty="0" smtClean="0"/>
              <a:t>Lesion: </a:t>
            </a:r>
            <a:r>
              <a:rPr lang="en-US" dirty="0" err="1" smtClean="0"/>
              <a:t>haemorrhagic</a:t>
            </a:r>
            <a:r>
              <a:rPr lang="en-US" dirty="0" smtClean="0"/>
              <a:t> carcass, </a:t>
            </a:r>
            <a:r>
              <a:rPr lang="en-US" dirty="0" err="1" smtClean="0"/>
              <a:t>spleenomegaly</a:t>
            </a:r>
            <a:r>
              <a:rPr lang="en-US" dirty="0" smtClean="0"/>
              <a:t>, </a:t>
            </a:r>
            <a:r>
              <a:rPr lang="en-US" dirty="0" err="1" smtClean="0"/>
              <a:t>hepatomegaly</a:t>
            </a:r>
            <a:r>
              <a:rPr lang="en-US" dirty="0" smtClean="0"/>
              <a:t> and focal necrotic lesions in liver</a:t>
            </a:r>
          </a:p>
          <a:p>
            <a:endParaRPr lang="en-US" dirty="0" smtClean="0"/>
          </a:p>
          <a:p>
            <a:endParaRPr lang="en-US" dirty="0" smtClean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1025" y="1371600"/>
            <a:ext cx="3152775" cy="23615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199" y="1429338"/>
            <a:ext cx="3200401" cy="23972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43200" y="4400549"/>
            <a:ext cx="3124200" cy="2340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Direct examination </a:t>
            </a:r>
            <a:r>
              <a:rPr lang="en-US" dirty="0" smtClean="0"/>
              <a:t>of blood using </a:t>
            </a:r>
            <a:r>
              <a:rPr lang="en-US" dirty="0" err="1" smtClean="0"/>
              <a:t>Giemsa</a:t>
            </a:r>
            <a:r>
              <a:rPr lang="en-US" dirty="0" smtClean="0"/>
              <a:t> </a:t>
            </a:r>
            <a:r>
              <a:rPr lang="en-US" dirty="0" smtClean="0"/>
              <a:t>stain</a:t>
            </a:r>
          </a:p>
          <a:p>
            <a:r>
              <a:rPr lang="en-US" dirty="0" smtClean="0"/>
              <a:t>Isolation and identification using yolk sac </a:t>
            </a:r>
            <a:r>
              <a:rPr lang="en-US" dirty="0" smtClean="0"/>
              <a:t>inoculation</a:t>
            </a:r>
          </a:p>
          <a:p>
            <a:endParaRPr lang="en-US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9437" y="2971800"/>
            <a:ext cx="637032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19875" y="162798"/>
            <a:ext cx="1914525" cy="1513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err="1" smtClean="0"/>
              <a:t>Spirillum</a:t>
            </a:r>
            <a:r>
              <a:rPr lang="en-US" i="1" dirty="0" smtClean="0"/>
              <a:t> minus</a:t>
            </a:r>
            <a:r>
              <a:rPr lang="en-US" dirty="0" smtClean="0"/>
              <a:t>: rat bite fever</a:t>
            </a:r>
          </a:p>
          <a:p>
            <a:r>
              <a:rPr lang="en-US" i="1" dirty="0" err="1" smtClean="0"/>
              <a:t>Treponema</a:t>
            </a:r>
            <a:r>
              <a:rPr lang="en-US" i="1" dirty="0" smtClean="0"/>
              <a:t> </a:t>
            </a:r>
            <a:r>
              <a:rPr lang="en-US" i="1" dirty="0" err="1" smtClean="0"/>
              <a:t>pallidum</a:t>
            </a:r>
            <a:r>
              <a:rPr lang="en-US" dirty="0" smtClean="0"/>
              <a:t>: Syphilis in human being</a:t>
            </a:r>
          </a:p>
          <a:p>
            <a:r>
              <a:rPr lang="en-US" i="1" dirty="0" err="1" smtClean="0"/>
              <a:t>Treponema</a:t>
            </a:r>
            <a:r>
              <a:rPr lang="en-US" i="1" dirty="0" smtClean="0"/>
              <a:t> </a:t>
            </a:r>
            <a:r>
              <a:rPr lang="en-US" i="1" dirty="0" err="1" smtClean="0"/>
              <a:t>cuniculi</a:t>
            </a:r>
            <a:r>
              <a:rPr lang="en-US" dirty="0" smtClean="0"/>
              <a:t>: rabbit syphilis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Genus </a:t>
            </a:r>
            <a:r>
              <a:rPr lang="en-US" dirty="0" err="1" smtClean="0"/>
              <a:t>chlamydia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20473"/>
            <a:ext cx="6956426" cy="39086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Genus </a:t>
            </a:r>
            <a:r>
              <a:rPr lang="en-US" dirty="0" err="1" smtClean="0"/>
              <a:t>chlamydia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Organisms </a:t>
            </a:r>
            <a:r>
              <a:rPr lang="en-US" dirty="0" smtClean="0"/>
              <a:t>are </a:t>
            </a:r>
            <a:r>
              <a:rPr lang="en-US" dirty="0" smtClean="0">
                <a:solidFill>
                  <a:srgbClr val="00B050"/>
                </a:solidFill>
              </a:rPr>
              <a:t>obligate intracellular bacteria </a:t>
            </a:r>
            <a:r>
              <a:rPr lang="en-US" dirty="0" smtClean="0"/>
              <a:t>with unusual developmental cycle during which infectious form </a:t>
            </a:r>
            <a:r>
              <a:rPr lang="en-US" dirty="0" smtClean="0"/>
              <a:t>produced</a:t>
            </a:r>
          </a:p>
          <a:p>
            <a:r>
              <a:rPr lang="en-US" dirty="0" smtClean="0"/>
              <a:t>They replicate within a non-acidified,</a:t>
            </a:r>
            <a:br>
              <a:rPr lang="en-US" dirty="0" smtClean="0"/>
            </a:br>
            <a:r>
              <a:rPr lang="en-US" dirty="0" err="1" smtClean="0"/>
              <a:t>cytoplasmic</a:t>
            </a:r>
            <a:r>
              <a:rPr lang="en-US" dirty="0" smtClean="0"/>
              <a:t> vacuole in eukaryotic host cells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On account of their </a:t>
            </a:r>
            <a:r>
              <a:rPr lang="en-US" dirty="0" smtClean="0"/>
              <a:t>inability </a:t>
            </a:r>
            <a:r>
              <a:rPr lang="en-US" dirty="0" smtClean="0"/>
              <a:t>to generate ATP , they are called </a:t>
            </a:r>
            <a:r>
              <a:rPr lang="en-US" dirty="0" smtClean="0">
                <a:solidFill>
                  <a:srgbClr val="C00000"/>
                </a:solidFill>
              </a:rPr>
              <a:t>energy parasites</a:t>
            </a:r>
          </a:p>
          <a:p>
            <a:r>
              <a:rPr lang="en-US" dirty="0" smtClean="0"/>
              <a:t>Two genus in the Family </a:t>
            </a:r>
            <a:r>
              <a:rPr lang="en-US" dirty="0" err="1" smtClean="0"/>
              <a:t>Chlamydiaceae</a:t>
            </a:r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Genus  </a:t>
            </a:r>
            <a:r>
              <a:rPr lang="en-US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hlamydia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Genus </a:t>
            </a:r>
            <a:r>
              <a:rPr lang="en-US" dirty="0" err="1" smtClean="0">
                <a:solidFill>
                  <a:srgbClr val="C00000"/>
                </a:solidFill>
              </a:rPr>
              <a:t>Chalmydophila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Genus </a:t>
            </a:r>
            <a:r>
              <a:rPr lang="en-US" dirty="0" smtClean="0"/>
              <a:t>C</a:t>
            </a:r>
            <a:r>
              <a:rPr lang="en-US" dirty="0" smtClean="0"/>
              <a:t>hlamydia </a:t>
            </a:r>
            <a:r>
              <a:rPr lang="en-US" dirty="0" smtClean="0"/>
              <a:t>also known </a:t>
            </a:r>
            <a:r>
              <a:rPr lang="en-US" dirty="0" err="1" smtClean="0"/>
              <a:t>asTtrachoma</a:t>
            </a:r>
            <a:r>
              <a:rPr lang="en-US" dirty="0" smtClean="0"/>
              <a:t> </a:t>
            </a:r>
            <a:r>
              <a:rPr lang="en-US" dirty="0" smtClean="0"/>
              <a:t>I</a:t>
            </a:r>
            <a:r>
              <a:rPr lang="en-US" dirty="0" smtClean="0"/>
              <a:t>nclusion </a:t>
            </a:r>
            <a:r>
              <a:rPr lang="en-US" dirty="0" err="1" smtClean="0"/>
              <a:t>C</a:t>
            </a:r>
            <a:r>
              <a:rPr lang="en-US" dirty="0" err="1" smtClean="0"/>
              <a:t>onjuctivitis</a:t>
            </a:r>
            <a:r>
              <a:rPr lang="en-US" dirty="0" smtClean="0"/>
              <a:t> Agent </a:t>
            </a:r>
            <a:r>
              <a:rPr lang="en-US" dirty="0" smtClean="0"/>
              <a:t>or PLV agent/Psittacosis </a:t>
            </a:r>
            <a:r>
              <a:rPr lang="en-US" dirty="0" err="1" smtClean="0"/>
              <a:t>L</a:t>
            </a:r>
            <a:r>
              <a:rPr lang="en-US" dirty="0" err="1" smtClean="0"/>
              <a:t>ymphogranuloma</a:t>
            </a:r>
            <a:r>
              <a:rPr lang="en-US" dirty="0" smtClean="0"/>
              <a:t> </a:t>
            </a:r>
            <a:r>
              <a:rPr lang="en-US" dirty="0" err="1" smtClean="0"/>
              <a:t>V</a:t>
            </a:r>
            <a:r>
              <a:rPr lang="en-US" dirty="0" err="1" smtClean="0"/>
              <a:t>enereum</a:t>
            </a:r>
            <a:r>
              <a:rPr lang="en-US" dirty="0" smtClean="0"/>
              <a:t>/ </a:t>
            </a:r>
            <a:r>
              <a:rPr lang="en-US" dirty="0" err="1" smtClean="0"/>
              <a:t>B</a:t>
            </a:r>
            <a:r>
              <a:rPr lang="en-US" dirty="0" err="1" smtClean="0"/>
              <a:t>edsonia</a:t>
            </a:r>
            <a:r>
              <a:rPr lang="en-US" dirty="0" smtClean="0"/>
              <a:t> </a:t>
            </a:r>
            <a:r>
              <a:rPr lang="en-US" dirty="0" smtClean="0"/>
              <a:t>agent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Chlamydia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i="1" dirty="0" smtClean="0"/>
              <a:t>Chlamydia </a:t>
            </a:r>
            <a:r>
              <a:rPr lang="en-US" i="1" dirty="0" err="1" smtClean="0"/>
              <a:t>trachomatis</a:t>
            </a:r>
            <a:endParaRPr lang="en-US" i="1" dirty="0" smtClean="0"/>
          </a:p>
          <a:p>
            <a:r>
              <a:rPr lang="en-US" i="1" dirty="0" smtClean="0"/>
              <a:t>Chlamydia </a:t>
            </a:r>
            <a:r>
              <a:rPr lang="en-US" i="1" dirty="0" err="1" smtClean="0"/>
              <a:t>suis</a:t>
            </a:r>
            <a:endParaRPr lang="en-US" i="1" dirty="0" smtClean="0"/>
          </a:p>
          <a:p>
            <a:r>
              <a:rPr lang="en-US" i="1" dirty="0" smtClean="0"/>
              <a:t>Chlamydia </a:t>
            </a:r>
            <a:r>
              <a:rPr lang="en-US" i="1" dirty="0" err="1" smtClean="0"/>
              <a:t>muridarum</a:t>
            </a:r>
            <a:endParaRPr lang="en-US" i="1" dirty="0" smtClean="0"/>
          </a:p>
          <a:p>
            <a:pPr>
              <a:buNone/>
            </a:pPr>
            <a:r>
              <a:rPr lang="en-US" dirty="0" err="1" smtClean="0"/>
              <a:t>C</a:t>
            </a:r>
            <a:r>
              <a:rPr lang="en-US" dirty="0" err="1" smtClean="0"/>
              <a:t>hlamydophila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psittaci</a:t>
            </a:r>
            <a:endParaRPr lang="en-US" i="1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abortus</a:t>
            </a:r>
            <a:endParaRPr lang="en-US" i="1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felis</a:t>
            </a:r>
            <a:endParaRPr lang="en-US" i="1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caviae</a:t>
            </a:r>
            <a:endParaRPr lang="en-US" i="1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pneumoniae</a:t>
            </a:r>
            <a:endParaRPr lang="en-US" i="1" dirty="0" smtClean="0"/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pecorum</a:t>
            </a:r>
            <a:endParaRPr lang="en-US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2713" y="1600200"/>
            <a:ext cx="7016573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Morphology: organism are Gram negative but cell wall lacks </a:t>
            </a:r>
            <a:r>
              <a:rPr lang="en-US" dirty="0" smtClean="0">
                <a:solidFill>
                  <a:srgbClr val="FF0000"/>
                </a:solidFill>
              </a:rPr>
              <a:t>N acetyl </a:t>
            </a:r>
            <a:r>
              <a:rPr lang="en-US" dirty="0" err="1" smtClean="0">
                <a:solidFill>
                  <a:srgbClr val="FF0000"/>
                </a:solidFill>
              </a:rPr>
              <a:t>muramic</a:t>
            </a:r>
            <a:r>
              <a:rPr lang="en-US" dirty="0" smtClean="0">
                <a:solidFill>
                  <a:srgbClr val="FF0000"/>
                </a:solidFill>
              </a:rPr>
              <a:t> acid</a:t>
            </a:r>
          </a:p>
          <a:p>
            <a:r>
              <a:rPr lang="en-US" dirty="0" smtClean="0"/>
              <a:t>In the developmental cycle two forms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Infectious and reproductive form</a:t>
            </a:r>
          </a:p>
          <a:p>
            <a:r>
              <a:rPr lang="en-US" dirty="0" smtClean="0"/>
              <a:t>These two forms are distinct morphologically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Infectious </a:t>
            </a:r>
            <a:r>
              <a:rPr lang="en-US" dirty="0" err="1" smtClean="0">
                <a:solidFill>
                  <a:srgbClr val="FF0000"/>
                </a:solidFill>
              </a:rPr>
              <a:t>extracelluar</a:t>
            </a:r>
            <a:r>
              <a:rPr lang="en-US" dirty="0" smtClean="0">
                <a:solidFill>
                  <a:srgbClr val="FF0000"/>
                </a:solidFill>
              </a:rPr>
              <a:t> form are called elementary bodies (EB), </a:t>
            </a:r>
            <a:r>
              <a:rPr lang="en-US" dirty="0" smtClean="0"/>
              <a:t>very small bodies with 200-300nm size</a:t>
            </a:r>
          </a:p>
          <a:p>
            <a:r>
              <a:rPr lang="en-US" dirty="0" smtClean="0"/>
              <a:t>They are metabolically inert and </a:t>
            </a:r>
            <a:r>
              <a:rPr lang="en-US" dirty="0" err="1" smtClean="0"/>
              <a:t>osmotically</a:t>
            </a:r>
            <a:r>
              <a:rPr lang="en-US" dirty="0" smtClean="0"/>
              <a:t> stable</a:t>
            </a:r>
          </a:p>
          <a:p>
            <a:r>
              <a:rPr lang="en-US" dirty="0" smtClean="0"/>
              <a:t>Each elementary body is </a:t>
            </a:r>
            <a:r>
              <a:rPr lang="en-US" dirty="0" err="1" smtClean="0"/>
              <a:t>sorrounded</a:t>
            </a:r>
            <a:r>
              <a:rPr lang="en-US" dirty="0" smtClean="0"/>
              <a:t> by a conventional bacterial </a:t>
            </a:r>
            <a:r>
              <a:rPr lang="en-US" dirty="0" err="1" smtClean="0"/>
              <a:t>cytoplasmic</a:t>
            </a:r>
            <a:r>
              <a:rPr lang="en-US" dirty="0" smtClean="0"/>
              <a:t> membrane, </a:t>
            </a:r>
            <a:r>
              <a:rPr lang="en-US" dirty="0" err="1" smtClean="0"/>
              <a:t>periplasmic</a:t>
            </a:r>
            <a:r>
              <a:rPr lang="en-US" dirty="0" smtClean="0"/>
              <a:t> space and </a:t>
            </a:r>
            <a:r>
              <a:rPr lang="en-US" dirty="0" smtClean="0"/>
              <a:t>an outer envelope with LPS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periplasmic</a:t>
            </a:r>
            <a:r>
              <a:rPr lang="en-US" dirty="0" smtClean="0"/>
              <a:t> space does not contain a detectable </a:t>
            </a:r>
            <a:r>
              <a:rPr lang="en-US" dirty="0" err="1" smtClean="0"/>
              <a:t>peptidoglycan</a:t>
            </a:r>
            <a:r>
              <a:rPr lang="en-US" dirty="0" smtClean="0"/>
              <a:t> layer and </a:t>
            </a:r>
            <a:r>
              <a:rPr lang="en-US" dirty="0" smtClean="0"/>
              <a:t>the EB </a:t>
            </a:r>
            <a:r>
              <a:rPr lang="en-US" dirty="0" smtClean="0"/>
              <a:t>relies on disulphide cross-linked envelope proteins for osmotic stability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dirty="0" smtClean="0"/>
              <a:t>Elementary body enter host cell by receptor mediated </a:t>
            </a:r>
            <a:r>
              <a:rPr lang="en-US" sz="2600" dirty="0" err="1" smtClean="0"/>
              <a:t>endocytosis</a:t>
            </a:r>
            <a:r>
              <a:rPr lang="en-US" sz="2600" dirty="0" smtClean="0"/>
              <a:t> and the process of structural </a:t>
            </a:r>
            <a:r>
              <a:rPr lang="en-US" sz="2600" dirty="0" err="1" smtClean="0"/>
              <a:t>reorganisation</a:t>
            </a:r>
            <a:r>
              <a:rPr lang="en-US" sz="2600" dirty="0" smtClean="0"/>
              <a:t> converts elementary body into reticulate body</a:t>
            </a:r>
          </a:p>
          <a:p>
            <a:r>
              <a:rPr lang="en-US" sz="2600" dirty="0" smtClean="0">
                <a:solidFill>
                  <a:srgbClr val="FF0000"/>
                </a:solidFill>
              </a:rPr>
              <a:t>Reticulate body also known as initial body </a:t>
            </a:r>
            <a:r>
              <a:rPr lang="en-US" sz="2600" dirty="0" smtClean="0"/>
              <a:t>and is about 1</a:t>
            </a:r>
            <a:r>
              <a:rPr lang="el-GR" sz="2600" dirty="0" smtClean="0"/>
              <a:t>μ</a:t>
            </a:r>
            <a:r>
              <a:rPr lang="en-US" sz="2600" dirty="0" smtClean="0"/>
              <a:t>m (1000nm) in diameter</a:t>
            </a:r>
          </a:p>
          <a:p>
            <a:r>
              <a:rPr lang="en-US" sz="2600" dirty="0" smtClean="0"/>
              <a:t> They are large metabolically active and </a:t>
            </a:r>
            <a:r>
              <a:rPr lang="en-US" sz="2600" dirty="0" err="1" smtClean="0"/>
              <a:t>osmotically</a:t>
            </a:r>
            <a:r>
              <a:rPr lang="en-US" sz="2600" dirty="0" smtClean="0"/>
              <a:t> fragile</a:t>
            </a:r>
          </a:p>
          <a:p>
            <a:r>
              <a:rPr lang="en-US" sz="2600" dirty="0" smtClean="0"/>
              <a:t>Reticulate body </a:t>
            </a:r>
            <a:r>
              <a:rPr lang="en-US" sz="2600" dirty="0" smtClean="0"/>
              <a:t>  </a:t>
            </a:r>
            <a:r>
              <a:rPr lang="en-US" sz="2600" dirty="0" smtClean="0"/>
              <a:t>replicates by binary fission within the vacuole </a:t>
            </a:r>
            <a:endParaRPr lang="en-US" sz="2600" dirty="0" smtClean="0"/>
          </a:p>
          <a:p>
            <a:r>
              <a:rPr lang="en-US" sz="2600" dirty="0" smtClean="0"/>
              <a:t>The vacuole and its contents, when stained,</a:t>
            </a:r>
            <a:br>
              <a:rPr lang="en-US" sz="2600" dirty="0" smtClean="0"/>
            </a:br>
            <a:r>
              <a:rPr lang="en-US" sz="2600" dirty="0" smtClean="0"/>
              <a:t>are called an </a:t>
            </a:r>
            <a:r>
              <a:rPr lang="en-US" sz="2600" dirty="0" smtClean="0"/>
              <a:t>inclusion</a:t>
            </a:r>
          </a:p>
          <a:p>
            <a:r>
              <a:rPr lang="en-US" sz="2600" dirty="0" smtClean="0"/>
              <a:t> </a:t>
            </a:r>
            <a:r>
              <a:rPr lang="en-US" sz="2600" dirty="0" smtClean="0"/>
              <a:t>When a number of inclusions containing RBs of </a:t>
            </a:r>
            <a:r>
              <a:rPr lang="en-US" sz="2600" i="1" dirty="0" smtClean="0"/>
              <a:t>C. </a:t>
            </a:r>
            <a:r>
              <a:rPr lang="en-US" sz="2600" i="1" dirty="0" err="1" smtClean="0"/>
              <a:t>trachomatis</a:t>
            </a:r>
            <a:r>
              <a:rPr lang="en-US" sz="2600" i="1" dirty="0" smtClean="0"/>
              <a:t> </a:t>
            </a:r>
            <a:r>
              <a:rPr lang="en-US" sz="2600" dirty="0" smtClean="0"/>
              <a:t>are formed </a:t>
            </a:r>
            <a:r>
              <a:rPr lang="en-US" sz="2600" dirty="0" smtClean="0"/>
              <a:t>in an </a:t>
            </a:r>
            <a:r>
              <a:rPr lang="en-US" sz="2600" dirty="0" smtClean="0"/>
              <a:t>infected cell, fusion of these structures may </a:t>
            </a:r>
            <a:r>
              <a:rPr lang="en-US" sz="2600" dirty="0" smtClean="0"/>
              <a:t>occur</a:t>
            </a:r>
          </a:p>
          <a:p>
            <a:r>
              <a:rPr lang="en-US" sz="2600" dirty="0" smtClean="0"/>
              <a:t> </a:t>
            </a:r>
            <a:r>
              <a:rPr lang="en-US" sz="2600" dirty="0" smtClean="0"/>
              <a:t>About 20 hours after infection, </a:t>
            </a:r>
            <a:r>
              <a:rPr lang="en-US" sz="2600" dirty="0" smtClean="0"/>
              <a:t>the developmental </a:t>
            </a:r>
            <a:r>
              <a:rPr lang="en-US" sz="2600" dirty="0" smtClean="0"/>
              <a:t>cycle becomes asynchronous, with some RBs continuing to divide and remaining in</a:t>
            </a:r>
            <a:br>
              <a:rPr lang="en-US" sz="2600" dirty="0" smtClean="0"/>
            </a:br>
            <a:r>
              <a:rPr lang="en-US" sz="2600" dirty="0" smtClean="0"/>
              <a:t>close association with the inclusion membrane while others detach from the inclusion membrane</a:t>
            </a:r>
            <a:r>
              <a:rPr lang="en-US" sz="2600" dirty="0" smtClean="0"/>
              <a:t>, condense </a:t>
            </a:r>
            <a:r>
              <a:rPr lang="en-US" sz="2600" dirty="0" smtClean="0"/>
              <a:t>and mature to form EBs </a:t>
            </a:r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r>
              <a:rPr lang="en-US" sz="2600" dirty="0" smtClean="0"/>
              <a:t>In general, replication continues for up to 72 hours after infection</a:t>
            </a:r>
            <a:br>
              <a:rPr lang="en-US" sz="2600" dirty="0" smtClean="0"/>
            </a:br>
            <a:r>
              <a:rPr lang="en-US" sz="2600" dirty="0" smtClean="0"/>
              <a:t>when the host cell lyses releasing several hundred bodies which include EBs, RBs and </a:t>
            </a:r>
            <a:r>
              <a:rPr lang="en-US" sz="2600" dirty="0" smtClean="0"/>
              <a:t>intermediate forms</a:t>
            </a:r>
            <a:r>
              <a:rPr lang="en-US" sz="2600" dirty="0" smtClean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31899"/>
            <a:ext cx="5475725" cy="5354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cycle of </a:t>
            </a:r>
            <a:r>
              <a:rPr lang="en-US" dirty="0" err="1" smtClean="0"/>
              <a:t>chlamydia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4187" y="1600200"/>
            <a:ext cx="4873625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Chalmydial</a:t>
            </a:r>
            <a:r>
              <a:rPr lang="en-US" dirty="0" smtClean="0"/>
              <a:t> organism can agglutinate mouse hamster RBC both at 22</a:t>
            </a:r>
            <a:r>
              <a:rPr lang="en-US" baseline="30000" dirty="0" smtClean="0"/>
              <a:t>o</a:t>
            </a:r>
            <a:r>
              <a:rPr lang="en-US" dirty="0" smtClean="0"/>
              <a:t>C and </a:t>
            </a:r>
            <a:r>
              <a:rPr lang="en-US" dirty="0" smtClean="0"/>
              <a:t>37</a:t>
            </a:r>
            <a:r>
              <a:rPr lang="en-US" baseline="30000" dirty="0" smtClean="0"/>
              <a:t>o</a:t>
            </a:r>
            <a:r>
              <a:rPr lang="en-US" dirty="0" smtClean="0"/>
              <a:t>C. </a:t>
            </a:r>
            <a:endParaRPr lang="en-US" dirty="0" smtClean="0"/>
          </a:p>
          <a:p>
            <a:r>
              <a:rPr lang="en-US" dirty="0" smtClean="0"/>
              <a:t>Organisms are </a:t>
            </a:r>
            <a:r>
              <a:rPr lang="en-US" dirty="0" smtClean="0"/>
              <a:t>sensitive to penicillin, </a:t>
            </a:r>
            <a:r>
              <a:rPr lang="en-US" dirty="0" err="1" smtClean="0"/>
              <a:t>tetracyclin</a:t>
            </a:r>
            <a:r>
              <a:rPr lang="en-US" dirty="0" smtClean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chloramphenicol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Cultivation</a:t>
            </a:r>
          </a:p>
          <a:p>
            <a:r>
              <a:rPr lang="en-US" dirty="0" smtClean="0"/>
              <a:t>Since energy parasite require a living media for culture</a:t>
            </a:r>
          </a:p>
          <a:p>
            <a:r>
              <a:rPr lang="en-US" dirty="0" err="1" smtClean="0"/>
              <a:t>Embryonated</a:t>
            </a:r>
            <a:r>
              <a:rPr lang="en-US" dirty="0" smtClean="0"/>
              <a:t> chicken egg is used through yolk sac </a:t>
            </a:r>
            <a:r>
              <a:rPr lang="en-US" dirty="0" smtClean="0"/>
              <a:t>inoculation by </a:t>
            </a:r>
            <a:r>
              <a:rPr lang="en-US" dirty="0" smtClean="0"/>
              <a:t>5-7 days of age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After inoculation death by 6-10 days.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Important lesions are </a:t>
            </a:r>
            <a:r>
              <a:rPr lang="en-US" dirty="0" smtClean="0">
                <a:solidFill>
                  <a:srgbClr val="FF0000"/>
                </a:solidFill>
              </a:rPr>
              <a:t>patchy </a:t>
            </a:r>
            <a:r>
              <a:rPr lang="en-US" dirty="0" err="1" smtClean="0">
                <a:solidFill>
                  <a:srgbClr val="FF0000"/>
                </a:solidFill>
              </a:rPr>
              <a:t>haemorrhagic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lesions in </a:t>
            </a:r>
            <a:r>
              <a:rPr lang="en-US" dirty="0" smtClean="0">
                <a:solidFill>
                  <a:srgbClr val="FF0000"/>
                </a:solidFill>
              </a:rPr>
              <a:t>embryo, </a:t>
            </a:r>
            <a:r>
              <a:rPr lang="en-US" dirty="0" smtClean="0">
                <a:solidFill>
                  <a:srgbClr val="FF0000"/>
                </a:solidFill>
              </a:rPr>
              <a:t>severe </a:t>
            </a:r>
            <a:r>
              <a:rPr lang="en-US" dirty="0" smtClean="0">
                <a:solidFill>
                  <a:srgbClr val="FF0000"/>
                </a:solidFill>
              </a:rPr>
              <a:t>congestion of yolk sac vessels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I/p inoculation in mice and guinea pig indicated by death of mice or by rise in antibody </a:t>
            </a:r>
            <a:r>
              <a:rPr lang="en-US" dirty="0" err="1" smtClean="0"/>
              <a:t>titre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Cultivation in cell culture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Cellines</a:t>
            </a:r>
            <a:r>
              <a:rPr lang="en-US" dirty="0" smtClean="0"/>
              <a:t> such as McCoy, </a:t>
            </a:r>
            <a:r>
              <a:rPr lang="en-US" dirty="0" smtClean="0"/>
              <a:t>L</a:t>
            </a:r>
            <a:r>
              <a:rPr lang="en-US" dirty="0" smtClean="0"/>
              <a:t>929 </a:t>
            </a:r>
            <a:r>
              <a:rPr lang="en-US" dirty="0" smtClean="0"/>
              <a:t>, </a:t>
            </a:r>
            <a:r>
              <a:rPr lang="en-US" dirty="0" smtClean="0"/>
              <a:t>V</a:t>
            </a:r>
            <a:r>
              <a:rPr lang="en-US" dirty="0" smtClean="0"/>
              <a:t>ero</a:t>
            </a:r>
            <a:r>
              <a:rPr lang="en-US" dirty="0" smtClean="0"/>
              <a:t>, </a:t>
            </a:r>
            <a:r>
              <a:rPr lang="en-US" dirty="0" smtClean="0"/>
              <a:t>BHK-21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sensitivity of the isolation procedure </a:t>
            </a:r>
            <a:r>
              <a:rPr lang="en-US" dirty="0" smtClean="0"/>
              <a:t>is also </a:t>
            </a:r>
            <a:r>
              <a:rPr lang="en-US" dirty="0" smtClean="0"/>
              <a:t>increased by the use of non-replicating cells. 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This </a:t>
            </a:r>
            <a:r>
              <a:rPr lang="en-US" dirty="0" smtClean="0"/>
              <a:t>is achieved by the addition of </a:t>
            </a:r>
            <a:r>
              <a:rPr lang="en-US" dirty="0" err="1" smtClean="0"/>
              <a:t>cytotoxic</a:t>
            </a:r>
            <a:r>
              <a:rPr lang="en-US" dirty="0" smtClean="0"/>
              <a:t> chemicals </a:t>
            </a:r>
            <a:r>
              <a:rPr lang="en-US" dirty="0" smtClean="0"/>
              <a:t>such as </a:t>
            </a:r>
            <a:r>
              <a:rPr lang="en-US" dirty="0" err="1" smtClean="0"/>
              <a:t>cycloheximide</a:t>
            </a:r>
            <a:r>
              <a:rPr lang="en-US" dirty="0" smtClean="0"/>
              <a:t>, 5-iodo-2-deoxyuridine, </a:t>
            </a:r>
            <a:r>
              <a:rPr lang="en-US" dirty="0" err="1" smtClean="0"/>
              <a:t>cytochalasin</a:t>
            </a:r>
            <a:r>
              <a:rPr lang="en-US" dirty="0" smtClean="0"/>
              <a:t> B and emetine to the </a:t>
            </a:r>
            <a:r>
              <a:rPr lang="en-US" dirty="0" smtClean="0"/>
              <a:t>cell culture medium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Antibiotics to </a:t>
            </a:r>
            <a:r>
              <a:rPr lang="en-US" dirty="0" smtClean="0"/>
              <a:t>which </a:t>
            </a:r>
            <a:r>
              <a:rPr lang="en-US" dirty="0" err="1" smtClean="0"/>
              <a:t>chlamydiae</a:t>
            </a:r>
            <a:r>
              <a:rPr lang="en-US" dirty="0" smtClean="0"/>
              <a:t> </a:t>
            </a:r>
            <a:r>
              <a:rPr lang="en-US" dirty="0" smtClean="0"/>
              <a:t>are sensitive, such as </a:t>
            </a:r>
            <a:r>
              <a:rPr lang="en-US" dirty="0" smtClean="0"/>
              <a:t> </a:t>
            </a:r>
            <a:r>
              <a:rPr lang="en-US" dirty="0" err="1" smtClean="0"/>
              <a:t>xytetracycline</a:t>
            </a:r>
            <a:r>
              <a:rPr lang="en-US" dirty="0" smtClean="0"/>
              <a:t>, erythromycin and penicillin, should not </a:t>
            </a:r>
            <a:r>
              <a:rPr lang="en-US" dirty="0" smtClean="0"/>
              <a:t>be used </a:t>
            </a:r>
            <a:r>
              <a:rPr lang="en-US" dirty="0" smtClean="0"/>
              <a:t>in the cell culture medium.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Attachment of </a:t>
            </a:r>
            <a:r>
              <a:rPr lang="en-US" dirty="0" err="1" smtClean="0"/>
              <a:t>chlamydia</a:t>
            </a:r>
            <a:r>
              <a:rPr lang="en-US" dirty="0" smtClean="0"/>
              <a:t> to the cell is greatly enhanced by </a:t>
            </a:r>
            <a:r>
              <a:rPr lang="en-US" dirty="0" smtClean="0"/>
              <a:t>centrifugation of </a:t>
            </a:r>
            <a:r>
              <a:rPr lang="en-US" dirty="0" smtClean="0"/>
              <a:t>the sample onto monolayer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Sensitivity of isolation procedure enhanced by adding </a:t>
            </a:r>
            <a:r>
              <a:rPr lang="en-US" dirty="0" err="1" smtClean="0"/>
              <a:t>cycloheximide</a:t>
            </a: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After inoculation in cell </a:t>
            </a:r>
            <a:r>
              <a:rPr lang="en-US" dirty="0" smtClean="0"/>
              <a:t>culture growth </a:t>
            </a:r>
            <a:r>
              <a:rPr lang="en-US" dirty="0" smtClean="0"/>
              <a:t>of organism is determined by </a:t>
            </a:r>
            <a:r>
              <a:rPr lang="en-US" dirty="0" err="1" smtClean="0"/>
              <a:t>cytopathic</a:t>
            </a:r>
            <a:r>
              <a:rPr lang="en-US" dirty="0" smtClean="0"/>
              <a:t> effect and demonstration of inclusion bodies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Staining reactions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All these for </a:t>
            </a:r>
            <a:r>
              <a:rPr lang="en-US" dirty="0" err="1" smtClean="0"/>
              <a:t>elemetary</a:t>
            </a:r>
            <a:r>
              <a:rPr lang="en-US" dirty="0" smtClean="0"/>
              <a:t> and reticulate bodies of Chlamydia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Modified </a:t>
            </a:r>
            <a:r>
              <a:rPr lang="en-US" dirty="0" err="1" smtClean="0">
                <a:solidFill>
                  <a:srgbClr val="00B050"/>
                </a:solidFill>
              </a:rPr>
              <a:t>Ziehl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Neelsen</a:t>
            </a:r>
            <a:r>
              <a:rPr lang="en-US" dirty="0" smtClean="0">
                <a:solidFill>
                  <a:srgbClr val="00B050"/>
                </a:solidFill>
              </a:rPr>
              <a:t> staining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Castaneda </a:t>
            </a:r>
            <a:r>
              <a:rPr lang="en-US" dirty="0" smtClean="0">
                <a:solidFill>
                  <a:srgbClr val="00B050"/>
                </a:solidFill>
              </a:rPr>
              <a:t>staining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EB </a:t>
            </a:r>
            <a:r>
              <a:rPr lang="en-US" dirty="0" smtClean="0"/>
              <a:t>appear as </a:t>
            </a:r>
            <a:r>
              <a:rPr lang="en-US" dirty="0" smtClean="0"/>
              <a:t>blue and RB appear as </a:t>
            </a:r>
            <a:r>
              <a:rPr lang="en-US" dirty="0" smtClean="0"/>
              <a:t>red </a:t>
            </a:r>
            <a:r>
              <a:rPr lang="en-US" dirty="0" smtClean="0"/>
              <a:t> </a:t>
            </a:r>
            <a:r>
              <a:rPr lang="en-US" dirty="0" smtClean="0"/>
              <a:t>in Castaneda staining</a:t>
            </a:r>
          </a:p>
          <a:p>
            <a:r>
              <a:rPr lang="en-US" dirty="0" err="1" smtClean="0">
                <a:solidFill>
                  <a:srgbClr val="00B050"/>
                </a:solidFill>
              </a:rPr>
              <a:t>Geiminez</a:t>
            </a:r>
            <a:r>
              <a:rPr lang="en-US" dirty="0" smtClean="0">
                <a:solidFill>
                  <a:srgbClr val="00B050"/>
                </a:solidFill>
              </a:rPr>
              <a:t> staining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elementary bodies appear as red </a:t>
            </a:r>
            <a:r>
              <a:rPr lang="en-US" dirty="0" smtClean="0"/>
              <a:t>bodies and </a:t>
            </a:r>
            <a:r>
              <a:rPr lang="en-US" dirty="0" smtClean="0"/>
              <a:t>reticulate bodies appear as </a:t>
            </a:r>
            <a:r>
              <a:rPr lang="en-US" dirty="0" smtClean="0"/>
              <a:t>green in blue background </a:t>
            </a:r>
            <a:r>
              <a:rPr lang="en-US" dirty="0" smtClean="0"/>
              <a:t>in </a:t>
            </a:r>
            <a:r>
              <a:rPr lang="en-US" dirty="0" err="1" smtClean="0"/>
              <a:t>Macchiavella</a:t>
            </a:r>
            <a:r>
              <a:rPr lang="en-US" dirty="0" smtClean="0"/>
              <a:t> </a:t>
            </a:r>
            <a:r>
              <a:rPr lang="en-US" dirty="0" err="1" smtClean="0"/>
              <a:t>Giemenaz</a:t>
            </a:r>
            <a:r>
              <a:rPr lang="en-US" dirty="0" smtClean="0"/>
              <a:t> </a:t>
            </a:r>
            <a:r>
              <a:rPr lang="en-US" dirty="0" smtClean="0"/>
              <a:t>staining, </a:t>
            </a:r>
            <a:endParaRPr lang="en-US" dirty="0" smtClean="0"/>
          </a:p>
          <a:p>
            <a:r>
              <a:rPr lang="en-US" dirty="0" err="1" smtClean="0">
                <a:solidFill>
                  <a:srgbClr val="00B050"/>
                </a:solidFill>
              </a:rPr>
              <a:t>Methylene</a:t>
            </a:r>
            <a:r>
              <a:rPr lang="en-US" dirty="0" smtClean="0">
                <a:solidFill>
                  <a:srgbClr val="00B050"/>
                </a:solidFill>
              </a:rPr>
              <a:t> blue staining</a:t>
            </a:r>
          </a:p>
          <a:p>
            <a:r>
              <a:rPr lang="en-US" dirty="0" smtClean="0"/>
              <a:t> </a:t>
            </a:r>
            <a:r>
              <a:rPr lang="en-US" dirty="0" err="1" smtClean="0">
                <a:solidFill>
                  <a:srgbClr val="00B050"/>
                </a:solidFill>
              </a:rPr>
              <a:t>Giemsa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stainig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Elementary </a:t>
            </a:r>
            <a:r>
              <a:rPr lang="en-US" dirty="0" smtClean="0"/>
              <a:t>bodies appear as reddish purple </a:t>
            </a:r>
            <a:r>
              <a:rPr lang="en-US" dirty="0" smtClean="0"/>
              <a:t>bodies and RB appear in blue color</a:t>
            </a:r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antigens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Genus specific </a:t>
            </a:r>
            <a:r>
              <a:rPr lang="en-US" dirty="0" err="1" smtClean="0"/>
              <a:t>glycolipid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S</a:t>
            </a:r>
            <a:r>
              <a:rPr lang="en-US" dirty="0" smtClean="0"/>
              <a:t>pecies </a:t>
            </a:r>
            <a:r>
              <a:rPr lang="en-US" dirty="0" smtClean="0"/>
              <a:t>specific polypeptide and </a:t>
            </a:r>
            <a:r>
              <a:rPr lang="en-US" dirty="0" err="1" smtClean="0"/>
              <a:t>haemagglutinin</a:t>
            </a:r>
            <a:endParaRPr lang="en-US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pathogenicity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Orgainsm</a:t>
            </a:r>
            <a:r>
              <a:rPr lang="en-US" dirty="0" smtClean="0"/>
              <a:t> </a:t>
            </a:r>
            <a:r>
              <a:rPr lang="en-US" dirty="0" smtClean="0"/>
              <a:t>are seen in </a:t>
            </a:r>
            <a:r>
              <a:rPr lang="en-US" dirty="0" err="1" smtClean="0"/>
              <a:t>respitratory</a:t>
            </a:r>
            <a:r>
              <a:rPr lang="en-US" dirty="0" smtClean="0"/>
              <a:t> tract and intestinal tract of animals and </a:t>
            </a:r>
            <a:r>
              <a:rPr lang="en-US" dirty="0" smtClean="0"/>
              <a:t>birds</a:t>
            </a:r>
          </a:p>
          <a:p>
            <a:r>
              <a:rPr lang="en-US" dirty="0" smtClean="0"/>
              <a:t> </a:t>
            </a:r>
            <a:r>
              <a:rPr lang="en-US" dirty="0" smtClean="0"/>
              <a:t>Infection occur by </a:t>
            </a:r>
            <a:r>
              <a:rPr lang="en-US" dirty="0" smtClean="0"/>
              <a:t>ingestion, inhalation</a:t>
            </a:r>
            <a:r>
              <a:rPr lang="en-US" dirty="0" smtClean="0"/>
              <a:t>, vector transmission and egg transmission</a:t>
            </a:r>
          </a:p>
          <a:p>
            <a:r>
              <a:rPr lang="en-US" dirty="0" smtClean="0"/>
              <a:t>Most important organism is </a:t>
            </a:r>
            <a:r>
              <a:rPr lang="en-US" dirty="0" smtClean="0">
                <a:solidFill>
                  <a:srgbClr val="00B050"/>
                </a:solidFill>
              </a:rPr>
              <a:t>Chlamydia </a:t>
            </a:r>
            <a:r>
              <a:rPr lang="en-US" dirty="0" err="1" smtClean="0">
                <a:solidFill>
                  <a:srgbClr val="00B050"/>
                </a:solidFill>
              </a:rPr>
              <a:t>trachomatis</a:t>
            </a:r>
            <a:r>
              <a:rPr lang="en-US" dirty="0" smtClean="0"/>
              <a:t>: affecting human being</a:t>
            </a:r>
          </a:p>
          <a:p>
            <a:r>
              <a:rPr lang="en-US" dirty="0" smtClean="0"/>
              <a:t>It causes trachoma, inclusion body </a:t>
            </a:r>
            <a:r>
              <a:rPr lang="en-US" dirty="0" err="1" smtClean="0"/>
              <a:t>conjuctivitis</a:t>
            </a:r>
            <a:r>
              <a:rPr lang="en-US" dirty="0" smtClean="0"/>
              <a:t> and respiratory difficulties in </a:t>
            </a:r>
            <a:r>
              <a:rPr lang="en-US" dirty="0" smtClean="0"/>
              <a:t>infants</a:t>
            </a:r>
          </a:p>
          <a:p>
            <a:r>
              <a:rPr lang="en-US" dirty="0" smtClean="0"/>
              <a:t>Also causes </a:t>
            </a:r>
            <a:r>
              <a:rPr lang="en-US" dirty="0" err="1" smtClean="0"/>
              <a:t>lymphogranuloma</a:t>
            </a:r>
            <a:r>
              <a:rPr lang="en-US" dirty="0" smtClean="0"/>
              <a:t> </a:t>
            </a:r>
            <a:r>
              <a:rPr lang="en-US" dirty="0" err="1" smtClean="0"/>
              <a:t>venerum</a:t>
            </a:r>
            <a:r>
              <a:rPr lang="en-US" dirty="0" smtClean="0"/>
              <a:t> and arthritis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Chlamydia </a:t>
            </a:r>
            <a:r>
              <a:rPr lang="en-US" i="1" dirty="0" err="1" smtClean="0"/>
              <a:t>suis</a:t>
            </a:r>
            <a:r>
              <a:rPr lang="en-US" i="1" dirty="0" smtClean="0"/>
              <a:t> </a:t>
            </a:r>
            <a:r>
              <a:rPr lang="en-US" dirty="0" smtClean="0"/>
              <a:t>causes intestinal infection in pigs</a:t>
            </a:r>
          </a:p>
          <a:p>
            <a:r>
              <a:rPr lang="en-US" i="1" dirty="0" smtClean="0"/>
              <a:t>Chlamydia </a:t>
            </a:r>
            <a:r>
              <a:rPr lang="en-US" i="1" dirty="0" err="1" smtClean="0"/>
              <a:t>muridarium</a:t>
            </a:r>
            <a:r>
              <a:rPr lang="en-US" i="1" dirty="0" smtClean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respiraotory</a:t>
            </a:r>
            <a:r>
              <a:rPr lang="en-US" dirty="0" smtClean="0"/>
              <a:t> infection in mouse</a:t>
            </a:r>
          </a:p>
          <a:p>
            <a:r>
              <a:rPr lang="en-US" i="1" dirty="0" err="1" smtClean="0"/>
              <a:t>Chlamydophila</a:t>
            </a:r>
            <a:r>
              <a:rPr lang="en-US" i="1" dirty="0" smtClean="0"/>
              <a:t> </a:t>
            </a:r>
            <a:r>
              <a:rPr lang="en-US" i="1" dirty="0" err="1" smtClean="0"/>
              <a:t>psittaci</a:t>
            </a:r>
            <a:r>
              <a:rPr lang="en-US" dirty="0" smtClean="0"/>
              <a:t>: affects birds causing pneumonia and air </a:t>
            </a:r>
            <a:r>
              <a:rPr lang="en-US" dirty="0" err="1" smtClean="0"/>
              <a:t>saculitis</a:t>
            </a:r>
            <a:r>
              <a:rPr lang="en-US" dirty="0" smtClean="0"/>
              <a:t>, intestinal infection, </a:t>
            </a:r>
            <a:r>
              <a:rPr lang="en-US" dirty="0" err="1" smtClean="0"/>
              <a:t>diarrhoea</a:t>
            </a:r>
            <a:r>
              <a:rPr lang="en-US" dirty="0" smtClean="0"/>
              <a:t>, </a:t>
            </a:r>
            <a:r>
              <a:rPr lang="en-US" dirty="0" err="1" smtClean="0"/>
              <a:t>conjuctivitis</a:t>
            </a:r>
            <a:r>
              <a:rPr lang="en-US" dirty="0" smtClean="0"/>
              <a:t>, </a:t>
            </a:r>
            <a:r>
              <a:rPr lang="en-US" dirty="0" err="1" smtClean="0"/>
              <a:t>pericarditis</a:t>
            </a:r>
            <a:r>
              <a:rPr lang="en-US" dirty="0" smtClean="0"/>
              <a:t> and encephalitis</a:t>
            </a:r>
          </a:p>
          <a:p>
            <a:r>
              <a:rPr lang="en-US" dirty="0" smtClean="0"/>
              <a:t> Disease condition caused by </a:t>
            </a:r>
            <a:r>
              <a:rPr lang="en-US" dirty="0" err="1" smtClean="0"/>
              <a:t>chlamydia</a:t>
            </a:r>
            <a:r>
              <a:rPr lang="en-US" dirty="0" smtClean="0"/>
              <a:t> </a:t>
            </a:r>
            <a:r>
              <a:rPr lang="en-US" dirty="0" err="1" smtClean="0"/>
              <a:t>psittaci</a:t>
            </a:r>
            <a:r>
              <a:rPr lang="en-US" dirty="0" smtClean="0"/>
              <a:t> </a:t>
            </a:r>
            <a:r>
              <a:rPr lang="en-US" dirty="0" smtClean="0"/>
              <a:t>in </a:t>
            </a:r>
            <a:r>
              <a:rPr lang="en-US" dirty="0" err="1" smtClean="0"/>
              <a:t>psittacine</a:t>
            </a:r>
            <a:r>
              <a:rPr lang="en-US" dirty="0" smtClean="0"/>
              <a:t> birds is called </a:t>
            </a:r>
            <a:r>
              <a:rPr lang="en-US" dirty="0" smtClean="0">
                <a:solidFill>
                  <a:srgbClr val="00B050"/>
                </a:solidFill>
              </a:rPr>
              <a:t>psittacosis</a:t>
            </a:r>
            <a:r>
              <a:rPr lang="en-US" dirty="0" smtClean="0"/>
              <a:t> and non </a:t>
            </a:r>
            <a:r>
              <a:rPr lang="en-US" dirty="0" err="1" smtClean="0"/>
              <a:t>psittcine</a:t>
            </a:r>
            <a:r>
              <a:rPr lang="en-US" dirty="0" smtClean="0"/>
              <a:t> bird is </a:t>
            </a:r>
            <a:r>
              <a:rPr lang="en-US" dirty="0" smtClean="0"/>
              <a:t>called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ornithosis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In human </a:t>
            </a:r>
            <a:r>
              <a:rPr lang="en-US" dirty="0" smtClean="0"/>
              <a:t>being </a:t>
            </a:r>
            <a:r>
              <a:rPr lang="en-US" dirty="0" smtClean="0"/>
              <a:t>it will cause abortion and </a:t>
            </a:r>
            <a:r>
              <a:rPr lang="en-US" dirty="0" err="1" smtClean="0"/>
              <a:t>conjuctivitis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>
                <a:solidFill>
                  <a:srgbClr val="00B050"/>
                </a:solidFill>
              </a:rPr>
              <a:t>Chlamydophila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abortus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Enzootic </a:t>
            </a:r>
            <a:r>
              <a:rPr lang="en-US" dirty="0" err="1" smtClean="0"/>
              <a:t>abotrion</a:t>
            </a:r>
            <a:r>
              <a:rPr lang="en-US" dirty="0" smtClean="0"/>
              <a:t> in ewes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Abortion in goats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Enzootic bovine abortion (EBA)/ foot hill abortion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 pigs: abortion</a:t>
            </a:r>
          </a:p>
          <a:p>
            <a:r>
              <a:rPr lang="en-US" dirty="0" err="1" smtClean="0">
                <a:solidFill>
                  <a:srgbClr val="00B050"/>
                </a:solidFill>
              </a:rPr>
              <a:t>Chalmydophila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felis</a:t>
            </a:r>
            <a:r>
              <a:rPr lang="en-US" dirty="0" smtClean="0"/>
              <a:t>: responsible for feline </a:t>
            </a:r>
            <a:r>
              <a:rPr lang="en-US" dirty="0" err="1" smtClean="0"/>
              <a:t>pneumoniae</a:t>
            </a:r>
            <a:r>
              <a:rPr lang="en-US" dirty="0" smtClean="0"/>
              <a:t>/ cat distemper</a:t>
            </a:r>
          </a:p>
          <a:p>
            <a:r>
              <a:rPr lang="en-US" dirty="0" err="1" smtClean="0">
                <a:solidFill>
                  <a:srgbClr val="00B050"/>
                </a:solidFill>
              </a:rPr>
              <a:t>Chlamydophila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caviae</a:t>
            </a:r>
            <a:r>
              <a:rPr lang="en-US" dirty="0" smtClean="0"/>
              <a:t>: guinea pig inclusion body </a:t>
            </a:r>
            <a:r>
              <a:rPr lang="en-US" dirty="0" err="1" smtClean="0"/>
              <a:t>conjuctivitis</a:t>
            </a:r>
            <a:endParaRPr lang="en-US" dirty="0" smtClean="0"/>
          </a:p>
          <a:p>
            <a:r>
              <a:rPr lang="en-US" dirty="0" err="1" smtClean="0">
                <a:solidFill>
                  <a:srgbClr val="00B050"/>
                </a:solidFill>
              </a:rPr>
              <a:t>Chlamydophila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pecorum</a:t>
            </a:r>
            <a:r>
              <a:rPr lang="en-US" dirty="0" smtClean="0"/>
              <a:t>: in sheep intestinal infection, </a:t>
            </a:r>
            <a:r>
              <a:rPr lang="en-US" dirty="0" err="1" smtClean="0"/>
              <a:t>conjuctivitis</a:t>
            </a:r>
            <a:r>
              <a:rPr lang="en-US" dirty="0" smtClean="0"/>
              <a:t> and poly arthritis</a:t>
            </a:r>
          </a:p>
          <a:p>
            <a:r>
              <a:rPr lang="en-US" dirty="0" err="1" smtClean="0"/>
              <a:t>Polyarthits</a:t>
            </a:r>
            <a:r>
              <a:rPr lang="en-US" dirty="0" smtClean="0"/>
              <a:t> condition is known as </a:t>
            </a:r>
            <a:r>
              <a:rPr lang="en-US" dirty="0" smtClean="0">
                <a:solidFill>
                  <a:srgbClr val="FF0000"/>
                </a:solidFill>
              </a:rPr>
              <a:t>stiff lamb </a:t>
            </a:r>
            <a:r>
              <a:rPr lang="en-US" dirty="0" smtClean="0">
                <a:solidFill>
                  <a:srgbClr val="FF0000"/>
                </a:solidFill>
              </a:rPr>
              <a:t>disease</a:t>
            </a:r>
          </a:p>
          <a:p>
            <a:r>
              <a:rPr lang="en-US" dirty="0" smtClean="0"/>
              <a:t>In cattle : sporadic bovine encephalomyelitis, </a:t>
            </a:r>
            <a:r>
              <a:rPr lang="en-US" dirty="0" err="1" smtClean="0"/>
              <a:t>polyarthitis</a:t>
            </a:r>
            <a:r>
              <a:rPr lang="en-US" dirty="0" smtClean="0"/>
              <a:t> and </a:t>
            </a:r>
            <a:r>
              <a:rPr lang="en-US" dirty="0" err="1" smtClean="0"/>
              <a:t>metritis</a:t>
            </a:r>
            <a:endParaRPr lang="en-US" dirty="0" smtClean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 l="22807" r="23392"/>
          <a:stretch>
            <a:fillRect/>
          </a:stretch>
        </p:blipFill>
        <p:spPr bwMode="auto">
          <a:xfrm>
            <a:off x="5486400" y="152400"/>
            <a:ext cx="2362200" cy="242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History</a:t>
            </a:r>
          </a:p>
          <a:p>
            <a:r>
              <a:rPr lang="en-US" dirty="0" smtClean="0"/>
              <a:t>Clinical signs and lesions for tentative diagnosis</a:t>
            </a:r>
          </a:p>
          <a:p>
            <a:r>
              <a:rPr lang="en-US" dirty="0" smtClean="0"/>
              <a:t>Clinical material from aborted fetus, fetal stomach contents, vaginal mucus, lung liver </a:t>
            </a:r>
            <a:r>
              <a:rPr lang="en-US" i="1" dirty="0" smtClean="0"/>
              <a:t>etc</a:t>
            </a:r>
          </a:p>
          <a:p>
            <a:r>
              <a:rPr lang="en-US" dirty="0" err="1" smtClean="0"/>
              <a:t>polyarthitis</a:t>
            </a:r>
            <a:r>
              <a:rPr lang="en-US" dirty="0" smtClean="0"/>
              <a:t> </a:t>
            </a:r>
            <a:r>
              <a:rPr lang="en-US" dirty="0" smtClean="0"/>
              <a:t>synovial fluid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C</a:t>
            </a:r>
            <a:r>
              <a:rPr lang="en-US" dirty="0" err="1" smtClean="0"/>
              <a:t>onjuctivitis</a:t>
            </a:r>
            <a:r>
              <a:rPr lang="en-US" dirty="0" smtClean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conjuctival</a:t>
            </a:r>
            <a:r>
              <a:rPr lang="en-US" dirty="0" smtClean="0"/>
              <a:t> fluid</a:t>
            </a:r>
          </a:p>
          <a:p>
            <a:r>
              <a:rPr lang="en-US" dirty="0" smtClean="0"/>
              <a:t>In systemic infection, lungs, liver spleen and paired serum sample</a:t>
            </a:r>
          </a:p>
          <a:p>
            <a:r>
              <a:rPr lang="en-US" dirty="0" smtClean="0"/>
              <a:t> </a:t>
            </a:r>
            <a:r>
              <a:rPr lang="en-US" dirty="0" smtClean="0"/>
              <a:t>The </a:t>
            </a:r>
            <a:r>
              <a:rPr lang="en-US" dirty="0" smtClean="0"/>
              <a:t>specimen for isolation of organism should be transported in suitable transport medium such as </a:t>
            </a:r>
            <a:r>
              <a:rPr lang="en-US" dirty="0" smtClean="0">
                <a:solidFill>
                  <a:srgbClr val="FF0000"/>
                </a:solidFill>
              </a:rPr>
              <a:t>sucrose phosphate glutamate </a:t>
            </a:r>
            <a:r>
              <a:rPr lang="en-US" dirty="0" smtClean="0"/>
              <a:t>medium </a:t>
            </a:r>
            <a:r>
              <a:rPr lang="en-US" dirty="0" smtClean="0"/>
              <a:t>supplemented with fetal calf serum, </a:t>
            </a:r>
            <a:r>
              <a:rPr lang="en-US" dirty="0" err="1" smtClean="0"/>
              <a:t>aminoglycoside</a:t>
            </a:r>
            <a:r>
              <a:rPr lang="en-US" dirty="0" smtClean="0"/>
              <a:t> antibiotic and anti fungal agents</a:t>
            </a:r>
            <a:endParaRPr lang="en-US" dirty="0" smtClean="0"/>
          </a:p>
          <a:p>
            <a:r>
              <a:rPr lang="en-US" dirty="0" smtClean="0"/>
              <a:t>It is supplemented with </a:t>
            </a:r>
            <a:r>
              <a:rPr lang="en-US" dirty="0" smtClean="0"/>
              <a:t>calf </a:t>
            </a:r>
            <a:r>
              <a:rPr lang="en-US" dirty="0" smtClean="0"/>
              <a:t>serum, </a:t>
            </a:r>
            <a:r>
              <a:rPr lang="en-US" dirty="0" err="1" smtClean="0"/>
              <a:t>gentamycin</a:t>
            </a:r>
            <a:r>
              <a:rPr lang="en-US" dirty="0" smtClean="0"/>
              <a:t>, </a:t>
            </a:r>
            <a:r>
              <a:rPr lang="en-US" dirty="0" err="1" smtClean="0"/>
              <a:t>novobiocin</a:t>
            </a:r>
            <a:r>
              <a:rPr lang="en-US" dirty="0" smtClean="0"/>
              <a:t> and </a:t>
            </a:r>
            <a:r>
              <a:rPr lang="en-US" dirty="0" err="1" smtClean="0"/>
              <a:t>nystatin</a:t>
            </a:r>
            <a:endParaRPr lang="en-US" dirty="0" smtClean="0"/>
          </a:p>
          <a:p>
            <a:r>
              <a:rPr lang="en-US" dirty="0" smtClean="0"/>
              <a:t>All sample should be stored at 4</a:t>
            </a:r>
            <a:r>
              <a:rPr lang="en-US" baseline="30000" dirty="0" smtClean="0"/>
              <a:t>o</a:t>
            </a:r>
            <a:r>
              <a:rPr lang="en-US" dirty="0" smtClean="0"/>
              <a:t>C and at -70</a:t>
            </a:r>
            <a:r>
              <a:rPr lang="en-US" baseline="30000" dirty="0" smtClean="0"/>
              <a:t>o</a:t>
            </a:r>
            <a:r>
              <a:rPr lang="en-US" dirty="0" smtClean="0"/>
              <a:t>C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Direct microscopic examination of organism in tissue impression smears or in tissue sections and stain with one of the staining methods</a:t>
            </a:r>
          </a:p>
          <a:p>
            <a:r>
              <a:rPr lang="en-US" dirty="0" smtClean="0"/>
              <a:t>Isolation and identification of </a:t>
            </a:r>
            <a:r>
              <a:rPr lang="en-US" dirty="0" err="1" smtClean="0"/>
              <a:t>orgainsm</a:t>
            </a:r>
            <a:endParaRPr lang="en-US" dirty="0" smtClean="0"/>
          </a:p>
          <a:p>
            <a:r>
              <a:rPr lang="en-US" dirty="0" smtClean="0"/>
              <a:t>Serological test: for antibody detection like CFT, ELISA, indirect </a:t>
            </a:r>
            <a:r>
              <a:rPr lang="en-US" dirty="0" err="1" smtClean="0"/>
              <a:t>immunoflourescence</a:t>
            </a:r>
            <a:r>
              <a:rPr lang="en-US" dirty="0" smtClean="0"/>
              <a:t> and passive </a:t>
            </a:r>
            <a:r>
              <a:rPr lang="en-US" dirty="0" err="1" smtClean="0"/>
              <a:t>heamagglutination</a:t>
            </a:r>
            <a:r>
              <a:rPr lang="en-US" dirty="0" smtClean="0"/>
              <a:t> test</a:t>
            </a:r>
          </a:p>
          <a:p>
            <a:r>
              <a:rPr lang="en-US" dirty="0" smtClean="0"/>
              <a:t>For antigen </a:t>
            </a:r>
            <a:r>
              <a:rPr lang="en-US" dirty="0" err="1" smtClean="0"/>
              <a:t>demontration</a:t>
            </a:r>
            <a:r>
              <a:rPr lang="en-US" dirty="0" smtClean="0"/>
              <a:t> (FAT and IPT)</a:t>
            </a:r>
          </a:p>
          <a:p>
            <a:r>
              <a:rPr lang="en-US" dirty="0" smtClean="0"/>
              <a:t>For genome detection </a:t>
            </a:r>
            <a:r>
              <a:rPr lang="en-US" dirty="0" smtClean="0"/>
              <a:t>PCR</a:t>
            </a:r>
            <a:endParaRPr lang="en-US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smtClean="0"/>
              <a:t>control the infected material should be buried properly</a:t>
            </a:r>
          </a:p>
          <a:p>
            <a:r>
              <a:rPr lang="en-US" dirty="0" smtClean="0"/>
              <a:t> </a:t>
            </a:r>
            <a:r>
              <a:rPr lang="en-US" dirty="0" smtClean="0"/>
              <a:t>The </a:t>
            </a:r>
            <a:r>
              <a:rPr lang="en-US" dirty="0" smtClean="0"/>
              <a:t>imported birds particularly the </a:t>
            </a:r>
            <a:r>
              <a:rPr lang="en-US" dirty="0" err="1" smtClean="0"/>
              <a:t>psittacine</a:t>
            </a:r>
            <a:r>
              <a:rPr lang="en-US" dirty="0" smtClean="0"/>
              <a:t> birds should be held in quarantine and they should receive tetracycline medicated feed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193</TotalTime>
  <Words>957</Words>
  <Application>Microsoft Office PowerPoint</Application>
  <PresentationFormat>On-screen Show (4:3)</PresentationFormat>
  <Paragraphs>128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Oriel</vt:lpstr>
      <vt:lpstr>Borrelia</vt:lpstr>
      <vt:lpstr>Genus: Borrelia</vt:lpstr>
      <vt:lpstr>Avian spirochaetosis</vt:lpstr>
      <vt:lpstr>Slide 4</vt:lpstr>
      <vt:lpstr>Diagnosis </vt:lpstr>
      <vt:lpstr>Slide 6</vt:lpstr>
      <vt:lpstr>Genus chlamydia</vt:lpstr>
      <vt:lpstr>Genus chlamydia</vt:lpstr>
      <vt:lpstr>Slide 9</vt:lpstr>
      <vt:lpstr>Slide 10</vt:lpstr>
      <vt:lpstr>Slide 11</vt:lpstr>
      <vt:lpstr>Slide 12</vt:lpstr>
      <vt:lpstr>Slide 13</vt:lpstr>
      <vt:lpstr>Life cycle of chlamydia</vt:lpstr>
      <vt:lpstr>Slide 15</vt:lpstr>
      <vt:lpstr>Slide 16</vt:lpstr>
      <vt:lpstr>Staining reactions</vt:lpstr>
      <vt:lpstr>antigens</vt:lpstr>
      <vt:lpstr>pathogenicity</vt:lpstr>
      <vt:lpstr>Slide 20</vt:lpstr>
      <vt:lpstr>Slide 21</vt:lpstr>
      <vt:lpstr>Diagnosis</vt:lpstr>
      <vt:lpstr>Slide 23</vt:lpstr>
      <vt:lpstr>control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Borrelia</dc:title>
  <dc:creator>reviewer</dc:creator>
  <cp:lastModifiedBy>reviewer</cp:lastModifiedBy>
  <cp:revision>17</cp:revision>
  <dcterms:created xsi:type="dcterms:W3CDTF">2022-08-21T15:44:21Z</dcterms:created>
  <dcterms:modified xsi:type="dcterms:W3CDTF">2022-08-22T04:06:34Z</dcterms:modified>
</cp:coreProperties>
</file>