
<file path=[Content_Types].xml><?xml version="1.0" encoding="utf-8"?>
<Types xmlns="http://schemas.openxmlformats.org/package/2006/content-types">
  <Default Extension="bmp" ContentType="image/bmp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7" r:id="rId2"/>
    <p:sldId id="263" r:id="rId3"/>
    <p:sldId id="259" r:id="rId4"/>
    <p:sldId id="260" r:id="rId5"/>
    <p:sldId id="261" r:id="rId6"/>
    <p:sldId id="273" r:id="rId7"/>
    <p:sldId id="269" r:id="rId8"/>
    <p:sldId id="268" r:id="rId9"/>
    <p:sldId id="270" r:id="rId10"/>
    <p:sldId id="262" r:id="rId11"/>
    <p:sldId id="264" r:id="rId12"/>
    <p:sldId id="265" r:id="rId13"/>
    <p:sldId id="266" r:id="rId14"/>
    <p:sldId id="271" r:id="rId15"/>
    <p:sldId id="272" r:id="rId16"/>
    <p:sldId id="267" r:id="rId17"/>
    <p:sldId id="25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4660"/>
  </p:normalViewPr>
  <p:slideViewPr>
    <p:cSldViewPr snapToGrid="0">
      <p:cViewPr>
        <p:scale>
          <a:sx n="88" d="100"/>
          <a:sy n="88" d="100"/>
        </p:scale>
        <p:origin x="-120" y="-4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 noEditPoints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  <a:p>
            <a:endParaRPr lang="en-US"/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76C3DB-6D3F-4CC0-8515-760286C31EE4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  <a:p>
            <a:endParaRPr lang="en-US"/>
          </a:p>
        </p:txBody>
      </p:sp>
      <p:sp>
        <p:nvSpPr>
          <p:cNvPr id="5" name="Notes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7D3F08-DAB7-4EAC-A73A-0A87C53E1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104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3A708690-33BA-45DD-B6ED-39EC96D7C0FB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C284A88D-88DC-4C3A-AD32-5C8563CE227B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CC45981-83C3-4CA6-98D7-B823585F1DDC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AD15650-C392-453E-B476-ECAC41CCD875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CAAAC629-4CB5-4AF3-B3CF-F36FBAC46214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2CEF9275-7ABD-4178-B212-FEFD3EC305BB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6D49603-8275-4FEF-BDE0-09745DDF5F9A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4A7070B-1743-4B51-9B32-421C1C8A00CB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DA409901-CC45-48C9-87BB-5C600BE8B94A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A4B3AA5-B167-4BFA-B6E0-1E9753C7064A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F785B0CF-F1E6-494A-9E17-4D53F0CAC5D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D63232CE-ADC3-4BBD-A867-84C502D4F574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CAA118C1-8E4A-4FDB-A44F-D0C4E1530B2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3C1F424-D01D-4A2D-BCFF-A9D2710DEC50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94E6BA8E-5013-4AF3-9037-515E87E06B39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BFF5BDB-A8E1-4DC7-ACC9-52152A869B12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B39D82B-9DC2-4329-B692-016592D46A21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 noEditPoints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8" name="Footer Placeholder 7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4" name="Footer Placeholder 3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3" name="Footer Placeholder 2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EditPoints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 noEditPoints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FD7FF2-845F-41B9-944F-35B90659B7D6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m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m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bmp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bmp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bmp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bmp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bmp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bmp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7200" b="1">
                <a:solidFill>
                  <a:srgbClr val="002060"/>
                </a:solidFill>
              </a:rPr>
              <a:t>Biological Membranes and Transport </a:t>
            </a:r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200" b="1">
                <a:solidFill>
                  <a:srgbClr val="FF0000"/>
                </a:solidFill>
              </a:rPr>
              <a:t>Presented by: </a:t>
            </a:r>
          </a:p>
          <a:p>
            <a:r>
              <a:rPr lang="en-US" sz="3200" b="1">
                <a:solidFill>
                  <a:srgbClr val="FF0000"/>
                </a:solidFill>
              </a:rPr>
              <a:t>Dr. Kalpana Jorasia</a:t>
            </a:r>
          </a:p>
          <a:p>
            <a:r>
              <a:rPr lang="en-US" sz="3200" b="1">
                <a:solidFill>
                  <a:srgbClr val="FF0000"/>
                </a:solidFill>
              </a:rPr>
              <a:t>Assistant professor(VBC)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369543" y="1060154"/>
            <a:ext cx="11452913" cy="5116809"/>
          </a:xfrm>
          <a:prstGeom prst="rect">
            <a:avLst/>
          </a:prstGeo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dirty="0"/>
              <a:t>T</a:t>
            </a:r>
            <a:r>
              <a:rPr lang="en-US" dirty="0"/>
              <a:t>he </a:t>
            </a:r>
            <a:r>
              <a:rPr dirty="0"/>
              <a:t>plasma membrane is an envelope</a:t>
            </a:r>
            <a:r>
              <a:rPr lang="en-US" dirty="0"/>
              <a:t> </a:t>
            </a:r>
            <a:r>
              <a:rPr dirty="0"/>
              <a:t>surrounding the cell. </a:t>
            </a:r>
            <a:r>
              <a:rPr dirty="0" err="1"/>
              <a:t>lt</a:t>
            </a:r>
            <a:r>
              <a:rPr lang="en-US" dirty="0"/>
              <a:t> </a:t>
            </a:r>
            <a:r>
              <a:rPr dirty="0"/>
              <a:t>separates and protects the cell from the external</a:t>
            </a:r>
            <a:r>
              <a:rPr lang="en-US" dirty="0"/>
              <a:t> </a:t>
            </a:r>
            <a:r>
              <a:rPr dirty="0"/>
              <a:t>hostile environment</a:t>
            </a:r>
            <a:r>
              <a:rPr lang="en-US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4400" b="1" dirty="0">
                <a:solidFill>
                  <a:srgbClr val="FF0000"/>
                </a:solidFill>
              </a:rPr>
              <a:t>Chemical composition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The membranes are composed of </a:t>
            </a:r>
            <a:r>
              <a:rPr lang="en-US" sz="2800" dirty="0">
                <a:solidFill>
                  <a:srgbClr val="FF0000"/>
                </a:solidFill>
              </a:rPr>
              <a:t>lipids, proteins and carbohydrates</a:t>
            </a:r>
            <a:r>
              <a:rPr lang="en-US" sz="2800" dirty="0">
                <a:solidFill>
                  <a:schemeClr val="tx1"/>
                </a:solidFill>
              </a:rPr>
              <a:t>. The actual composition differs from tissue to tissue.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Among the lipids, </a:t>
            </a:r>
            <a:r>
              <a:rPr lang="en-US" sz="2800" dirty="0">
                <a:solidFill>
                  <a:srgbClr val="FF0000"/>
                </a:solidFill>
              </a:rPr>
              <a:t>amphipathic lipids</a:t>
            </a:r>
            <a:r>
              <a:rPr lang="en-US" sz="2800" dirty="0">
                <a:solidFill>
                  <a:schemeClr val="tx1"/>
                </a:solidFill>
              </a:rPr>
              <a:t> (containing hydrophobic and hydrophilic groups) namely phospholipids, glycolipids and cholesterol, are found in the animal membranes.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Many animal cell membranes have thick coating of complex polysaccharides referred to as </a:t>
            </a:r>
            <a:r>
              <a:rPr lang="en-US" sz="2800" dirty="0" err="1">
                <a:solidFill>
                  <a:srgbClr val="FF0000"/>
                </a:solidFill>
              </a:rPr>
              <a:t>glycocalyx</a:t>
            </a:r>
            <a:r>
              <a:rPr lang="en-US" sz="2800" dirty="0">
                <a:solidFill>
                  <a:schemeClr val="tx1"/>
                </a:solidFill>
              </a:rPr>
              <a:t>. The oligosaccharides of </a:t>
            </a:r>
            <a:r>
              <a:rPr lang="en-US" sz="2800" dirty="0" err="1">
                <a:solidFill>
                  <a:schemeClr val="tx1"/>
                </a:solidFill>
              </a:rPr>
              <a:t>glycocalyx</a:t>
            </a:r>
            <a:r>
              <a:rPr lang="en-US" sz="2800" dirty="0">
                <a:solidFill>
                  <a:schemeClr val="tx1"/>
                </a:solidFill>
              </a:rPr>
              <a:t> interact with collagen of intercellular matrix in the tissue.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3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b="1">
                <a:solidFill>
                  <a:srgbClr val="FF0000"/>
                </a:solidFill>
              </a:rPr>
              <a:t>Structure of membranes</a:t>
            </a:r>
            <a:endParaRPr b="1">
              <a:solidFill>
                <a:srgbClr val="FF0000"/>
              </a:solidFill>
            </a:endParaRPr>
          </a:p>
          <a:p>
            <a:endParaRPr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322678" y="1325725"/>
            <a:ext cx="11562266" cy="5226163"/>
          </a:xfrm>
          <a:prstGeom prst="rect">
            <a:avLst/>
          </a:prstGeom>
        </p:spPr>
        <p:txBody>
          <a:bodyPr/>
          <a:lstStyle/>
          <a:p>
            <a:r>
              <a:t>A lipid bilayer model originally proposed for</a:t>
            </a:r>
            <a:r>
              <a:rPr lang="en-US"/>
              <a:t> </a:t>
            </a:r>
            <a:r>
              <a:t>membrane structure in 1935 by </a:t>
            </a:r>
            <a:r>
              <a:rPr>
                <a:solidFill>
                  <a:srgbClr val="FF0000"/>
                </a:solidFill>
              </a:rPr>
              <a:t>Davson and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>
                <a:solidFill>
                  <a:srgbClr val="FF0000"/>
                </a:solidFill>
              </a:rPr>
              <a:t>Danielle</a:t>
            </a:r>
            <a:r>
              <a:t> has been modified</a:t>
            </a:r>
            <a:r>
              <a:rPr lang="en-US"/>
              <a:t>.</a:t>
            </a:r>
          </a:p>
          <a:p>
            <a:r>
              <a:rPr lang="en-US">
                <a:solidFill>
                  <a:srgbClr val="7030A0"/>
                </a:solidFill>
                <a:highlight>
                  <a:srgbClr val="FFFF00"/>
                </a:highlight>
              </a:rPr>
              <a:t>Fluid mosaic model</a:t>
            </a:r>
            <a:r>
              <a:rPr lang="en-US"/>
              <a:t>, proposed by </a:t>
            </a:r>
            <a:r>
              <a:rPr lang="en-US">
                <a:solidFill>
                  <a:srgbClr val="FF0000"/>
                </a:solidFill>
              </a:rPr>
              <a:t>Singer and Nicolson</a:t>
            </a:r>
            <a:r>
              <a:rPr lang="en-US"/>
              <a:t>, is a more recent and acceptable model for membrane structure. </a:t>
            </a:r>
          </a:p>
          <a:p>
            <a:r>
              <a:rPr lang="en-US"/>
              <a:t>The biological membranes usually have a thickness of 5-8 nm. </a:t>
            </a:r>
          </a:p>
          <a:p>
            <a:r>
              <a:rPr lang="en-US"/>
              <a:t>A membrane is essentially composed of a </a:t>
            </a:r>
            <a:r>
              <a:rPr lang="en-US">
                <a:solidFill>
                  <a:srgbClr val="FF0000"/>
                </a:solidFill>
              </a:rPr>
              <a:t>lipid bilayer</a:t>
            </a:r>
            <a:r>
              <a:rPr lang="en-US"/>
              <a:t>. </a:t>
            </a:r>
          </a:p>
          <a:p>
            <a:r>
              <a:rPr lang="en-US"/>
              <a:t>The </a:t>
            </a:r>
            <a:r>
              <a:rPr lang="en-US">
                <a:solidFill>
                  <a:srgbClr val="FF0000"/>
                </a:solidFill>
              </a:rPr>
              <a:t>hydrophobic (nonpolar)</a:t>
            </a:r>
            <a:r>
              <a:rPr lang="en-US"/>
              <a:t> regions of the lipids face each other at the core of the bilayer while the </a:t>
            </a:r>
            <a:r>
              <a:rPr lang="en-US">
                <a:solidFill>
                  <a:srgbClr val="FF0000"/>
                </a:solidFill>
              </a:rPr>
              <a:t>hydrophilic (polar)</a:t>
            </a:r>
            <a:r>
              <a:rPr lang="en-US"/>
              <a:t> regions face outward.</a:t>
            </a:r>
          </a:p>
          <a:p>
            <a:r>
              <a:rPr lang="en-US">
                <a:solidFill>
                  <a:srgbClr val="FF0000"/>
                </a:solidFill>
              </a:rPr>
              <a:t>Globular proteins</a:t>
            </a:r>
            <a:r>
              <a:rPr lang="en-US"/>
              <a:t> are </a:t>
            </a:r>
            <a:r>
              <a:rPr lang="en-US">
                <a:solidFill>
                  <a:srgbClr val="FF0000"/>
                </a:solidFill>
              </a:rPr>
              <a:t>irregularly embedded</a:t>
            </a:r>
            <a:r>
              <a:rPr lang="en-US"/>
              <a:t> in the lipid bilayer. Membrane proteins are categorized into two groups.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73130" y="365125"/>
            <a:ext cx="10770713" cy="591852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8200" y="365125"/>
            <a:ext cx="10515600" cy="278898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endParaRPr/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400788" y="1060154"/>
            <a:ext cx="11484156" cy="511680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>
                <a:solidFill>
                  <a:srgbClr val="FF0000"/>
                </a:solidFill>
                <a:highlight>
                  <a:srgbClr val="FFFF00"/>
                </a:highlight>
              </a:rPr>
              <a:t>1.</a:t>
            </a:r>
            <a:r>
              <a:rPr>
                <a:highlight>
                  <a:srgbClr val="FFFF00"/>
                </a:highlight>
              </a:rPr>
              <a:t> </a:t>
            </a:r>
            <a:r>
              <a:rPr>
                <a:solidFill>
                  <a:srgbClr val="FF0000"/>
                </a:solidFill>
                <a:highlight>
                  <a:srgbClr val="FFFF00"/>
                </a:highlight>
              </a:rPr>
              <a:t>Extrinsic (peripheral) membrane</a:t>
            </a:r>
            <a:r>
              <a:t> proteins</a:t>
            </a:r>
            <a:r>
              <a:rPr lang="en-US"/>
              <a:t> </a:t>
            </a:r>
            <a:r>
              <a:t>are loosely held to the surface of the membrane</a:t>
            </a:r>
            <a:r>
              <a:rPr lang="en-US"/>
              <a:t> </a:t>
            </a:r>
            <a:r>
              <a:t>and they can be easily separated e.g. </a:t>
            </a:r>
            <a:r>
              <a:rPr>
                <a:solidFill>
                  <a:srgbClr val="FF0000"/>
                </a:solidFill>
              </a:rPr>
              <a:t>cytochrome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>
                <a:solidFill>
                  <a:srgbClr val="FF0000"/>
                </a:solidFill>
              </a:rPr>
              <a:t>c of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>
                <a:solidFill>
                  <a:srgbClr val="FF0000"/>
                </a:solidFill>
              </a:rPr>
              <a:t>mitochondria</a:t>
            </a:r>
            <a:r>
              <a:rPr lang="en-US">
                <a:solidFill>
                  <a:srgbClr val="FF0000"/>
                </a:solidFill>
              </a:rPr>
              <a:t>.</a:t>
            </a:r>
          </a:p>
          <a:p>
            <a:pPr marL="0" indent="0">
              <a:buNone/>
            </a:pPr>
            <a:r>
              <a:rPr lang="en-US">
                <a:solidFill>
                  <a:srgbClr val="FF0000"/>
                </a:solidFill>
                <a:highlight>
                  <a:srgbClr val="FFFF00"/>
                </a:highlight>
              </a:rPr>
              <a:t>2.</a:t>
            </a:r>
            <a:r>
              <a:rPr lang="en-US">
                <a:highlight>
                  <a:srgbClr val="FFFF00"/>
                </a:highlight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00"/>
                </a:highlight>
              </a:rPr>
              <a:t>Intrinsic (integral) membrane</a:t>
            </a:r>
            <a:r>
              <a:rPr lang="en-US"/>
              <a:t> proteins are tightly bound to the lipid bilayer and they can be separated only by the use of detergents or organic solvents e.g. </a:t>
            </a:r>
            <a:r>
              <a:rPr lang="en-US">
                <a:solidFill>
                  <a:srgbClr val="FF0000"/>
                </a:solidFill>
              </a:rPr>
              <a:t>hormone receptors, cytochrome P</a:t>
            </a:r>
            <a:r>
              <a:rPr lang="en-US" baseline="-25000">
                <a:solidFill>
                  <a:srgbClr val="FF0000"/>
                </a:solidFill>
              </a:rPr>
              <a:t>450</a:t>
            </a:r>
            <a:r>
              <a:rPr lang="en-US" baseline="0">
                <a:solidFill>
                  <a:srgbClr val="FF0000"/>
                </a:solidFill>
              </a:rPr>
              <a:t>.</a:t>
            </a:r>
          </a:p>
          <a:p>
            <a:pPr marL="0" indent="0">
              <a:buNone/>
            </a:pPr>
            <a:endParaRPr lang="en-US" baseline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aseline="0">
                <a:solidFill>
                  <a:schemeClr val="tx1"/>
                </a:solidFill>
              </a:rPr>
              <a:t>The membrane is asymmetric due to the irregular distribution of proteins.</a:t>
            </a:r>
          </a:p>
          <a:p>
            <a:pPr marL="0" indent="0">
              <a:buNone/>
            </a:pPr>
            <a:endParaRPr lang="en-US" baseline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baseline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 flipV="1">
            <a:off x="838200" y="315964"/>
            <a:ext cx="10515600" cy="49161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endParaRPr/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838200" y="669607"/>
            <a:ext cx="10515600" cy="5507356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b="1">
                <a:solidFill>
                  <a:srgbClr val="FF0000"/>
                </a:solidFill>
              </a:rPr>
              <a:t>Permeability coefficient: </a:t>
            </a:r>
            <a:r>
              <a:rPr lang="en-US" b="0">
                <a:solidFill>
                  <a:schemeClr val="tx1"/>
                </a:solidFill>
              </a:rPr>
              <a:t>It represents the measure of the ability of a molecule to diffuse across a biological membrane.</a:t>
            </a:r>
          </a:p>
          <a:p>
            <a:pPr marL="0" indent="0">
              <a:buNone/>
            </a:pPr>
            <a:r>
              <a:rPr lang="en-US" b="0">
                <a:solidFill>
                  <a:schemeClr val="tx1"/>
                </a:solidFill>
              </a:rPr>
              <a:t>The permeability coefficients of molecules correlate with their solubilities in non-polar solvents.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3361" y="2593662"/>
            <a:ext cx="9558510" cy="39987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b="1">
                <a:solidFill>
                  <a:srgbClr val="FF0000"/>
                </a:solidFill>
              </a:rPr>
              <a:t>T</a:t>
            </a:r>
            <a:r>
              <a:rPr lang="en-US" b="1">
                <a:solidFill>
                  <a:srgbClr val="FF0000"/>
                </a:solidFill>
              </a:rPr>
              <a:t>ran</a:t>
            </a:r>
            <a:r>
              <a:rPr b="1">
                <a:solidFill>
                  <a:srgbClr val="FF0000"/>
                </a:solidFill>
              </a:rPr>
              <a:t>sport </a:t>
            </a:r>
            <a:r>
              <a:rPr lang="en-US" b="1">
                <a:solidFill>
                  <a:srgbClr val="FF0000"/>
                </a:solidFill>
              </a:rPr>
              <a:t>across </a:t>
            </a:r>
            <a:r>
              <a:rPr b="1">
                <a:solidFill>
                  <a:srgbClr val="FF0000"/>
                </a:solidFill>
              </a:rPr>
              <a:t>m</a:t>
            </a:r>
            <a:r>
              <a:rPr lang="en-US" b="1">
                <a:solidFill>
                  <a:srgbClr val="FF0000"/>
                </a:solidFill>
              </a:rPr>
              <a:t>em</a:t>
            </a:r>
            <a:r>
              <a:rPr b="1">
                <a:solidFill>
                  <a:srgbClr val="FF0000"/>
                </a:solidFill>
              </a:rPr>
              <a:t>bra</a:t>
            </a:r>
            <a:r>
              <a:rPr lang="en-US" b="1">
                <a:solidFill>
                  <a:srgbClr val="FF0000"/>
                </a:solidFill>
              </a:rPr>
              <a:t>n</a:t>
            </a:r>
            <a:r>
              <a:rPr b="1">
                <a:solidFill>
                  <a:srgbClr val="FF0000"/>
                </a:solidFill>
              </a:rPr>
              <a:t>es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307056" y="1825625"/>
            <a:ext cx="11437291" cy="4351338"/>
          </a:xfrm>
          <a:prstGeom prst="rect">
            <a:avLst/>
          </a:prstGeom>
        </p:spPr>
        <p:txBody>
          <a:bodyPr/>
          <a:lstStyle/>
          <a:p>
            <a:r>
              <a:t>The biological membranes are relatively</a:t>
            </a:r>
            <a:r>
              <a:rPr lang="en-US"/>
              <a:t> </a:t>
            </a:r>
            <a:r>
              <a:t>impermeable. The membrane, therefore, forms a</a:t>
            </a:r>
            <a:r>
              <a:rPr lang="en-US"/>
              <a:t> </a:t>
            </a:r>
            <a:r>
              <a:t>barrier for the free passage of compounds across</a:t>
            </a:r>
            <a:r>
              <a:rPr lang="en-US"/>
              <a:t> </a:t>
            </a:r>
            <a:r>
              <a:t>it</a:t>
            </a:r>
            <a:r>
              <a:rPr lang="en-US"/>
              <a:t>.</a:t>
            </a:r>
          </a:p>
          <a:p>
            <a:r>
              <a:rPr lang="en-US"/>
              <a:t>At least three distinct mechanisms for the transport of solutes (metabolites) through the membrane</a:t>
            </a:r>
          </a:p>
          <a:p>
            <a:pPr marL="0" indent="0">
              <a:buNone/>
            </a:pPr>
            <a:r>
              <a:rPr lang="en-US" b="1">
                <a:solidFill>
                  <a:srgbClr val="FF0000"/>
                </a:solidFill>
              </a:rPr>
              <a:t>1. Passive diffusion</a:t>
            </a:r>
          </a:p>
          <a:p>
            <a:pPr marL="0" indent="0">
              <a:buNone/>
            </a:pPr>
            <a:r>
              <a:rPr lang="en-US" b="1">
                <a:solidFill>
                  <a:srgbClr val="FF0000"/>
                </a:solidFill>
              </a:rPr>
              <a:t>2. Facilitated diffusion</a:t>
            </a:r>
          </a:p>
          <a:p>
            <a:pPr marL="0" indent="0">
              <a:buNone/>
            </a:pPr>
            <a:r>
              <a:rPr lang="en-US" b="1">
                <a:solidFill>
                  <a:srgbClr val="FF0000"/>
                </a:solidFill>
              </a:rPr>
              <a:t>3. Active transport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 flipV="1">
            <a:off x="838200" y="269098"/>
            <a:ext cx="10515600" cy="96027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endParaRPr/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510141" y="841447"/>
            <a:ext cx="11374803" cy="5460491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b="1">
                <a:solidFill>
                  <a:srgbClr val="FF0000"/>
                </a:solidFill>
                <a:highlight>
                  <a:srgbClr val="FFFF00"/>
                </a:highlight>
              </a:rPr>
              <a:t>1. </a:t>
            </a:r>
            <a:r>
              <a:rPr lang="en-US" b="1">
                <a:solidFill>
                  <a:srgbClr val="FF0000"/>
                </a:solidFill>
                <a:highlight>
                  <a:srgbClr val="FFFF00"/>
                </a:highlight>
              </a:rPr>
              <a:t>P</a:t>
            </a:r>
            <a:r>
              <a:rPr b="1">
                <a:solidFill>
                  <a:srgbClr val="FF0000"/>
                </a:solidFill>
                <a:highlight>
                  <a:srgbClr val="FFFF00"/>
                </a:highlight>
              </a:rPr>
              <a:t>assive diffusion</a:t>
            </a:r>
            <a:r>
              <a:rPr b="1">
                <a:solidFill>
                  <a:srgbClr val="FF0000"/>
                </a:solidFill>
              </a:rPr>
              <a:t> </a:t>
            </a:r>
            <a:r>
              <a:t>: This is a simple process</a:t>
            </a:r>
            <a:r>
              <a:rPr lang="en-US"/>
              <a:t> </a:t>
            </a:r>
            <a:r>
              <a:t>which </a:t>
            </a:r>
            <a:r>
              <a:rPr>
                <a:solidFill>
                  <a:srgbClr val="FF0000"/>
                </a:solidFill>
              </a:rPr>
              <a:t>depends</a:t>
            </a:r>
            <a:r>
              <a:t> on the</a:t>
            </a:r>
            <a:r>
              <a:rPr lang="en-US"/>
              <a:t> </a:t>
            </a:r>
            <a:r>
              <a:rPr>
                <a:solidFill>
                  <a:srgbClr val="FF0000"/>
                </a:solidFill>
              </a:rPr>
              <a:t>concentration gradient</a:t>
            </a:r>
            <a:r>
              <a:t> of</a:t>
            </a:r>
            <a:r>
              <a:rPr lang="en-US"/>
              <a:t> </a:t>
            </a:r>
            <a:r>
              <a:t>a </a:t>
            </a:r>
            <a:r>
              <a:rPr lang="en-US"/>
              <a:t>p</a:t>
            </a:r>
            <a:r>
              <a:t>articular substance across the membrane.</a:t>
            </a:r>
          </a:p>
          <a:p>
            <a:pPr marL="0" indent="0">
              <a:buNone/>
            </a:pPr>
            <a:r>
              <a:rPr lang="en-US"/>
              <a:t>Example: p</a:t>
            </a:r>
            <a:r>
              <a:t>assage of water and gases 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t>This process </a:t>
            </a:r>
            <a:r>
              <a:rPr>
                <a:solidFill>
                  <a:srgbClr val="FF0000"/>
                </a:solidFill>
              </a:rPr>
              <a:t>does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>
                <a:solidFill>
                  <a:srgbClr val="FF0000"/>
                </a:solidFill>
              </a:rPr>
              <a:t>not require energy.</a:t>
            </a:r>
            <a:endParaRPr 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b="1">
                <a:solidFill>
                  <a:srgbClr val="FF0000"/>
                </a:solidFill>
                <a:highlight>
                  <a:srgbClr val="FFFF00"/>
                </a:highlight>
              </a:rPr>
              <a:t>2. Facilitated diffusion </a:t>
            </a:r>
            <a:r>
              <a:rPr lang="en-US">
                <a:solidFill>
                  <a:schemeClr val="tx1"/>
                </a:solidFill>
              </a:rPr>
              <a:t>: This is somewhat comparable with diffusion since the solute moves along the concentration gradient (from higher to lower concentration)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F0000"/>
                </a:solidFill>
              </a:rPr>
              <a:t>No energy</a:t>
            </a:r>
            <a:r>
              <a:rPr lang="en-US">
                <a:solidFill>
                  <a:schemeClr val="tx1"/>
                </a:solidFill>
              </a:rPr>
              <a:t> is needed.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Facilitated diffusion occurs through the mediation of </a:t>
            </a:r>
            <a:r>
              <a:rPr lang="en-US">
                <a:solidFill>
                  <a:srgbClr val="FF0000"/>
                </a:solidFill>
              </a:rPr>
              <a:t>carrier or transport proteins</a:t>
            </a:r>
            <a:r>
              <a:rPr lang="en-US">
                <a:solidFill>
                  <a:schemeClr val="tx1"/>
                </a:solidFill>
              </a:rPr>
              <a:t>. Specific carrier proteins for the transport of glucose, galactose, leucine, phenylalanine etc. have been isolated and characterized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 flipV="1">
            <a:off x="838200" y="253476"/>
            <a:ext cx="10515600" cy="111649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endParaRPr/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0" y="309301"/>
            <a:ext cx="7401468" cy="5164678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algn="just"/>
            <a:r>
              <a:rPr b="1">
                <a:solidFill>
                  <a:srgbClr val="FF0000"/>
                </a:solidFill>
              </a:rPr>
              <a:t>Mechanism of facilitated diffusion</a:t>
            </a:r>
            <a:r>
              <a:t> : </a:t>
            </a:r>
            <a:r>
              <a:rPr>
                <a:solidFill>
                  <a:srgbClr val="FF0000"/>
                </a:solidFill>
              </a:rPr>
              <a:t>A ping pong</a:t>
            </a:r>
            <a:r>
              <a:t> model is put forth to explain the occurrence</a:t>
            </a:r>
            <a:r>
              <a:rPr lang="en-US"/>
              <a:t> </a:t>
            </a:r>
            <a:r>
              <a:t>of facilitated diffusion. </a:t>
            </a:r>
            <a:endParaRPr lang="en-US"/>
          </a:p>
          <a:p>
            <a:pPr algn="just"/>
            <a:r>
              <a:t>According to</a:t>
            </a:r>
            <a:r>
              <a:rPr lang="en-US"/>
              <a:t> </a:t>
            </a:r>
            <a:r>
              <a:t>this mechanism, a </a:t>
            </a:r>
            <a:r>
              <a:rPr>
                <a:solidFill>
                  <a:srgbClr val="FF0000"/>
                </a:solidFill>
              </a:rPr>
              <a:t>transport (carrier) protein </a:t>
            </a:r>
            <a:r>
              <a:t>exists</a:t>
            </a:r>
            <a:r>
              <a:rPr lang="en-US"/>
              <a:t> </a:t>
            </a:r>
            <a:r>
              <a:t>in two conformations. In the </a:t>
            </a:r>
            <a:r>
              <a:rPr>
                <a:solidFill>
                  <a:srgbClr val="FF0000"/>
                </a:solidFill>
              </a:rPr>
              <a:t>pong conformation</a:t>
            </a:r>
            <a:r>
              <a:t>,</a:t>
            </a:r>
            <a:r>
              <a:rPr lang="en-US"/>
              <a:t> </a:t>
            </a:r>
            <a:r>
              <a:t>it is exposed to the side with </a:t>
            </a:r>
            <a:r>
              <a:rPr>
                <a:solidFill>
                  <a:srgbClr val="FF0000"/>
                </a:solidFill>
              </a:rPr>
              <a:t>high solute</a:t>
            </a:r>
            <a:r>
              <a:rPr lang="en-US">
                <a:solidFill>
                  <a:srgbClr val="FF0000"/>
                </a:solidFill>
              </a:rPr>
              <a:t> concentration</a:t>
            </a:r>
            <a:r>
              <a:rPr lang="en-US"/>
              <a:t>. This allows the binding of solute </a:t>
            </a:r>
            <a:r>
              <a:t>to specific sites on the carrier protein. The protein</a:t>
            </a:r>
            <a:r>
              <a:rPr lang="en-US"/>
              <a:t> </a:t>
            </a:r>
            <a:r>
              <a:t>then undergoes a conformational change (</a:t>
            </a:r>
            <a:r>
              <a:rPr>
                <a:solidFill>
                  <a:srgbClr val="FF0000"/>
                </a:solidFill>
              </a:rPr>
              <a:t>ping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>
                <a:solidFill>
                  <a:srgbClr val="FF0000"/>
                </a:solidFill>
              </a:rPr>
              <a:t>state</a:t>
            </a:r>
            <a:r>
              <a:t>) to expose to the side with </a:t>
            </a:r>
            <a:r>
              <a:rPr>
                <a:solidFill>
                  <a:srgbClr val="FF0000"/>
                </a:solidFill>
              </a:rPr>
              <a:t>low solute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>
                <a:solidFill>
                  <a:srgbClr val="FF0000"/>
                </a:solidFill>
              </a:rPr>
              <a:t>concentration</a:t>
            </a:r>
            <a:r>
              <a:t> where the solute molecule is</a:t>
            </a:r>
            <a:r>
              <a:rPr lang="en-US"/>
              <a:t> </a:t>
            </a:r>
            <a:r>
              <a:t>released. </a:t>
            </a:r>
            <a:r>
              <a:rPr>
                <a:highlight>
                  <a:srgbClr val="FFFF00"/>
                </a:highlight>
              </a:rPr>
              <a:t>Hormones regulate facilitated diffusion.</a:t>
            </a:r>
            <a:r>
              <a:rPr lang="en-US"/>
              <a:t> </a:t>
            </a:r>
            <a:r>
              <a:t>For instance, insulin increases glucose transport</a:t>
            </a:r>
            <a:r>
              <a:rPr lang="en-US"/>
              <a:t> </a:t>
            </a:r>
            <a:r>
              <a:t>in muscle and adipose tissue; amino acid</a:t>
            </a:r>
            <a:r>
              <a:rPr lang="en-US"/>
              <a:t> </a:t>
            </a:r>
            <a:r>
              <a:t>transport in liver and other tissues</a:t>
            </a:r>
            <a:r>
              <a:rPr lang="en-US"/>
              <a:t>.</a:t>
            </a:r>
          </a:p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401468" y="1092320"/>
            <a:ext cx="4790532" cy="438165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00788" y="629429"/>
            <a:ext cx="11074539" cy="554753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8200" y="365125"/>
            <a:ext cx="10515600" cy="4457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260191" y="872691"/>
            <a:ext cx="7578689" cy="5304272"/>
          </a:xfrm>
          <a:prstGeom prst="rect">
            <a:avLst/>
          </a:prstGeom>
        </p:spPr>
        <p:txBody>
          <a:bodyPr/>
          <a:lstStyle/>
          <a:p>
            <a:pPr marL="0" indent="0" algn="just">
              <a:buNone/>
            </a:pPr>
            <a:r>
              <a:rPr sz="2800" b="1">
                <a:solidFill>
                  <a:srgbClr val="FF0000"/>
                </a:solidFill>
                <a:highlight>
                  <a:srgbClr val="FFFF00"/>
                </a:highlight>
              </a:rPr>
              <a:t>3. Active transport</a:t>
            </a:r>
            <a:r>
              <a:t> : Active transport occurs</a:t>
            </a:r>
            <a:r>
              <a:rPr lang="en-US"/>
              <a:t> </a:t>
            </a:r>
            <a:r>
              <a:rPr>
                <a:solidFill>
                  <a:srgbClr val="FF0000"/>
                </a:solidFill>
              </a:rPr>
              <a:t>against a concentration</a:t>
            </a:r>
            <a:r>
              <a:t> </a:t>
            </a:r>
            <a:r>
              <a:rPr>
                <a:solidFill>
                  <a:srgbClr val="FF0000"/>
                </a:solidFill>
              </a:rPr>
              <a:t>gradient</a:t>
            </a:r>
            <a:r>
              <a:t> and this is</a:t>
            </a:r>
            <a:r>
              <a:rPr lang="en-US"/>
              <a:t> </a:t>
            </a:r>
            <a:r>
              <a:t>dependent on the supply of metabolic energy</a:t>
            </a:r>
            <a:r>
              <a:rPr lang="en-US"/>
              <a:t> </a:t>
            </a:r>
            <a:r>
              <a:t>(A</a:t>
            </a:r>
            <a:r>
              <a:rPr lang="en-US"/>
              <a:t>T</a:t>
            </a:r>
            <a:r>
              <a:t>P). </a:t>
            </a:r>
            <a:endParaRPr lang="en-US"/>
          </a:p>
          <a:p>
            <a:pPr algn="just"/>
            <a:r>
              <a:t>Active transport is also a carrier mediated</a:t>
            </a:r>
            <a:r>
              <a:rPr lang="en-US"/>
              <a:t> </a:t>
            </a:r>
            <a:r>
              <a:t>process like facilitated diffusion. The most</a:t>
            </a:r>
            <a:r>
              <a:rPr lang="en-US"/>
              <a:t> </a:t>
            </a:r>
            <a:r>
              <a:t>important primary active transport systems are</a:t>
            </a:r>
            <a:r>
              <a:rPr lang="en-US"/>
              <a:t> </a:t>
            </a:r>
            <a:r>
              <a:rPr>
                <a:solidFill>
                  <a:srgbClr val="FF0000"/>
                </a:solidFill>
              </a:rPr>
              <a:t>ion-pumps</a:t>
            </a:r>
            <a:r>
              <a:t> (through the involvement of pump</a:t>
            </a:r>
            <a:r>
              <a:rPr lang="en-US"/>
              <a:t> </a:t>
            </a:r>
            <a:r>
              <a:t>ATPases or ion transporting ATPases)</a:t>
            </a:r>
            <a:r>
              <a:rPr lang="en-US"/>
              <a:t>. Example: </a:t>
            </a:r>
            <a:r>
              <a:rPr lang="en-US">
                <a:solidFill>
                  <a:srgbClr val="FF0000"/>
                </a:solidFill>
              </a:rPr>
              <a:t>Na</a:t>
            </a:r>
            <a:r>
              <a:rPr lang="en-US" baseline="30000">
                <a:solidFill>
                  <a:srgbClr val="FF0000"/>
                </a:solidFill>
              </a:rPr>
              <a:t>+</a:t>
            </a:r>
            <a:r>
              <a:rPr lang="en-US">
                <a:solidFill>
                  <a:srgbClr val="FF0000"/>
                </a:solidFill>
              </a:rPr>
              <a:t>-K</a:t>
            </a:r>
            <a:r>
              <a:rPr lang="en-US" baseline="30000">
                <a:solidFill>
                  <a:srgbClr val="FF0000"/>
                </a:solidFill>
              </a:rPr>
              <a:t>+</a:t>
            </a:r>
            <a:r>
              <a:rPr lang="en-US">
                <a:solidFill>
                  <a:srgbClr val="FF0000"/>
                </a:solidFill>
              </a:rPr>
              <a:t> pump.</a:t>
            </a:r>
          </a:p>
          <a:p>
            <a:pPr algn="just"/>
            <a:r>
              <a:rPr lang="en-US">
                <a:solidFill>
                  <a:schemeClr val="tx1"/>
                </a:solidFill>
              </a:rPr>
              <a:t>A major portion of the cellular ATP (up to 70, in nerve cells) is in fact utilized by Na</a:t>
            </a:r>
            <a:r>
              <a:rPr lang="en-US" baseline="30000">
                <a:solidFill>
                  <a:schemeClr val="tx1"/>
                </a:solidFill>
              </a:rPr>
              <a:t>+</a:t>
            </a:r>
            <a:r>
              <a:rPr lang="en-US">
                <a:solidFill>
                  <a:schemeClr val="tx1"/>
                </a:solidFill>
              </a:rPr>
              <a:t>-K</a:t>
            </a:r>
            <a:r>
              <a:rPr lang="en-US" baseline="30000">
                <a:solidFill>
                  <a:schemeClr val="tx1"/>
                </a:solidFill>
              </a:rPr>
              <a:t>+ </a:t>
            </a:r>
            <a:r>
              <a:rPr lang="en-US">
                <a:solidFill>
                  <a:schemeClr val="tx1"/>
                </a:solidFill>
              </a:rPr>
              <a:t>pump to maintain the requisite cytosolic Na</a:t>
            </a:r>
            <a:r>
              <a:rPr lang="en-US" baseline="30000">
                <a:solidFill>
                  <a:schemeClr val="tx1"/>
                </a:solidFill>
              </a:rPr>
              <a:t>+</a:t>
            </a:r>
            <a:r>
              <a:rPr lang="en-US">
                <a:solidFill>
                  <a:schemeClr val="tx1"/>
                </a:solidFill>
              </a:rPr>
              <a:t> and K</a:t>
            </a:r>
            <a:r>
              <a:rPr lang="en-US" baseline="30000">
                <a:solidFill>
                  <a:schemeClr val="tx1"/>
                </a:solidFill>
              </a:rPr>
              <a:t>+</a:t>
            </a:r>
            <a:r>
              <a:rPr lang="en-US">
                <a:solidFill>
                  <a:schemeClr val="tx1"/>
                </a:solidFill>
              </a:rPr>
              <a:t> levels. </a:t>
            </a:r>
          </a:p>
          <a:p>
            <a:pPr algn="just"/>
            <a:r>
              <a:rPr lang="en-US">
                <a:solidFill>
                  <a:srgbClr val="FF0000"/>
                </a:solidFill>
              </a:rPr>
              <a:t>Ouabain</a:t>
            </a:r>
            <a:r>
              <a:rPr lang="en-US">
                <a:solidFill>
                  <a:schemeClr val="tx1"/>
                </a:solidFill>
              </a:rPr>
              <a:t> inhibits Na+-K+ ATPase. </a:t>
            </a:r>
            <a:endParaRPr lang="en-US">
              <a:solidFill>
                <a:srgbClr val="FF0000"/>
              </a:solidFill>
            </a:endParaRPr>
          </a:p>
        </p:txBody>
      </p:sp>
      <p:pic>
        <p:nvPicPr>
          <p:cNvPr id="5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838880" y="1567603"/>
            <a:ext cx="4285187" cy="37227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8200" y="365125"/>
            <a:ext cx="10515600" cy="981882"/>
          </a:xfrm>
          <a:prstGeom prst="rect">
            <a:avLst/>
          </a:prstGeom>
        </p:spPr>
        <p:txBody>
          <a:bodyPr/>
          <a:lstStyle/>
          <a:p>
            <a:r>
              <a:rPr b="1">
                <a:solidFill>
                  <a:srgbClr val="FF0000"/>
                </a:solidFill>
              </a:rPr>
              <a:t>Transport systems</a:t>
            </a:r>
          </a:p>
          <a:p>
            <a:endParaRPr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572628" y="966422"/>
            <a:ext cx="10781172" cy="5210541"/>
          </a:xfrm>
          <a:prstGeom prst="rect">
            <a:avLst/>
          </a:prstGeom>
        </p:spPr>
        <p:txBody>
          <a:bodyPr/>
          <a:lstStyle/>
          <a:p>
            <a:pPr algn="just"/>
            <a:r>
              <a:t>The transport systems may be divided into 3</a:t>
            </a:r>
            <a:r>
              <a:rPr lang="en-US"/>
              <a:t> </a:t>
            </a:r>
            <a:r>
              <a:t>categories</a:t>
            </a:r>
            <a:r>
              <a:rPr lang="en-US"/>
              <a:t> </a:t>
            </a:r>
            <a:r>
              <a:t>.</a:t>
            </a:r>
          </a:p>
          <a:p>
            <a:pPr marL="0" indent="0" algn="just">
              <a:buNone/>
            </a:pPr>
            <a:r>
              <a:rPr b="1">
                <a:solidFill>
                  <a:srgbClr val="FF0000"/>
                </a:solidFill>
                <a:highlight>
                  <a:srgbClr val="FFFF00"/>
                </a:highlight>
              </a:rPr>
              <a:t>1. Uniport system</a:t>
            </a:r>
            <a:r>
              <a:rPr b="1">
                <a:solidFill>
                  <a:srgbClr val="FF0000"/>
                </a:solidFill>
              </a:rPr>
              <a:t> </a:t>
            </a:r>
            <a:r>
              <a:t>: This involves the</a:t>
            </a:r>
            <a:r>
              <a:rPr lang="en-US"/>
              <a:t> </a:t>
            </a:r>
            <a:r>
              <a:t>movement of a </a:t>
            </a:r>
            <a:r>
              <a:rPr>
                <a:solidFill>
                  <a:srgbClr val="FF0000"/>
                </a:solidFill>
              </a:rPr>
              <a:t>single molecule </a:t>
            </a:r>
            <a:r>
              <a:t>through the</a:t>
            </a:r>
            <a:r>
              <a:rPr lang="en-US"/>
              <a:t> </a:t>
            </a:r>
            <a:r>
              <a:t>membrane e.g. transport of glucose to the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>
                <a:solidFill>
                  <a:srgbClr val="FF0000"/>
                </a:solidFill>
              </a:rPr>
              <a:t>erythrocytes</a:t>
            </a:r>
            <a:r>
              <a:t>.</a:t>
            </a:r>
          </a:p>
          <a:p>
            <a:pPr marL="0" indent="0" algn="just">
              <a:buNone/>
            </a:pPr>
            <a:r>
              <a:rPr b="1">
                <a:solidFill>
                  <a:srgbClr val="FF0000"/>
                </a:solidFill>
                <a:highlight>
                  <a:srgbClr val="FFFF00"/>
                </a:highlight>
              </a:rPr>
              <a:t>2. Symport system</a:t>
            </a:r>
            <a:r>
              <a:t> : The simultaneous</a:t>
            </a:r>
            <a:r>
              <a:rPr lang="en-US"/>
              <a:t> </a:t>
            </a:r>
            <a:r>
              <a:t>transport of </a:t>
            </a:r>
            <a:r>
              <a:rPr>
                <a:solidFill>
                  <a:srgbClr val="FF0000"/>
                </a:solidFill>
              </a:rPr>
              <a:t>two different molecules</a:t>
            </a:r>
            <a:r>
              <a:t> in the </a:t>
            </a:r>
            <a:r>
              <a:rPr>
                <a:solidFill>
                  <a:srgbClr val="FF0000"/>
                </a:solidFill>
              </a:rPr>
              <a:t>same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>
                <a:solidFill>
                  <a:srgbClr val="FF0000"/>
                </a:solidFill>
              </a:rPr>
              <a:t>direction</a:t>
            </a:r>
            <a:r>
              <a:t> e.g. transport of Na+ and glucose to the</a:t>
            </a:r>
            <a:r>
              <a:rPr lang="en-US"/>
              <a:t> </a:t>
            </a:r>
            <a:r>
              <a:t>intestinal mucosal cells from the gut.</a:t>
            </a:r>
          </a:p>
          <a:p>
            <a:pPr marL="0" indent="0" algn="just">
              <a:buNone/>
            </a:pPr>
            <a:r>
              <a:rPr b="1">
                <a:solidFill>
                  <a:srgbClr val="FF0000"/>
                </a:solidFill>
                <a:highlight>
                  <a:srgbClr val="FFFF00"/>
                </a:highlight>
              </a:rPr>
              <a:t>3. Antiport system</a:t>
            </a:r>
            <a:r>
              <a:t> : The simultaneous transport of </a:t>
            </a:r>
            <a:r>
              <a:rPr>
                <a:solidFill>
                  <a:srgbClr val="FF0000"/>
                </a:solidFill>
              </a:rPr>
              <a:t>two different molecules</a:t>
            </a:r>
            <a:r>
              <a:t> in the </a:t>
            </a:r>
            <a:r>
              <a:rPr>
                <a:solidFill>
                  <a:srgbClr val="FF0000"/>
                </a:solidFill>
              </a:rPr>
              <a:t>opposite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>
                <a:solidFill>
                  <a:srgbClr val="FF0000"/>
                </a:solidFill>
              </a:rPr>
              <a:t>direction</a:t>
            </a:r>
            <a:r>
              <a:rPr lang="en-US">
                <a:solidFill>
                  <a:srgbClr val="FF0000"/>
                </a:solidFill>
              </a:rPr>
              <a:t>.</a:t>
            </a:r>
            <a:r>
              <a:t> e.g exchange of Cl- and HCO</a:t>
            </a:r>
            <a:r>
              <a:rPr baseline="-25000"/>
              <a:t>3</a:t>
            </a:r>
            <a:r>
              <a:t> in the</a:t>
            </a:r>
            <a:r>
              <a:rPr lang="en-US"/>
              <a:t> </a:t>
            </a:r>
            <a:r>
              <a:t>erythrocytes. </a:t>
            </a:r>
            <a:endParaRPr lang="en-US"/>
          </a:p>
          <a:p>
            <a:pPr marL="0" indent="0" algn="just">
              <a:buNone/>
            </a:pPr>
            <a:r>
              <a:rPr>
                <a:solidFill>
                  <a:srgbClr val="FF0000"/>
                </a:solidFill>
              </a:rPr>
              <a:t>Uniport, symport and antiport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>
                <a:solidFill>
                  <a:srgbClr val="FF0000"/>
                </a:solidFill>
              </a:rPr>
              <a:t>systems</a:t>
            </a:r>
            <a:r>
              <a:t> are considered as </a:t>
            </a:r>
            <a:r>
              <a:rPr>
                <a:solidFill>
                  <a:srgbClr val="FF0000"/>
                </a:solidFill>
                <a:highlight>
                  <a:srgbClr val="FFFF00"/>
                </a:highlight>
              </a:rPr>
              <a:t>secondary active</a:t>
            </a:r>
            <a:r>
              <a:rPr lang="en-US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>
                <a:solidFill>
                  <a:srgbClr val="FF0000"/>
                </a:solidFill>
                <a:highlight>
                  <a:srgbClr val="FFFF00"/>
                </a:highlight>
              </a:rPr>
              <a:t>transport systems.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38200" y="601354"/>
            <a:ext cx="10079443" cy="548345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8200" y="365125"/>
            <a:ext cx="10515600" cy="16954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447653" y="1013288"/>
            <a:ext cx="11281072" cy="5366759"/>
          </a:xfrm>
          <a:prstGeom prst="rect">
            <a:avLst/>
          </a:prstGeom>
        </p:spPr>
        <p:txBody>
          <a:bodyPr/>
          <a:lstStyle/>
          <a:p>
            <a:pPr marL="0" indent="0" algn="just">
              <a:buNone/>
            </a:pPr>
            <a:r>
              <a:rPr b="1">
                <a:solidFill>
                  <a:srgbClr val="FF0000"/>
                </a:solidFill>
              </a:rPr>
              <a:t>Cotransport system</a:t>
            </a:r>
            <a:r>
              <a:t> : In cotransport,</a:t>
            </a:r>
            <a:r>
              <a:rPr lang="en-US"/>
              <a:t> </a:t>
            </a:r>
            <a:r>
              <a:t>the transport of a substance through</a:t>
            </a:r>
            <a:r>
              <a:rPr lang="en-US"/>
              <a:t> </a:t>
            </a:r>
            <a:r>
              <a:t>the membrane is coupled to the spontaneous</a:t>
            </a:r>
            <a:r>
              <a:rPr lang="en-US"/>
              <a:t> </a:t>
            </a:r>
            <a:r>
              <a:t>movement of another substance</a:t>
            </a:r>
            <a:r>
              <a:rPr lang="en-US"/>
              <a:t>.</a:t>
            </a:r>
          </a:p>
          <a:p>
            <a:pPr algn="just"/>
            <a:r>
              <a:rPr lang="en-US">
                <a:solidFill>
                  <a:srgbClr val="FF0000"/>
                </a:solidFill>
              </a:rPr>
              <a:t>The symport and antiport systems</a:t>
            </a:r>
            <a:r>
              <a:rPr lang="en-US"/>
              <a:t> referred to above are good examples of cotransport system.</a:t>
            </a:r>
          </a:p>
          <a:p>
            <a:pPr algn="just"/>
            <a:endParaRPr lang="en-US"/>
          </a:p>
          <a:p>
            <a:pPr marL="0" indent="0" algn="just">
              <a:buNone/>
            </a:pPr>
            <a:r>
              <a:rPr lang="en-US" sz="4000" b="1">
                <a:solidFill>
                  <a:srgbClr val="FF0000"/>
                </a:solidFill>
              </a:rPr>
              <a:t>Passive Transport of water osmosis:</a:t>
            </a:r>
          </a:p>
          <a:p>
            <a:pPr marL="0" indent="0" algn="just">
              <a:buNone/>
            </a:pPr>
            <a:r>
              <a:rPr lang="en-US" sz="2800" b="0">
                <a:solidFill>
                  <a:schemeClr val="tx1"/>
                </a:solidFill>
              </a:rPr>
              <a:t>Osmosis is the phenomenon of movement of water from </a:t>
            </a:r>
            <a:r>
              <a:rPr lang="en-US" sz="2800" b="0">
                <a:solidFill>
                  <a:srgbClr val="FF0000"/>
                </a:solidFill>
              </a:rPr>
              <a:t>low osmotic pressure (dilute solution) to high osmotic pressure (concentrated solution)</a:t>
            </a:r>
            <a:r>
              <a:rPr lang="en-US" sz="2800" b="0">
                <a:solidFill>
                  <a:schemeClr val="tx1"/>
                </a:solidFill>
              </a:rPr>
              <a:t> across biological membranes. The movement of water in the body occurs through osmosis, and this process </a:t>
            </a:r>
            <a:r>
              <a:rPr lang="en-US" sz="2800" b="0">
                <a:solidFill>
                  <a:srgbClr val="FF0000"/>
                </a:solidFill>
              </a:rPr>
              <a:t>does not require energy (ATP)</a:t>
            </a:r>
            <a:r>
              <a:rPr lang="en-US" sz="4000" b="0">
                <a:solidFill>
                  <a:schemeClr val="tx1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b="1">
                <a:solidFill>
                  <a:srgbClr val="FF0000"/>
                </a:solidFill>
              </a:rPr>
              <a:t>The transport of macromolecules</a:t>
            </a:r>
            <a:r>
              <a:t> 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 transport of macromolecules such as</a:t>
            </a:r>
            <a:r>
              <a:rPr lang="en-US"/>
              <a:t> </a:t>
            </a:r>
            <a:r>
              <a:t>proteins, polysaccharides and polynucleotides</a:t>
            </a:r>
            <a:r>
              <a:rPr lang="en-US"/>
              <a:t> </a:t>
            </a:r>
            <a:r>
              <a:t>across the membranes</a:t>
            </a:r>
            <a:r>
              <a:rPr lang="en-US"/>
              <a:t> </a:t>
            </a:r>
            <a:r>
              <a:t>is brought about by two independent</a:t>
            </a:r>
            <a:r>
              <a:rPr lang="en-US"/>
              <a:t> </a:t>
            </a:r>
            <a:r>
              <a:t>mechanisms  </a:t>
            </a:r>
            <a:endParaRPr lang="en-US"/>
          </a:p>
          <a:p>
            <a:pPr marL="0" indent="0">
              <a:buNone/>
            </a:pPr>
            <a:r>
              <a:rPr lang="en-US">
                <a:solidFill>
                  <a:srgbClr val="FF0000"/>
                </a:solidFill>
              </a:rPr>
              <a:t>1. E</a:t>
            </a:r>
            <a:r>
              <a:rPr>
                <a:solidFill>
                  <a:srgbClr val="FF0000"/>
                </a:solidFill>
              </a:rPr>
              <a:t>ndocytosis</a:t>
            </a:r>
            <a:r>
              <a:t>-intake of</a:t>
            </a:r>
            <a:r>
              <a:rPr lang="en-US"/>
              <a:t> </a:t>
            </a:r>
            <a:r>
              <a:t>macromolecules by the cells</a:t>
            </a:r>
            <a:r>
              <a:rPr lang="en-US"/>
              <a:t>. Example: The  uptake </a:t>
            </a:r>
            <a:r>
              <a:t>of low density lipoprotein (LDL) molecules by</a:t>
            </a:r>
            <a:r>
              <a:rPr lang="en-US"/>
              <a:t> </a:t>
            </a:r>
            <a:r>
              <a:t>the cells</a:t>
            </a:r>
            <a:r>
              <a:rPr lang="en-US"/>
              <a:t>.</a:t>
            </a:r>
            <a:r>
              <a:t> </a:t>
            </a:r>
            <a:endParaRPr lang="en-US"/>
          </a:p>
          <a:p>
            <a:pPr marL="0" indent="0">
              <a:buNone/>
            </a:pPr>
            <a:r>
              <a:rPr lang="en-US">
                <a:solidFill>
                  <a:srgbClr val="FF0000"/>
                </a:solidFill>
              </a:rPr>
              <a:t>2. E</a:t>
            </a:r>
            <a:r>
              <a:rPr>
                <a:solidFill>
                  <a:srgbClr val="FF0000"/>
                </a:solidFill>
              </a:rPr>
              <a:t>xocytosis</a:t>
            </a:r>
            <a:r>
              <a:rPr lang="en-US"/>
              <a:t>-</a:t>
            </a:r>
            <a:r>
              <a:t>release of macromolecules from the cells to the</a:t>
            </a:r>
            <a:r>
              <a:rPr lang="en-US"/>
              <a:t> </a:t>
            </a:r>
            <a:r>
              <a:t>outside.</a:t>
            </a:r>
            <a:endParaRPr lang="en-US"/>
          </a:p>
          <a:p>
            <a:pPr marL="0" indent="0">
              <a:buNone/>
            </a:pPr>
            <a:r>
              <a:rPr lang="en-US"/>
              <a:t>Example: The secretion of hormones (e.g. insulin, parathyroid</a:t>
            </a:r>
          </a:p>
          <a:p>
            <a:pPr marL="0" indent="0">
              <a:buNone/>
            </a:pPr>
            <a:r>
              <a:rPr lang="en-US"/>
              <a:t>hormone) usually occurs by exocytosis.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38200" y="365125"/>
            <a:ext cx="10333241" cy="609166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167970"/>
            <a:ext cx="12192000" cy="66900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Arab" typeface="Times New Roman"/>
        <a:font script="Armn" typeface="Arial"/>
        <a:font script="Beng" typeface="Vrinda"/>
        <a:font script="Bopo" typeface="Microsoft JhengHei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ebr" typeface="Times New Roman"/>
        <a:font script="Knda" typeface="Tunga"/>
        <a:font script="Khmr" typeface="MoolBoran"/>
        <a:font script="Laoo" typeface="DokChampa"/>
        <a:font script="Mlym" typeface="Kartika"/>
        <a:font script="Mong" typeface="Mongolian Baiti"/>
        <a:font script="Mymr" typeface="Myanmar Text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Angsana New"/>
        <a:font script="Tibt" typeface="Microsoft Himalaya"/>
        <a:font script="Cans" typeface="Euphemia"/>
        <a:font script="Yiii" typeface="Microsoft Yi Baiti"/>
        <a:font script="Osma" typeface="Ebrima"/>
        <a:font script="Tale" typeface="Microsoft Tai Le"/>
        <a:font script="Bugi" typeface="Leelawadee UI"/>
        <a:font script="Talu" typeface="Microsoft New Tai Lue"/>
        <a:font script="Tfng" typeface="Ebrima"/>
        <a:font script="Hans" typeface="等线 Light"/>
        <a:font script="Hant" typeface="新細明體"/>
        <a:font script="Java" typeface="Javanese Text"/>
        <a:font script="Nkoo" typeface="Ebrima"/>
        <a:font script="Phag" typeface="Phagspa"/>
        <a:font script="Syre" typeface="Estrangelo Edessa"/>
        <a:font script="Syrj" typeface="Estrangelo Edessa"/>
        <a:font script="Syrn" typeface="Estrangelo Edessa"/>
        <a:font script="Jpan" typeface="游ゴシック Light"/>
        <a:font script="Olck" typeface="Nirmala UI"/>
        <a:font script="Lisu" typeface="Segoe UI"/>
        <a:font script="Sora" typeface="Nirmala UI"/>
      </a:majorFont>
      <a:minorFont>
        <a:latin typeface="Calibri"/>
        <a:ea typeface=""/>
        <a:cs typeface=""/>
        <a:font script="Arab" typeface="Arial"/>
        <a:font script="Armn" typeface="Arial"/>
        <a:font script="Beng" typeface="Vrinda"/>
        <a:font script="Bopo" typeface="Microsoft JhengHei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ebr" typeface="Arial"/>
        <a:font script="Knda" typeface="Tunga"/>
        <a:font script="Khmr" typeface="DaunPenh"/>
        <a:font script="Laoo" typeface="DokChampa"/>
        <a:font script="Mlym" typeface="Kartika"/>
        <a:font script="Mong" typeface="Mongolian Baiti"/>
        <a:font script="Mymr" typeface="Myanmar Text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Cordia New"/>
        <a:font script="Tibt" typeface="Microsoft Himalaya"/>
        <a:font script="Cans" typeface="Euphemia"/>
        <a:font script="Yiii" typeface="Microsoft Yi Baiti"/>
        <a:font script="Osma" typeface="Ebrima"/>
        <a:font script="Tale" typeface="Microsoft Tai Le"/>
        <a:font script="Bugi" typeface="Leelawadee UI"/>
        <a:font script="Talu" typeface="Microsoft New Tai Lue"/>
        <a:font script="Tfng" typeface="Ebrima"/>
        <a:font script="Hans" typeface="等线"/>
        <a:font script="Hant" typeface="新細明體"/>
        <a:font script="Java" typeface="Javanese Text"/>
        <a:font script="Nkoo" typeface="Ebrima"/>
        <a:font script="Phag" typeface="Phagspa"/>
        <a:font script="Syre" typeface="Estrangelo Edessa"/>
        <a:font script="Syrj" typeface="Estrangelo Edessa"/>
        <a:font script="Syrn" typeface="Estrangelo Edessa"/>
        <a:font script="Jpan" typeface="游ゴシック"/>
        <a:font script="Olck" typeface="Nirmala UI"/>
        <a:font script="Lisu" typeface="Segoe UI"/>
        <a:font script="Sora" typeface="Nirmala U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Notes Theme">
  <a:themeElements>
    <a:clrScheme name="Office Notes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Notes Them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 Notes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1"/>
        </a:gradFill>
      </a:fillStyleLst>
      <a:lnStyleLst>
        <a:ln w="9525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>
          <a:solidFill>
            <a:schemeClr val="phClr"/>
          </a:solidFill>
          <a:prstDash val="solid"/>
        </a:ln>
        <a:ln w="38100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1045</Words>
  <Application>Microsoft Office PowerPoint</Application>
  <PresentationFormat>Custom</PresentationFormat>
  <Paragraphs>76</Paragraphs>
  <Slides>17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Default</vt:lpstr>
      <vt:lpstr>Biological Membranes and Transport </vt:lpstr>
      <vt:lpstr>PowerPoint Presentation</vt:lpstr>
      <vt:lpstr>Structure of membranes </vt:lpstr>
      <vt:lpstr>PowerPoint Presentation</vt:lpstr>
      <vt:lpstr>PowerPoint Presentation</vt:lpstr>
      <vt:lpstr>PowerPoint Presentation</vt:lpstr>
      <vt:lpstr>Transport across membranes</vt:lpstr>
      <vt:lpstr>PowerPoint Presentation</vt:lpstr>
      <vt:lpstr>PowerPoint Presentation</vt:lpstr>
      <vt:lpstr>PowerPoint Presentation</vt:lpstr>
      <vt:lpstr>PowerPoint Presentation</vt:lpstr>
      <vt:lpstr>Transport systems </vt:lpstr>
      <vt:lpstr>PowerPoint Presentation</vt:lpstr>
      <vt:lpstr>PowerPoint Presentation</vt:lpstr>
      <vt:lpstr>The transport of macromolecules </vt:lpstr>
      <vt:lpstr>PowerPoint Presentation</vt:lpstr>
      <vt:lpstr>PowerPoint Presentation</vt:lpstr>
    </vt:vector>
  </TitlesOfParts>
  <Company>Mobile Systems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kalpana jorasia</dc:creator>
  <cp:lastModifiedBy>Hp</cp:lastModifiedBy>
  <cp:revision>3</cp:revision>
  <dcterms:created xsi:type="dcterms:W3CDTF">2022-02-11T06:02:38Z</dcterms:created>
  <dcterms:modified xsi:type="dcterms:W3CDTF">2024-09-03T06:50:01Z</dcterms:modified>
</cp:coreProperties>
</file>