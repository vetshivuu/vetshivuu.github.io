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8" r:id="rId11"/>
    <p:sldId id="269" r:id="rId12"/>
    <p:sldId id="283" r:id="rId13"/>
    <p:sldId id="267" r:id="rId14"/>
    <p:sldId id="270" r:id="rId15"/>
    <p:sldId id="272" r:id="rId16"/>
    <p:sldId id="273" r:id="rId17"/>
    <p:sldId id="271" r:id="rId18"/>
    <p:sldId id="274" r:id="rId19"/>
    <p:sldId id="275" r:id="rId20"/>
    <p:sldId id="276" r:id="rId21"/>
    <p:sldId id="277" r:id="rId22"/>
    <p:sldId id="264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29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F50C35B1-61E3-4260-AAE4-756C0632221C}" type="datetimeFigureOut">
              <a:rPr lang="en-US" smtClean="0"/>
              <a:pPr/>
              <a:t>7/25/2022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55CC6DCF-8EF1-4EF3-8E7E-CA61012CB8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F50C35B1-61E3-4260-AAE4-756C0632221C}" type="datetimeFigureOut">
              <a:rPr lang="en-US" smtClean="0"/>
              <a:pPr/>
              <a:t>7/25/2022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55CC6DCF-8EF1-4EF3-8E7E-CA61012CB88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F50C35B1-61E3-4260-AAE4-756C0632221C}" type="datetimeFigureOut">
              <a:rPr lang="en-US" smtClean="0"/>
              <a:pPr/>
              <a:t>7/25/2022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55CC6DCF-8EF1-4EF3-8E7E-CA61012CB8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C35B1-61E3-4260-AAE4-756C0632221C}" type="datetimeFigureOut">
              <a:rPr lang="en-US" smtClean="0"/>
              <a:pPr/>
              <a:t>7/25/2022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C6DCF-8EF1-4EF3-8E7E-CA61012CB88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C35B1-61E3-4260-AAE4-756C0632221C}" type="datetimeFigureOut">
              <a:rPr lang="en-US" smtClean="0"/>
              <a:pPr/>
              <a:t>7/25/2022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C6DCF-8EF1-4EF3-8E7E-CA61012CB88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50C35B1-61E3-4260-AAE4-756C0632221C}" type="datetimeFigureOut">
              <a:rPr lang="en-US" smtClean="0"/>
              <a:pPr/>
              <a:t>7/25/2022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5CC6DCF-8EF1-4EF3-8E7E-CA61012CB88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C35B1-61E3-4260-AAE4-756C0632221C}" type="datetimeFigureOut">
              <a:rPr lang="en-US" smtClean="0"/>
              <a:pPr/>
              <a:t>7/25/2022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C6DCF-8EF1-4EF3-8E7E-CA61012CB8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F50C35B1-61E3-4260-AAE4-756C0632221C}" type="datetimeFigureOut">
              <a:rPr lang="en-US" smtClean="0"/>
              <a:pPr/>
              <a:t>7/25/2022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55CC6DCF-8EF1-4EF3-8E7E-CA61012CB88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50C35B1-61E3-4260-AAE4-756C0632221C}" type="datetimeFigureOut">
              <a:rPr lang="en-US" smtClean="0"/>
              <a:pPr/>
              <a:t>7/25/2022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5CC6DCF-8EF1-4EF3-8E7E-CA61012CB88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C35B1-61E3-4260-AAE4-756C0632221C}" type="datetimeFigureOut">
              <a:rPr lang="en-US" smtClean="0"/>
              <a:pPr/>
              <a:t>7/25/2022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C6DCF-8EF1-4EF3-8E7E-CA61012CB8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C35B1-61E3-4260-AAE4-756C0632221C}" type="datetimeFigureOut">
              <a:rPr lang="en-US" smtClean="0"/>
              <a:pPr/>
              <a:t>7/25/2022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C6DCF-8EF1-4EF3-8E7E-CA61012CB8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F50C35B1-61E3-4260-AAE4-756C0632221C}" type="datetimeFigureOut">
              <a:rPr lang="en-US" smtClean="0"/>
              <a:pPr/>
              <a:t>7/25/2022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55CC6DCF-8EF1-4EF3-8E7E-CA61012CB88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i="1" dirty="0" err="1" smtClean="0"/>
              <a:t>Malassezia</a:t>
            </a:r>
            <a:r>
              <a:rPr lang="en-US" b="1" i="1" dirty="0" smtClean="0"/>
              <a:t> </a:t>
            </a:r>
            <a:r>
              <a:rPr lang="en-US" b="1" i="1" dirty="0" err="1" smtClean="0"/>
              <a:t>pachydermatis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 smtClean="0"/>
              <a:t>Dr. </a:t>
            </a:r>
            <a:r>
              <a:rPr lang="en-US" dirty="0" err="1" smtClean="0"/>
              <a:t>Bincy</a:t>
            </a:r>
            <a:r>
              <a:rPr lang="en-US" dirty="0" smtClean="0"/>
              <a:t> Joseph</a:t>
            </a:r>
          </a:p>
          <a:p>
            <a:pPr algn="r"/>
            <a:r>
              <a:rPr lang="en-US" dirty="0" smtClean="0"/>
              <a:t>Assistant professor</a:t>
            </a:r>
          </a:p>
          <a:p>
            <a:pPr algn="r"/>
            <a:r>
              <a:rPr lang="en-US" dirty="0" smtClean="0"/>
              <a:t>PGIVER, </a:t>
            </a:r>
            <a:r>
              <a:rPr lang="en-US" dirty="0" err="1" smtClean="0"/>
              <a:t>Jaipur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err="1" smtClean="0"/>
              <a:t>Malassezia</a:t>
            </a:r>
            <a:r>
              <a:rPr lang="en-US" b="1" i="1" dirty="0" smtClean="0"/>
              <a:t> </a:t>
            </a:r>
            <a:r>
              <a:rPr lang="en-US" b="1" i="1" dirty="0" err="1" smtClean="0"/>
              <a:t>pachydermatis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362200" y="1752600"/>
            <a:ext cx="3733800" cy="3003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371600" y="5105400"/>
            <a:ext cx="63498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Bottle-shaped cells of the yeast, </a:t>
            </a:r>
            <a:r>
              <a:rPr lang="en-US" i="1" dirty="0" err="1"/>
              <a:t>Malassezia</a:t>
            </a:r>
            <a:r>
              <a:rPr lang="en-US" i="1" dirty="0"/>
              <a:t> </a:t>
            </a:r>
            <a:r>
              <a:rPr lang="en-US" i="1" dirty="0" err="1"/>
              <a:t>pachydermatis</a:t>
            </a:r>
            <a:r>
              <a:rPr lang="en-US" i="1" dirty="0"/>
              <a:t>. </a:t>
            </a:r>
            <a:endParaRPr lang="en-US" i="1" dirty="0" smtClean="0"/>
          </a:p>
          <a:p>
            <a:r>
              <a:rPr lang="en-US" dirty="0" err="1" smtClean="0"/>
              <a:t>Monopolar</a:t>
            </a:r>
            <a:r>
              <a:rPr lang="en-US" dirty="0" smtClean="0"/>
              <a:t> </a:t>
            </a:r>
            <a:r>
              <a:rPr lang="en-US" dirty="0"/>
              <a:t>budding on </a:t>
            </a:r>
            <a:r>
              <a:rPr lang="en-US" dirty="0" smtClean="0"/>
              <a:t>a broad </a:t>
            </a:r>
            <a:r>
              <a:rPr lang="en-US" dirty="0"/>
              <a:t>base, with the formation of </a:t>
            </a:r>
            <a:r>
              <a:rPr lang="en-US" dirty="0" smtClean="0"/>
              <a:t>a</a:t>
            </a:r>
          </a:p>
          <a:p>
            <a:r>
              <a:rPr lang="en-US" dirty="0" smtClean="0"/>
              <a:t> </a:t>
            </a:r>
            <a:r>
              <a:rPr lang="en-US" dirty="0"/>
              <a:t>prominent </a:t>
            </a:r>
            <a:r>
              <a:rPr lang="en-US" dirty="0" err="1"/>
              <a:t>collarette</a:t>
            </a:r>
            <a:r>
              <a:rPr lang="en-US" dirty="0"/>
              <a:t>, is a characteristic of this yeast.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Pathogenesis and </a:t>
            </a:r>
            <a:r>
              <a:rPr lang="en-US" b="1" dirty="0" err="1" smtClean="0"/>
              <a:t>pathogenicity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yeast cells induce excessive sebaceous secretion, a feature of </a:t>
            </a:r>
            <a:r>
              <a:rPr lang="en-US" dirty="0" err="1" smtClean="0"/>
              <a:t>seborrhoeic</a:t>
            </a:r>
            <a:r>
              <a:rPr lang="en-US" dirty="0" smtClean="0"/>
              <a:t> dermatitis</a:t>
            </a:r>
          </a:p>
          <a:p>
            <a:r>
              <a:rPr lang="en-US" dirty="0" smtClean="0"/>
              <a:t>Zymogens in the yeast cell wall can activate the complement cascade leading to damage to </a:t>
            </a:r>
            <a:r>
              <a:rPr lang="en-US" dirty="0" err="1" smtClean="0"/>
              <a:t>keratinocytes</a:t>
            </a:r>
            <a:r>
              <a:rPr lang="en-US" dirty="0" smtClean="0"/>
              <a:t>, inflammation and </a:t>
            </a:r>
            <a:r>
              <a:rPr lang="en-US" dirty="0" err="1" smtClean="0"/>
              <a:t>pruritus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 </a:t>
            </a:r>
            <a:r>
              <a:rPr lang="en-US" dirty="0" err="1" smtClean="0"/>
              <a:t>otitis</a:t>
            </a:r>
            <a:r>
              <a:rPr lang="en-US" dirty="0" smtClean="0"/>
              <a:t> </a:t>
            </a:r>
            <a:r>
              <a:rPr lang="en-US" dirty="0" err="1" smtClean="0"/>
              <a:t>externa</a:t>
            </a:r>
            <a:r>
              <a:rPr lang="en-US" dirty="0" smtClean="0"/>
              <a:t>, the production of </a:t>
            </a:r>
            <a:r>
              <a:rPr lang="en-US" dirty="0" err="1" smtClean="0"/>
              <a:t>proteolytic</a:t>
            </a:r>
            <a:r>
              <a:rPr lang="en-US" dirty="0" smtClean="0"/>
              <a:t> enzymes by </a:t>
            </a:r>
            <a:r>
              <a:rPr lang="en-US" i="1" dirty="0" smtClean="0"/>
              <a:t>M. </a:t>
            </a:r>
            <a:r>
              <a:rPr lang="en-US" i="1" dirty="0" err="1" smtClean="0"/>
              <a:t>pachydermatis</a:t>
            </a:r>
            <a:r>
              <a:rPr lang="en-US" i="1" dirty="0" smtClean="0"/>
              <a:t> </a:t>
            </a:r>
            <a:r>
              <a:rPr lang="en-US" dirty="0" smtClean="0"/>
              <a:t>results in damage to the mucosa of the ear </a:t>
            </a:r>
          </a:p>
          <a:p>
            <a:pPr>
              <a:buNone/>
            </a:pPr>
            <a:r>
              <a:rPr lang="en-US" dirty="0" smtClean="0"/>
              <a:t>   canal</a:t>
            </a:r>
          </a:p>
          <a:p>
            <a:r>
              <a:rPr lang="en-US" dirty="0" smtClean="0"/>
              <a:t>Excessive production and retention of wax, a consequence of </a:t>
            </a:r>
            <a:r>
              <a:rPr lang="en-US" dirty="0" err="1" smtClean="0"/>
              <a:t>ceruminous</a:t>
            </a:r>
            <a:r>
              <a:rPr lang="en-US" dirty="0" smtClean="0"/>
              <a:t> gland </a:t>
            </a:r>
            <a:r>
              <a:rPr lang="en-US" dirty="0" err="1" smtClean="0"/>
              <a:t>hypersecretion</a:t>
            </a:r>
            <a:endParaRPr lang="en-US" i="1" dirty="0" smtClean="0"/>
          </a:p>
          <a:p>
            <a:r>
              <a:rPr lang="en-US" dirty="0" smtClean="0"/>
              <a:t>Inflammatory </a:t>
            </a:r>
            <a:r>
              <a:rPr lang="en-US" dirty="0" err="1" smtClean="0"/>
              <a:t>exudate</a:t>
            </a:r>
            <a:r>
              <a:rPr lang="en-US" dirty="0" smtClean="0"/>
              <a:t> and necrotic debris accumulate in the canal.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3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16356" y="1527175"/>
            <a:ext cx="3950844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50" name="AutoShape 2" descr="Image result for malassezia in dog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Image result for malassezia in dog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70555" y="1533924"/>
            <a:ext cx="3687645" cy="2504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38700" y="4138820"/>
            <a:ext cx="3314700" cy="218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DIAGNOSIS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Clinical signs of </a:t>
            </a:r>
            <a:r>
              <a:rPr lang="en-US" dirty="0" err="1" smtClean="0"/>
              <a:t>otitis</a:t>
            </a:r>
            <a:r>
              <a:rPr lang="en-US" dirty="0" smtClean="0"/>
              <a:t> </a:t>
            </a:r>
            <a:r>
              <a:rPr lang="en-US" dirty="0" err="1" smtClean="0"/>
              <a:t>externa</a:t>
            </a:r>
            <a:r>
              <a:rPr lang="en-US" dirty="0" smtClean="0"/>
              <a:t> and canine </a:t>
            </a:r>
            <a:r>
              <a:rPr lang="en-US" dirty="0" err="1" smtClean="0"/>
              <a:t>seborrhoeic</a:t>
            </a:r>
            <a:r>
              <a:rPr lang="en-US" dirty="0" smtClean="0"/>
              <a:t> dermatitis</a:t>
            </a:r>
          </a:p>
          <a:p>
            <a:r>
              <a:rPr lang="en-US" dirty="0" smtClean="0"/>
              <a:t>Exudates from affected ear canals and skin scraping or impression smear can be </a:t>
            </a:r>
            <a:r>
              <a:rPr lang="en-US" dirty="0" smtClean="0"/>
              <a:t>collected as samples</a:t>
            </a:r>
            <a:endParaRPr lang="en-US" dirty="0" smtClean="0"/>
          </a:p>
          <a:p>
            <a:r>
              <a:rPr lang="en-US" dirty="0" smtClean="0"/>
              <a:t>Yeast cells are stained with </a:t>
            </a:r>
            <a:r>
              <a:rPr lang="en-US" dirty="0" err="1" smtClean="0"/>
              <a:t>methylene</a:t>
            </a:r>
            <a:r>
              <a:rPr lang="en-US" dirty="0" smtClean="0"/>
              <a:t> blue</a:t>
            </a:r>
          </a:p>
          <a:p>
            <a:r>
              <a:rPr lang="en-US" dirty="0" smtClean="0"/>
              <a:t>Culture of the yeast aerobically at 37</a:t>
            </a:r>
            <a:r>
              <a:rPr lang="en-US" baseline="30000" dirty="0" smtClean="0"/>
              <a:t>o </a:t>
            </a:r>
            <a:r>
              <a:rPr lang="en-US" dirty="0" smtClean="0"/>
              <a:t>C 3-4 days in </a:t>
            </a:r>
            <a:r>
              <a:rPr lang="en-US" dirty="0" err="1" smtClean="0"/>
              <a:t>Sabouraud</a:t>
            </a:r>
            <a:r>
              <a:rPr lang="en-US" dirty="0" smtClean="0"/>
              <a:t> dextrose agar</a:t>
            </a:r>
          </a:p>
          <a:p>
            <a:r>
              <a:rPr lang="en-US" dirty="0" smtClean="0"/>
              <a:t>Dixon’s agar, a lipid- supplemented agar, supports the</a:t>
            </a:r>
          </a:p>
          <a:p>
            <a:r>
              <a:rPr lang="en-US" dirty="0" smtClean="0"/>
              <a:t>growth of both </a:t>
            </a:r>
            <a:r>
              <a:rPr lang="en-US" i="1" dirty="0" smtClean="0"/>
              <a:t>M. </a:t>
            </a:r>
            <a:r>
              <a:rPr lang="en-US" i="1" dirty="0" err="1" smtClean="0"/>
              <a:t>pachydermatis</a:t>
            </a:r>
            <a:r>
              <a:rPr lang="en-US" i="1" dirty="0" smtClean="0"/>
              <a:t> </a:t>
            </a:r>
            <a:r>
              <a:rPr lang="en-US" dirty="0" smtClean="0"/>
              <a:t>and the lipid-dependent </a:t>
            </a:r>
            <a:r>
              <a:rPr lang="en-US" i="1" dirty="0" err="1" smtClean="0"/>
              <a:t>Malassezia</a:t>
            </a:r>
            <a:r>
              <a:rPr lang="en-US" i="1" dirty="0" smtClean="0"/>
              <a:t> species.</a:t>
            </a:r>
            <a:endParaRPr lang="en-US" dirty="0" smtClean="0"/>
          </a:p>
          <a:p>
            <a:endParaRPr lang="en-US" baseline="30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Identification of species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Colonial appearance</a:t>
            </a:r>
          </a:p>
          <a:p>
            <a:r>
              <a:rPr lang="en-US" dirty="0" smtClean="0"/>
              <a:t>Growth without lipid supplementation</a:t>
            </a:r>
          </a:p>
          <a:p>
            <a:r>
              <a:rPr lang="en-US" dirty="0" smtClean="0"/>
              <a:t>Characteristic microscopic appearance</a:t>
            </a:r>
          </a:p>
          <a:p>
            <a:r>
              <a:rPr lang="en-US" dirty="0" smtClean="0"/>
              <a:t>PCR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Treatment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miconazole–chlorhexidine</a:t>
            </a:r>
            <a:r>
              <a:rPr lang="en-US" dirty="0" smtClean="0"/>
              <a:t> shampoo</a:t>
            </a:r>
          </a:p>
          <a:p>
            <a:r>
              <a:rPr lang="en-US" dirty="0" smtClean="0"/>
              <a:t>topical and oral </a:t>
            </a:r>
            <a:r>
              <a:rPr lang="en-US" dirty="0" err="1" smtClean="0"/>
              <a:t>ketoconazole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Dimorphic Fungi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 Dimorphic fungi, occur in two distinct forms, a mould form and a yeast form. </a:t>
            </a:r>
          </a:p>
          <a:p>
            <a:r>
              <a:rPr lang="en-US" dirty="0" smtClean="0"/>
              <a:t>They exist as moulds in the environment and when cultured on </a:t>
            </a:r>
            <a:r>
              <a:rPr lang="en-US" dirty="0" err="1" smtClean="0"/>
              <a:t>Sabouraud</a:t>
            </a:r>
            <a:r>
              <a:rPr lang="en-US" dirty="0" smtClean="0"/>
              <a:t> dextrose agar at 25°Cto 30°C. </a:t>
            </a:r>
          </a:p>
          <a:p>
            <a:r>
              <a:rPr lang="en-US" dirty="0" smtClean="0"/>
              <a:t>In animal tissues and when cultured at 37°C on brain– heart infusion agar with the addition of 5% blood, most grow as yeasts</a:t>
            </a:r>
          </a:p>
          <a:p>
            <a:r>
              <a:rPr lang="en-US" dirty="0" smtClean="0"/>
              <a:t> The dimorphic fungi most often associated with disease in domestic animals are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            </a:t>
            </a:r>
            <a:r>
              <a:rPr lang="en-US" i="1" dirty="0" err="1" smtClean="0"/>
              <a:t>Blastomyces</a:t>
            </a:r>
            <a:r>
              <a:rPr lang="en-US" i="1" dirty="0" smtClean="0"/>
              <a:t> </a:t>
            </a:r>
            <a:r>
              <a:rPr lang="en-US" i="1" dirty="0" err="1" smtClean="0"/>
              <a:t>dermatitidis</a:t>
            </a:r>
            <a:r>
              <a:rPr lang="en-US" i="1" dirty="0" smtClean="0"/>
              <a:t>, </a:t>
            </a:r>
          </a:p>
          <a:p>
            <a:pPr>
              <a:buFont typeface="Wingdings" pitchFamily="2" charset="2"/>
              <a:buChar char="v"/>
            </a:pPr>
            <a:r>
              <a:rPr lang="en-US" i="1" dirty="0" smtClean="0"/>
              <a:t>            </a:t>
            </a:r>
            <a:r>
              <a:rPr lang="en-US" i="1" dirty="0" err="1" smtClean="0"/>
              <a:t>Histoplasma</a:t>
            </a:r>
            <a:r>
              <a:rPr lang="en-US" i="1" dirty="0" smtClean="0"/>
              <a:t> </a:t>
            </a:r>
            <a:r>
              <a:rPr lang="en-US" i="1" dirty="0" err="1" smtClean="0"/>
              <a:t>capsulatum</a:t>
            </a:r>
            <a:r>
              <a:rPr lang="en-US" i="1" dirty="0" smtClean="0"/>
              <a:t> </a:t>
            </a:r>
          </a:p>
          <a:p>
            <a:pPr>
              <a:buFont typeface="Wingdings" pitchFamily="2" charset="2"/>
              <a:buChar char="v"/>
            </a:pPr>
            <a:r>
              <a:rPr lang="en-US" i="1" dirty="0" smtClean="0"/>
              <a:t>            </a:t>
            </a:r>
            <a:r>
              <a:rPr lang="en-US" i="1" dirty="0" err="1" smtClean="0"/>
              <a:t>Coccidioides</a:t>
            </a:r>
            <a:r>
              <a:rPr lang="en-US" i="1" dirty="0" smtClean="0"/>
              <a:t> </a:t>
            </a:r>
            <a:r>
              <a:rPr lang="en-US" i="1" dirty="0" err="1" smtClean="0"/>
              <a:t>immitis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Blastomyces</a:t>
            </a:r>
            <a:r>
              <a:rPr lang="en-US" dirty="0" smtClean="0"/>
              <a:t> </a:t>
            </a:r>
            <a:r>
              <a:rPr lang="en-US" dirty="0" err="1" smtClean="0"/>
              <a:t>dermatitidis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causes </a:t>
            </a:r>
            <a:r>
              <a:rPr lang="en-US" dirty="0" err="1" smtClean="0"/>
              <a:t>blastomycosis</a:t>
            </a:r>
            <a:r>
              <a:rPr lang="en-US" dirty="0" smtClean="0"/>
              <a:t>, mainly in dogs and humans.</a:t>
            </a:r>
          </a:p>
          <a:p>
            <a:r>
              <a:rPr lang="en-US" dirty="0" smtClean="0"/>
              <a:t> present in moist, acid soils rich in organic matter</a:t>
            </a:r>
          </a:p>
          <a:p>
            <a:r>
              <a:rPr lang="en-US" dirty="0" err="1" smtClean="0"/>
              <a:t>Blastomycosis</a:t>
            </a:r>
            <a:r>
              <a:rPr lang="en-US" dirty="0" smtClean="0"/>
              <a:t> most commonly affects dogs and humans .</a:t>
            </a:r>
          </a:p>
          <a:p>
            <a:r>
              <a:rPr lang="en-US" dirty="0" smtClean="0"/>
              <a:t>Infection usually occurs by inhalation of aerosolized spores or </a:t>
            </a:r>
            <a:r>
              <a:rPr lang="en-US" dirty="0" err="1" smtClean="0"/>
              <a:t>mycelial</a:t>
            </a:r>
            <a:r>
              <a:rPr lang="en-US" dirty="0" smtClean="0"/>
              <a:t> fragments</a:t>
            </a:r>
          </a:p>
          <a:p>
            <a:r>
              <a:rPr lang="en-US" dirty="0" smtClean="0"/>
              <a:t>Virulence factor is BAD1 (</a:t>
            </a:r>
            <a:r>
              <a:rPr lang="en-US" dirty="0" err="1" smtClean="0"/>
              <a:t>Blastomuces</a:t>
            </a:r>
            <a:r>
              <a:rPr lang="en-US" dirty="0" smtClean="0"/>
              <a:t> </a:t>
            </a:r>
            <a:r>
              <a:rPr lang="en-US" dirty="0" err="1" smtClean="0"/>
              <a:t>adhesin</a:t>
            </a:r>
            <a:r>
              <a:rPr lang="en-US" dirty="0" smtClean="0"/>
              <a:t>)</a:t>
            </a:r>
          </a:p>
          <a:p>
            <a:r>
              <a:rPr lang="en-US" dirty="0" smtClean="0"/>
              <a:t>Mainly pulmonary </a:t>
            </a:r>
            <a:r>
              <a:rPr lang="en-US" dirty="0" err="1" smtClean="0"/>
              <a:t>infecton</a:t>
            </a:r>
            <a:r>
              <a:rPr lang="en-US" dirty="0" smtClean="0"/>
              <a:t> which can spread to skin, eyes and bone , when the cell mediated immunity is weak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955" y="2209800"/>
            <a:ext cx="7788593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Diagnosis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When incubated at 25°C to 30°C on </a:t>
            </a:r>
            <a:r>
              <a:rPr lang="en-US" dirty="0" err="1" smtClean="0"/>
              <a:t>Sabouraud</a:t>
            </a:r>
            <a:r>
              <a:rPr lang="en-US" dirty="0" smtClean="0"/>
              <a:t> dextrose agar, mould colonies are white and</a:t>
            </a:r>
          </a:p>
          <a:p>
            <a:pPr>
              <a:buNone/>
            </a:pPr>
            <a:r>
              <a:rPr lang="en-US" dirty="0" smtClean="0"/>
              <a:t>      cottony, usually becoming brown with age. Oval or pear-shaped conidia (2 to 10 </a:t>
            </a:r>
            <a:r>
              <a:rPr lang="en-US" dirty="0" err="1" smtClean="0"/>
              <a:t>μm</a:t>
            </a:r>
            <a:r>
              <a:rPr lang="en-US" dirty="0" smtClean="0"/>
              <a:t> in diameter)</a:t>
            </a:r>
          </a:p>
          <a:p>
            <a:pPr>
              <a:buNone/>
            </a:pPr>
            <a:r>
              <a:rPr lang="en-US" dirty="0" smtClean="0"/>
              <a:t>       are borne either on conidiophores or directly on the </a:t>
            </a:r>
            <a:r>
              <a:rPr lang="en-US" dirty="0" err="1" smtClean="0"/>
              <a:t>hyphae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When incubated at 37°C on brain–heart infusion agar with added </a:t>
            </a:r>
            <a:r>
              <a:rPr lang="en-US" dirty="0" err="1" smtClean="0"/>
              <a:t>cysteine</a:t>
            </a:r>
            <a:r>
              <a:rPr lang="en-US" dirty="0" smtClean="0"/>
              <a:t> and 5% blood, yeast</a:t>
            </a:r>
          </a:p>
          <a:p>
            <a:pPr>
              <a:buNone/>
            </a:pPr>
            <a:r>
              <a:rPr lang="en-US" dirty="0" smtClean="0"/>
              <a:t>       colonies are cream to tan, wrinkled and waxy. The yeast cells (8 to 10 |m in diameter) are </a:t>
            </a:r>
            <a:r>
              <a:rPr lang="en-US" dirty="0" smtClean="0"/>
              <a:t>thick w </a:t>
            </a:r>
            <a:r>
              <a:rPr lang="en-US" dirty="0" err="1" smtClean="0"/>
              <a:t>alled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 and typically bud on a broad base.</a:t>
            </a:r>
          </a:p>
          <a:p>
            <a:endParaRPr lang="en-US" dirty="0" smtClean="0"/>
          </a:p>
          <a:p>
            <a:r>
              <a:rPr lang="en-US" dirty="0" smtClean="0"/>
              <a:t>A soluble </a:t>
            </a:r>
            <a:r>
              <a:rPr lang="en-US" dirty="0" err="1" smtClean="0"/>
              <a:t>exoantigen</a:t>
            </a:r>
            <a:r>
              <a:rPr lang="en-US" dirty="0" smtClean="0"/>
              <a:t> of </a:t>
            </a:r>
            <a:r>
              <a:rPr lang="en-US" i="1" dirty="0" smtClean="0"/>
              <a:t>B. </a:t>
            </a:r>
            <a:r>
              <a:rPr lang="en-US" i="1" dirty="0" err="1" smtClean="0"/>
              <a:t>dermatitidis</a:t>
            </a:r>
            <a:r>
              <a:rPr lang="en-US" i="1" dirty="0" smtClean="0"/>
              <a:t> </a:t>
            </a:r>
            <a:r>
              <a:rPr lang="en-US" dirty="0" smtClean="0"/>
              <a:t>can be identified by agar gel </a:t>
            </a:r>
            <a:r>
              <a:rPr lang="en-US" dirty="0" err="1" smtClean="0"/>
              <a:t>immunodiffusion</a:t>
            </a:r>
            <a:r>
              <a:rPr lang="en-US" dirty="0" smtClean="0"/>
              <a:t> using</a:t>
            </a:r>
          </a:p>
          <a:p>
            <a:pPr>
              <a:buNone/>
            </a:pPr>
            <a:r>
              <a:rPr lang="it-IT" dirty="0" smtClean="0"/>
              <a:t>        specific antiserum </a:t>
            </a:r>
          </a:p>
          <a:p>
            <a:r>
              <a:rPr lang="en-US" dirty="0" smtClean="0"/>
              <a:t>nucleic acid probes for use on cultures of dimorphic fungi </a:t>
            </a:r>
            <a:endParaRPr lang="en-US" i="1" dirty="0" smtClean="0"/>
          </a:p>
          <a:p>
            <a:r>
              <a:rPr lang="en-US" dirty="0" smtClean="0"/>
              <a:t>Yeast cells may be demonstrated in cytological and </a:t>
            </a:r>
            <a:r>
              <a:rPr lang="en-US" dirty="0" err="1" smtClean="0"/>
              <a:t>histopathological</a:t>
            </a:r>
            <a:r>
              <a:rPr lang="en-US" dirty="0" smtClean="0"/>
              <a:t> preparations from affected</a:t>
            </a:r>
          </a:p>
          <a:p>
            <a:r>
              <a:rPr lang="en-US" dirty="0" smtClean="0"/>
              <a:t>tissues by staining with the PAS stain or with </a:t>
            </a:r>
            <a:r>
              <a:rPr lang="en-US" dirty="0" err="1" smtClean="0"/>
              <a:t>methenamine</a:t>
            </a:r>
            <a:r>
              <a:rPr lang="en-US" dirty="0" smtClean="0"/>
              <a:t> silver</a:t>
            </a:r>
            <a:r>
              <a:rPr lang="en-US" dirty="0" smtClean="0"/>
              <a:t>.</a:t>
            </a:r>
            <a:endParaRPr lang="en-US" dirty="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Exudates or aspirates for cytological examination should be stained with </a:t>
            </a:r>
            <a:r>
              <a:rPr lang="en-US" dirty="0" err="1" smtClean="0"/>
              <a:t>methylene</a:t>
            </a:r>
            <a:r>
              <a:rPr lang="en-US" dirty="0" smtClean="0"/>
              <a:t> blue or by the </a:t>
            </a:r>
            <a:r>
              <a:rPr lang="en-US" dirty="0" err="1" smtClean="0"/>
              <a:t>Giemsa</a:t>
            </a:r>
            <a:r>
              <a:rPr lang="en-US" dirty="0" smtClean="0"/>
              <a:t> method.</a:t>
            </a:r>
          </a:p>
          <a:p>
            <a:r>
              <a:rPr lang="en-US" dirty="0" smtClean="0"/>
              <a:t>Alternatively, </a:t>
            </a:r>
            <a:r>
              <a:rPr lang="en-US" dirty="0" err="1" smtClean="0"/>
              <a:t>immunofluorescent</a:t>
            </a:r>
            <a:r>
              <a:rPr lang="en-US" dirty="0" smtClean="0"/>
              <a:t> staining can be used to specifically identify the yeast form in</a:t>
            </a:r>
          </a:p>
          <a:p>
            <a:r>
              <a:rPr lang="en-US" dirty="0" smtClean="0"/>
              <a:t>tissues.</a:t>
            </a:r>
          </a:p>
          <a:p>
            <a:r>
              <a:rPr lang="en-US" dirty="0" smtClean="0"/>
              <a:t>Polymerase chain reaction </a:t>
            </a:r>
            <a:endParaRPr lang="en-US" i="1" dirty="0" smtClean="0"/>
          </a:p>
          <a:p>
            <a:r>
              <a:rPr lang="en-US" dirty="0" smtClean="0"/>
              <a:t>Serological procedures, suitable for demonstrating rising antibody </a:t>
            </a:r>
            <a:r>
              <a:rPr lang="en-US" dirty="0" err="1" smtClean="0"/>
              <a:t>titres</a:t>
            </a:r>
            <a:r>
              <a:rPr lang="en-US" dirty="0" smtClean="0"/>
              <a:t> in affected dogs, are</a:t>
            </a:r>
          </a:p>
          <a:p>
            <a:r>
              <a:rPr lang="en-US" dirty="0" smtClean="0"/>
              <a:t>ELISA and counter- </a:t>
            </a:r>
            <a:r>
              <a:rPr lang="en-US" dirty="0" err="1" smtClean="0"/>
              <a:t>immunoelectrophoresis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Detection of fungal antigen in serum and urine by enzyme immunoassay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err="1" smtClean="0"/>
              <a:t>Histoplasma</a:t>
            </a:r>
            <a:r>
              <a:rPr lang="en-US" b="1" i="1" dirty="0" smtClean="0"/>
              <a:t> </a:t>
            </a:r>
            <a:r>
              <a:rPr lang="en-US" b="1" i="1" dirty="0" err="1" smtClean="0"/>
              <a:t>capsulatum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i="1" dirty="0" smtClean="0"/>
              <a:t>Histoplasma capsulatum var. capsulatum (H.</a:t>
            </a:r>
          </a:p>
          <a:p>
            <a:pPr>
              <a:buNone/>
            </a:pPr>
            <a:r>
              <a:rPr lang="en-US" i="1" dirty="0" smtClean="0"/>
              <a:t>   </a:t>
            </a:r>
            <a:r>
              <a:rPr lang="en-US" i="1" dirty="0" err="1" smtClean="0"/>
              <a:t>capsulatum</a:t>
            </a:r>
            <a:r>
              <a:rPr lang="en-US" i="1" dirty="0" smtClean="0"/>
              <a:t>), </a:t>
            </a:r>
            <a:r>
              <a:rPr lang="en-US" dirty="0" smtClean="0"/>
              <a:t>which can produce systemic </a:t>
            </a:r>
            <a:r>
              <a:rPr lang="en-US" dirty="0" err="1" smtClean="0"/>
              <a:t>histoplasmosis</a:t>
            </a:r>
            <a:r>
              <a:rPr lang="en-US" dirty="0" smtClean="0"/>
              <a:t> mainly in dogs and cats</a:t>
            </a:r>
          </a:p>
          <a:p>
            <a:r>
              <a:rPr lang="en-US" dirty="0" smtClean="0"/>
              <a:t> H. </a:t>
            </a:r>
            <a:r>
              <a:rPr lang="en-US" dirty="0" err="1" smtClean="0"/>
              <a:t>capsulatum</a:t>
            </a:r>
            <a:r>
              <a:rPr lang="en-US" dirty="0" smtClean="0"/>
              <a:t> var. </a:t>
            </a:r>
            <a:r>
              <a:rPr lang="en-US" dirty="0" err="1" smtClean="0"/>
              <a:t>farciminosum</a:t>
            </a:r>
            <a:r>
              <a:rPr lang="en-US" dirty="0" smtClean="0"/>
              <a:t> (H. </a:t>
            </a:r>
            <a:r>
              <a:rPr lang="en-US" dirty="0" err="1" smtClean="0"/>
              <a:t>farciminosum</a:t>
            </a:r>
            <a:r>
              <a:rPr lang="en-US" dirty="0" smtClean="0"/>
              <a:t>) which causes equine epizootic </a:t>
            </a:r>
            <a:r>
              <a:rPr lang="en-US" dirty="0" err="1" smtClean="0"/>
              <a:t>lymphangitis</a:t>
            </a:r>
            <a:endParaRPr lang="en-US" dirty="0" smtClean="0"/>
          </a:p>
          <a:p>
            <a:r>
              <a:rPr lang="en-US" dirty="0" smtClean="0"/>
              <a:t>found in soil, particularly when enriched with bird or bat </a:t>
            </a:r>
            <a:r>
              <a:rPr lang="en-US" dirty="0" err="1" smtClean="0"/>
              <a:t>faeces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83337" y="1752600"/>
            <a:ext cx="6384872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Canine and Feline </a:t>
            </a:r>
            <a:r>
              <a:rPr lang="en-US" dirty="0" err="1" smtClean="0"/>
              <a:t>Histoplasmosis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 Following inhalation, </a:t>
            </a:r>
            <a:r>
              <a:rPr lang="en-US" dirty="0" err="1" smtClean="0"/>
              <a:t>microconidia</a:t>
            </a:r>
            <a:r>
              <a:rPr lang="en-US" dirty="0" smtClean="0"/>
              <a:t> are ingested by pulmonary alveolar macrophages, in which the yeast forms persist and replicate.</a:t>
            </a:r>
          </a:p>
          <a:p>
            <a:r>
              <a:rPr lang="en-US" dirty="0" err="1" smtClean="0"/>
              <a:t>Granulomatous</a:t>
            </a:r>
            <a:r>
              <a:rPr lang="en-US" dirty="0" smtClean="0"/>
              <a:t> lesions may be found in the lungs of both dogs and cats. Disseminated disease has been recorded in both species, probably associated with impaired </a:t>
            </a:r>
            <a:r>
              <a:rPr lang="en-US" dirty="0" smtClean="0"/>
              <a:t>cell mediated </a:t>
            </a:r>
            <a:r>
              <a:rPr lang="en-US" dirty="0" smtClean="0"/>
              <a:t>immunity. </a:t>
            </a:r>
          </a:p>
          <a:p>
            <a:r>
              <a:rPr lang="en-US" dirty="0" smtClean="0"/>
              <a:t>In dogs, ulcerative intestinal lesions are commonly encountered whereas intestinal involvement is rare in cats.</a:t>
            </a:r>
          </a:p>
          <a:p>
            <a:r>
              <a:rPr lang="en-US" dirty="0" smtClean="0"/>
              <a:t>Clinical signs in affected dogs include chronic cough, persistent </a:t>
            </a:r>
            <a:r>
              <a:rPr lang="en-US" dirty="0" err="1" smtClean="0"/>
              <a:t>diarrhoea</a:t>
            </a:r>
            <a:r>
              <a:rPr lang="en-US" dirty="0" smtClean="0"/>
              <a:t> and emaciation. </a:t>
            </a:r>
          </a:p>
          <a:p>
            <a:r>
              <a:rPr lang="en-US" dirty="0" smtClean="0"/>
              <a:t>Less frequently, peripheral lymphadenitis, ulcerative skin nodules, eye lesions, lameness and neurological dysfunction may be encountered. T</a:t>
            </a:r>
          </a:p>
          <a:p>
            <a:r>
              <a:rPr lang="en-US" dirty="0" smtClean="0"/>
              <a:t>T</a:t>
            </a:r>
            <a:r>
              <a:rPr lang="en-US" dirty="0" smtClean="0"/>
              <a:t>he </a:t>
            </a:r>
            <a:r>
              <a:rPr lang="en-US" dirty="0" smtClean="0"/>
              <a:t>clinical signs in cats relate mainly to pulmonary involvement and include </a:t>
            </a:r>
            <a:r>
              <a:rPr lang="en-US" dirty="0" err="1" smtClean="0"/>
              <a:t>dyspnoea</a:t>
            </a:r>
            <a:r>
              <a:rPr lang="en-US" dirty="0" smtClean="0"/>
              <a:t>, depression, fever and loss of weight. Disseminated </a:t>
            </a:r>
            <a:r>
              <a:rPr lang="en-US" dirty="0" err="1" smtClean="0"/>
              <a:t>histoplasmosis</a:t>
            </a:r>
            <a:r>
              <a:rPr lang="en-US" dirty="0" smtClean="0"/>
              <a:t> is invariably fatal. </a:t>
            </a:r>
          </a:p>
          <a:p>
            <a:r>
              <a:rPr lang="en-US" dirty="0" err="1" smtClean="0"/>
              <a:t>Itraconazole</a:t>
            </a:r>
            <a:r>
              <a:rPr lang="en-US" dirty="0" smtClean="0"/>
              <a:t> is the drug of choice on account of its low toxicity. 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Epizootic </a:t>
            </a:r>
            <a:r>
              <a:rPr lang="en-US" dirty="0" err="1" smtClean="0"/>
              <a:t>lymphangitis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Epizootic </a:t>
            </a:r>
            <a:r>
              <a:rPr lang="en-US" dirty="0" err="1" smtClean="0"/>
              <a:t>lymphangitis</a:t>
            </a:r>
            <a:r>
              <a:rPr lang="en-US" dirty="0" smtClean="0"/>
              <a:t>, caused by </a:t>
            </a:r>
            <a:r>
              <a:rPr lang="en-US" i="1" dirty="0" smtClean="0"/>
              <a:t>H. </a:t>
            </a:r>
            <a:r>
              <a:rPr lang="en-US" i="1" dirty="0" err="1" smtClean="0"/>
              <a:t>farciminosum</a:t>
            </a:r>
            <a:r>
              <a:rPr lang="en-US" i="1" dirty="0" smtClean="0"/>
              <a:t>, is a contagious disease of </a:t>
            </a:r>
            <a:r>
              <a:rPr lang="en-US" i="1" dirty="0" err="1" smtClean="0"/>
              <a:t>Equidae</a:t>
            </a:r>
            <a:r>
              <a:rPr lang="en-US" i="1" dirty="0" smtClean="0"/>
              <a:t> </a:t>
            </a:r>
          </a:p>
          <a:p>
            <a:r>
              <a:rPr lang="en-US" dirty="0" smtClean="0"/>
              <a:t> Infection is usually acquired from environmental sources through minor skin abrasions on the limbs. </a:t>
            </a:r>
          </a:p>
          <a:p>
            <a:r>
              <a:rPr lang="en-US" dirty="0" smtClean="0"/>
              <a:t>primary ocular involvement and pulmonary involvement have also been recorded.</a:t>
            </a:r>
          </a:p>
          <a:p>
            <a:r>
              <a:rPr lang="en-US" dirty="0" smtClean="0"/>
              <a:t>Characteristic </a:t>
            </a:r>
            <a:r>
              <a:rPr lang="en-US" dirty="0" err="1" smtClean="0"/>
              <a:t>lymphocutaneous</a:t>
            </a:r>
            <a:r>
              <a:rPr lang="en-US" dirty="0" smtClean="0"/>
              <a:t> lesions, which resemble those of equine </a:t>
            </a:r>
            <a:r>
              <a:rPr lang="en-US" dirty="0" err="1" smtClean="0"/>
              <a:t>farcy</a:t>
            </a:r>
            <a:r>
              <a:rPr lang="en-US" dirty="0" smtClean="0"/>
              <a:t> consist of ulcerated discharging nodules usually located along the course of thickened, hard, lymphatic vessels. </a:t>
            </a:r>
          </a:p>
          <a:p>
            <a:r>
              <a:rPr lang="en-US" dirty="0" smtClean="0"/>
              <a:t>Regional </a:t>
            </a:r>
            <a:r>
              <a:rPr lang="en-US" dirty="0" err="1" smtClean="0"/>
              <a:t>lymphadenopathy</a:t>
            </a:r>
            <a:r>
              <a:rPr lang="en-US" dirty="0" smtClean="0"/>
              <a:t> is often present. Yeast cells of </a:t>
            </a:r>
            <a:r>
              <a:rPr lang="en-US" i="1" dirty="0" smtClean="0"/>
              <a:t>H. </a:t>
            </a:r>
            <a:r>
              <a:rPr lang="en-US" i="1" dirty="0" err="1" smtClean="0"/>
              <a:t>farciminosum</a:t>
            </a:r>
            <a:r>
              <a:rPr lang="en-US" i="1" dirty="0" smtClean="0"/>
              <a:t> </a:t>
            </a:r>
            <a:r>
              <a:rPr lang="en-US" dirty="0" smtClean="0"/>
              <a:t>are found in large numbers in lesions, mainly within macrophages</a:t>
            </a:r>
          </a:p>
          <a:p>
            <a:r>
              <a:rPr lang="en-US" i="1" dirty="0" smtClean="0"/>
              <a:t> </a:t>
            </a:r>
            <a:r>
              <a:rPr lang="en-US" i="1" dirty="0" err="1" smtClean="0"/>
              <a:t>Histoplasma</a:t>
            </a:r>
            <a:r>
              <a:rPr lang="en-US" i="1" dirty="0" smtClean="0"/>
              <a:t> </a:t>
            </a:r>
            <a:r>
              <a:rPr lang="en-US" i="1" dirty="0" err="1" smtClean="0"/>
              <a:t>farciminosum</a:t>
            </a:r>
            <a:r>
              <a:rPr lang="en-US" i="1" dirty="0" smtClean="0"/>
              <a:t>, present in </a:t>
            </a:r>
            <a:r>
              <a:rPr lang="en-US" dirty="0" smtClean="0"/>
              <a:t>discharges, can be spread by biting insects and through contaminated grooming gear and harness.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Diagnosis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4500" dirty="0" smtClean="0"/>
              <a:t>When cultured at 25°C to 30°C on </a:t>
            </a:r>
            <a:r>
              <a:rPr lang="en-US" sz="4500" dirty="0" err="1" smtClean="0"/>
              <a:t>Sabouraud</a:t>
            </a:r>
            <a:r>
              <a:rPr lang="en-US" sz="4500" dirty="0" smtClean="0"/>
              <a:t> dextrose agar, the mould form grows as white </a:t>
            </a:r>
            <a:r>
              <a:rPr lang="en-US" sz="4500" dirty="0" smtClean="0"/>
              <a:t>to      </a:t>
            </a:r>
            <a:r>
              <a:rPr lang="en-US" sz="4500" dirty="0" smtClean="0"/>
              <a:t>buff colonies with cottony aerial </a:t>
            </a:r>
            <a:r>
              <a:rPr lang="en-US" sz="4500" dirty="0" err="1" smtClean="0"/>
              <a:t>hyphae</a:t>
            </a:r>
            <a:r>
              <a:rPr lang="en-US" sz="4500" dirty="0" smtClean="0"/>
              <a:t>. </a:t>
            </a:r>
            <a:endParaRPr lang="en-US" sz="4500" dirty="0" smtClean="0"/>
          </a:p>
          <a:p>
            <a:r>
              <a:rPr lang="en-US" sz="4500" dirty="0" err="1" smtClean="0"/>
              <a:t>Septate</a:t>
            </a:r>
            <a:r>
              <a:rPr lang="en-US" sz="4500" dirty="0" smtClean="0"/>
              <a:t> </a:t>
            </a:r>
            <a:r>
              <a:rPr lang="en-US" sz="4500" dirty="0" err="1" smtClean="0"/>
              <a:t>hyphae</a:t>
            </a:r>
            <a:r>
              <a:rPr lang="en-US" sz="4500" dirty="0" smtClean="0"/>
              <a:t> bear small conidia. In mature colonies, slender conidiophores produce </a:t>
            </a:r>
            <a:r>
              <a:rPr lang="en-US" sz="4500" dirty="0" err="1" smtClean="0"/>
              <a:t>tuberculate</a:t>
            </a:r>
            <a:r>
              <a:rPr lang="en-US" sz="4500" dirty="0" smtClean="0"/>
              <a:t>, sunflower-like </a:t>
            </a:r>
            <a:r>
              <a:rPr lang="en-US" sz="4500" dirty="0" err="1" smtClean="0"/>
              <a:t>macroconidia</a:t>
            </a:r>
            <a:r>
              <a:rPr lang="en-US" sz="4500" dirty="0" smtClean="0"/>
              <a:t> (9 to 15 </a:t>
            </a:r>
            <a:r>
              <a:rPr lang="en-US" sz="4500" dirty="0" err="1" smtClean="0"/>
              <a:t>μm</a:t>
            </a:r>
            <a:r>
              <a:rPr lang="en-US" sz="4500" dirty="0" smtClean="0"/>
              <a:t> in diameter).</a:t>
            </a:r>
          </a:p>
          <a:p>
            <a:r>
              <a:rPr lang="en-US" sz="4500" dirty="0" smtClean="0"/>
              <a:t>When cultured at 37°C on brain–heart infusion agar with added </a:t>
            </a:r>
            <a:r>
              <a:rPr lang="en-US" sz="4500" dirty="0" err="1" smtClean="0"/>
              <a:t>cysteine</a:t>
            </a:r>
            <a:r>
              <a:rPr lang="en-US" sz="4500" dirty="0" smtClean="0"/>
              <a:t> and 5% blood, yeast</a:t>
            </a:r>
          </a:p>
          <a:p>
            <a:pPr>
              <a:buNone/>
            </a:pPr>
            <a:r>
              <a:rPr lang="en-US" sz="4500" dirty="0" smtClean="0"/>
              <a:t>       colonies are round, </a:t>
            </a:r>
            <a:r>
              <a:rPr lang="en-US" sz="4500" dirty="0" err="1" smtClean="0"/>
              <a:t>mucoid</a:t>
            </a:r>
            <a:r>
              <a:rPr lang="en-US" sz="4500" dirty="0" smtClean="0"/>
              <a:t> and cream-</a:t>
            </a:r>
            <a:r>
              <a:rPr lang="en-US" sz="4500" dirty="0" err="1" smtClean="0"/>
              <a:t>coloured</a:t>
            </a:r>
            <a:r>
              <a:rPr lang="en-US" sz="4500" dirty="0" smtClean="0"/>
              <a:t>. Budding yeast cells are oval to spherical (2 to 5 </a:t>
            </a:r>
            <a:r>
              <a:rPr lang="el-GR" sz="4500" dirty="0" smtClean="0"/>
              <a:t>μ</a:t>
            </a:r>
            <a:r>
              <a:rPr lang="en-US" sz="4500" dirty="0" smtClean="0"/>
              <a:t>m in diameter).</a:t>
            </a:r>
          </a:p>
          <a:p>
            <a:r>
              <a:rPr lang="en-US" sz="4500" dirty="0" smtClean="0"/>
              <a:t>nucleic acid probe can be used for identification of isolates  </a:t>
            </a:r>
          </a:p>
          <a:p>
            <a:r>
              <a:rPr lang="en-US" sz="4500" dirty="0" err="1" smtClean="0"/>
              <a:t>Giemsa</a:t>
            </a:r>
            <a:r>
              <a:rPr lang="en-US" sz="4500" dirty="0" smtClean="0"/>
              <a:t>-stained smears of exudates or aspirates may be used for demonstrating yeast forms </a:t>
            </a:r>
            <a:r>
              <a:rPr lang="en-US" sz="4500" dirty="0" smtClean="0"/>
              <a:t>in    </a:t>
            </a:r>
            <a:r>
              <a:rPr lang="en-US" sz="4500" dirty="0" smtClean="0"/>
              <a:t>macrophages.</a:t>
            </a:r>
          </a:p>
          <a:p>
            <a:r>
              <a:rPr lang="en-US" sz="4500" dirty="0" err="1" smtClean="0"/>
              <a:t>Histopathological</a:t>
            </a:r>
            <a:r>
              <a:rPr lang="en-US" sz="4500" dirty="0" smtClean="0"/>
              <a:t> examination of affected tissues reveals </a:t>
            </a:r>
            <a:r>
              <a:rPr lang="en-US" sz="4500" dirty="0" err="1" smtClean="0"/>
              <a:t>pyogranulomatous</a:t>
            </a:r>
            <a:r>
              <a:rPr lang="en-US" sz="4500" dirty="0" smtClean="0"/>
              <a:t> foci </a:t>
            </a:r>
            <a:r>
              <a:rPr lang="en-US" sz="4500" dirty="0" smtClean="0"/>
              <a:t>containing    </a:t>
            </a:r>
            <a:r>
              <a:rPr lang="en-US" sz="4500" dirty="0" smtClean="0"/>
              <a:t>yeast forms. </a:t>
            </a:r>
          </a:p>
          <a:p>
            <a:r>
              <a:rPr lang="en-US" sz="4500" dirty="0" smtClean="0"/>
              <a:t>     Molecular techniques can be used to detect the fungal DNA in histological sections</a:t>
            </a:r>
          </a:p>
          <a:p>
            <a:pPr>
              <a:buNone/>
            </a:pPr>
            <a:endParaRPr lang="en-US" sz="4500" i="1" dirty="0" smtClean="0"/>
          </a:p>
          <a:p>
            <a:r>
              <a:rPr lang="en-US" sz="4500" dirty="0" smtClean="0"/>
              <a:t>A positive skin test, using </a:t>
            </a:r>
            <a:r>
              <a:rPr lang="en-US" sz="4500" dirty="0" err="1" smtClean="0"/>
              <a:t>histoplasmin</a:t>
            </a:r>
            <a:r>
              <a:rPr lang="en-US" sz="4500" dirty="0" smtClean="0"/>
              <a:t>, merely indicates exposure to the fungus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Coccidioides</a:t>
            </a:r>
            <a:r>
              <a:rPr lang="en-US" dirty="0" smtClean="0"/>
              <a:t> </a:t>
            </a:r>
            <a:r>
              <a:rPr lang="en-US" dirty="0" err="1" smtClean="0"/>
              <a:t>immitis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</a:t>
            </a:r>
            <a:r>
              <a:rPr lang="en-US" dirty="0" err="1" smtClean="0"/>
              <a:t>geophilic</a:t>
            </a:r>
            <a:r>
              <a:rPr lang="en-US" dirty="0" smtClean="0"/>
              <a:t> fungus </a:t>
            </a:r>
            <a:r>
              <a:rPr lang="en-US" i="1" dirty="0" smtClean="0"/>
              <a:t>C. </a:t>
            </a:r>
            <a:r>
              <a:rPr lang="en-US" i="1" dirty="0" err="1" smtClean="0"/>
              <a:t>immitis</a:t>
            </a:r>
            <a:r>
              <a:rPr lang="en-US" i="1" dirty="0" smtClean="0"/>
              <a:t> </a:t>
            </a:r>
            <a:r>
              <a:rPr lang="en-US" dirty="0" smtClean="0"/>
              <a:t>can infect a wide range of animal species including humans</a:t>
            </a:r>
            <a:r>
              <a:rPr lang="en-US" i="1" dirty="0" smtClean="0"/>
              <a:t>.</a:t>
            </a:r>
          </a:p>
          <a:p>
            <a:r>
              <a:rPr lang="en-US" i="1" dirty="0" err="1" smtClean="0"/>
              <a:t>Coccidioides</a:t>
            </a:r>
            <a:r>
              <a:rPr lang="en-US" i="1" dirty="0" smtClean="0"/>
              <a:t> </a:t>
            </a:r>
            <a:r>
              <a:rPr lang="en-US" i="1" dirty="0" err="1" smtClean="0"/>
              <a:t>immitis</a:t>
            </a:r>
            <a:r>
              <a:rPr lang="en-US" i="1" dirty="0" smtClean="0"/>
              <a:t> grows in the soil of arid or semiarid areas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Although grouped with the dimorphic fungi, </a:t>
            </a:r>
            <a:r>
              <a:rPr lang="en-US" i="1" dirty="0" smtClean="0"/>
              <a:t>C. </a:t>
            </a:r>
            <a:r>
              <a:rPr lang="en-US" i="1" dirty="0" err="1" smtClean="0"/>
              <a:t>immitis</a:t>
            </a:r>
            <a:r>
              <a:rPr lang="en-US" i="1" dirty="0" smtClean="0"/>
              <a:t> </a:t>
            </a:r>
            <a:r>
              <a:rPr lang="en-US" dirty="0" smtClean="0"/>
              <a:t>is biphasic rather than dimorphic because typical yeast forms are not produced</a:t>
            </a:r>
            <a:r>
              <a:rPr lang="en-US" i="1" dirty="0" smtClean="0"/>
              <a:t>. </a:t>
            </a:r>
          </a:p>
          <a:p>
            <a:r>
              <a:rPr lang="en-US" dirty="0" smtClean="0"/>
              <a:t>Large spherules containing </a:t>
            </a:r>
            <a:r>
              <a:rPr lang="en-US" dirty="0" err="1" smtClean="0"/>
              <a:t>endospores</a:t>
            </a:r>
            <a:r>
              <a:rPr lang="en-US" dirty="0" smtClean="0"/>
              <a:t> develop in tissues.</a:t>
            </a:r>
          </a:p>
          <a:p>
            <a:r>
              <a:rPr lang="en-US" dirty="0" smtClean="0"/>
              <a:t>Respiratory infections may follow inhalation of </a:t>
            </a:r>
            <a:r>
              <a:rPr lang="en-US" dirty="0" err="1" smtClean="0"/>
              <a:t>arthroconidia</a:t>
            </a:r>
            <a:r>
              <a:rPr lang="en-US" dirty="0" smtClean="0"/>
              <a:t> (</a:t>
            </a:r>
            <a:r>
              <a:rPr lang="en-US" dirty="0" err="1" smtClean="0"/>
              <a:t>arthrospores</a:t>
            </a:r>
            <a:r>
              <a:rPr lang="en-US" dirty="0" smtClean="0"/>
              <a:t>) produced from the mould form of the fungus in soil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Coccidioides</a:t>
            </a:r>
            <a:r>
              <a:rPr lang="en-US" dirty="0" smtClean="0"/>
              <a:t> </a:t>
            </a:r>
            <a:r>
              <a:rPr lang="en-US" dirty="0" err="1" smtClean="0"/>
              <a:t>immitis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84995" y="1828800"/>
            <a:ext cx="6857998" cy="3428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Following inhalation, the </a:t>
            </a:r>
            <a:r>
              <a:rPr lang="en-US" dirty="0" err="1" smtClean="0"/>
              <a:t>arthrospore</a:t>
            </a:r>
            <a:r>
              <a:rPr lang="en-US" dirty="0" smtClean="0"/>
              <a:t> is stimulated by the presence of phagocytes, increased CO2 and 37°C to differentiate into a multinucleated spherule which then reproduces by </a:t>
            </a:r>
            <a:r>
              <a:rPr lang="en-US" dirty="0" err="1" smtClean="0"/>
              <a:t>endosporulation</a:t>
            </a:r>
            <a:r>
              <a:rPr lang="en-US" dirty="0" smtClean="0"/>
              <a:t>. </a:t>
            </a:r>
          </a:p>
          <a:p>
            <a:r>
              <a:rPr lang="en-US" dirty="0" smtClean="0"/>
              <a:t>Upon maturation, the spherule ruptures releasing hundreds of </a:t>
            </a:r>
            <a:r>
              <a:rPr lang="en-US" dirty="0" err="1" smtClean="0"/>
              <a:t>endospores</a:t>
            </a:r>
            <a:r>
              <a:rPr lang="en-US" dirty="0" smtClean="0"/>
              <a:t> that can mature into new spherules in the surrounding tissues. </a:t>
            </a:r>
          </a:p>
          <a:p>
            <a:r>
              <a:rPr lang="en-US" dirty="0" smtClean="0"/>
              <a:t>The large size of the spherule may allow it to avoid engulfment by phagocytes. </a:t>
            </a:r>
          </a:p>
          <a:p>
            <a:r>
              <a:rPr lang="en-US" dirty="0" smtClean="0"/>
              <a:t>The tissue damage caused is thought to be the result of a combination of enzymatic activity and the host’s     immunological response</a:t>
            </a:r>
          </a:p>
          <a:p>
            <a:r>
              <a:rPr lang="en-US" dirty="0" err="1" smtClean="0"/>
              <a:t>Osteomyelitis</a:t>
            </a:r>
            <a:r>
              <a:rPr lang="en-US" dirty="0" smtClean="0"/>
              <a:t> and pulmonary lesions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Diagnosis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When cultured on </a:t>
            </a:r>
            <a:r>
              <a:rPr lang="en-US" dirty="0" err="1" smtClean="0"/>
              <a:t>Sabouraud</a:t>
            </a:r>
            <a:r>
              <a:rPr lang="en-US" dirty="0" smtClean="0"/>
              <a:t> dextrose agar at 25°C to 30°C, colonies are shiny, moist and grey</a:t>
            </a:r>
            <a:r>
              <a:rPr lang="en-US" dirty="0" smtClean="0"/>
              <a:t>,         </a:t>
            </a:r>
            <a:r>
              <a:rPr lang="en-US" dirty="0" smtClean="0"/>
              <a:t>becoming white and cottony. Thick-walled, barrel-shaped </a:t>
            </a:r>
            <a:r>
              <a:rPr lang="en-US" dirty="0" err="1" smtClean="0"/>
              <a:t>arthroconidia</a:t>
            </a:r>
            <a:r>
              <a:rPr lang="en-US" dirty="0" smtClean="0"/>
              <a:t>, separated by empty </a:t>
            </a:r>
            <a:r>
              <a:rPr lang="en-US" dirty="0" smtClean="0"/>
              <a:t>cells which </a:t>
            </a:r>
            <a:r>
              <a:rPr lang="en-US" dirty="0" smtClean="0"/>
              <a:t>undergo degeneration, are released following </a:t>
            </a:r>
            <a:r>
              <a:rPr lang="en-US" dirty="0" err="1" smtClean="0"/>
              <a:t>hyphal</a:t>
            </a:r>
            <a:r>
              <a:rPr lang="en-US" dirty="0" smtClean="0"/>
              <a:t> fragmentation </a:t>
            </a:r>
          </a:p>
          <a:p>
            <a:r>
              <a:rPr lang="en-US" dirty="0" smtClean="0"/>
              <a:t>The identity of suspect cultures can be confirmed using aqueous extracts in </a:t>
            </a:r>
            <a:r>
              <a:rPr lang="en-US" dirty="0" err="1" smtClean="0"/>
              <a:t>immunodiffusion</a:t>
            </a:r>
            <a:r>
              <a:rPr lang="en-US" dirty="0" smtClean="0"/>
              <a:t>   </a:t>
            </a:r>
            <a:r>
              <a:rPr lang="en-US" dirty="0" smtClean="0"/>
              <a:t>tests with specific </a:t>
            </a:r>
            <a:r>
              <a:rPr lang="en-US" i="1" dirty="0" smtClean="0"/>
              <a:t>C. </a:t>
            </a:r>
            <a:r>
              <a:rPr lang="en-US" i="1" dirty="0" err="1" smtClean="0"/>
              <a:t>immitis</a:t>
            </a:r>
            <a:r>
              <a:rPr lang="en-US" i="1" dirty="0" smtClean="0"/>
              <a:t> antiserum.</a:t>
            </a:r>
          </a:p>
          <a:p>
            <a:r>
              <a:rPr lang="en-US" dirty="0" smtClean="0"/>
              <a:t>A commercially available nucleic acid probe can be used on cultures for identification </a:t>
            </a:r>
          </a:p>
          <a:p>
            <a:r>
              <a:rPr lang="en-US" dirty="0" smtClean="0"/>
              <a:t>The history may indicate that a suspect animal came from an endemic area. </a:t>
            </a:r>
            <a:endParaRPr lang="en-US" dirty="0" smtClean="0"/>
          </a:p>
          <a:p>
            <a:r>
              <a:rPr lang="en-US" dirty="0" smtClean="0"/>
              <a:t>Radiographs </a:t>
            </a:r>
            <a:r>
              <a:rPr lang="en-US" dirty="0" smtClean="0"/>
              <a:t>of </a:t>
            </a:r>
            <a:r>
              <a:rPr lang="en-US" dirty="0" smtClean="0"/>
              <a:t>the       </a:t>
            </a:r>
            <a:r>
              <a:rPr lang="en-US" dirty="0" smtClean="0"/>
              <a:t>thorax or affected limbs may detect lesions consistent with </a:t>
            </a:r>
            <a:r>
              <a:rPr lang="en-US" dirty="0" err="1" smtClean="0"/>
              <a:t>coccidioidomycosis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Spherules of </a:t>
            </a:r>
            <a:r>
              <a:rPr lang="en-US" i="1" dirty="0" err="1" smtClean="0"/>
              <a:t>Coccidioides</a:t>
            </a:r>
            <a:r>
              <a:rPr lang="en-US" i="1" dirty="0" smtClean="0"/>
              <a:t> species may be demonstrated in exudates or aspirates cleared with</a:t>
            </a:r>
          </a:p>
          <a:p>
            <a:pPr>
              <a:buNone/>
            </a:pPr>
            <a:r>
              <a:rPr lang="en-US" dirty="0" smtClean="0"/>
              <a:t>      10% KOH and may also be identified in stained tissue sections.</a:t>
            </a:r>
          </a:p>
          <a:p>
            <a:r>
              <a:rPr lang="en-US" dirty="0" smtClean="0"/>
              <a:t>Complement fixation, agar gel </a:t>
            </a:r>
            <a:r>
              <a:rPr lang="en-US" dirty="0" err="1" smtClean="0"/>
              <a:t>immunodiffusion</a:t>
            </a:r>
            <a:r>
              <a:rPr lang="en-US" dirty="0" smtClean="0"/>
              <a:t>, ELISA and latex agglutination tests can </a:t>
            </a:r>
            <a:r>
              <a:rPr lang="en-US" dirty="0" smtClean="0"/>
              <a:t>be employed </a:t>
            </a:r>
            <a:r>
              <a:rPr lang="en-US" dirty="0" smtClean="0"/>
              <a:t>to demonstrate rising antibody </a:t>
            </a:r>
            <a:r>
              <a:rPr lang="en-US" dirty="0" err="1" smtClean="0"/>
              <a:t>titres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A positive skin test, using a filtrate of a </a:t>
            </a:r>
            <a:r>
              <a:rPr lang="en-US" dirty="0" err="1" smtClean="0"/>
              <a:t>mycelial</a:t>
            </a:r>
            <a:r>
              <a:rPr lang="en-US" dirty="0" smtClean="0"/>
              <a:t> culture (</a:t>
            </a:r>
            <a:r>
              <a:rPr lang="en-US" dirty="0" err="1" smtClean="0"/>
              <a:t>coccidioidin</a:t>
            </a:r>
            <a:r>
              <a:rPr lang="en-US" dirty="0" smtClean="0"/>
              <a:t>), is indicative of </a:t>
            </a:r>
            <a:r>
              <a:rPr lang="en-US" dirty="0" smtClean="0"/>
              <a:t>exposure  </a:t>
            </a:r>
            <a:r>
              <a:rPr lang="en-US" dirty="0" smtClean="0"/>
              <a:t>to the fungus.</a:t>
            </a:r>
          </a:p>
          <a:p>
            <a:r>
              <a:rPr lang="en-US" dirty="0" err="1" smtClean="0"/>
              <a:t>Intraperitoneal</a:t>
            </a:r>
            <a:r>
              <a:rPr lang="en-US" dirty="0" smtClean="0"/>
              <a:t> inoculation of mice with material from cultures may be necessary to demonstrate the formation of spherules </a:t>
            </a:r>
            <a:r>
              <a:rPr lang="en-US" i="1" dirty="0" smtClean="0"/>
              <a:t>in vivo.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295400"/>
            <a:ext cx="8380670" cy="4114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Rhinosporidium</a:t>
            </a:r>
            <a:r>
              <a:rPr lang="en-US" dirty="0" smtClean="0"/>
              <a:t> </a:t>
            </a:r>
            <a:r>
              <a:rPr lang="en-US" dirty="0" err="1" smtClean="0"/>
              <a:t>seeberi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Rhinosporidium</a:t>
            </a:r>
            <a:r>
              <a:rPr lang="en-US" dirty="0" smtClean="0"/>
              <a:t> </a:t>
            </a:r>
            <a:r>
              <a:rPr lang="en-US" dirty="0" err="1" smtClean="0"/>
              <a:t>seeberi</a:t>
            </a:r>
            <a:r>
              <a:rPr lang="en-US" dirty="0" smtClean="0"/>
              <a:t> is a fungus-like organism which has not been cultured on inert media but </a:t>
            </a:r>
            <a:r>
              <a:rPr lang="en-US" dirty="0" smtClean="0"/>
              <a:t>has     </a:t>
            </a:r>
            <a:r>
              <a:rPr lang="en-US" dirty="0" smtClean="0"/>
              <a:t>been maintained in </a:t>
            </a:r>
            <a:r>
              <a:rPr lang="en-US" dirty="0" err="1" smtClean="0"/>
              <a:t>monolayers</a:t>
            </a:r>
            <a:r>
              <a:rPr lang="en-US" dirty="0" smtClean="0"/>
              <a:t> of human rectal </a:t>
            </a:r>
            <a:r>
              <a:rPr lang="en-US" dirty="0" err="1" smtClean="0"/>
              <a:t>tumour</a:t>
            </a:r>
            <a:r>
              <a:rPr lang="en-US" dirty="0" smtClean="0"/>
              <a:t> cells</a:t>
            </a:r>
          </a:p>
          <a:p>
            <a:r>
              <a:rPr lang="en-US" dirty="0" err="1" smtClean="0"/>
              <a:t>Rhinosporidiosis</a:t>
            </a:r>
            <a:r>
              <a:rPr lang="en-US" dirty="0" smtClean="0"/>
              <a:t>, a sporadic, non-contagious, </a:t>
            </a:r>
            <a:r>
              <a:rPr lang="en-US" dirty="0" err="1" smtClean="0"/>
              <a:t>pyogranulomatous</a:t>
            </a:r>
            <a:r>
              <a:rPr lang="en-US" dirty="0" smtClean="0"/>
              <a:t> infection of the skin or mucosa, has been recorded in horses, dogs, cattle, goats, waterfowl and humans.</a:t>
            </a:r>
          </a:p>
          <a:p>
            <a:r>
              <a:rPr lang="en-US" dirty="0" smtClean="0"/>
              <a:t>Cases occur predominantly in tropical and subtropical regions, particularly in Sri Lanka, southern India and Argentina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It is generally considered that stagnant water and possibly soil are the natural habitats of the organism</a:t>
            </a:r>
          </a:p>
          <a:p>
            <a:r>
              <a:rPr lang="en-US" i="1" dirty="0" err="1" smtClean="0"/>
              <a:t>Rhinosporidium</a:t>
            </a:r>
            <a:r>
              <a:rPr lang="en-US" i="1" dirty="0" smtClean="0"/>
              <a:t> </a:t>
            </a:r>
            <a:r>
              <a:rPr lang="en-US" i="1" dirty="0" err="1" smtClean="0"/>
              <a:t>seeberi</a:t>
            </a:r>
            <a:r>
              <a:rPr lang="en-US" i="1" dirty="0" smtClean="0"/>
              <a:t> is of low pathogenic potential and disseminated infection is rare</a:t>
            </a:r>
          </a:p>
          <a:p>
            <a:r>
              <a:rPr lang="en-US" i="1" dirty="0" smtClean="0"/>
              <a:t>The life </a:t>
            </a:r>
            <a:r>
              <a:rPr lang="en-US" dirty="0" smtClean="0"/>
              <a:t>cycle of the organism is uncertain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Rhinosporidiosis</a:t>
            </a:r>
            <a:r>
              <a:rPr lang="en-US" dirty="0" smtClean="0"/>
              <a:t> presents most commonly as a chronic </a:t>
            </a:r>
            <a:r>
              <a:rPr lang="en-US" dirty="0" err="1" smtClean="0"/>
              <a:t>polypous</a:t>
            </a:r>
            <a:r>
              <a:rPr lang="en-US" dirty="0" smtClean="0"/>
              <a:t> rhinitis characterized by the presence of large sporangia (100 to 400 </a:t>
            </a:r>
            <a:r>
              <a:rPr lang="en-US" dirty="0" err="1" smtClean="0"/>
              <a:t>μm</a:t>
            </a:r>
            <a:r>
              <a:rPr lang="en-US" dirty="0" smtClean="0"/>
              <a:t> in diameter) in affected tissues</a:t>
            </a:r>
          </a:p>
          <a:p>
            <a:r>
              <a:rPr lang="en-US" dirty="0" smtClean="0"/>
              <a:t> The sporangia, which have double-contoured cell walls with an outer </a:t>
            </a:r>
            <a:r>
              <a:rPr lang="en-US" dirty="0" err="1" smtClean="0"/>
              <a:t>chitinous</a:t>
            </a:r>
            <a:r>
              <a:rPr lang="en-US" dirty="0" smtClean="0"/>
              <a:t> layer and an inner layer of cellulose, contain up to 16,000 </a:t>
            </a:r>
            <a:r>
              <a:rPr lang="en-US" dirty="0" err="1" smtClean="0"/>
              <a:t>endospores</a:t>
            </a:r>
            <a:r>
              <a:rPr lang="en-US" dirty="0" smtClean="0"/>
              <a:t> (approximately 7 </a:t>
            </a:r>
            <a:r>
              <a:rPr lang="en-US" dirty="0" err="1" smtClean="0"/>
              <a:t>μm</a:t>
            </a:r>
            <a:r>
              <a:rPr lang="en-US" dirty="0" smtClean="0"/>
              <a:t> in diameter)</a:t>
            </a:r>
          </a:p>
          <a:p>
            <a:r>
              <a:rPr lang="en-US" dirty="0" smtClean="0"/>
              <a:t>Mature </a:t>
            </a:r>
            <a:r>
              <a:rPr lang="en-US" dirty="0" err="1" smtClean="0"/>
              <a:t>endospores</a:t>
            </a:r>
            <a:r>
              <a:rPr lang="en-US" dirty="0" smtClean="0"/>
              <a:t> can be stained by the PAS and </a:t>
            </a:r>
            <a:r>
              <a:rPr lang="en-US" dirty="0" err="1" smtClean="0"/>
              <a:t>methenamine</a:t>
            </a:r>
            <a:r>
              <a:rPr lang="en-US" dirty="0" smtClean="0"/>
              <a:t> silver methods</a:t>
            </a:r>
          </a:p>
          <a:p>
            <a:r>
              <a:rPr lang="en-US" dirty="0" smtClean="0"/>
              <a:t> Several electron-dense bodies (1.5 to 2.0μm in diameter) containing DNA are present in the </a:t>
            </a:r>
            <a:r>
              <a:rPr lang="en-US" dirty="0" err="1" smtClean="0"/>
              <a:t>endospores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polyps, which may be sessile or </a:t>
            </a:r>
            <a:r>
              <a:rPr lang="en-US" dirty="0" err="1" smtClean="0"/>
              <a:t>pedunculated</a:t>
            </a:r>
            <a:r>
              <a:rPr lang="en-US" dirty="0" smtClean="0"/>
              <a:t> and up to 3cm in diameter, are composed of soft</a:t>
            </a:r>
          </a:p>
          <a:p>
            <a:pPr>
              <a:buNone/>
            </a:pPr>
            <a:r>
              <a:rPr lang="en-US" dirty="0" smtClean="0"/>
              <a:t>   </a:t>
            </a:r>
            <a:r>
              <a:rPr lang="en-US" dirty="0" err="1" smtClean="0"/>
              <a:t>fibromyxomatous</a:t>
            </a:r>
            <a:r>
              <a:rPr lang="en-US" dirty="0" smtClean="0"/>
              <a:t> </a:t>
            </a:r>
            <a:r>
              <a:rPr lang="en-US" dirty="0" err="1" smtClean="0"/>
              <a:t>stromal</a:t>
            </a:r>
            <a:r>
              <a:rPr lang="en-US" dirty="0" smtClean="0"/>
              <a:t> tissue covered by  epithelium</a:t>
            </a:r>
          </a:p>
          <a:p>
            <a:r>
              <a:rPr lang="en-US" dirty="0" smtClean="0"/>
              <a:t>Mature sporangia may be detectable grossly</a:t>
            </a:r>
          </a:p>
          <a:p>
            <a:pPr>
              <a:buNone/>
            </a:pPr>
            <a:r>
              <a:rPr lang="en-US" dirty="0" smtClean="0"/>
              <a:t>   in the </a:t>
            </a:r>
            <a:r>
              <a:rPr lang="en-US" dirty="0" err="1" smtClean="0"/>
              <a:t>stroma</a:t>
            </a:r>
            <a:r>
              <a:rPr lang="en-US" dirty="0" smtClean="0"/>
              <a:t> as minute white spots</a:t>
            </a:r>
          </a:p>
          <a:p>
            <a:r>
              <a:rPr lang="en-US" dirty="0" smtClean="0"/>
              <a:t> Cellular response to sporangia is sparse except when they rupture.</a:t>
            </a:r>
          </a:p>
          <a:p>
            <a:r>
              <a:rPr lang="en-US" dirty="0" smtClean="0"/>
              <a:t>The release of </a:t>
            </a:r>
            <a:r>
              <a:rPr lang="en-US" dirty="0" err="1" smtClean="0"/>
              <a:t>endospores</a:t>
            </a:r>
            <a:r>
              <a:rPr lang="en-US" dirty="0" smtClean="0"/>
              <a:t> elicits a marked </a:t>
            </a:r>
            <a:r>
              <a:rPr lang="en-US" dirty="0" err="1" smtClean="0"/>
              <a:t>pyogranulomatous</a:t>
            </a:r>
            <a:r>
              <a:rPr lang="en-US" dirty="0" smtClean="0"/>
              <a:t> reaction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reddish brown polyps in </a:t>
            </a:r>
            <a:r>
              <a:rPr lang="en-US" dirty="0" err="1" smtClean="0"/>
              <a:t>rhinosporidiosis</a:t>
            </a:r>
            <a:r>
              <a:rPr lang="en-US" dirty="0" smtClean="0"/>
              <a:t> may project from the </a:t>
            </a:r>
            <a:r>
              <a:rPr lang="en-US" dirty="0" err="1" smtClean="0"/>
              <a:t>nares</a:t>
            </a:r>
            <a:r>
              <a:rPr lang="en-US" dirty="0" smtClean="0"/>
              <a:t> and can occlude the nasal passages</a:t>
            </a:r>
          </a:p>
          <a:p>
            <a:r>
              <a:rPr lang="en-US" dirty="0" smtClean="0"/>
              <a:t>Noisy breathing may be exacerbated by exercise</a:t>
            </a:r>
          </a:p>
          <a:p>
            <a:r>
              <a:rPr lang="en-US" dirty="0" smtClean="0"/>
              <a:t>Nasal discharge is usually present and </a:t>
            </a:r>
            <a:r>
              <a:rPr lang="en-US" dirty="0" err="1" smtClean="0"/>
              <a:t>epistaxis</a:t>
            </a:r>
            <a:r>
              <a:rPr lang="en-US" dirty="0" smtClean="0"/>
              <a:t> may occur.</a:t>
            </a:r>
          </a:p>
          <a:p>
            <a:r>
              <a:rPr lang="en-US" dirty="0" smtClean="0"/>
              <a:t>cryosurgery or </a:t>
            </a:r>
            <a:r>
              <a:rPr lang="en-US" dirty="0" err="1" smtClean="0"/>
              <a:t>electrocauterization</a:t>
            </a:r>
            <a:r>
              <a:rPr lang="en-US" dirty="0" smtClean="0"/>
              <a:t> is suggested to avoid excessive bleeding</a:t>
            </a:r>
          </a:p>
          <a:p>
            <a:r>
              <a:rPr lang="en-US" dirty="0" err="1" smtClean="0"/>
              <a:t>Diaminodiphenylsulphone</a:t>
            </a:r>
            <a:r>
              <a:rPr lang="en-US" dirty="0" smtClean="0"/>
              <a:t>(</a:t>
            </a:r>
            <a:r>
              <a:rPr lang="en-US" dirty="0" err="1" smtClean="0"/>
              <a:t>dapsone</a:t>
            </a:r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Diagnosis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Nasal </a:t>
            </a:r>
            <a:r>
              <a:rPr lang="en-US" dirty="0" err="1" smtClean="0"/>
              <a:t>polyposis</a:t>
            </a:r>
            <a:r>
              <a:rPr lang="en-US" dirty="0" smtClean="0"/>
              <a:t> may suggest the presence of the condition.</a:t>
            </a:r>
          </a:p>
          <a:p>
            <a:r>
              <a:rPr lang="en-US" dirty="0" smtClean="0"/>
              <a:t>Specimens for laboratory examination should include biopsy material and scrapings from lesions.</a:t>
            </a:r>
          </a:p>
          <a:p>
            <a:r>
              <a:rPr lang="en-US" dirty="0" smtClean="0"/>
              <a:t>Cytological examination demonstrates a </a:t>
            </a:r>
            <a:r>
              <a:rPr lang="en-US" dirty="0" err="1" smtClean="0"/>
              <a:t>neutrophilic</a:t>
            </a:r>
            <a:r>
              <a:rPr lang="en-US" dirty="0" smtClean="0"/>
              <a:t> response and many </a:t>
            </a:r>
            <a:r>
              <a:rPr lang="en-US" dirty="0" err="1" smtClean="0"/>
              <a:t>endospores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Neutrophils</a:t>
            </a:r>
            <a:r>
              <a:rPr lang="en-US" dirty="0" smtClean="0"/>
              <a:t> form aggregates around </a:t>
            </a:r>
            <a:r>
              <a:rPr lang="en-US" dirty="0" err="1" smtClean="0"/>
              <a:t>endospores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Sporangia can be demonstrated </a:t>
            </a:r>
            <a:r>
              <a:rPr lang="en-US" dirty="0" err="1" smtClean="0"/>
              <a:t>histologically</a:t>
            </a:r>
            <a:r>
              <a:rPr lang="en-US" dirty="0" smtClean="0"/>
              <a:t> in tissue sections.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192</TotalTime>
  <Words>1804</Words>
  <Application>Microsoft Office PowerPoint</Application>
  <PresentationFormat>On-screen Show (4:3)</PresentationFormat>
  <Paragraphs>149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Oriel</vt:lpstr>
      <vt:lpstr>Malassezia pachydermatis</vt:lpstr>
      <vt:lpstr>Malassezia pachydermatis</vt:lpstr>
      <vt:lpstr>Pathogenesis and pathogenicity</vt:lpstr>
      <vt:lpstr>Slide 4</vt:lpstr>
      <vt:lpstr>DIAGNOSIS</vt:lpstr>
      <vt:lpstr>Identification of species</vt:lpstr>
      <vt:lpstr>Treatment</vt:lpstr>
      <vt:lpstr>Dimorphic Fungi</vt:lpstr>
      <vt:lpstr>Blastomyces dermatitidis</vt:lpstr>
      <vt:lpstr>Slide 10</vt:lpstr>
      <vt:lpstr>Diagnosis</vt:lpstr>
      <vt:lpstr>Slide 12</vt:lpstr>
      <vt:lpstr>Histoplasma capsulatum</vt:lpstr>
      <vt:lpstr>Slide 14</vt:lpstr>
      <vt:lpstr>Canine and Feline Histoplasmosis</vt:lpstr>
      <vt:lpstr>Epizootic lymphangitis</vt:lpstr>
      <vt:lpstr>Diagnosis</vt:lpstr>
      <vt:lpstr>Coccidioides immitis</vt:lpstr>
      <vt:lpstr>Coccidioides immitis</vt:lpstr>
      <vt:lpstr>Slide 20</vt:lpstr>
      <vt:lpstr>Diagnosis</vt:lpstr>
      <vt:lpstr>Slide 22</vt:lpstr>
      <vt:lpstr>Rhinosporidium seeberi</vt:lpstr>
      <vt:lpstr>Slide 24</vt:lpstr>
      <vt:lpstr>Slide 25</vt:lpstr>
      <vt:lpstr>Slide 26</vt:lpstr>
      <vt:lpstr>Diagnosis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reviewer</dc:creator>
  <cp:lastModifiedBy>reviewer</cp:lastModifiedBy>
  <cp:revision>20</cp:revision>
  <dcterms:created xsi:type="dcterms:W3CDTF">2020-03-01T15:10:45Z</dcterms:created>
  <dcterms:modified xsi:type="dcterms:W3CDTF">2022-07-25T03:28:38Z</dcterms:modified>
</cp:coreProperties>
</file>