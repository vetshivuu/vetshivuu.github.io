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80" r:id="rId5"/>
    <p:sldId id="259" r:id="rId6"/>
    <p:sldId id="260" r:id="rId7"/>
    <p:sldId id="261" r:id="rId8"/>
    <p:sldId id="262" r:id="rId9"/>
    <p:sldId id="283" r:id="rId10"/>
    <p:sldId id="263" r:id="rId11"/>
    <p:sldId id="281" r:id="rId12"/>
    <p:sldId id="264" r:id="rId13"/>
    <p:sldId id="265" r:id="rId14"/>
    <p:sldId id="266" r:id="rId15"/>
    <p:sldId id="282" r:id="rId16"/>
    <p:sldId id="267" r:id="rId17"/>
    <p:sldId id="268" r:id="rId18"/>
    <p:sldId id="269" r:id="rId19"/>
    <p:sldId id="270" r:id="rId20"/>
    <p:sldId id="271" r:id="rId21"/>
    <p:sldId id="272" r:id="rId22"/>
    <p:sldId id="273" r:id="rId23"/>
    <p:sldId id="274" r:id="rId24"/>
    <p:sldId id="275" r:id="rId25"/>
    <p:sldId id="276" r:id="rId26"/>
    <p:sldId id="277" r:id="rId27"/>
    <p:sldId id="284" r:id="rId28"/>
    <p:sldId id="278" r:id="rId29"/>
    <p:sldId id="279"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129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54524B57-B1E3-481B-AE87-5FA091631B7E}" type="datetimeFigureOut">
              <a:rPr lang="en-US" smtClean="0"/>
              <a:pPr/>
              <a:t>7/4/2024</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FD08C13-A78D-437C-982C-B338E58AAD59}"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54524B57-B1E3-481B-AE87-5FA091631B7E}" type="datetimeFigureOut">
              <a:rPr lang="en-US" smtClean="0"/>
              <a:pPr/>
              <a:t>7/4/2024</a:t>
            </a:fld>
            <a:endParaRPr lang="en-US"/>
          </a:p>
        </p:txBody>
      </p:sp>
      <p:sp>
        <p:nvSpPr>
          <p:cNvPr id="9" name="Slide Number Placeholder 8"/>
          <p:cNvSpPr>
            <a:spLocks noGrp="1"/>
          </p:cNvSpPr>
          <p:nvPr>
            <p:ph type="sldNum" sz="quarter" idx="15"/>
          </p:nvPr>
        </p:nvSpPr>
        <p:spPr/>
        <p:txBody>
          <a:bodyPr rtlCol="0"/>
          <a:lstStyle/>
          <a:p>
            <a:fld id="{BFD08C13-A78D-437C-982C-B338E58AAD59}"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54524B57-B1E3-481B-AE87-5FA091631B7E}" type="datetimeFigureOut">
              <a:rPr lang="en-US" smtClean="0"/>
              <a:pPr/>
              <a:t>7/4/2024</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FD08C13-A78D-437C-982C-B338E58AAD59}"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54524B57-B1E3-481B-AE87-5FA091631B7E}" type="datetimeFigureOut">
              <a:rPr lang="en-US" smtClean="0"/>
              <a:pPr/>
              <a:t>7/4/2024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D08C13-A78D-437C-982C-B338E58AAD59}"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54524B57-B1E3-481B-AE87-5FA091631B7E}" type="datetimeFigureOut">
              <a:rPr lang="en-US" smtClean="0"/>
              <a:pPr/>
              <a:t>7/4/2024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D08C13-A78D-437C-982C-B338E58AAD59}"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54524B57-B1E3-481B-AE87-5FA091631B7E}" type="datetimeFigureOut">
              <a:rPr lang="en-US" smtClean="0"/>
              <a:pPr/>
              <a:t>7/4/2024</a:t>
            </a:fld>
            <a:endParaRPr lang="en-US"/>
          </a:p>
        </p:txBody>
      </p:sp>
      <p:sp>
        <p:nvSpPr>
          <p:cNvPr id="7" name="Slide Number Placeholder 6"/>
          <p:cNvSpPr>
            <a:spLocks noGrp="1"/>
          </p:cNvSpPr>
          <p:nvPr>
            <p:ph type="sldNum" sz="quarter" idx="11"/>
          </p:nvPr>
        </p:nvSpPr>
        <p:spPr/>
        <p:txBody>
          <a:bodyPr rtlCol="0"/>
          <a:lstStyle/>
          <a:p>
            <a:fld id="{BFD08C13-A78D-437C-982C-B338E58AAD59}"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524B57-B1E3-481B-AE87-5FA091631B7E}" type="datetimeFigureOut">
              <a:rPr lang="en-US" smtClean="0"/>
              <a:pPr/>
              <a:t>7/4/2024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FD08C13-A78D-437C-982C-B338E58AAD5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54524B57-B1E3-481B-AE87-5FA091631B7E}" type="datetimeFigureOut">
              <a:rPr lang="en-US" smtClean="0"/>
              <a:pPr/>
              <a:t>7/4/2024</a:t>
            </a:fld>
            <a:endParaRPr lang="en-US"/>
          </a:p>
        </p:txBody>
      </p:sp>
      <p:sp>
        <p:nvSpPr>
          <p:cNvPr id="22" name="Slide Number Placeholder 21"/>
          <p:cNvSpPr>
            <a:spLocks noGrp="1"/>
          </p:cNvSpPr>
          <p:nvPr>
            <p:ph type="sldNum" sz="quarter" idx="15"/>
          </p:nvPr>
        </p:nvSpPr>
        <p:spPr/>
        <p:txBody>
          <a:bodyPr rtlCol="0"/>
          <a:lstStyle/>
          <a:p>
            <a:fld id="{BFD08C13-A78D-437C-982C-B338E58AAD59}"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54524B57-B1E3-481B-AE87-5FA091631B7E}" type="datetimeFigureOut">
              <a:rPr lang="en-US" smtClean="0"/>
              <a:pPr/>
              <a:t>7/4/2024</a:t>
            </a:fld>
            <a:endParaRPr lang="en-US"/>
          </a:p>
        </p:txBody>
      </p:sp>
      <p:sp>
        <p:nvSpPr>
          <p:cNvPr id="18" name="Slide Number Placeholder 17"/>
          <p:cNvSpPr>
            <a:spLocks noGrp="1"/>
          </p:cNvSpPr>
          <p:nvPr>
            <p:ph type="sldNum" sz="quarter" idx="11"/>
          </p:nvPr>
        </p:nvSpPr>
        <p:spPr/>
        <p:txBody>
          <a:bodyPr rtlCol="0"/>
          <a:lstStyle/>
          <a:p>
            <a:fld id="{BFD08C13-A78D-437C-982C-B338E58AAD59}"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4524B57-B1E3-481B-AE87-5FA091631B7E}" type="datetimeFigureOut">
              <a:rPr lang="en-US" smtClean="0"/>
              <a:pPr/>
              <a:t>7/4/2024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D08C13-A78D-437C-982C-B338E58AAD5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4524B57-B1E3-481B-AE87-5FA091631B7E}" type="datetimeFigureOut">
              <a:rPr lang="en-US" smtClean="0"/>
              <a:pPr/>
              <a:t>7/4/2024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D08C13-A78D-437C-982C-B338E58AAD5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54524B57-B1E3-481B-AE87-5FA091631B7E}" type="datetimeFigureOut">
              <a:rPr lang="en-US" smtClean="0"/>
              <a:pPr/>
              <a:t>7/4/2024</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FD08C13-A78D-437C-982C-B338E58AAD5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Brucellosis</a:t>
            </a:r>
          </a:p>
        </p:txBody>
      </p:sp>
      <p:sp>
        <p:nvSpPr>
          <p:cNvPr id="3" name="Subtitle 2"/>
          <p:cNvSpPr>
            <a:spLocks noGrp="1"/>
          </p:cNvSpPr>
          <p:nvPr>
            <p:ph type="subTitle" idx="1"/>
          </p:nvPr>
        </p:nvSpPr>
        <p:spPr/>
        <p:txBody>
          <a:bodyPr/>
          <a:lstStyle/>
          <a:p>
            <a:r>
              <a:rPr lang="en-US" dirty="0"/>
              <a:t>Dr. </a:t>
            </a:r>
            <a:r>
              <a:rPr lang="en-US" dirty="0" err="1"/>
              <a:t>Bincy</a:t>
            </a:r>
            <a:r>
              <a:rPr lang="en-US" dirty="0"/>
              <a:t> Joseph</a:t>
            </a:r>
          </a:p>
          <a:p>
            <a:r>
              <a:rPr lang="en-US" dirty="0" err="1"/>
              <a:t>Assitant</a:t>
            </a:r>
            <a:r>
              <a:rPr lang="en-US" dirty="0"/>
              <a:t> Professor</a:t>
            </a:r>
          </a:p>
          <a:p>
            <a:r>
              <a:rPr lang="en-US" dirty="0"/>
              <a:t>PGIVER , </a:t>
            </a:r>
            <a:r>
              <a:rPr lang="en-US" dirty="0" err="1"/>
              <a:t>Jaipur</a:t>
            </a:r>
            <a:endParaRPr lang="en-US" dirty="0"/>
          </a:p>
        </p:txBody>
      </p:sp>
      <p:pic>
        <p:nvPicPr>
          <p:cNvPr id="4098" name="Picture 2"/>
          <p:cNvPicPr>
            <a:picLocks noChangeAspect="1" noChangeArrowheads="1"/>
          </p:cNvPicPr>
          <p:nvPr/>
        </p:nvPicPr>
        <p:blipFill>
          <a:blip r:embed="rId2"/>
          <a:srcRect/>
          <a:stretch>
            <a:fillRect/>
          </a:stretch>
        </p:blipFill>
        <p:spPr bwMode="auto">
          <a:xfrm>
            <a:off x="1893718" y="609600"/>
            <a:ext cx="7097882" cy="2795535"/>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85000" lnSpcReduction="10000"/>
          </a:bodyPr>
          <a:lstStyle/>
          <a:p>
            <a:r>
              <a:rPr lang="en-US" dirty="0"/>
              <a:t>Brucellosis is caused by bacteria of the genus </a:t>
            </a:r>
            <a:r>
              <a:rPr lang="en-US" dirty="0" err="1"/>
              <a:t>Brucella</a:t>
            </a:r>
            <a:r>
              <a:rPr lang="en-US" dirty="0"/>
              <a:t> and is characterized by abortion, retained placenta, and to a lesser extent, </a:t>
            </a:r>
            <a:r>
              <a:rPr lang="en-US" dirty="0" err="1"/>
              <a:t>orchitis</a:t>
            </a:r>
            <a:r>
              <a:rPr lang="en-US" dirty="0"/>
              <a:t> and infection of the accessory sex glands in males.</a:t>
            </a:r>
          </a:p>
          <a:p>
            <a:r>
              <a:rPr lang="en-US" dirty="0"/>
              <a:t> Diagnosis depends on the isolation of </a:t>
            </a:r>
            <a:r>
              <a:rPr lang="en-US" dirty="0" err="1"/>
              <a:t>Brucella</a:t>
            </a:r>
            <a:r>
              <a:rPr lang="en-US" dirty="0"/>
              <a:t> from aborted materials, udder secretions or from tissues removed at post- mortem. </a:t>
            </a:r>
          </a:p>
          <a:p>
            <a:r>
              <a:rPr lang="en-US" dirty="0"/>
              <a:t>Presumptive diagnosis can be made by assessing specific cell-mediated or serological responses to </a:t>
            </a:r>
            <a:r>
              <a:rPr lang="en-US" i="1" dirty="0" err="1"/>
              <a:t>Brucella</a:t>
            </a:r>
            <a:r>
              <a:rPr lang="en-US" i="1" dirty="0"/>
              <a:t> </a:t>
            </a:r>
            <a:r>
              <a:rPr lang="en-US" dirty="0"/>
              <a:t>antigens.</a:t>
            </a:r>
          </a:p>
          <a:p>
            <a:r>
              <a:rPr lang="en-US" dirty="0"/>
              <a:t> The disease is prevalent in most countries of the world.</a:t>
            </a:r>
          </a:p>
          <a:p>
            <a:r>
              <a:rPr lang="en-US" dirty="0"/>
              <a:t> It primarily affects cattle, buffalo, bison, pigs, sheep, goats, dogs, elk, and occasionally horses. </a:t>
            </a:r>
          </a:p>
          <a:p>
            <a:r>
              <a:rPr lang="en-US" dirty="0"/>
              <a:t>The disease in man, sometimes referred to as undulant fever, is a serious public health problem, especially when caused by </a:t>
            </a:r>
            <a:r>
              <a:rPr lang="en-US" i="1" dirty="0"/>
              <a:t>B </a:t>
            </a:r>
            <a:r>
              <a:rPr lang="en-US" i="1" dirty="0" err="1"/>
              <a:t>melitensis</a:t>
            </a:r>
            <a:endParaRPr lang="en-US"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a:t>
            </a:r>
          </a:p>
        </p:txBody>
      </p:sp>
      <p:sp>
        <p:nvSpPr>
          <p:cNvPr id="3" name="Content Placeholder 2"/>
          <p:cNvSpPr>
            <a:spLocks noGrp="1"/>
          </p:cNvSpPr>
          <p:nvPr>
            <p:ph sz="quarter" idx="1"/>
          </p:nvPr>
        </p:nvSpPr>
        <p:spPr/>
        <p:txBody>
          <a:bodyPr>
            <a:normAutofit lnSpcReduction="10000"/>
          </a:bodyPr>
          <a:lstStyle/>
          <a:p>
            <a:r>
              <a:rPr lang="en-US" dirty="0"/>
              <a:t>All members of the </a:t>
            </a:r>
            <a:r>
              <a:rPr lang="en-US" i="1" dirty="0" err="1"/>
              <a:t>Brucella</a:t>
            </a:r>
            <a:r>
              <a:rPr lang="en-US" i="1" dirty="0"/>
              <a:t> </a:t>
            </a:r>
            <a:r>
              <a:rPr lang="en-US" dirty="0"/>
              <a:t>genus are closely related. </a:t>
            </a:r>
          </a:p>
          <a:p>
            <a:r>
              <a:rPr lang="en-US" dirty="0"/>
              <a:t>There are six classical species: </a:t>
            </a:r>
            <a:r>
              <a:rPr lang="en-US" i="1" dirty="0" err="1"/>
              <a:t>Brucella</a:t>
            </a:r>
            <a:r>
              <a:rPr lang="en-US" i="1" dirty="0"/>
              <a:t> </a:t>
            </a:r>
            <a:r>
              <a:rPr lang="en-US" i="1" dirty="0" err="1"/>
              <a:t>abortus</a:t>
            </a:r>
            <a:r>
              <a:rPr lang="en-US" i="1" dirty="0"/>
              <a:t>, B. </a:t>
            </a:r>
            <a:r>
              <a:rPr lang="en-US" i="1" dirty="0" err="1"/>
              <a:t>melitensis</a:t>
            </a:r>
            <a:r>
              <a:rPr lang="en-US" i="1" dirty="0"/>
              <a:t>, B. </a:t>
            </a:r>
            <a:r>
              <a:rPr lang="en-US" i="1" dirty="0" err="1"/>
              <a:t>suis</a:t>
            </a:r>
            <a:r>
              <a:rPr lang="en-US" i="1" dirty="0"/>
              <a:t>, B. </a:t>
            </a:r>
            <a:r>
              <a:rPr lang="en-US" i="1" dirty="0" err="1"/>
              <a:t>neotomae</a:t>
            </a:r>
            <a:r>
              <a:rPr lang="en-US" i="1" dirty="0"/>
              <a:t>, B. </a:t>
            </a:r>
            <a:r>
              <a:rPr lang="en-US" i="1" dirty="0" err="1"/>
              <a:t>ovis</a:t>
            </a:r>
            <a:r>
              <a:rPr lang="en-US" i="1" dirty="0"/>
              <a:t> </a:t>
            </a:r>
            <a:r>
              <a:rPr lang="en-US" dirty="0"/>
              <a:t>and </a:t>
            </a:r>
            <a:r>
              <a:rPr lang="en-US" i="1" dirty="0"/>
              <a:t>B. </a:t>
            </a:r>
            <a:r>
              <a:rPr lang="en-US" i="1" dirty="0" err="1"/>
              <a:t>canis</a:t>
            </a:r>
            <a:r>
              <a:rPr lang="en-US" dirty="0"/>
              <a:t>. </a:t>
            </a:r>
          </a:p>
          <a:p>
            <a:r>
              <a:rPr lang="en-US" dirty="0"/>
              <a:t>The first three of these are subdivided into </a:t>
            </a:r>
            <a:r>
              <a:rPr lang="en-US" dirty="0" err="1"/>
              <a:t>biovars</a:t>
            </a:r>
            <a:r>
              <a:rPr lang="en-US" dirty="0"/>
              <a:t> based on cultural and serological properties. </a:t>
            </a:r>
          </a:p>
          <a:p>
            <a:r>
              <a:rPr lang="en-US" dirty="0"/>
              <a:t>Two species </a:t>
            </a:r>
            <a:r>
              <a:rPr lang="en-US" i="1" dirty="0"/>
              <a:t>B. </a:t>
            </a:r>
            <a:r>
              <a:rPr lang="en-US" i="1" dirty="0" err="1"/>
              <a:t>cetaceae</a:t>
            </a:r>
            <a:r>
              <a:rPr lang="en-US" i="1" dirty="0"/>
              <a:t> </a:t>
            </a:r>
            <a:r>
              <a:rPr lang="en-US" dirty="0"/>
              <a:t>and </a:t>
            </a:r>
            <a:r>
              <a:rPr lang="en-US" i="1" dirty="0"/>
              <a:t>B. </a:t>
            </a:r>
            <a:r>
              <a:rPr lang="en-US" i="1" dirty="0" err="1"/>
              <a:t>pinnipediae</a:t>
            </a:r>
            <a:r>
              <a:rPr lang="en-US" i="1" dirty="0"/>
              <a:t> </a:t>
            </a:r>
            <a:r>
              <a:rPr lang="en-US" dirty="0"/>
              <a:t>have been isolated from marine organisms. </a:t>
            </a:r>
          </a:p>
          <a:p>
            <a:r>
              <a:rPr lang="en-US" dirty="0"/>
              <a:t>Important diseases   -        Brucellosis, Bang’s disease, Malta fever, Undulant Fever, Fistulous withers, Poll evil</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sz="quarter" idx="1"/>
          </p:nvPr>
        </p:nvPicPr>
        <p:blipFill>
          <a:blip r:embed="rId2"/>
          <a:srcRect/>
          <a:stretch>
            <a:fillRect/>
          </a:stretch>
        </p:blipFill>
        <p:spPr bwMode="auto">
          <a:xfrm>
            <a:off x="76201" y="2133600"/>
            <a:ext cx="8839200" cy="3070633"/>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morphology</a:t>
            </a:r>
          </a:p>
        </p:txBody>
      </p:sp>
      <p:sp>
        <p:nvSpPr>
          <p:cNvPr id="3" name="Content Placeholder 2"/>
          <p:cNvSpPr>
            <a:spLocks noGrp="1"/>
          </p:cNvSpPr>
          <p:nvPr>
            <p:ph sz="quarter" idx="1"/>
          </p:nvPr>
        </p:nvSpPr>
        <p:spPr/>
        <p:txBody>
          <a:bodyPr>
            <a:normAutofit fontScale="77500" lnSpcReduction="20000"/>
          </a:bodyPr>
          <a:lstStyle/>
          <a:p>
            <a:pPr>
              <a:buNone/>
            </a:pPr>
            <a:endParaRPr lang="en-US" dirty="0"/>
          </a:p>
          <a:p>
            <a:pPr lvl="0"/>
            <a:r>
              <a:rPr lang="en-US" i="1" dirty="0" err="1"/>
              <a:t>Brucella</a:t>
            </a:r>
            <a:r>
              <a:rPr lang="en-US" i="1" dirty="0"/>
              <a:t> </a:t>
            </a:r>
            <a:r>
              <a:rPr lang="en-US" dirty="0"/>
              <a:t>are </a:t>
            </a:r>
            <a:r>
              <a:rPr lang="en-US" dirty="0" err="1"/>
              <a:t>coccobacilli</a:t>
            </a:r>
            <a:r>
              <a:rPr lang="en-US" dirty="0"/>
              <a:t> or short rods </a:t>
            </a:r>
          </a:p>
          <a:p>
            <a:pPr lvl="0"/>
            <a:r>
              <a:rPr lang="en-US" dirty="0"/>
              <a:t> They are usually arranged singly, and less frequently in pairs or small groups</a:t>
            </a:r>
          </a:p>
          <a:p>
            <a:pPr lvl="0"/>
            <a:r>
              <a:rPr lang="en-US" dirty="0"/>
              <a:t> The organisms appear in </a:t>
            </a:r>
            <a:r>
              <a:rPr lang="en-US" dirty="0" err="1"/>
              <a:t>pleomorphic</a:t>
            </a:r>
            <a:r>
              <a:rPr lang="en-US" dirty="0"/>
              <a:t> forms in old cultures. </a:t>
            </a:r>
          </a:p>
          <a:p>
            <a:pPr lvl="0"/>
            <a:r>
              <a:rPr lang="en-US" i="1" dirty="0" err="1"/>
              <a:t>Brucella</a:t>
            </a:r>
            <a:r>
              <a:rPr lang="en-US" i="1" dirty="0"/>
              <a:t> </a:t>
            </a:r>
            <a:r>
              <a:rPr lang="en-US" dirty="0"/>
              <a:t>are </a:t>
            </a:r>
            <a:r>
              <a:rPr lang="en-US" dirty="0" err="1"/>
              <a:t>nonmotile</a:t>
            </a:r>
            <a:r>
              <a:rPr lang="en-US" dirty="0"/>
              <a:t>. </a:t>
            </a:r>
          </a:p>
          <a:p>
            <a:pPr lvl="0"/>
            <a:r>
              <a:rPr lang="en-US" dirty="0"/>
              <a:t>They do not form spores, and do not have flagella, </a:t>
            </a:r>
            <a:r>
              <a:rPr lang="en-US" dirty="0" err="1"/>
              <a:t>pili</a:t>
            </a:r>
            <a:r>
              <a:rPr lang="en-US" dirty="0"/>
              <a:t>, or true capsules. </a:t>
            </a:r>
          </a:p>
          <a:p>
            <a:pPr lvl="0"/>
            <a:r>
              <a:rPr lang="en-US" i="1" dirty="0" err="1"/>
              <a:t>Brucella</a:t>
            </a:r>
            <a:r>
              <a:rPr lang="en-US" i="1" dirty="0"/>
              <a:t> </a:t>
            </a:r>
            <a:r>
              <a:rPr lang="en-US" dirty="0"/>
              <a:t>are Gram negative and usually do not show bipolar staining. </a:t>
            </a:r>
          </a:p>
          <a:p>
            <a:pPr lvl="0"/>
            <a:r>
              <a:rPr lang="en-US" dirty="0"/>
              <a:t>Although they are not acid-fast organisms, they withstand </a:t>
            </a:r>
            <a:r>
              <a:rPr lang="en-US" dirty="0" err="1"/>
              <a:t>decolourisation</a:t>
            </a:r>
            <a:r>
              <a:rPr lang="en-US" dirty="0"/>
              <a:t> of 0.5 per cent acetic acid. (Modified </a:t>
            </a:r>
            <a:r>
              <a:rPr lang="en-US" dirty="0" err="1"/>
              <a:t>Zeihl</a:t>
            </a:r>
            <a:r>
              <a:rPr lang="en-US" dirty="0"/>
              <a:t> </a:t>
            </a:r>
            <a:r>
              <a:rPr lang="en-US" dirty="0" err="1"/>
              <a:t>Neelsen</a:t>
            </a:r>
            <a:r>
              <a:rPr lang="en-US" dirty="0"/>
              <a:t> Staining positive)</a:t>
            </a:r>
          </a:p>
          <a:p>
            <a:pPr lvl="0"/>
            <a:r>
              <a:rPr lang="en-US" dirty="0"/>
              <a:t>The </a:t>
            </a:r>
            <a:r>
              <a:rPr lang="en-US" i="1" dirty="0" err="1"/>
              <a:t>Brucella</a:t>
            </a:r>
            <a:r>
              <a:rPr lang="en-US" i="1" dirty="0"/>
              <a:t> </a:t>
            </a:r>
            <a:r>
              <a:rPr lang="en-US" dirty="0"/>
              <a:t>genome is unusual among veterinary pathogenic</a:t>
            </a:r>
            <a:br>
              <a:rPr lang="en-US" dirty="0"/>
            </a:br>
            <a:r>
              <a:rPr lang="en-US" dirty="0"/>
              <a:t>bacteria as it is composed of two circular chromosomes, with the exception of </a:t>
            </a:r>
            <a:r>
              <a:rPr lang="en-US" i="1" dirty="0"/>
              <a:t>B. </a:t>
            </a:r>
            <a:r>
              <a:rPr lang="en-US" i="1" dirty="0" err="1"/>
              <a:t>suis</a:t>
            </a:r>
            <a:r>
              <a:rPr lang="en-US" i="1" dirty="0"/>
              <a:t> </a:t>
            </a:r>
            <a:r>
              <a:rPr lang="en-US" dirty="0" err="1"/>
              <a:t>biovar</a:t>
            </a:r>
            <a:r>
              <a:rPr lang="en-US" dirty="0"/>
              <a:t> 3, which</a:t>
            </a:r>
            <a:br>
              <a:rPr lang="en-US" dirty="0"/>
            </a:br>
            <a:r>
              <a:rPr lang="en-US" dirty="0"/>
              <a:t>has a single chromosome. </a:t>
            </a:r>
            <a:br>
              <a:rPr lang="en-US" dirty="0"/>
            </a:br>
            <a:endParaRPr lang="en-US" dirty="0"/>
          </a:p>
          <a:p>
            <a:endParaRPr lang="en-US" dirty="0"/>
          </a:p>
        </p:txBody>
      </p:sp>
      <p:pic>
        <p:nvPicPr>
          <p:cNvPr id="5122" name="Picture 2"/>
          <p:cNvPicPr>
            <a:picLocks noChangeAspect="1" noChangeArrowheads="1"/>
          </p:cNvPicPr>
          <p:nvPr/>
        </p:nvPicPr>
        <p:blipFill>
          <a:blip r:embed="rId2"/>
          <a:srcRect/>
          <a:stretch>
            <a:fillRect/>
          </a:stretch>
        </p:blipFill>
        <p:spPr bwMode="auto">
          <a:xfrm>
            <a:off x="6010275" y="76200"/>
            <a:ext cx="2143125" cy="214312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Resistance</a:t>
            </a:r>
          </a:p>
        </p:txBody>
      </p:sp>
      <p:sp>
        <p:nvSpPr>
          <p:cNvPr id="3" name="Content Placeholder 2"/>
          <p:cNvSpPr>
            <a:spLocks noGrp="1"/>
          </p:cNvSpPr>
          <p:nvPr>
            <p:ph sz="quarter" idx="1"/>
          </p:nvPr>
        </p:nvSpPr>
        <p:spPr/>
        <p:txBody>
          <a:bodyPr>
            <a:normAutofit/>
          </a:bodyPr>
          <a:lstStyle/>
          <a:p>
            <a:pPr lvl="0"/>
            <a:r>
              <a:rPr lang="en-US" dirty="0"/>
              <a:t>The organisms are killed by heating them to 60</a:t>
            </a:r>
            <a:r>
              <a:rPr lang="en-US" baseline="30000" dirty="0"/>
              <a:t>o</a:t>
            </a:r>
            <a:r>
              <a:rPr lang="en-US" dirty="0"/>
              <a:t>C for 10 minutes </a:t>
            </a:r>
          </a:p>
          <a:p>
            <a:pPr lvl="0"/>
            <a:r>
              <a:rPr lang="en-US" dirty="0"/>
              <a:t> In Milk readily killed by </a:t>
            </a:r>
            <a:r>
              <a:rPr lang="en-US" dirty="0" err="1"/>
              <a:t>pasteurisation</a:t>
            </a:r>
            <a:r>
              <a:rPr lang="en-US" dirty="0"/>
              <a:t>. </a:t>
            </a:r>
          </a:p>
          <a:p>
            <a:pPr lvl="0"/>
            <a:r>
              <a:rPr lang="en-US" dirty="0"/>
              <a:t>They are susceptible to acidic pH, disinfectants and sunlight. </a:t>
            </a:r>
          </a:p>
          <a:p>
            <a:pPr lvl="0"/>
            <a:r>
              <a:rPr lang="en-US" dirty="0"/>
              <a:t>They can survive for a long time </a:t>
            </a:r>
            <a:r>
              <a:rPr lang="en-US" dirty="0" err="1"/>
              <a:t>foetus</a:t>
            </a:r>
            <a:r>
              <a:rPr lang="en-US" dirty="0"/>
              <a:t> that is not exposed to sunlight.</a:t>
            </a:r>
          </a:p>
          <a:p>
            <a:pPr lvl="0"/>
            <a:r>
              <a:rPr lang="en-US" dirty="0"/>
              <a:t> They can remain for a long time in cold temperatures.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Antigens and Toxins:</a:t>
            </a:r>
            <a:endParaRPr lang="en-US" dirty="0"/>
          </a:p>
        </p:txBody>
      </p:sp>
      <p:sp>
        <p:nvSpPr>
          <p:cNvPr id="3" name="Content Placeholder 2"/>
          <p:cNvSpPr>
            <a:spLocks noGrp="1"/>
          </p:cNvSpPr>
          <p:nvPr>
            <p:ph sz="quarter" idx="1"/>
          </p:nvPr>
        </p:nvSpPr>
        <p:spPr/>
        <p:txBody>
          <a:bodyPr>
            <a:normAutofit fontScale="85000" lnSpcReduction="20000"/>
          </a:bodyPr>
          <a:lstStyle/>
          <a:p>
            <a:pPr lvl="0"/>
            <a:r>
              <a:rPr lang="en-US" dirty="0" err="1"/>
              <a:t>Brucella</a:t>
            </a:r>
            <a:r>
              <a:rPr lang="en-US" dirty="0"/>
              <a:t> produce two types of colonies smooth and rough that are associated with virulence, auto-agglutination etc.</a:t>
            </a:r>
          </a:p>
          <a:p>
            <a:pPr lvl="0"/>
            <a:r>
              <a:rPr lang="en-US" dirty="0"/>
              <a:t> Virulent organisms produce smooth colonies and </a:t>
            </a:r>
            <a:r>
              <a:rPr lang="en-US" dirty="0" err="1"/>
              <a:t>avirulent</a:t>
            </a:r>
            <a:r>
              <a:rPr lang="en-US" dirty="0"/>
              <a:t> organisms produce rough colonies. </a:t>
            </a:r>
          </a:p>
          <a:p>
            <a:pPr lvl="0"/>
            <a:r>
              <a:rPr lang="en-US" dirty="0"/>
              <a:t>Certain organisms produce intermediate colonies.</a:t>
            </a:r>
          </a:p>
          <a:p>
            <a:pPr lvl="0"/>
            <a:r>
              <a:rPr lang="en-US" dirty="0"/>
              <a:t> </a:t>
            </a:r>
            <a:r>
              <a:rPr lang="en-US" i="1" dirty="0" err="1"/>
              <a:t>B.abortus</a:t>
            </a:r>
            <a:r>
              <a:rPr lang="en-US" i="1" dirty="0"/>
              <a:t>, </a:t>
            </a:r>
            <a:r>
              <a:rPr lang="en-US" i="1" dirty="0" err="1"/>
              <a:t>B.melitensis</a:t>
            </a:r>
            <a:r>
              <a:rPr lang="en-US" i="1" dirty="0"/>
              <a:t> </a:t>
            </a:r>
            <a:r>
              <a:rPr lang="en-US" dirty="0"/>
              <a:t>and </a:t>
            </a:r>
            <a:r>
              <a:rPr lang="en-US" i="1" dirty="0" err="1"/>
              <a:t>B.suis</a:t>
            </a:r>
            <a:r>
              <a:rPr lang="en-US" i="1" dirty="0"/>
              <a:t> </a:t>
            </a:r>
            <a:r>
              <a:rPr lang="en-US" dirty="0"/>
              <a:t>produce two antigens called A and M. </a:t>
            </a:r>
          </a:p>
          <a:p>
            <a:pPr lvl="0"/>
            <a:r>
              <a:rPr lang="en-US" dirty="0"/>
              <a:t>Amount of these antigens in these species varies widely. </a:t>
            </a:r>
          </a:p>
          <a:p>
            <a:pPr lvl="0"/>
            <a:r>
              <a:rPr lang="en-US" dirty="0"/>
              <a:t>The A and M antigens occur in ration of 20:1 in </a:t>
            </a:r>
            <a:r>
              <a:rPr lang="en-US" i="1" dirty="0" err="1"/>
              <a:t>B.abortus</a:t>
            </a:r>
            <a:r>
              <a:rPr lang="en-US" i="1" dirty="0"/>
              <a:t> </a:t>
            </a:r>
            <a:r>
              <a:rPr lang="en-US" dirty="0"/>
              <a:t>and still lower in </a:t>
            </a:r>
            <a:r>
              <a:rPr lang="en-US" i="1" dirty="0" err="1"/>
              <a:t>B.suis</a:t>
            </a:r>
            <a:r>
              <a:rPr lang="en-US" dirty="0"/>
              <a:t>.</a:t>
            </a:r>
          </a:p>
          <a:p>
            <a:pPr lvl="0"/>
            <a:r>
              <a:rPr lang="en-US" dirty="0"/>
              <a:t> Where as it occurs in the ratio of 1:20 </a:t>
            </a:r>
            <a:r>
              <a:rPr lang="en-US" i="1" dirty="0" err="1"/>
              <a:t>B.melitensis</a:t>
            </a:r>
            <a:r>
              <a:rPr lang="en-US" i="1" dirty="0"/>
              <a:t>.</a:t>
            </a:r>
          </a:p>
          <a:p>
            <a:pPr lvl="0"/>
            <a:r>
              <a:rPr lang="en-US" dirty="0"/>
              <a:t>The R antigen, a feature of the rough </a:t>
            </a:r>
            <a:r>
              <a:rPr lang="en-US" dirty="0" err="1"/>
              <a:t>brucellae</a:t>
            </a:r>
            <a:r>
              <a:rPr lang="en-US" dirty="0"/>
              <a:t> </a:t>
            </a:r>
            <a:r>
              <a:rPr lang="en-US" i="1" dirty="0"/>
              <a:t>B. </a:t>
            </a:r>
            <a:r>
              <a:rPr lang="en-US" i="1" dirty="0" err="1"/>
              <a:t>ovis</a:t>
            </a:r>
            <a:r>
              <a:rPr lang="en-US" i="1" dirty="0"/>
              <a:t> </a:t>
            </a:r>
            <a:r>
              <a:rPr lang="en-US" dirty="0"/>
              <a:t>and </a:t>
            </a:r>
            <a:r>
              <a:rPr lang="en-US" i="1" dirty="0"/>
              <a:t>B. </a:t>
            </a:r>
            <a:r>
              <a:rPr lang="en-US" i="1" dirty="0" err="1"/>
              <a:t>canis</a:t>
            </a:r>
            <a:r>
              <a:rPr lang="en-US" dirty="0"/>
              <a:t>, can be detected by anti-R serum </a:t>
            </a:r>
            <a:r>
              <a:rPr lang="en-US" i="1" dirty="0"/>
              <a:t> </a:t>
            </a:r>
          </a:p>
          <a:p>
            <a:pPr lvl="0"/>
            <a:r>
              <a:rPr lang="en-US" dirty="0"/>
              <a:t>The LPS (</a:t>
            </a:r>
            <a:r>
              <a:rPr lang="en-US" dirty="0" err="1"/>
              <a:t>endotoxin</a:t>
            </a:r>
            <a:r>
              <a:rPr lang="en-US" dirty="0"/>
              <a:t>) is the important virulence factor. </a:t>
            </a:r>
          </a:p>
          <a:p>
            <a:pPr lvl="0"/>
            <a:r>
              <a:rPr lang="en-US" dirty="0"/>
              <a:t>The organisms produce no </a:t>
            </a:r>
            <a:r>
              <a:rPr lang="en-US" dirty="0" err="1"/>
              <a:t>exotoxins</a:t>
            </a:r>
            <a:r>
              <a:rPr lang="en-US" dirty="0"/>
              <a:t>.</a:t>
            </a:r>
          </a:p>
          <a:p>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Cultural characters</a:t>
            </a:r>
          </a:p>
        </p:txBody>
      </p:sp>
      <p:sp>
        <p:nvSpPr>
          <p:cNvPr id="3" name="Content Placeholder 2"/>
          <p:cNvSpPr>
            <a:spLocks noGrp="1"/>
          </p:cNvSpPr>
          <p:nvPr>
            <p:ph sz="quarter" idx="1"/>
          </p:nvPr>
        </p:nvSpPr>
        <p:spPr/>
        <p:txBody>
          <a:bodyPr>
            <a:normAutofit fontScale="47500" lnSpcReduction="20000"/>
          </a:bodyPr>
          <a:lstStyle/>
          <a:p>
            <a:r>
              <a:rPr lang="en-US" dirty="0"/>
              <a:t>They are aerobic organisms. </a:t>
            </a:r>
          </a:p>
          <a:p>
            <a:r>
              <a:rPr lang="en-US" dirty="0"/>
              <a:t>However, certain organisms like </a:t>
            </a:r>
            <a:r>
              <a:rPr lang="en-US" i="1" dirty="0" err="1"/>
              <a:t>B.abortus</a:t>
            </a:r>
            <a:r>
              <a:rPr lang="en-US" i="1" dirty="0"/>
              <a:t> </a:t>
            </a:r>
            <a:r>
              <a:rPr lang="en-US" dirty="0"/>
              <a:t>and </a:t>
            </a:r>
            <a:r>
              <a:rPr lang="en-US" i="1" dirty="0" err="1"/>
              <a:t>B.suis</a:t>
            </a:r>
            <a:r>
              <a:rPr lang="en-US" i="1" dirty="0"/>
              <a:t> </a:t>
            </a:r>
            <a:r>
              <a:rPr lang="en-US" dirty="0"/>
              <a:t>require 5-10% CO</a:t>
            </a:r>
            <a:r>
              <a:rPr lang="en-US" baseline="-25000" dirty="0"/>
              <a:t>2</a:t>
            </a:r>
            <a:r>
              <a:rPr lang="en-US" dirty="0"/>
              <a:t> tension.</a:t>
            </a:r>
          </a:p>
          <a:p>
            <a:r>
              <a:rPr lang="en-US" i="1" dirty="0" err="1"/>
              <a:t>Brucella</a:t>
            </a:r>
            <a:r>
              <a:rPr lang="en-US" i="1" dirty="0"/>
              <a:t> </a:t>
            </a:r>
            <a:r>
              <a:rPr lang="en-US" dirty="0"/>
              <a:t>species are aerobic, </a:t>
            </a:r>
            <a:r>
              <a:rPr lang="en-US" dirty="0" err="1"/>
              <a:t>capnophilic</a:t>
            </a:r>
            <a:r>
              <a:rPr lang="en-US" dirty="0"/>
              <a:t> and </a:t>
            </a:r>
            <a:r>
              <a:rPr lang="en-US" dirty="0" err="1"/>
              <a:t>catalase</a:t>
            </a:r>
            <a:r>
              <a:rPr lang="en-US" dirty="0"/>
              <a:t>-positive. </a:t>
            </a:r>
          </a:p>
          <a:p>
            <a:r>
              <a:rPr lang="en-US" dirty="0"/>
              <a:t>Apart from </a:t>
            </a:r>
            <a:r>
              <a:rPr lang="en-US" i="1" dirty="0"/>
              <a:t>B. </a:t>
            </a:r>
            <a:r>
              <a:rPr lang="en-US" i="1" dirty="0" err="1"/>
              <a:t>ovis</a:t>
            </a:r>
            <a:r>
              <a:rPr lang="en-US" i="1" dirty="0"/>
              <a:t> </a:t>
            </a:r>
            <a:r>
              <a:rPr lang="en-US" dirty="0"/>
              <a:t>and </a:t>
            </a:r>
            <a:r>
              <a:rPr lang="en-US" i="1" dirty="0"/>
              <a:t>B. </a:t>
            </a:r>
            <a:r>
              <a:rPr lang="en-US" i="1" dirty="0" err="1"/>
              <a:t>neotomae</a:t>
            </a:r>
            <a:r>
              <a:rPr lang="en-US" dirty="0"/>
              <a:t>, they are </a:t>
            </a:r>
            <a:r>
              <a:rPr lang="en-US" dirty="0" err="1"/>
              <a:t>oxidase</a:t>
            </a:r>
            <a:r>
              <a:rPr lang="en-US" dirty="0"/>
              <a:t>-positive. </a:t>
            </a:r>
          </a:p>
          <a:p>
            <a:r>
              <a:rPr lang="en-US" i="1" dirty="0" err="1"/>
              <a:t>Brucella</a:t>
            </a:r>
            <a:r>
              <a:rPr lang="en-US" i="1" dirty="0"/>
              <a:t> </a:t>
            </a:r>
            <a:r>
              <a:rPr lang="en-US" i="1" dirty="0" err="1"/>
              <a:t>ovis</a:t>
            </a:r>
            <a:r>
              <a:rPr lang="en-US" i="1" dirty="0"/>
              <a:t> </a:t>
            </a:r>
            <a:r>
              <a:rPr lang="en-US" dirty="0"/>
              <a:t>and some biotypes of </a:t>
            </a:r>
            <a:r>
              <a:rPr lang="en-US" i="1" dirty="0"/>
              <a:t>B. </a:t>
            </a:r>
            <a:r>
              <a:rPr lang="en-US" i="1" dirty="0" err="1"/>
              <a:t>abortus</a:t>
            </a:r>
            <a:r>
              <a:rPr lang="en-US" i="1" dirty="0"/>
              <a:t> </a:t>
            </a:r>
            <a:r>
              <a:rPr lang="en-US" dirty="0"/>
              <a:t>require 5 to 10% CO2 for primary isolation </a:t>
            </a:r>
            <a:br>
              <a:rPr lang="en-US" dirty="0"/>
            </a:br>
            <a:endParaRPr lang="en-US" dirty="0"/>
          </a:p>
          <a:p>
            <a:r>
              <a:rPr lang="en-US" dirty="0"/>
              <a:t> They are slow growing organisms and growth is visible after 48 hours at a temperature of 37</a:t>
            </a:r>
            <a:r>
              <a:rPr lang="en-US" baseline="30000" dirty="0"/>
              <a:t>o</a:t>
            </a:r>
            <a:r>
              <a:rPr lang="en-US" dirty="0"/>
              <a:t>C.</a:t>
            </a:r>
          </a:p>
          <a:p>
            <a:r>
              <a:rPr lang="en-US" dirty="0"/>
              <a:t> Numbers of media are used for the cultivation of organisms like nutrient agar, serum agar, liver infusion serum agar, </a:t>
            </a:r>
            <a:r>
              <a:rPr lang="en-US" dirty="0" err="1"/>
              <a:t>tryptose</a:t>
            </a:r>
            <a:r>
              <a:rPr lang="en-US" dirty="0"/>
              <a:t> agar, and dextrose potato and glycerol potato agar.</a:t>
            </a:r>
          </a:p>
          <a:p>
            <a:r>
              <a:rPr lang="en-US" dirty="0"/>
              <a:t>Media enriched with blood or serum are required for culturing </a:t>
            </a:r>
            <a:r>
              <a:rPr lang="en-US" i="1" dirty="0"/>
              <a:t>B. </a:t>
            </a:r>
            <a:r>
              <a:rPr lang="en-US" i="1" dirty="0" err="1"/>
              <a:t>abortus</a:t>
            </a:r>
            <a:r>
              <a:rPr lang="en-US" i="1" dirty="0"/>
              <a:t> </a:t>
            </a:r>
            <a:r>
              <a:rPr lang="en-US" dirty="0"/>
              <a:t>biotype 2 and </a:t>
            </a:r>
            <a:r>
              <a:rPr lang="en-US" i="1" dirty="0"/>
              <a:t>B. </a:t>
            </a:r>
            <a:r>
              <a:rPr lang="en-US" i="1" dirty="0" err="1"/>
              <a:t>ovis</a:t>
            </a:r>
            <a:r>
              <a:rPr lang="en-US" dirty="0"/>
              <a:t> </a:t>
            </a:r>
            <a:br>
              <a:rPr lang="en-US" dirty="0"/>
            </a:br>
            <a:endParaRPr lang="en-US" dirty="0"/>
          </a:p>
          <a:p>
            <a:r>
              <a:rPr lang="en-US" dirty="0"/>
              <a:t> On nutrient agar the colonies are small, round, convex, translucent with a smooth glistening surface.</a:t>
            </a:r>
          </a:p>
          <a:p>
            <a:r>
              <a:rPr lang="en-US" dirty="0"/>
              <a:t> In broth cultures they produce fine granular deposit.</a:t>
            </a:r>
          </a:p>
          <a:p>
            <a:r>
              <a:rPr lang="en-US" dirty="0"/>
              <a:t> Other media used include serum–dextrose agar (SDA) or glycerol dextrose agar. </a:t>
            </a:r>
          </a:p>
          <a:p>
            <a:r>
              <a:rPr lang="en-US" dirty="0"/>
              <a:t>A nonselective, biphasic medium, known as </a:t>
            </a:r>
            <a:r>
              <a:rPr lang="en-US" dirty="0" err="1"/>
              <a:t>Castañeda’s</a:t>
            </a:r>
            <a:r>
              <a:rPr lang="en-US" dirty="0"/>
              <a:t> medium, is used for the isolation of </a:t>
            </a:r>
            <a:r>
              <a:rPr lang="en-US" i="1" dirty="0" err="1"/>
              <a:t>Brucella</a:t>
            </a:r>
            <a:r>
              <a:rPr lang="en-US" i="1" dirty="0"/>
              <a:t> </a:t>
            </a:r>
            <a:r>
              <a:rPr lang="en-US" dirty="0"/>
              <a:t>from blood and other body fluids or milk.</a:t>
            </a:r>
          </a:p>
          <a:p>
            <a:r>
              <a:rPr lang="en-US" dirty="0"/>
              <a:t>In contrast, primary isolates of </a:t>
            </a:r>
            <a:r>
              <a:rPr lang="en-US" i="1" dirty="0"/>
              <a:t>B. </a:t>
            </a:r>
            <a:r>
              <a:rPr lang="en-US" i="1" dirty="0" err="1"/>
              <a:t>ovis</a:t>
            </a:r>
            <a:r>
              <a:rPr lang="en-US" i="1" dirty="0"/>
              <a:t> </a:t>
            </a:r>
            <a:r>
              <a:rPr lang="en-US" dirty="0"/>
              <a:t>and </a:t>
            </a:r>
            <a:r>
              <a:rPr lang="en-US" i="1" dirty="0"/>
              <a:t>B. </a:t>
            </a:r>
            <a:r>
              <a:rPr lang="en-US" i="1" dirty="0" err="1"/>
              <a:t>canis</a:t>
            </a:r>
            <a:r>
              <a:rPr lang="en-US" i="1" dirty="0"/>
              <a:t> </a:t>
            </a:r>
            <a:r>
              <a:rPr lang="en-US" dirty="0"/>
              <a:t>always occur in rough</a:t>
            </a:r>
            <a:br>
              <a:rPr lang="en-US" dirty="0"/>
            </a:br>
            <a:r>
              <a:rPr lang="en-US" dirty="0"/>
              <a:t>forms. Others produce smooth colonies</a:t>
            </a:r>
          </a:p>
          <a:p>
            <a:r>
              <a:rPr lang="en-US" i="1" dirty="0"/>
              <a:t>B. </a:t>
            </a:r>
            <a:r>
              <a:rPr lang="en-US" i="1" dirty="0" err="1"/>
              <a:t>abortus</a:t>
            </a:r>
            <a:r>
              <a:rPr lang="en-US" i="1" dirty="0"/>
              <a:t> </a:t>
            </a:r>
            <a:r>
              <a:rPr lang="en-US" dirty="0"/>
              <a:t>are </a:t>
            </a:r>
            <a:r>
              <a:rPr lang="en-US" dirty="0" err="1"/>
              <a:t>lysed</a:t>
            </a:r>
            <a:r>
              <a:rPr lang="en-US" dirty="0"/>
              <a:t> by a specific </a:t>
            </a:r>
            <a:r>
              <a:rPr lang="en-US" dirty="0" err="1"/>
              <a:t>bacteri-ophage</a:t>
            </a:r>
            <a:r>
              <a:rPr lang="en-US" dirty="0"/>
              <a:t> (Tbilisi phage) </a:t>
            </a:r>
            <a:br>
              <a:rPr lang="en-US" dirty="0"/>
            </a:br>
            <a:r>
              <a:rPr lang="en-US" dirty="0"/>
              <a:t> </a:t>
            </a:r>
            <a:br>
              <a:rPr lang="en-US" dirty="0"/>
            </a:br>
            <a:endParaRPr lang="en-US" dirty="0"/>
          </a:p>
          <a:p>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sz="quarter" idx="1"/>
          </p:nvPr>
        </p:nvPicPr>
        <p:blipFill>
          <a:blip r:embed="rId2"/>
          <a:srcRect/>
          <a:stretch>
            <a:fillRect/>
          </a:stretch>
        </p:blipFill>
        <p:spPr bwMode="auto">
          <a:xfrm>
            <a:off x="1905000" y="457200"/>
            <a:ext cx="4953000" cy="583832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Biochemical characters</a:t>
            </a:r>
          </a:p>
        </p:txBody>
      </p:sp>
      <p:sp>
        <p:nvSpPr>
          <p:cNvPr id="3" name="Content Placeholder 2"/>
          <p:cNvSpPr>
            <a:spLocks noGrp="1"/>
          </p:cNvSpPr>
          <p:nvPr>
            <p:ph sz="quarter" idx="1"/>
          </p:nvPr>
        </p:nvSpPr>
        <p:spPr/>
        <p:txBody>
          <a:bodyPr>
            <a:normAutofit fontScale="92500" lnSpcReduction="10000"/>
          </a:bodyPr>
          <a:lstStyle/>
          <a:p>
            <a:r>
              <a:rPr lang="en-US" dirty="0"/>
              <a:t>They </a:t>
            </a:r>
            <a:r>
              <a:rPr lang="en-US" dirty="0" err="1"/>
              <a:t>utilise</a:t>
            </a:r>
            <a:r>
              <a:rPr lang="en-US" dirty="0"/>
              <a:t> carbohydrates but produce very little or no acid and gas. </a:t>
            </a:r>
          </a:p>
          <a:p>
            <a:r>
              <a:rPr lang="en-US" dirty="0"/>
              <a:t>H</a:t>
            </a:r>
            <a:r>
              <a:rPr lang="en-US" baseline="-25000" dirty="0"/>
              <a:t>2</a:t>
            </a:r>
            <a:r>
              <a:rPr lang="en-US" dirty="0"/>
              <a:t>S production is variable and this character is useful to differentiate </a:t>
            </a:r>
            <a:r>
              <a:rPr lang="en-US" dirty="0" err="1"/>
              <a:t>brucella</a:t>
            </a:r>
            <a:r>
              <a:rPr lang="en-US" dirty="0"/>
              <a:t> species. </a:t>
            </a:r>
          </a:p>
          <a:p>
            <a:r>
              <a:rPr lang="en-US" dirty="0"/>
              <a:t> All </a:t>
            </a:r>
            <a:r>
              <a:rPr lang="en-US" i="1" dirty="0" err="1"/>
              <a:t>Brucella</a:t>
            </a:r>
            <a:r>
              <a:rPr lang="en-US" i="1" dirty="0"/>
              <a:t> </a:t>
            </a:r>
            <a:r>
              <a:rPr lang="en-US" dirty="0"/>
              <a:t>species are </a:t>
            </a:r>
            <a:r>
              <a:rPr lang="en-US" dirty="0" err="1"/>
              <a:t>urease</a:t>
            </a:r>
            <a:r>
              <a:rPr lang="en-US" dirty="0"/>
              <a:t>-positive except </a:t>
            </a:r>
            <a:r>
              <a:rPr lang="en-US" i="1" dirty="0"/>
              <a:t>B.</a:t>
            </a:r>
            <a:br>
              <a:rPr lang="en-US" i="1" dirty="0"/>
            </a:br>
            <a:r>
              <a:rPr lang="en-US" i="1" dirty="0" err="1"/>
              <a:t>ovis</a:t>
            </a:r>
            <a:r>
              <a:rPr lang="en-US" i="1" dirty="0"/>
              <a:t>. </a:t>
            </a:r>
            <a:endParaRPr lang="en-US" dirty="0"/>
          </a:p>
          <a:p>
            <a:r>
              <a:rPr lang="en-US" dirty="0"/>
              <a:t> Inhibition of growth in the presence of different concentration of dyes like </a:t>
            </a:r>
            <a:r>
              <a:rPr lang="en-US" dirty="0" err="1"/>
              <a:t>thionin</a:t>
            </a:r>
            <a:r>
              <a:rPr lang="en-US" dirty="0"/>
              <a:t>, basic </a:t>
            </a:r>
            <a:r>
              <a:rPr lang="en-US" dirty="0" err="1"/>
              <a:t>fuchsin</a:t>
            </a:r>
            <a:r>
              <a:rPr lang="en-US" dirty="0"/>
              <a:t>, methyl violet and </a:t>
            </a:r>
            <a:r>
              <a:rPr lang="en-US" dirty="0" err="1"/>
              <a:t>pyronin</a:t>
            </a:r>
            <a:r>
              <a:rPr lang="en-US" dirty="0"/>
              <a:t> is also useful character in differentiation of various </a:t>
            </a:r>
            <a:r>
              <a:rPr lang="en-US" dirty="0" err="1"/>
              <a:t>brucella</a:t>
            </a:r>
            <a:r>
              <a:rPr lang="en-US" dirty="0"/>
              <a:t> species.</a:t>
            </a:r>
          </a:p>
          <a:p>
            <a:r>
              <a:rPr lang="en-US" dirty="0"/>
              <a:t> In general requirement of CO</a:t>
            </a:r>
            <a:r>
              <a:rPr lang="en-US" baseline="-25000" dirty="0"/>
              <a:t>2</a:t>
            </a:r>
            <a:r>
              <a:rPr lang="en-US" dirty="0"/>
              <a:t> for growth, hydrogen </a:t>
            </a:r>
            <a:r>
              <a:rPr lang="en-US" dirty="0" err="1"/>
              <a:t>sulphide</a:t>
            </a:r>
            <a:r>
              <a:rPr lang="en-US" dirty="0"/>
              <a:t> production, </a:t>
            </a:r>
            <a:r>
              <a:rPr lang="en-US" dirty="0" err="1"/>
              <a:t>urease</a:t>
            </a:r>
            <a:r>
              <a:rPr lang="en-US" dirty="0"/>
              <a:t> production and sensitivity to various dyes are the characters that are used to differentiate different </a:t>
            </a:r>
            <a:r>
              <a:rPr lang="en-US" dirty="0" err="1"/>
              <a:t>Brucella</a:t>
            </a:r>
            <a:r>
              <a:rPr lang="en-US" dirty="0"/>
              <a:t> species.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sz="quarter" idx="1"/>
          </p:nvPr>
        </p:nvPicPr>
        <p:blipFill>
          <a:blip r:embed="rId2"/>
          <a:srcRect/>
          <a:stretch>
            <a:fillRect/>
          </a:stretch>
        </p:blipFill>
        <p:spPr bwMode="auto">
          <a:xfrm>
            <a:off x="304800" y="2819400"/>
            <a:ext cx="8312759" cy="2210484"/>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Brucellosis in cattle</a:t>
            </a:r>
          </a:p>
        </p:txBody>
      </p:sp>
      <p:sp>
        <p:nvSpPr>
          <p:cNvPr id="3" name="Content Placeholder 2"/>
          <p:cNvSpPr>
            <a:spLocks noGrp="1"/>
          </p:cNvSpPr>
          <p:nvPr>
            <p:ph sz="quarter" idx="1"/>
          </p:nvPr>
        </p:nvSpPr>
        <p:spPr/>
        <p:txBody>
          <a:bodyPr>
            <a:normAutofit/>
          </a:bodyPr>
          <a:lstStyle/>
          <a:p>
            <a:endParaRPr lang="en-US" b="1" dirty="0"/>
          </a:p>
          <a:p>
            <a:r>
              <a:rPr lang="en-US" dirty="0"/>
              <a:t>The disease in cattle, water buffalo, and bison is mostly caused by </a:t>
            </a:r>
            <a:r>
              <a:rPr lang="en-US" i="1" dirty="0" err="1"/>
              <a:t>Brucella</a:t>
            </a:r>
            <a:r>
              <a:rPr lang="en-US" i="1" dirty="0"/>
              <a:t> </a:t>
            </a:r>
            <a:r>
              <a:rPr lang="en-US" i="1" dirty="0" err="1"/>
              <a:t>abortus</a:t>
            </a:r>
            <a:r>
              <a:rPr lang="en-US" dirty="0"/>
              <a:t>. However, </a:t>
            </a:r>
            <a:r>
              <a:rPr lang="en-US" i="1" dirty="0"/>
              <a:t>B </a:t>
            </a:r>
            <a:r>
              <a:rPr lang="en-US" i="1" dirty="0" err="1"/>
              <a:t>suis</a:t>
            </a:r>
            <a:r>
              <a:rPr lang="en-US" i="1" dirty="0"/>
              <a:t> </a:t>
            </a:r>
            <a:r>
              <a:rPr lang="en-US" dirty="0"/>
              <a:t>or </a:t>
            </a:r>
            <a:r>
              <a:rPr lang="en-US" i="1" dirty="0"/>
              <a:t>B </a:t>
            </a:r>
            <a:r>
              <a:rPr lang="en-US" i="1" dirty="0" err="1"/>
              <a:t>melitensis</a:t>
            </a:r>
            <a:r>
              <a:rPr lang="en-US" i="1" dirty="0"/>
              <a:t> </a:t>
            </a:r>
            <a:r>
              <a:rPr lang="en-US" dirty="0"/>
              <a:t>occasionally cause infection in cattle.</a:t>
            </a:r>
          </a:p>
          <a:p>
            <a:endParaRPr lang="en-US" dirty="0"/>
          </a:p>
        </p:txBody>
      </p:sp>
      <p:pic>
        <p:nvPicPr>
          <p:cNvPr id="7170" name="Picture 2"/>
          <p:cNvPicPr>
            <a:picLocks noChangeAspect="1" noChangeArrowheads="1"/>
          </p:cNvPicPr>
          <p:nvPr/>
        </p:nvPicPr>
        <p:blipFill>
          <a:blip r:embed="rId2"/>
          <a:srcRect/>
          <a:stretch>
            <a:fillRect/>
          </a:stretch>
        </p:blipFill>
        <p:spPr bwMode="auto">
          <a:xfrm>
            <a:off x="2133600" y="3422096"/>
            <a:ext cx="5839506" cy="2750104"/>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pathogenesis</a:t>
            </a:r>
          </a:p>
        </p:txBody>
      </p:sp>
      <p:sp>
        <p:nvSpPr>
          <p:cNvPr id="3" name="Content Placeholder 2"/>
          <p:cNvSpPr>
            <a:spLocks noGrp="1"/>
          </p:cNvSpPr>
          <p:nvPr>
            <p:ph sz="quarter" idx="1"/>
          </p:nvPr>
        </p:nvSpPr>
        <p:spPr>
          <a:xfrm>
            <a:off x="457200" y="1600200"/>
            <a:ext cx="7848600" cy="4873752"/>
          </a:xfrm>
        </p:spPr>
        <p:txBody>
          <a:bodyPr>
            <a:normAutofit fontScale="85000" lnSpcReduction="20000"/>
          </a:bodyPr>
          <a:lstStyle/>
          <a:p>
            <a:r>
              <a:rPr lang="en-US" dirty="0" err="1"/>
              <a:t>Brucella</a:t>
            </a:r>
            <a:r>
              <a:rPr lang="en-US" dirty="0"/>
              <a:t> infection in a herd is through introduction of infected animals. </a:t>
            </a:r>
          </a:p>
          <a:p>
            <a:r>
              <a:rPr lang="en-US" dirty="0"/>
              <a:t>The main sources of infection are aborted </a:t>
            </a:r>
            <a:r>
              <a:rPr lang="en-US" dirty="0" err="1"/>
              <a:t>foetuses</a:t>
            </a:r>
            <a:r>
              <a:rPr lang="en-US" dirty="0"/>
              <a:t>, </a:t>
            </a:r>
            <a:r>
              <a:rPr lang="en-US" dirty="0" err="1"/>
              <a:t>placentae</a:t>
            </a:r>
            <a:r>
              <a:rPr lang="en-US" dirty="0"/>
              <a:t> and genital discharge, milk and semen of infected bulls. </a:t>
            </a:r>
          </a:p>
          <a:p>
            <a:r>
              <a:rPr lang="en-US" dirty="0"/>
              <a:t>Natural transmission occurs by ingestion of organisms, which are present in large numbers in aborted fetuses, fetal membranes, and uterine discharges. </a:t>
            </a:r>
          </a:p>
          <a:p>
            <a:r>
              <a:rPr lang="en-US" dirty="0"/>
              <a:t>Cattle may ingest contaminated feed and water, or lick contaminated genitals of other animals. </a:t>
            </a:r>
          </a:p>
          <a:p>
            <a:r>
              <a:rPr lang="en-US" dirty="0"/>
              <a:t>Venereal transmission by infected bulls to susceptible cows appears to be rare. </a:t>
            </a:r>
          </a:p>
          <a:p>
            <a:r>
              <a:rPr lang="en-US" dirty="0"/>
              <a:t>Transmission may occur by artificial insemination when </a:t>
            </a:r>
            <a:r>
              <a:rPr lang="en-US" i="1" dirty="0" err="1"/>
              <a:t>Brucella</a:t>
            </a:r>
            <a:r>
              <a:rPr lang="en-US" i="1" dirty="0"/>
              <a:t> </a:t>
            </a:r>
            <a:r>
              <a:rPr lang="en-US" dirty="0"/>
              <a:t>-contaminated semen is deposited in the uterus but, reportedly, not when deposited in the </a:t>
            </a:r>
            <a:r>
              <a:rPr lang="en-US" dirty="0" err="1"/>
              <a:t>midcervix</a:t>
            </a:r>
            <a:r>
              <a:rPr lang="en-US" dirty="0"/>
              <a:t>. </a:t>
            </a:r>
          </a:p>
          <a:p>
            <a:r>
              <a:rPr lang="en-US" dirty="0" err="1"/>
              <a:t>Brucellae</a:t>
            </a:r>
            <a:r>
              <a:rPr lang="en-US" dirty="0"/>
              <a:t> may enter the body through mucous membranes, conjunctivae, wounds, or even intact skin.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70000" lnSpcReduction="20000"/>
          </a:bodyPr>
          <a:lstStyle/>
          <a:p>
            <a:r>
              <a:rPr lang="en-US" dirty="0"/>
              <a:t>Calves are relatively insusceptible and excrete the organisms in </a:t>
            </a:r>
            <a:r>
              <a:rPr lang="en-US" dirty="0" err="1"/>
              <a:t>faeces</a:t>
            </a:r>
            <a:r>
              <a:rPr lang="en-US" dirty="0"/>
              <a:t> and serve as source of infection for other animals.</a:t>
            </a:r>
          </a:p>
          <a:p>
            <a:r>
              <a:rPr lang="en-US" dirty="0"/>
              <a:t> </a:t>
            </a:r>
            <a:r>
              <a:rPr lang="en-US" i="1" dirty="0"/>
              <a:t>B. </a:t>
            </a:r>
            <a:r>
              <a:rPr lang="en-US" i="1" dirty="0" err="1"/>
              <a:t>abortus</a:t>
            </a:r>
            <a:r>
              <a:rPr lang="en-US" i="1" dirty="0"/>
              <a:t> </a:t>
            </a:r>
            <a:r>
              <a:rPr lang="en-US" dirty="0"/>
              <a:t>organisms are excreted in the </a:t>
            </a:r>
            <a:r>
              <a:rPr lang="en-US" dirty="0" err="1"/>
              <a:t>colostrum</a:t>
            </a:r>
            <a:r>
              <a:rPr lang="en-US" dirty="0"/>
              <a:t> and milk after parturition for many months up to 2 years.</a:t>
            </a:r>
          </a:p>
          <a:p>
            <a:r>
              <a:rPr lang="en-US" dirty="0"/>
              <a:t> Mechanical vectors (</a:t>
            </a:r>
            <a:r>
              <a:rPr lang="en-US" dirty="0" err="1"/>
              <a:t>eg</a:t>
            </a:r>
            <a:r>
              <a:rPr lang="en-US" dirty="0"/>
              <a:t>, other animals, including man) may spread infection. </a:t>
            </a:r>
          </a:p>
          <a:p>
            <a:r>
              <a:rPr lang="en-US" dirty="0"/>
              <a:t>The organisms pass from point of entry to the </a:t>
            </a:r>
            <a:r>
              <a:rPr lang="en-US" dirty="0" err="1"/>
              <a:t>lymphatics</a:t>
            </a:r>
            <a:r>
              <a:rPr lang="en-US" dirty="0"/>
              <a:t> to lymph node and multiply in thoracic duct. </a:t>
            </a:r>
          </a:p>
          <a:p>
            <a:r>
              <a:rPr lang="en-US" dirty="0"/>
              <a:t>From there it reaches the </a:t>
            </a:r>
            <a:r>
              <a:rPr lang="en-US" dirty="0" err="1"/>
              <a:t>paranchymatous</a:t>
            </a:r>
            <a:r>
              <a:rPr lang="en-US" dirty="0"/>
              <a:t> organs and other tissues.</a:t>
            </a:r>
          </a:p>
          <a:p>
            <a:r>
              <a:rPr lang="en-US" dirty="0"/>
              <a:t> They have the capacity to survive inside </a:t>
            </a:r>
            <a:r>
              <a:rPr lang="en-US" dirty="0" err="1"/>
              <a:t>phagocytic</a:t>
            </a:r>
            <a:r>
              <a:rPr lang="en-US" dirty="0"/>
              <a:t> cells.</a:t>
            </a:r>
          </a:p>
          <a:p>
            <a:r>
              <a:rPr lang="en-US" dirty="0"/>
              <a:t> In the </a:t>
            </a:r>
            <a:r>
              <a:rPr lang="en-US" dirty="0" err="1"/>
              <a:t>paranchmatous</a:t>
            </a:r>
            <a:r>
              <a:rPr lang="en-US" dirty="0"/>
              <a:t> organs, they develop </a:t>
            </a:r>
            <a:r>
              <a:rPr lang="en-US" dirty="0" err="1"/>
              <a:t>granulomatous</a:t>
            </a:r>
            <a:r>
              <a:rPr lang="en-US" dirty="0"/>
              <a:t> lesions. </a:t>
            </a:r>
          </a:p>
          <a:p>
            <a:r>
              <a:rPr lang="en-US" dirty="0"/>
              <a:t>They have an affinity for gravid uterus and </a:t>
            </a:r>
            <a:r>
              <a:rPr lang="en-US" dirty="0" err="1"/>
              <a:t>foetal</a:t>
            </a:r>
            <a:r>
              <a:rPr lang="en-US" dirty="0"/>
              <a:t> tissues.</a:t>
            </a:r>
          </a:p>
          <a:p>
            <a:r>
              <a:rPr lang="en-US" dirty="0"/>
              <a:t> The affinity of </a:t>
            </a:r>
            <a:r>
              <a:rPr lang="en-US" dirty="0" err="1"/>
              <a:t>brucella</a:t>
            </a:r>
            <a:r>
              <a:rPr lang="en-US" dirty="0"/>
              <a:t> organisms for </a:t>
            </a:r>
            <a:r>
              <a:rPr lang="en-US" dirty="0" err="1"/>
              <a:t>foetal</a:t>
            </a:r>
            <a:r>
              <a:rPr lang="en-US" dirty="0"/>
              <a:t> tissue is due to </a:t>
            </a:r>
            <a:r>
              <a:rPr lang="en-US" b="1" dirty="0" err="1"/>
              <a:t>erythritol</a:t>
            </a:r>
            <a:r>
              <a:rPr lang="en-US" b="1" dirty="0"/>
              <a:t> </a:t>
            </a:r>
            <a:r>
              <a:rPr lang="en-US" dirty="0"/>
              <a:t>– a </a:t>
            </a:r>
            <a:r>
              <a:rPr lang="en-US" dirty="0" err="1"/>
              <a:t>saccharide</a:t>
            </a:r>
            <a:r>
              <a:rPr lang="en-US" dirty="0"/>
              <a:t> alcohol that is present in placenta of cattle, sheep, goat and pigs.</a:t>
            </a:r>
          </a:p>
          <a:p>
            <a:r>
              <a:rPr lang="en-US" dirty="0"/>
              <a:t> In male animals the organisms multiply in testicles, seminal vesicles and </a:t>
            </a:r>
            <a:r>
              <a:rPr lang="en-US" dirty="0" err="1"/>
              <a:t>epididymis</a:t>
            </a:r>
            <a:r>
              <a:rPr lang="en-US" dirty="0"/>
              <a:t>.</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sz="quarter" idx="1"/>
          </p:nvPr>
        </p:nvPicPr>
        <p:blipFill>
          <a:blip r:embed="rId2"/>
          <a:srcRect/>
          <a:stretch>
            <a:fillRect/>
          </a:stretch>
        </p:blipFill>
        <p:spPr bwMode="auto">
          <a:xfrm>
            <a:off x="1638300" y="1865312"/>
            <a:ext cx="5105400" cy="43434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symptoms</a:t>
            </a:r>
          </a:p>
        </p:txBody>
      </p:sp>
      <p:sp>
        <p:nvSpPr>
          <p:cNvPr id="3" name="Content Placeholder 2"/>
          <p:cNvSpPr>
            <a:spLocks noGrp="1"/>
          </p:cNvSpPr>
          <p:nvPr>
            <p:ph sz="quarter" idx="1"/>
          </p:nvPr>
        </p:nvSpPr>
        <p:spPr/>
        <p:txBody>
          <a:bodyPr>
            <a:normAutofit fontScale="92500" lnSpcReduction="20000"/>
          </a:bodyPr>
          <a:lstStyle/>
          <a:p>
            <a:r>
              <a:rPr lang="en-US" b="1" dirty="0"/>
              <a:t>Symptoms: </a:t>
            </a:r>
            <a:r>
              <a:rPr lang="en-US" dirty="0"/>
              <a:t>Abortion during last stages of pregnancy is the important symptom (seventh or eighth month of pregnancy in cattle, third or fourth month in sheep, 50</a:t>
            </a:r>
            <a:r>
              <a:rPr lang="en-US" baseline="30000" dirty="0"/>
              <a:t>th</a:t>
            </a:r>
            <a:r>
              <a:rPr lang="en-US" dirty="0"/>
              <a:t> day in dogs). </a:t>
            </a:r>
          </a:p>
          <a:p>
            <a:r>
              <a:rPr lang="en-US" dirty="0"/>
              <a:t>In cattle abortion is associated with retention of placenta.</a:t>
            </a:r>
          </a:p>
          <a:p>
            <a:r>
              <a:rPr lang="en-US" dirty="0"/>
              <a:t> Infections may also cause stillborn or weak calves, retained placenta, and reduced milk yield.</a:t>
            </a:r>
          </a:p>
          <a:p>
            <a:r>
              <a:rPr lang="en-US" dirty="0"/>
              <a:t> Usually, general health is not impaired in uncomplicated abortions.</a:t>
            </a:r>
          </a:p>
          <a:p>
            <a:r>
              <a:rPr lang="en-US" dirty="0"/>
              <a:t> Seminal vesicles, </a:t>
            </a:r>
            <a:r>
              <a:rPr lang="en-US" dirty="0" err="1"/>
              <a:t>ampullae</a:t>
            </a:r>
            <a:r>
              <a:rPr lang="en-US" dirty="0"/>
              <a:t>, testicles, and </a:t>
            </a:r>
            <a:r>
              <a:rPr lang="en-US" dirty="0" err="1"/>
              <a:t>epididymides</a:t>
            </a:r>
            <a:r>
              <a:rPr lang="en-US" dirty="0"/>
              <a:t> are infected in bulls. </a:t>
            </a:r>
          </a:p>
          <a:p>
            <a:r>
              <a:rPr lang="en-US" dirty="0"/>
              <a:t>Testicular abscesses may occur.</a:t>
            </a:r>
          </a:p>
          <a:p>
            <a:r>
              <a:rPr lang="en-US" dirty="0"/>
              <a:t> Long-standing infections may result in arthritic joints in some cattle.</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lesions</a:t>
            </a:r>
          </a:p>
        </p:txBody>
      </p:sp>
      <p:sp>
        <p:nvSpPr>
          <p:cNvPr id="3" name="Content Placeholder 2"/>
          <p:cNvSpPr>
            <a:spLocks noGrp="1"/>
          </p:cNvSpPr>
          <p:nvPr>
            <p:ph sz="quarter" idx="1"/>
          </p:nvPr>
        </p:nvSpPr>
        <p:spPr/>
        <p:txBody>
          <a:bodyPr/>
          <a:lstStyle/>
          <a:p>
            <a:r>
              <a:rPr lang="en-US" b="1" dirty="0"/>
              <a:t> </a:t>
            </a:r>
            <a:r>
              <a:rPr lang="en-US" dirty="0"/>
              <a:t>Necrotic </a:t>
            </a:r>
            <a:r>
              <a:rPr lang="en-US" dirty="0" err="1"/>
              <a:t>placentitis</a:t>
            </a:r>
            <a:r>
              <a:rPr lang="en-US" dirty="0"/>
              <a:t>, swollen, </a:t>
            </a:r>
            <a:r>
              <a:rPr lang="en-US" dirty="0" err="1"/>
              <a:t>hyperaemic</a:t>
            </a:r>
            <a:r>
              <a:rPr lang="en-US" dirty="0"/>
              <a:t> cotyledons surrounded by brown exudates, thickened </a:t>
            </a:r>
            <a:r>
              <a:rPr lang="en-US" dirty="0" err="1"/>
              <a:t>intercotyledonary</a:t>
            </a:r>
            <a:r>
              <a:rPr lang="en-US" dirty="0"/>
              <a:t> spaces with leathery appearance are the common lesions. </a:t>
            </a:r>
          </a:p>
          <a:p>
            <a:r>
              <a:rPr lang="en-US" dirty="0"/>
              <a:t>Udder may look normal but cellular infiltration; degeneration and necrosis are also seen. </a:t>
            </a:r>
          </a:p>
          <a:p>
            <a:r>
              <a:rPr lang="en-US" dirty="0" err="1"/>
              <a:t>Orchitis</a:t>
            </a:r>
            <a:r>
              <a:rPr lang="en-US" dirty="0"/>
              <a:t> and necrosis of the testicular tissues surrounded by fibrous tissue are the common lesions in male animals.</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BRUCELLOSIS IN GOATS</a:t>
            </a:r>
            <a:br>
              <a:rPr lang="en-US" b="1" dirty="0"/>
            </a:br>
            <a:endParaRPr lang="en-US" dirty="0"/>
          </a:p>
        </p:txBody>
      </p:sp>
      <p:sp>
        <p:nvSpPr>
          <p:cNvPr id="3" name="Content Placeholder 2"/>
          <p:cNvSpPr>
            <a:spLocks noGrp="1"/>
          </p:cNvSpPr>
          <p:nvPr>
            <p:ph sz="quarter" idx="1"/>
          </p:nvPr>
        </p:nvSpPr>
        <p:spPr/>
        <p:txBody>
          <a:bodyPr>
            <a:normAutofit/>
          </a:bodyPr>
          <a:lstStyle/>
          <a:p>
            <a:r>
              <a:rPr lang="en-US" dirty="0"/>
              <a:t>In goats </a:t>
            </a:r>
            <a:r>
              <a:rPr lang="en-US" i="1" dirty="0" err="1"/>
              <a:t>B.melitensis</a:t>
            </a:r>
            <a:r>
              <a:rPr lang="en-US" i="1" dirty="0"/>
              <a:t> </a:t>
            </a:r>
            <a:r>
              <a:rPr lang="en-US" dirty="0"/>
              <a:t>is the causative agent</a:t>
            </a:r>
          </a:p>
          <a:p>
            <a:r>
              <a:rPr lang="en-US" dirty="0"/>
              <a:t> The signs of brucellosis in goats are similar to those in cattle. </a:t>
            </a:r>
            <a:r>
              <a:rPr lang="en-US" i="1" dirty="0" err="1"/>
              <a:t>B.melitensis</a:t>
            </a:r>
            <a:r>
              <a:rPr lang="en-US" i="1" dirty="0"/>
              <a:t> </a:t>
            </a:r>
            <a:r>
              <a:rPr lang="en-US" dirty="0"/>
              <a:t>organisms have a preference for udder tissue than gravid uterus. </a:t>
            </a:r>
          </a:p>
          <a:p>
            <a:r>
              <a:rPr lang="en-US" dirty="0"/>
              <a:t>Infection occurs primarily through ingestion of the organisms.</a:t>
            </a:r>
          </a:p>
          <a:p>
            <a:r>
              <a:rPr lang="en-US" dirty="0"/>
              <a:t> The disease causes abortion about the fourth month of pregnancy.</a:t>
            </a:r>
          </a:p>
          <a:p>
            <a:r>
              <a:rPr lang="en-US" dirty="0"/>
              <a:t> Arthritis, </a:t>
            </a:r>
            <a:r>
              <a:rPr lang="en-US" dirty="0" err="1"/>
              <a:t>epididymitis</a:t>
            </a:r>
            <a:r>
              <a:rPr lang="en-US" dirty="0"/>
              <a:t> and </a:t>
            </a:r>
            <a:r>
              <a:rPr lang="en-US" dirty="0" err="1"/>
              <a:t>orchitis</a:t>
            </a:r>
            <a:r>
              <a:rPr lang="en-US" dirty="0"/>
              <a:t> also occur.</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BRUCELLOSIS IN SHEEP</a:t>
            </a:r>
            <a:br>
              <a:rPr lang="en-US" b="1" dirty="0"/>
            </a:br>
            <a:endParaRPr lang="en-US" dirty="0"/>
          </a:p>
        </p:txBody>
      </p:sp>
      <p:sp>
        <p:nvSpPr>
          <p:cNvPr id="3" name="Content Placeholder 2"/>
          <p:cNvSpPr>
            <a:spLocks noGrp="1"/>
          </p:cNvSpPr>
          <p:nvPr>
            <p:ph sz="quarter" idx="1"/>
          </p:nvPr>
        </p:nvSpPr>
        <p:spPr/>
        <p:txBody>
          <a:bodyPr>
            <a:normAutofit fontScale="55000" lnSpcReduction="20000"/>
          </a:bodyPr>
          <a:lstStyle/>
          <a:p>
            <a:r>
              <a:rPr lang="en-US" sz="2500" dirty="0"/>
              <a:t>In sheep </a:t>
            </a:r>
            <a:r>
              <a:rPr lang="en-US" sz="2500" i="1" dirty="0"/>
              <a:t>B </a:t>
            </a:r>
            <a:r>
              <a:rPr lang="en-US" sz="2500" i="1" dirty="0" err="1"/>
              <a:t>ovis</a:t>
            </a:r>
            <a:r>
              <a:rPr lang="en-US" sz="2500" i="1" dirty="0"/>
              <a:t> </a:t>
            </a:r>
            <a:r>
              <a:rPr lang="en-US" sz="2500" dirty="0"/>
              <a:t>is the causative agent, in which </a:t>
            </a:r>
            <a:r>
              <a:rPr lang="en-US" sz="2500" dirty="0" err="1"/>
              <a:t>epididymitis</a:t>
            </a:r>
            <a:r>
              <a:rPr lang="en-US" sz="2500" dirty="0"/>
              <a:t> and </a:t>
            </a:r>
            <a:r>
              <a:rPr lang="en-US" sz="2500" dirty="0" err="1"/>
              <a:t>orchitis</a:t>
            </a:r>
            <a:r>
              <a:rPr lang="en-US" sz="2500" dirty="0"/>
              <a:t> are observed. </a:t>
            </a:r>
          </a:p>
          <a:p>
            <a:r>
              <a:rPr lang="en-US" sz="2500" dirty="0"/>
              <a:t>Occasionally, </a:t>
            </a:r>
            <a:r>
              <a:rPr lang="en-US" sz="2500" dirty="0" err="1"/>
              <a:t>placentitis</a:t>
            </a:r>
            <a:r>
              <a:rPr lang="en-US" sz="2500" dirty="0"/>
              <a:t> and abortion are also seen.</a:t>
            </a:r>
          </a:p>
          <a:p>
            <a:r>
              <a:rPr lang="en-US" sz="2500" b="1" dirty="0"/>
              <a:t>Pathogenesis: </a:t>
            </a:r>
            <a:r>
              <a:rPr lang="en-US" sz="2500" dirty="0"/>
              <a:t>The disease can be transmitted among rams by direct contact. </a:t>
            </a:r>
          </a:p>
          <a:p>
            <a:r>
              <a:rPr lang="en-US" sz="2500" dirty="0"/>
              <a:t>Infection in ewes occurs after mating with naturally infected rams. </a:t>
            </a:r>
          </a:p>
          <a:p>
            <a:r>
              <a:rPr lang="en-US" sz="2500" dirty="0"/>
              <a:t>Contaminated pastures do not appear to be important in spread of the disease.</a:t>
            </a:r>
          </a:p>
          <a:p>
            <a:r>
              <a:rPr lang="en-US" sz="2500" dirty="0"/>
              <a:t> Infection frequently persists in rams, and a high percentage shed </a:t>
            </a:r>
            <a:r>
              <a:rPr lang="en-US" sz="2500" i="1" dirty="0"/>
              <a:t>B </a:t>
            </a:r>
            <a:r>
              <a:rPr lang="en-US" sz="2500" i="1" dirty="0" err="1"/>
              <a:t>ovis</a:t>
            </a:r>
            <a:r>
              <a:rPr lang="en-US" sz="2500" i="1" dirty="0"/>
              <a:t> </a:t>
            </a:r>
            <a:r>
              <a:rPr lang="en-US" sz="2500" dirty="0"/>
              <a:t>intermittently.</a:t>
            </a:r>
          </a:p>
          <a:p>
            <a:endParaRPr lang="en-US" sz="2500" b="1" dirty="0"/>
          </a:p>
          <a:p>
            <a:r>
              <a:rPr lang="en-US" sz="2500" b="1" dirty="0"/>
              <a:t>Symptoms &amp; Lesions: </a:t>
            </a:r>
            <a:r>
              <a:rPr lang="en-US" sz="2500" dirty="0"/>
              <a:t>In sheep apart from abortion, lameness, mastitis, pyrexia and </a:t>
            </a:r>
            <a:r>
              <a:rPr lang="en-US" sz="2500" dirty="0" err="1"/>
              <a:t>diarrhoea</a:t>
            </a:r>
            <a:r>
              <a:rPr lang="en-US" sz="2500" dirty="0"/>
              <a:t> are also seen. </a:t>
            </a:r>
          </a:p>
          <a:p>
            <a:r>
              <a:rPr lang="en-US" sz="2500" dirty="0"/>
              <a:t>Lesions develop rapidly. </a:t>
            </a:r>
          </a:p>
          <a:p>
            <a:r>
              <a:rPr lang="en-US" sz="2500" dirty="0"/>
              <a:t>In rams, the first detectable abnormality is the marked deterioration in semen quality associated with the presence of inflammatory cells and organisms. The </a:t>
            </a:r>
            <a:r>
              <a:rPr lang="en-US" sz="2500" dirty="0" err="1"/>
              <a:t>epididymal</a:t>
            </a:r>
            <a:r>
              <a:rPr lang="en-US" sz="2500" dirty="0"/>
              <a:t> enlargement is unilateral or bilateral. </a:t>
            </a:r>
          </a:p>
          <a:p>
            <a:r>
              <a:rPr lang="en-US" sz="2500" dirty="0"/>
              <a:t>The most prominent lesion is </a:t>
            </a:r>
            <a:r>
              <a:rPr lang="en-US" sz="2500" dirty="0" err="1"/>
              <a:t>spermatoceles</a:t>
            </a:r>
            <a:r>
              <a:rPr lang="en-US" sz="2500" dirty="0"/>
              <a:t> of variable size containing partially </a:t>
            </a:r>
            <a:r>
              <a:rPr lang="en-US" sz="2500" dirty="0" err="1"/>
              <a:t>inspissated</a:t>
            </a:r>
            <a:r>
              <a:rPr lang="en-US" sz="2500" dirty="0"/>
              <a:t> spermatic fluid. </a:t>
            </a:r>
          </a:p>
          <a:p>
            <a:r>
              <a:rPr lang="en-US" sz="2500" dirty="0"/>
              <a:t>The tunics frequently become thickened and fibrous, and extensive adhesions develop between them. The testes show fibrous atrophy. In few cases the organisms are present in semen over long periods without clinically detectable lesions.</a:t>
            </a:r>
          </a:p>
          <a:p>
            <a:pPr>
              <a:buNone/>
            </a:pPr>
            <a:r>
              <a:rPr lang="en-US" sz="2500" dirty="0"/>
              <a:t> </a:t>
            </a:r>
          </a:p>
          <a:p>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BRUCELLOSIS IN HORSES</a:t>
            </a:r>
            <a:br>
              <a:rPr lang="en-US" b="1" dirty="0"/>
            </a:br>
            <a:endParaRPr lang="en-US" dirty="0"/>
          </a:p>
        </p:txBody>
      </p:sp>
      <p:sp>
        <p:nvSpPr>
          <p:cNvPr id="3" name="Content Placeholder 2"/>
          <p:cNvSpPr>
            <a:spLocks noGrp="1"/>
          </p:cNvSpPr>
          <p:nvPr>
            <p:ph sz="quarter" idx="1"/>
          </p:nvPr>
        </p:nvSpPr>
        <p:spPr/>
        <p:txBody>
          <a:bodyPr>
            <a:normAutofit fontScale="92500" lnSpcReduction="10000"/>
          </a:bodyPr>
          <a:lstStyle/>
          <a:p>
            <a:r>
              <a:rPr lang="en-US" dirty="0"/>
              <a:t>The causative agent is </a:t>
            </a:r>
            <a:r>
              <a:rPr lang="en-US" i="1" dirty="0"/>
              <a:t>B. </a:t>
            </a:r>
            <a:r>
              <a:rPr lang="en-US" i="1" dirty="0" err="1"/>
              <a:t>abortus</a:t>
            </a:r>
            <a:r>
              <a:rPr lang="en-US" i="1" dirty="0"/>
              <a:t>. </a:t>
            </a:r>
          </a:p>
          <a:p>
            <a:r>
              <a:rPr lang="en-US" dirty="0"/>
              <a:t>The organisms produce chronic inflammatory conditions referred as fistulous withers, poll evil and joint infections</a:t>
            </a:r>
          </a:p>
          <a:p>
            <a:r>
              <a:rPr lang="en-US" dirty="0"/>
              <a:t>Fistulous wither and poll evil are clinically same conditions occurring in </a:t>
            </a:r>
            <a:r>
              <a:rPr lang="en-US" dirty="0" err="1"/>
              <a:t>supraspinous</a:t>
            </a:r>
            <a:r>
              <a:rPr lang="en-US" dirty="0"/>
              <a:t> and supra-</a:t>
            </a:r>
            <a:r>
              <a:rPr lang="en-US" dirty="0" err="1"/>
              <a:t>atlantal</a:t>
            </a:r>
            <a:r>
              <a:rPr lang="en-US" dirty="0"/>
              <a:t> </a:t>
            </a:r>
            <a:r>
              <a:rPr lang="en-US" dirty="0" err="1"/>
              <a:t>bursae</a:t>
            </a:r>
            <a:r>
              <a:rPr lang="en-US" dirty="0"/>
              <a:t> respectively.</a:t>
            </a:r>
          </a:p>
          <a:p>
            <a:r>
              <a:rPr lang="en-US" dirty="0"/>
              <a:t> The inflammation of </a:t>
            </a:r>
            <a:r>
              <a:rPr lang="en-US" dirty="0" err="1"/>
              <a:t>bursae</a:t>
            </a:r>
            <a:r>
              <a:rPr lang="en-US" dirty="0"/>
              <a:t> leads to considerable thickening of the wall and the </a:t>
            </a:r>
            <a:r>
              <a:rPr lang="en-US" dirty="0" err="1"/>
              <a:t>supraspinous</a:t>
            </a:r>
            <a:r>
              <a:rPr lang="en-US" dirty="0"/>
              <a:t> bursa distends with a clear, straw-colored, viscid exudates and rupture later. </a:t>
            </a:r>
          </a:p>
          <a:p>
            <a:r>
              <a:rPr lang="en-US" dirty="0"/>
              <a:t>In more chronic, advanced cases, the ligament and the dorsal vertebral spines are also affected become </a:t>
            </a:r>
            <a:r>
              <a:rPr lang="en-US" dirty="0" err="1"/>
              <a:t>necrosed</a:t>
            </a:r>
            <a:r>
              <a:rPr lang="en-US" dirty="0"/>
              <a:t>.</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BRUCELLOSIS IN PIGS</a:t>
            </a:r>
            <a:br>
              <a:rPr lang="en-US" b="1" dirty="0"/>
            </a:br>
            <a:endParaRPr lang="en-US" dirty="0"/>
          </a:p>
        </p:txBody>
      </p:sp>
      <p:sp>
        <p:nvSpPr>
          <p:cNvPr id="3" name="Content Placeholder 2"/>
          <p:cNvSpPr>
            <a:spLocks noGrp="1"/>
          </p:cNvSpPr>
          <p:nvPr>
            <p:ph sz="quarter" idx="1"/>
          </p:nvPr>
        </p:nvSpPr>
        <p:spPr/>
        <p:txBody>
          <a:bodyPr/>
          <a:lstStyle/>
          <a:p>
            <a:r>
              <a:rPr lang="en-US" i="1" dirty="0" err="1"/>
              <a:t>B.suis</a:t>
            </a:r>
            <a:r>
              <a:rPr lang="en-US" i="1" dirty="0"/>
              <a:t> </a:t>
            </a:r>
            <a:r>
              <a:rPr lang="en-US" dirty="0"/>
              <a:t>is the causative organism for abortion in swine</a:t>
            </a:r>
          </a:p>
          <a:p>
            <a:r>
              <a:rPr lang="en-US" dirty="0"/>
              <a:t> In pigs’ abortion, birth of weak piglets, lameness, paralysis, affection of spinal column and infertility in male and female animals are the common symptoms.</a:t>
            </a:r>
          </a:p>
          <a:p>
            <a:r>
              <a:rPr lang="en-US" b="1" dirty="0"/>
              <a:t>BRUCELLOSIS IN DOGS</a:t>
            </a:r>
          </a:p>
          <a:p>
            <a:r>
              <a:rPr lang="en-US" i="1" dirty="0" err="1"/>
              <a:t>B.canis</a:t>
            </a:r>
            <a:r>
              <a:rPr lang="en-US" i="1" dirty="0"/>
              <a:t> </a:t>
            </a:r>
            <a:r>
              <a:rPr lang="en-US" dirty="0"/>
              <a:t>is the causative organism in dogs. In dogs’ abortion, early embryonic deaths, dermatitis of scrotum and testicular atrophy are common symptoms.</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BRUCELLOSIS IN HUMANS</a:t>
            </a:r>
            <a:br>
              <a:rPr lang="en-US" b="1" dirty="0"/>
            </a:br>
            <a:endParaRPr lang="en-US" dirty="0"/>
          </a:p>
        </p:txBody>
      </p:sp>
      <p:sp>
        <p:nvSpPr>
          <p:cNvPr id="3" name="Content Placeholder 2"/>
          <p:cNvSpPr>
            <a:spLocks noGrp="1"/>
          </p:cNvSpPr>
          <p:nvPr>
            <p:ph sz="quarter" idx="1"/>
          </p:nvPr>
        </p:nvSpPr>
        <p:spPr/>
        <p:txBody>
          <a:bodyPr>
            <a:normAutofit fontScale="70000" lnSpcReduction="20000"/>
          </a:bodyPr>
          <a:lstStyle/>
          <a:p>
            <a:r>
              <a:rPr lang="en-US" dirty="0"/>
              <a:t>Infection known as </a:t>
            </a:r>
            <a:r>
              <a:rPr lang="en-US" b="1" dirty="0"/>
              <a:t>Undulant fever or Malta fever </a:t>
            </a:r>
            <a:r>
              <a:rPr lang="en-US" dirty="0"/>
              <a:t>in humans occurs as a result of coming in contact with animals or animal products that are contaminated with these bacteria.</a:t>
            </a:r>
          </a:p>
          <a:p>
            <a:r>
              <a:rPr lang="en-US" dirty="0"/>
              <a:t>Humans are generally infected in one of three ways: eating or drinking something that is contaminated with </a:t>
            </a:r>
            <a:r>
              <a:rPr lang="en-US" i="1" dirty="0" err="1"/>
              <a:t>Brucella</a:t>
            </a:r>
            <a:r>
              <a:rPr lang="en-US" dirty="0"/>
              <a:t>, breathing in the organism (inhalation), or having the bacteria enter the body through skin wounds.</a:t>
            </a:r>
          </a:p>
          <a:p>
            <a:r>
              <a:rPr lang="en-US" dirty="0"/>
              <a:t> Direct person-to-person spread of brucellosis is extremely rare.</a:t>
            </a:r>
          </a:p>
          <a:p>
            <a:r>
              <a:rPr lang="en-US" dirty="0"/>
              <a:t> Mothers who are breast-feeding may transmit the infection to their infants. </a:t>
            </a:r>
          </a:p>
          <a:p>
            <a:r>
              <a:rPr lang="en-US" dirty="0"/>
              <a:t>Sexual transmission has also been reported.</a:t>
            </a:r>
          </a:p>
          <a:p>
            <a:r>
              <a:rPr lang="en-US" dirty="0"/>
              <a:t> Veterinarians treating the animals are in risk group along with butchers and animal attendants. </a:t>
            </a:r>
          </a:p>
          <a:p>
            <a:r>
              <a:rPr lang="en-US" dirty="0"/>
              <a:t>The symptoms of brucellosis are similar to the flu and include fever, sweats, headaches, back pains, and physical weakness. </a:t>
            </a:r>
          </a:p>
          <a:p>
            <a:r>
              <a:rPr lang="en-US" dirty="0"/>
              <a:t>Severe infections of the central nervous systems or lining of the heart may occur. </a:t>
            </a:r>
          </a:p>
          <a:p>
            <a:r>
              <a:rPr lang="en-US" dirty="0"/>
              <a:t>Brucellosis can also cause long- lasting or chronic symptoms that include recurrent fevers, joint pain, and fatigue.</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Diagnosis</a:t>
            </a:r>
          </a:p>
        </p:txBody>
      </p:sp>
      <p:sp>
        <p:nvSpPr>
          <p:cNvPr id="3" name="Content Placeholder 2"/>
          <p:cNvSpPr>
            <a:spLocks noGrp="1"/>
          </p:cNvSpPr>
          <p:nvPr>
            <p:ph sz="quarter" idx="1"/>
          </p:nvPr>
        </p:nvSpPr>
        <p:spPr/>
        <p:txBody>
          <a:bodyPr>
            <a:normAutofit fontScale="77500" lnSpcReduction="20000"/>
          </a:bodyPr>
          <a:lstStyle/>
          <a:p>
            <a:pPr lvl="0"/>
            <a:r>
              <a:rPr lang="en-US" b="1" dirty="0"/>
              <a:t>Based on symptoms and lesion and history of abortion </a:t>
            </a:r>
            <a:r>
              <a:rPr lang="en-US" dirty="0"/>
              <a:t>in a herd.</a:t>
            </a:r>
          </a:p>
          <a:p>
            <a:pPr lvl="0"/>
            <a:r>
              <a:rPr lang="en-US" b="1" dirty="0" err="1"/>
              <a:t>Microscopical</a:t>
            </a:r>
            <a:r>
              <a:rPr lang="en-US" b="1" dirty="0"/>
              <a:t> examination: </a:t>
            </a:r>
            <a:r>
              <a:rPr lang="en-US" dirty="0"/>
              <a:t>Smears prepared from chorionic tissues, </a:t>
            </a:r>
            <a:r>
              <a:rPr lang="en-US" dirty="0" err="1"/>
              <a:t>foetal</a:t>
            </a:r>
            <a:r>
              <a:rPr lang="en-US" dirty="0"/>
              <a:t> stomach contents and uterine discharges stained by modification of </a:t>
            </a:r>
            <a:r>
              <a:rPr lang="en-US" dirty="0" err="1"/>
              <a:t>Macchiavello’s</a:t>
            </a:r>
            <a:r>
              <a:rPr lang="en-US" dirty="0"/>
              <a:t> method or </a:t>
            </a:r>
            <a:r>
              <a:rPr lang="en-US" dirty="0" err="1"/>
              <a:t>Koster’s</a:t>
            </a:r>
            <a:r>
              <a:rPr lang="en-US" dirty="0"/>
              <a:t> method will reveal </a:t>
            </a:r>
            <a:r>
              <a:rPr lang="en-US" dirty="0" err="1"/>
              <a:t>brucella</a:t>
            </a:r>
            <a:r>
              <a:rPr lang="en-US" dirty="0"/>
              <a:t> organisms. </a:t>
            </a:r>
          </a:p>
          <a:p>
            <a:pPr lvl="0"/>
            <a:r>
              <a:rPr lang="en-US" i="1" dirty="0" err="1"/>
              <a:t>Brucella</a:t>
            </a:r>
            <a:r>
              <a:rPr lang="en-US" i="1" dirty="0"/>
              <a:t> </a:t>
            </a:r>
            <a:r>
              <a:rPr lang="en-US" dirty="0"/>
              <a:t>are Gram negative and usually do not show bipolar staining. </a:t>
            </a:r>
          </a:p>
          <a:p>
            <a:pPr lvl="0"/>
            <a:r>
              <a:rPr lang="en-US" dirty="0"/>
              <a:t>They are not truly acid-fast, but are resistant to </a:t>
            </a:r>
            <a:r>
              <a:rPr lang="en-US" dirty="0" err="1"/>
              <a:t>decolorisation</a:t>
            </a:r>
            <a:r>
              <a:rPr lang="en-US" dirty="0"/>
              <a:t> by weak acids and thus stain red by </a:t>
            </a:r>
            <a:r>
              <a:rPr lang="en-US" b="1" dirty="0"/>
              <a:t>the Stamp’s modification of the </a:t>
            </a:r>
            <a:r>
              <a:rPr lang="en-US" b="1" dirty="0" err="1"/>
              <a:t>Ziehl–Neelsen</a:t>
            </a:r>
            <a:r>
              <a:rPr lang="en-US" b="1" dirty="0"/>
              <a:t> method</a:t>
            </a:r>
            <a:r>
              <a:rPr lang="en-US" dirty="0"/>
              <a:t>. </a:t>
            </a:r>
          </a:p>
          <a:p>
            <a:pPr lvl="0"/>
            <a:r>
              <a:rPr lang="en-US" dirty="0"/>
              <a:t>This is the usual procedure for the examination of smears of organs or biological fluids that have been previously fixed with heat or ethanol, </a:t>
            </a:r>
          </a:p>
          <a:p>
            <a:pPr lvl="0"/>
            <a:r>
              <a:rPr lang="en-US" dirty="0"/>
              <a:t>and by this method, </a:t>
            </a:r>
            <a:r>
              <a:rPr lang="en-US" i="1" dirty="0" err="1"/>
              <a:t>Brucella</a:t>
            </a:r>
            <a:r>
              <a:rPr lang="en-US" i="1" dirty="0"/>
              <a:t> </a:t>
            </a:r>
            <a:r>
              <a:rPr lang="en-US" dirty="0"/>
              <a:t>organisms stain red against a blue background. </a:t>
            </a:r>
          </a:p>
          <a:p>
            <a:pPr lvl="0"/>
            <a:r>
              <a:rPr lang="en-US" dirty="0"/>
              <a:t>A </a:t>
            </a:r>
            <a:r>
              <a:rPr lang="en-US" dirty="0" err="1"/>
              <a:t>fluorochrome</a:t>
            </a:r>
            <a:r>
              <a:rPr lang="en-US" dirty="0"/>
              <a:t> or </a:t>
            </a:r>
            <a:r>
              <a:rPr lang="en-US" dirty="0" err="1"/>
              <a:t>peroxidase-labelled</a:t>
            </a:r>
            <a:r>
              <a:rPr lang="en-US" dirty="0"/>
              <a:t> antibody conjugate based technique is also used.</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Bacteriological examination:</a:t>
            </a:r>
            <a:endParaRPr lang="en-US" dirty="0"/>
          </a:p>
        </p:txBody>
      </p:sp>
      <p:sp>
        <p:nvSpPr>
          <p:cNvPr id="3" name="Content Placeholder 2"/>
          <p:cNvSpPr>
            <a:spLocks noGrp="1"/>
          </p:cNvSpPr>
          <p:nvPr>
            <p:ph sz="quarter" idx="1"/>
          </p:nvPr>
        </p:nvSpPr>
        <p:spPr/>
        <p:txBody>
          <a:bodyPr>
            <a:normAutofit fontScale="62500" lnSpcReduction="20000"/>
          </a:bodyPr>
          <a:lstStyle/>
          <a:p>
            <a:pPr lvl="0"/>
            <a:r>
              <a:rPr lang="en-US" dirty="0"/>
              <a:t>For the diagnosis of animal brucellosis by cultural examination, the choice of samples usually depends on the clinical signs observed. </a:t>
            </a:r>
          </a:p>
          <a:p>
            <a:pPr lvl="0"/>
            <a:r>
              <a:rPr lang="en-US" dirty="0"/>
              <a:t>The important samples are aborted fetuses (stomach contents, spleen and lung), fetal membranes, vaginal secretions (swabs), milk, semen and arthritis or </a:t>
            </a:r>
            <a:r>
              <a:rPr lang="en-US" dirty="0" err="1"/>
              <a:t>hygroma</a:t>
            </a:r>
            <a:r>
              <a:rPr lang="en-US" dirty="0"/>
              <a:t> fluids. </a:t>
            </a:r>
          </a:p>
          <a:p>
            <a:pPr lvl="0"/>
            <a:r>
              <a:rPr lang="en-US" dirty="0"/>
              <a:t>From animal carcasses, the preferred tissues for culture are those of the </a:t>
            </a:r>
            <a:r>
              <a:rPr lang="en-US" dirty="0" err="1"/>
              <a:t>reticulo</a:t>
            </a:r>
            <a:r>
              <a:rPr lang="en-US" dirty="0"/>
              <a:t>-endothelial system (mammary and genital lymph nodes and spleen), the late pregnant or early post-parturient uterus, and the udder. </a:t>
            </a:r>
          </a:p>
          <a:p>
            <a:pPr lvl="0"/>
            <a:r>
              <a:rPr lang="en-US" dirty="0"/>
              <a:t>When milk products are checked for contamination, they have to be enriched since the milk </a:t>
            </a:r>
            <a:r>
              <a:rPr lang="en-US" dirty="0" err="1"/>
              <a:t>prouducts</a:t>
            </a:r>
            <a:r>
              <a:rPr lang="en-US" dirty="0"/>
              <a:t> contain minimal number of organisms. </a:t>
            </a:r>
          </a:p>
          <a:p>
            <a:pPr lvl="0"/>
            <a:r>
              <a:rPr lang="en-US" b="1" dirty="0" err="1"/>
              <a:t>Albimi</a:t>
            </a:r>
            <a:r>
              <a:rPr lang="en-US" b="1" dirty="0"/>
              <a:t> agar </a:t>
            </a:r>
            <a:r>
              <a:rPr lang="en-US" dirty="0"/>
              <a:t>is the medium of choice. </a:t>
            </a:r>
          </a:p>
          <a:p>
            <a:pPr lvl="0"/>
            <a:r>
              <a:rPr lang="en-US" dirty="0"/>
              <a:t>Columbia agar, supplemented with 5% serum and appropriate</a:t>
            </a:r>
            <a:br>
              <a:rPr lang="en-US" dirty="0"/>
            </a:br>
            <a:r>
              <a:rPr lang="en-US" dirty="0"/>
              <a:t>antimicrobial agents, is used for isolation </a:t>
            </a:r>
            <a:br>
              <a:rPr lang="en-US" dirty="0"/>
            </a:br>
            <a:endParaRPr lang="en-US" dirty="0"/>
          </a:p>
          <a:p>
            <a:pPr lvl="0"/>
            <a:r>
              <a:rPr lang="en-US" dirty="0"/>
              <a:t>Other media include nutrient agar, serum agar, liver infusion serum agar, </a:t>
            </a:r>
            <a:r>
              <a:rPr lang="en-US" dirty="0" err="1"/>
              <a:t>tryptose</a:t>
            </a:r>
            <a:r>
              <a:rPr lang="en-US" dirty="0"/>
              <a:t> agar, and dextrose potato and glycerol potato agar. </a:t>
            </a:r>
          </a:p>
          <a:p>
            <a:pPr lvl="0"/>
            <a:r>
              <a:rPr lang="en-US" dirty="0"/>
              <a:t>The colonies are small, round, convex, and translucent with a smooth glistening surface. </a:t>
            </a:r>
          </a:p>
          <a:p>
            <a:pPr lvl="0"/>
            <a:r>
              <a:rPr lang="en-US" dirty="0"/>
              <a:t>In broth cultures they produce fine granular deposit. </a:t>
            </a:r>
          </a:p>
          <a:p>
            <a:pPr lvl="0"/>
            <a:r>
              <a:rPr lang="en-US" dirty="0"/>
              <a:t>Growth normally appears after 2–3 days, but cultures should not be discarded as negative until 8–10 days have elapsed.</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62500" lnSpcReduction="20000"/>
          </a:bodyPr>
          <a:lstStyle/>
          <a:p>
            <a:pPr lvl="0"/>
            <a:r>
              <a:rPr lang="en-US" b="1" dirty="0"/>
              <a:t>Nucleic acid recognition methods: </a:t>
            </a:r>
            <a:r>
              <a:rPr lang="en-US" dirty="0"/>
              <a:t>Polymerase chain reaction is used to differentiate causative organisms from vaccine organisms.</a:t>
            </a:r>
          </a:p>
          <a:p>
            <a:pPr lvl="0"/>
            <a:r>
              <a:rPr lang="en-US" dirty="0"/>
              <a:t>One of the first PCR methods developed was the AMOS-PCR (Bricker and</a:t>
            </a:r>
            <a:br>
              <a:rPr lang="en-US" dirty="0"/>
            </a:br>
            <a:r>
              <a:rPr lang="en-US" dirty="0" err="1"/>
              <a:t>Halling</a:t>
            </a:r>
            <a:r>
              <a:rPr lang="en-US" dirty="0"/>
              <a:t>, 1994), so named because it could differentiate between </a:t>
            </a:r>
            <a:r>
              <a:rPr lang="en-US" i="1" dirty="0"/>
              <a:t>B. </a:t>
            </a:r>
            <a:r>
              <a:rPr lang="en-US" i="1" dirty="0" err="1"/>
              <a:t>abortus</a:t>
            </a:r>
            <a:r>
              <a:rPr lang="en-US" i="1" dirty="0"/>
              <a:t> </a:t>
            </a:r>
            <a:r>
              <a:rPr lang="en-US" dirty="0" err="1"/>
              <a:t>biovars</a:t>
            </a:r>
            <a:r>
              <a:rPr lang="en-US" dirty="0"/>
              <a:t>, 1, 2 and 4, </a:t>
            </a:r>
            <a:r>
              <a:rPr lang="en-US" i="1" dirty="0"/>
              <a:t>B.</a:t>
            </a:r>
            <a:br>
              <a:rPr lang="en-US" i="1" dirty="0"/>
            </a:br>
            <a:r>
              <a:rPr lang="en-US" i="1" dirty="0" err="1"/>
              <a:t>melitensis</a:t>
            </a:r>
            <a:r>
              <a:rPr lang="en-US" i="1" dirty="0"/>
              <a:t>, B. </a:t>
            </a:r>
            <a:r>
              <a:rPr lang="en-US" i="1" dirty="0" err="1"/>
              <a:t>ovis</a:t>
            </a:r>
            <a:r>
              <a:rPr lang="en-US" i="1" dirty="0"/>
              <a:t> </a:t>
            </a:r>
            <a:r>
              <a:rPr lang="en-US" dirty="0"/>
              <a:t>and </a:t>
            </a:r>
            <a:r>
              <a:rPr lang="en-US" i="1" dirty="0"/>
              <a:t>B. </a:t>
            </a:r>
            <a:r>
              <a:rPr lang="en-US" i="1" dirty="0" err="1"/>
              <a:t>suis</a:t>
            </a:r>
            <a:r>
              <a:rPr lang="en-US" dirty="0"/>
              <a:t>. This method has been refined over time and can now differentiate other </a:t>
            </a:r>
            <a:r>
              <a:rPr lang="en-US" dirty="0" err="1"/>
              <a:t>biovars</a:t>
            </a:r>
            <a:r>
              <a:rPr lang="en-US" dirty="0"/>
              <a:t> and species in addition to </a:t>
            </a:r>
            <a:r>
              <a:rPr lang="en-US" i="1" dirty="0"/>
              <a:t>B. </a:t>
            </a:r>
            <a:r>
              <a:rPr lang="en-US" i="1" dirty="0" err="1"/>
              <a:t>abortus</a:t>
            </a:r>
            <a:r>
              <a:rPr lang="en-US" i="1" dirty="0"/>
              <a:t> </a:t>
            </a:r>
            <a:r>
              <a:rPr lang="en-US" dirty="0"/>
              <a:t>vaccine strains. </a:t>
            </a:r>
          </a:p>
          <a:p>
            <a:pPr lvl="0"/>
            <a:r>
              <a:rPr lang="en-US" dirty="0"/>
              <a:t>A new multiplex PCR assay (Bruce-ladder) described in the OIE Terrestrial Manual (Anon., 2009a) identifies most </a:t>
            </a:r>
            <a:r>
              <a:rPr lang="en-US" i="1" dirty="0" err="1"/>
              <a:t>Brucella</a:t>
            </a:r>
            <a:r>
              <a:rPr lang="en-US" i="1" dirty="0"/>
              <a:t> </a:t>
            </a:r>
            <a:r>
              <a:rPr lang="en-US" dirty="0"/>
              <a:t>species in a single step, including the newly described species from marine mammals and </a:t>
            </a:r>
            <a:r>
              <a:rPr lang="en-US" i="1" dirty="0"/>
              <a:t>B.</a:t>
            </a:r>
            <a:br>
              <a:rPr lang="en-US" i="1" dirty="0"/>
            </a:br>
            <a:r>
              <a:rPr lang="en-US" i="1" dirty="0" err="1"/>
              <a:t>abortus</a:t>
            </a:r>
            <a:r>
              <a:rPr lang="en-US" i="1" dirty="0"/>
              <a:t> </a:t>
            </a:r>
            <a:r>
              <a:rPr lang="en-US" dirty="0"/>
              <a:t>and </a:t>
            </a:r>
            <a:r>
              <a:rPr lang="en-US" i="1" dirty="0"/>
              <a:t>B. </a:t>
            </a:r>
            <a:r>
              <a:rPr lang="en-US" i="1" dirty="0" err="1"/>
              <a:t>melitensis</a:t>
            </a:r>
            <a:r>
              <a:rPr lang="en-US" i="1" dirty="0"/>
              <a:t> </a:t>
            </a:r>
            <a:r>
              <a:rPr lang="en-US" dirty="0"/>
              <a:t>vaccine strains. </a:t>
            </a:r>
            <a:br>
              <a:rPr lang="en-US" dirty="0"/>
            </a:br>
            <a:endParaRPr lang="en-US" dirty="0"/>
          </a:p>
          <a:p>
            <a:pPr lvl="0"/>
            <a:r>
              <a:rPr lang="en-US" b="1" dirty="0"/>
              <a:t>Animal inoculation:</a:t>
            </a:r>
          </a:p>
          <a:p>
            <a:pPr lvl="1"/>
            <a:r>
              <a:rPr lang="en-US" sz="2400" dirty="0"/>
              <a:t>Guinea pigs are the laboratory animals of choice for </a:t>
            </a:r>
            <a:r>
              <a:rPr lang="en-US" sz="2400" dirty="0" err="1"/>
              <a:t>brucella</a:t>
            </a:r>
            <a:r>
              <a:rPr lang="en-US" sz="2400" dirty="0"/>
              <a:t> identification. Clinical materials are inoculated intra muscularly or sub-</a:t>
            </a:r>
            <a:r>
              <a:rPr lang="en-US" sz="2400" dirty="0" err="1"/>
              <a:t>cutaneously</a:t>
            </a:r>
            <a:r>
              <a:rPr lang="en-US" sz="2400" dirty="0"/>
              <a:t>. Two animals are inoculated and one animal is killed after 3 week and another after 6 weeks. Typical lesions include </a:t>
            </a:r>
            <a:r>
              <a:rPr lang="en-US" sz="2400" dirty="0" err="1"/>
              <a:t>miliary</a:t>
            </a:r>
            <a:r>
              <a:rPr lang="en-US" sz="2400" dirty="0"/>
              <a:t> necrotic foci in spleen, liver and lymphatic glands.</a:t>
            </a:r>
            <a:endParaRPr lang="en-US" sz="3200" dirty="0"/>
          </a:p>
          <a:p>
            <a:r>
              <a:rPr lang="en-US" dirty="0"/>
              <a:t>Strauss reaction: Development of </a:t>
            </a:r>
            <a:r>
              <a:rPr lang="en-US" dirty="0" err="1"/>
              <a:t>orchitis</a:t>
            </a:r>
            <a:r>
              <a:rPr lang="en-US" dirty="0"/>
              <a:t> after </a:t>
            </a:r>
            <a:r>
              <a:rPr lang="en-US" dirty="0" err="1"/>
              <a:t>intraperitoneal</a:t>
            </a:r>
            <a:r>
              <a:rPr lang="en-US" dirty="0"/>
              <a:t> injection of infective material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Serum agglutination tests</a:t>
            </a:r>
          </a:p>
        </p:txBody>
      </p:sp>
      <p:sp>
        <p:nvSpPr>
          <p:cNvPr id="3" name="Content Placeholder 2"/>
          <p:cNvSpPr>
            <a:spLocks noGrp="1"/>
          </p:cNvSpPr>
          <p:nvPr>
            <p:ph sz="quarter" idx="1"/>
          </p:nvPr>
        </p:nvSpPr>
        <p:spPr>
          <a:xfrm>
            <a:off x="457200" y="1600200"/>
            <a:ext cx="6019800" cy="4873752"/>
          </a:xfrm>
        </p:spPr>
        <p:txBody>
          <a:bodyPr>
            <a:normAutofit fontScale="70000" lnSpcReduction="20000"/>
          </a:bodyPr>
          <a:lstStyle/>
          <a:p>
            <a:r>
              <a:rPr lang="en-US" b="1" dirty="0"/>
              <a:t>Serum agglutination tests: </a:t>
            </a:r>
            <a:r>
              <a:rPr lang="en-US" dirty="0"/>
              <a:t>These tests are performed to identify antibodies against </a:t>
            </a:r>
            <a:r>
              <a:rPr lang="en-US" dirty="0" err="1"/>
              <a:t>brucella</a:t>
            </a:r>
            <a:r>
              <a:rPr lang="en-US" dirty="0"/>
              <a:t> in animals. Two types of tests a rapid plate test called </a:t>
            </a:r>
            <a:r>
              <a:rPr lang="en-US" b="1" dirty="0"/>
              <a:t>Rose Bengal plate test (RBPT), which </a:t>
            </a:r>
            <a:r>
              <a:rPr lang="en-US" dirty="0"/>
              <a:t>is a qualitative test </a:t>
            </a:r>
          </a:p>
          <a:p>
            <a:r>
              <a:rPr lang="en-US" dirty="0"/>
              <a:t>and </a:t>
            </a:r>
            <a:r>
              <a:rPr lang="en-US" b="1" dirty="0" err="1"/>
              <a:t>stanadard</a:t>
            </a:r>
            <a:r>
              <a:rPr lang="en-US" b="1" dirty="0"/>
              <a:t> tube agglutination test (STAT), </a:t>
            </a:r>
            <a:r>
              <a:rPr lang="en-US" dirty="0"/>
              <a:t>which is a quantitative test are performed to identify animals infected with </a:t>
            </a:r>
            <a:r>
              <a:rPr lang="en-US" dirty="0" err="1"/>
              <a:t>brucella</a:t>
            </a:r>
            <a:r>
              <a:rPr lang="en-US" dirty="0"/>
              <a:t>. </a:t>
            </a:r>
          </a:p>
          <a:p>
            <a:r>
              <a:rPr lang="en-US" dirty="0"/>
              <a:t>In RBPT, the </a:t>
            </a:r>
            <a:r>
              <a:rPr lang="en-US" dirty="0" err="1"/>
              <a:t>brucella</a:t>
            </a:r>
            <a:r>
              <a:rPr lang="en-US" dirty="0"/>
              <a:t> antigen is stained with Rose Bengal dye. 0.3 ml of antigen and 0.3 ml of antibody are mixed and development of agglutination within one minute  is positive reaction. It is a rapid method. </a:t>
            </a:r>
          </a:p>
          <a:p>
            <a:r>
              <a:rPr lang="en-US" dirty="0"/>
              <a:t>In STAT, the serum sample is diluted and </a:t>
            </a:r>
            <a:r>
              <a:rPr lang="en-US" dirty="0" err="1"/>
              <a:t>brucella</a:t>
            </a:r>
            <a:r>
              <a:rPr lang="en-US" dirty="0"/>
              <a:t> antigen without any dye is added. </a:t>
            </a:r>
          </a:p>
          <a:p>
            <a:r>
              <a:rPr lang="en-US" dirty="0"/>
              <a:t>Development of 50% agglutination at dilutions 1:40 and above is considered as positive and 1:20 is considered as suspected. </a:t>
            </a:r>
          </a:p>
          <a:p>
            <a:r>
              <a:rPr lang="en-US" dirty="0"/>
              <a:t>The test is of useful in unvaccinated cattle and in farms where </a:t>
            </a:r>
            <a:r>
              <a:rPr lang="en-US" dirty="0" err="1"/>
              <a:t>calfhood</a:t>
            </a:r>
            <a:r>
              <a:rPr lang="en-US" dirty="0"/>
              <a:t> vaccination is practiced</a:t>
            </a:r>
          </a:p>
        </p:txBody>
      </p:sp>
      <p:pic>
        <p:nvPicPr>
          <p:cNvPr id="8194" name="Picture 2"/>
          <p:cNvPicPr>
            <a:picLocks noChangeAspect="1" noChangeArrowheads="1"/>
          </p:cNvPicPr>
          <p:nvPr/>
        </p:nvPicPr>
        <p:blipFill>
          <a:blip r:embed="rId2"/>
          <a:srcRect/>
          <a:stretch>
            <a:fillRect/>
          </a:stretch>
        </p:blipFill>
        <p:spPr bwMode="auto">
          <a:xfrm>
            <a:off x="6172200" y="304800"/>
            <a:ext cx="2590800" cy="177165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sz="quarter" idx="1"/>
          </p:nvPr>
        </p:nvPicPr>
        <p:blipFill>
          <a:blip r:embed="rId2"/>
          <a:srcRect/>
          <a:stretch>
            <a:fillRect/>
          </a:stretch>
        </p:blipFill>
        <p:spPr bwMode="auto">
          <a:xfrm>
            <a:off x="685800" y="2667000"/>
            <a:ext cx="3048000" cy="2286000"/>
          </a:xfrm>
          <a:prstGeom prst="rect">
            <a:avLst/>
          </a:prstGeom>
          <a:noFill/>
          <a:ln w="9525">
            <a:noFill/>
            <a:miter lim="800000"/>
            <a:headEnd/>
            <a:tailEnd/>
          </a:ln>
          <a:effectLst/>
        </p:spPr>
      </p:pic>
      <p:pic>
        <p:nvPicPr>
          <p:cNvPr id="9219" name="Picture 3"/>
          <p:cNvPicPr>
            <a:picLocks noChangeAspect="1" noChangeArrowheads="1"/>
          </p:cNvPicPr>
          <p:nvPr/>
        </p:nvPicPr>
        <p:blipFill>
          <a:blip r:embed="rId3"/>
          <a:srcRect/>
          <a:stretch>
            <a:fillRect/>
          </a:stretch>
        </p:blipFill>
        <p:spPr bwMode="auto">
          <a:xfrm>
            <a:off x="4114800" y="2719388"/>
            <a:ext cx="4548282" cy="2005012"/>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40000" lnSpcReduction="20000"/>
          </a:bodyPr>
          <a:lstStyle/>
          <a:p>
            <a:pPr lvl="0"/>
            <a:r>
              <a:rPr lang="en-US" sz="2900" b="1" dirty="0"/>
              <a:t>Milk ring test (MRT) or </a:t>
            </a:r>
            <a:r>
              <a:rPr lang="en-US" sz="2900" b="1" dirty="0" err="1"/>
              <a:t>Abortus</a:t>
            </a:r>
            <a:r>
              <a:rPr lang="en-US" sz="2900" b="1" dirty="0"/>
              <a:t> Bang’s ring (ABR) test: </a:t>
            </a:r>
            <a:r>
              <a:rPr lang="en-US" sz="2900" dirty="0"/>
              <a:t>This test is performed to identify </a:t>
            </a:r>
            <a:r>
              <a:rPr lang="en-US" sz="2900" dirty="0" err="1"/>
              <a:t>brucella</a:t>
            </a:r>
            <a:r>
              <a:rPr lang="en-US" sz="2900" dirty="0"/>
              <a:t> in herds. It is based on detection of antibodies in milk against stained antigen. </a:t>
            </a:r>
          </a:p>
          <a:p>
            <a:pPr lvl="0"/>
            <a:r>
              <a:rPr lang="en-US" sz="2900" dirty="0"/>
              <a:t>Milk samples from herd are mixed with stained antigen and incubated. </a:t>
            </a:r>
          </a:p>
          <a:p>
            <a:pPr lvl="0"/>
            <a:r>
              <a:rPr lang="en-US" sz="2900" dirty="0"/>
              <a:t>Development of a ring above cream layer is a positive reaction.</a:t>
            </a:r>
          </a:p>
          <a:p>
            <a:pPr lvl="0"/>
            <a:r>
              <a:rPr lang="en-US" sz="2900" b="1" dirty="0"/>
              <a:t>Whey agglutination test:</a:t>
            </a:r>
          </a:p>
          <a:p>
            <a:pPr lvl="0"/>
            <a:r>
              <a:rPr lang="en-US" sz="2900" b="1" dirty="0"/>
              <a:t>Coombs test:</a:t>
            </a:r>
            <a:endParaRPr lang="en-US" sz="2900" dirty="0"/>
          </a:p>
          <a:p>
            <a:pPr lvl="0"/>
            <a:r>
              <a:rPr lang="en-US" sz="2900" b="1" dirty="0"/>
              <a:t>ELISA: </a:t>
            </a:r>
            <a:r>
              <a:rPr lang="en-US" sz="2900" dirty="0"/>
              <a:t>It is a prescribed tests for international trade.</a:t>
            </a:r>
          </a:p>
          <a:p>
            <a:pPr lvl="0"/>
            <a:r>
              <a:rPr lang="en-US" sz="2900" b="1" dirty="0"/>
              <a:t>Complement fixation test: </a:t>
            </a:r>
            <a:r>
              <a:rPr lang="en-US" sz="2900" dirty="0"/>
              <a:t>It is also a prescribed test for international trade. </a:t>
            </a:r>
          </a:p>
          <a:p>
            <a:pPr lvl="0"/>
            <a:r>
              <a:rPr lang="en-US" sz="2900" dirty="0"/>
              <a:t>The CFT is a widely used and accepted confirmatory test although it is complex to perform, requiring good laboratory facilities and adequately trained staff to accurately titrate and maintain the reagents. </a:t>
            </a:r>
          </a:p>
          <a:p>
            <a:pPr lvl="0"/>
            <a:r>
              <a:rPr lang="en-US" sz="2900" dirty="0"/>
              <a:t>There are numerous variations of the CFT in use, but this test is most conveniently carried out in a </a:t>
            </a:r>
            <a:r>
              <a:rPr lang="en-US" sz="2900" dirty="0" err="1"/>
              <a:t>microtitre</a:t>
            </a:r>
            <a:r>
              <a:rPr lang="en-US" sz="2900" dirty="0"/>
              <a:t> format.</a:t>
            </a:r>
          </a:p>
          <a:p>
            <a:pPr lvl="0"/>
            <a:r>
              <a:rPr lang="en-US" sz="2900" b="1" dirty="0"/>
              <a:t>Fluorescence </a:t>
            </a:r>
            <a:r>
              <a:rPr lang="en-US" sz="2900" b="1" dirty="0" err="1"/>
              <a:t>polarisation</a:t>
            </a:r>
            <a:r>
              <a:rPr lang="en-US" sz="2900" b="1" dirty="0"/>
              <a:t> assay</a:t>
            </a:r>
            <a:r>
              <a:rPr lang="en-US" sz="2900" dirty="0"/>
              <a:t>: It is also a prescribed test for international trade. </a:t>
            </a:r>
          </a:p>
          <a:p>
            <a:pPr lvl="0"/>
            <a:r>
              <a:rPr lang="en-US" sz="2900" dirty="0"/>
              <a:t>FPA is a simple technique for measuring antigen/antibody interaction and may be performed in a laboratory setting or in the field. </a:t>
            </a:r>
          </a:p>
          <a:p>
            <a:pPr lvl="0"/>
            <a:r>
              <a:rPr lang="en-US" sz="2900" dirty="0"/>
              <a:t>It is a homogeneous assay in which </a:t>
            </a:r>
            <a:r>
              <a:rPr lang="en-US" sz="2900" dirty="0" err="1"/>
              <a:t>analytes</a:t>
            </a:r>
            <a:r>
              <a:rPr lang="en-US" sz="2900" dirty="0"/>
              <a:t> are not separated and it is therefore very rapid. For FPA antigen is </a:t>
            </a:r>
            <a:r>
              <a:rPr lang="en-US" sz="2900" dirty="0" err="1"/>
              <a:t>labelled</a:t>
            </a:r>
            <a:r>
              <a:rPr lang="en-US" sz="2900" dirty="0"/>
              <a:t> with a </a:t>
            </a:r>
            <a:r>
              <a:rPr lang="en-US" sz="2900" dirty="0" err="1"/>
              <a:t>fluorochrome</a:t>
            </a:r>
            <a:r>
              <a:rPr lang="en-US" sz="2900" dirty="0"/>
              <a:t> and added to serum or other fluid to be tested for the presence of antibody. If antibody is present, attachment to the </a:t>
            </a:r>
            <a:r>
              <a:rPr lang="en-US" sz="2900" dirty="0" err="1"/>
              <a:t>labelled</a:t>
            </a:r>
            <a:r>
              <a:rPr lang="en-US" sz="2900" dirty="0"/>
              <a:t> antigen will cause its rotational rate to decrease and this decrease can be measured.</a:t>
            </a:r>
          </a:p>
          <a:p>
            <a:pPr lvl="0"/>
            <a:endParaRPr lang="en-US" sz="2900" dirty="0"/>
          </a:p>
          <a:p>
            <a:pPr lvl="0"/>
            <a:r>
              <a:rPr lang="en-US" sz="2900" b="1" dirty="0" err="1"/>
              <a:t>Brucellin</a:t>
            </a:r>
            <a:r>
              <a:rPr lang="en-US" sz="2900" b="1" dirty="0"/>
              <a:t> skin test: </a:t>
            </a:r>
            <a:r>
              <a:rPr lang="en-US" sz="2900" dirty="0"/>
              <a:t>It is used for screening unvaccinated herds. A purified (free of </a:t>
            </a:r>
            <a:r>
              <a:rPr lang="en-US" sz="2900" dirty="0" err="1"/>
              <a:t>sLPS</a:t>
            </a:r>
            <a:r>
              <a:rPr lang="en-US" sz="2900" dirty="0"/>
              <a:t>) and </a:t>
            </a:r>
            <a:r>
              <a:rPr lang="en-US" sz="2900" dirty="0" err="1"/>
              <a:t>standardised</a:t>
            </a:r>
            <a:r>
              <a:rPr lang="en-US" sz="2900" dirty="0"/>
              <a:t> antigen preparation (e.g. </a:t>
            </a:r>
            <a:r>
              <a:rPr lang="en-US" sz="2900" dirty="0" err="1"/>
              <a:t>brucellin</a:t>
            </a:r>
            <a:r>
              <a:rPr lang="en-US" sz="2900" dirty="0"/>
              <a:t>) is used.</a:t>
            </a:r>
          </a:p>
          <a:p>
            <a:r>
              <a:rPr lang="en-US" sz="2900" dirty="0"/>
              <a:t> </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77500" lnSpcReduction="20000"/>
          </a:bodyPr>
          <a:lstStyle/>
          <a:p>
            <a:r>
              <a:rPr lang="en-US" b="1" dirty="0"/>
              <a:t>Control and Prevention:</a:t>
            </a:r>
          </a:p>
          <a:p>
            <a:pPr lvl="0"/>
            <a:r>
              <a:rPr lang="en-US" b="1" dirty="0"/>
              <a:t>Vaccination </a:t>
            </a:r>
            <a:r>
              <a:rPr lang="en-US" dirty="0"/>
              <a:t>of calves with strain 19 (</a:t>
            </a:r>
            <a:r>
              <a:rPr lang="en-US" dirty="0" err="1"/>
              <a:t>avirulent</a:t>
            </a:r>
            <a:r>
              <a:rPr lang="en-US" dirty="0"/>
              <a:t> strain) at an age of 3-6 months offer high level of immunity. One dose gives immunity up to fifth pregnancy. Now RB51 strain is used instead of strain 19 vaccine.</a:t>
            </a:r>
          </a:p>
          <a:p>
            <a:pPr lvl="0"/>
            <a:r>
              <a:rPr lang="en-US" dirty="0"/>
              <a:t>An </a:t>
            </a:r>
            <a:r>
              <a:rPr lang="en-US" dirty="0" err="1"/>
              <a:t>adjuvanted</a:t>
            </a:r>
            <a:r>
              <a:rPr lang="en-US" dirty="0"/>
              <a:t> 45/20 </a:t>
            </a:r>
            <a:r>
              <a:rPr lang="en-US" dirty="0" err="1"/>
              <a:t>bacterin</a:t>
            </a:r>
            <a:r>
              <a:rPr lang="en-US" dirty="0"/>
              <a:t>, although less effective, has been used in some national eradication schemes in the past</a:t>
            </a:r>
          </a:p>
          <a:p>
            <a:pPr lvl="0"/>
            <a:r>
              <a:rPr lang="en-US" dirty="0"/>
              <a:t>The</a:t>
            </a:r>
            <a:br>
              <a:rPr lang="en-US" dirty="0"/>
            </a:br>
            <a:r>
              <a:rPr lang="en-US" dirty="0"/>
              <a:t>modified live </a:t>
            </a:r>
            <a:r>
              <a:rPr lang="en-US" i="1" dirty="0"/>
              <a:t>B. </a:t>
            </a:r>
            <a:r>
              <a:rPr lang="en-US" i="1" dirty="0" err="1"/>
              <a:t>melitensis</a:t>
            </a:r>
            <a:r>
              <a:rPr lang="en-US" i="1" dirty="0"/>
              <a:t> </a:t>
            </a:r>
            <a:r>
              <a:rPr lang="en-US" dirty="0"/>
              <a:t>Rev. 1 strain, administered by the subcutaneous or </a:t>
            </a:r>
            <a:r>
              <a:rPr lang="en-US" dirty="0" err="1"/>
              <a:t>conjunctival</a:t>
            </a:r>
            <a:r>
              <a:rPr lang="en-US" dirty="0"/>
              <a:t> routes, is</a:t>
            </a:r>
            <a:br>
              <a:rPr lang="en-US" dirty="0"/>
            </a:br>
            <a:r>
              <a:rPr lang="en-US" dirty="0"/>
              <a:t>used for vaccination of kids and lambs up to 6 months of age. </a:t>
            </a:r>
            <a:br>
              <a:rPr lang="en-US" dirty="0"/>
            </a:br>
            <a:r>
              <a:rPr lang="en-US" dirty="0"/>
              <a:t> </a:t>
            </a:r>
            <a:br>
              <a:rPr lang="en-US" dirty="0"/>
            </a:br>
            <a:endParaRPr lang="en-US" dirty="0"/>
          </a:p>
          <a:p>
            <a:pPr lvl="0"/>
            <a:r>
              <a:rPr lang="en-US" dirty="0"/>
              <a:t>Periodical testing of herds by SAT and elimination of reactors.</a:t>
            </a:r>
          </a:p>
          <a:p>
            <a:pPr lvl="0"/>
            <a:r>
              <a:rPr lang="en-US" dirty="0" err="1"/>
              <a:t>Pasteurisation</a:t>
            </a:r>
            <a:r>
              <a:rPr lang="en-US" dirty="0"/>
              <a:t> of milk and milk products.</a:t>
            </a:r>
          </a:p>
          <a:p>
            <a:pPr lvl="0"/>
            <a:r>
              <a:rPr lang="en-US" dirty="0"/>
              <a:t>Clean animal husbandry procedures.</a:t>
            </a:r>
          </a:p>
          <a:p>
            <a:pPr lvl="0"/>
            <a:r>
              <a:rPr lang="en-US" dirty="0"/>
              <a:t>Proper disposal of aborted </a:t>
            </a:r>
            <a:r>
              <a:rPr lang="en-US" dirty="0" err="1"/>
              <a:t>foetuses</a:t>
            </a:r>
            <a:r>
              <a:rPr lang="en-US" dirty="0"/>
              <a:t>.</a:t>
            </a:r>
          </a:p>
          <a:p>
            <a:pPr lvl="0"/>
            <a:r>
              <a:rPr lang="en-US" dirty="0"/>
              <a:t>Elimination of male animals from breeding </a:t>
            </a:r>
            <a:r>
              <a:rPr lang="en-US" dirty="0" err="1"/>
              <a:t>programme</a:t>
            </a:r>
            <a:endParaRPr lang="en-US" dirty="0"/>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126</TotalTime>
  <Words>2533</Words>
  <Application>Microsoft Office PowerPoint</Application>
  <PresentationFormat>On-screen Show (4:3)</PresentationFormat>
  <Paragraphs>194</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Oriel</vt:lpstr>
      <vt:lpstr>Brucellosis</vt:lpstr>
      <vt:lpstr>PowerPoint Presentation</vt:lpstr>
      <vt:lpstr>Classification</vt:lpstr>
      <vt:lpstr>PowerPoint Presentation</vt:lpstr>
      <vt:lpstr>morphology</vt:lpstr>
      <vt:lpstr>Resistance</vt:lpstr>
      <vt:lpstr>Antigens and Toxins:</vt:lpstr>
      <vt:lpstr>Cultural characters</vt:lpstr>
      <vt:lpstr>PowerPoint Presentation</vt:lpstr>
      <vt:lpstr>Biochemical characters</vt:lpstr>
      <vt:lpstr>PowerPoint Presentation</vt:lpstr>
      <vt:lpstr>Brucellosis in cattle</vt:lpstr>
      <vt:lpstr>pathogenesis</vt:lpstr>
      <vt:lpstr>PowerPoint Presentation</vt:lpstr>
      <vt:lpstr>PowerPoint Presentation</vt:lpstr>
      <vt:lpstr>symptoms</vt:lpstr>
      <vt:lpstr>lesions</vt:lpstr>
      <vt:lpstr>BRUCELLOSIS IN GOATS </vt:lpstr>
      <vt:lpstr>BRUCELLOSIS IN SHEEP </vt:lpstr>
      <vt:lpstr>BRUCELLOSIS IN HORSES </vt:lpstr>
      <vt:lpstr>BRUCELLOSIS IN PIGS </vt:lpstr>
      <vt:lpstr>BRUCELLOSIS IN HUMANS </vt:lpstr>
      <vt:lpstr>Diagnosis</vt:lpstr>
      <vt:lpstr>Bacteriological examination:</vt:lpstr>
      <vt:lpstr>PowerPoint Presentation</vt:lpstr>
      <vt:lpstr>Serum agglutination tests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Brucellosis</dc:title>
  <dc:creator>reviewer</dc:creator>
  <cp:lastModifiedBy>Bincy Joseph</cp:lastModifiedBy>
  <cp:revision>15</cp:revision>
  <dcterms:created xsi:type="dcterms:W3CDTF">2024-06-27T04:52:35Z</dcterms:created>
  <dcterms:modified xsi:type="dcterms:W3CDTF">2024-07-04T08:21:11Z</dcterms:modified>
</cp:coreProperties>
</file>